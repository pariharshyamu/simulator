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1.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Lst>
  <p:notesMasterIdLst>
    <p:notesMasterId r:id="rId1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notesMaster" Target="notesMasters/notesMaster1.xml"/><Relationship Id="rId121" Type="http://schemas.openxmlformats.org/officeDocument/2006/relationships/presProps" Target="presProps.xml"/><Relationship Id="rId122" Type="http://schemas.openxmlformats.org/officeDocument/2006/relationships/viewProps" Target="viewProps.xml"/><Relationship Id="rId123" Type="http://schemas.openxmlformats.org/officeDocument/2006/relationships/theme" Target="theme/theme1.xml"/><Relationship Id="rId1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C2530"/>
                </a:solidFill>
                <a:latin typeface="Calibri"/>
              </a:defRPr>
            </a:pPr>
            <a:r>
              <a:rPr sz="1300" b="0" i="0" u="none" strike="noStrike">
                <a:solidFill>
                  <a:srgbClr val="1C2530"/>
                </a:solidFill>
                <a:latin typeface="Calibri"/>
              </a:rPr>
              <a:t>Bearing temperature against model-expected</a:t>
            </a:r>
          </a:p>
        </c:rich>
      </c:tx>
      <c:layout/>
      <c:overlay val="0"/>
    </c:title>
    <c:autoTitleDeleted val="0"/>
    <c:plotArea>
      <c:layout/>
      <c:lineChart>
        <c:varyColors val="0"/>
        <c:ser>
          <c:idx val="0"/>
          <c:order val="0"/>
          <c:tx>
            <c:strRef>
              <c:f>Sheet1!$B$1</c:f>
              <c:strCache>
                <c:ptCount val="1"/>
                <c:pt idx="0">
                  <c:v>Measured (°C)</c:v>
                </c:pt>
              </c:strCache>
            </c:strRef>
          </c:tx>
          <c:spPr>
            <a:solidFill>
              <a:srgbClr val="D96A16"/>
            </a:solidFill>
            <a:ln w="38100" cap="flat">
              <a:solidFill>
                <a:srgbClr val="D96A1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96A16"/>
              </a:solidFill>
              <a:ln w="9525" cap="flat">
                <a:solidFill>
                  <a:srgbClr val="D96A16"/>
                </a:solidFill>
                <a:prstDash val="solid"/>
                <a:round/>
              </a:ln>
              <a:effectLst/>
            </c:spPr>
          </c:marker>
          <c:cat>
            <c:multiLvlStrRef>
              <c:f>Sheet1!$A$2:$A$9</c:f>
              <c:multiLvlStrCache>
                <c:ptCount val="8"/>
                <c:lvl>
                  <c:pt idx="0">
                    <c:v>Wk 0</c:v>
                  </c:pt>
                  <c:pt idx="1">
                    <c:v>Wk 2</c:v>
                  </c:pt>
                  <c:pt idx="2">
                    <c:v>Wk 4</c:v>
                  </c:pt>
                  <c:pt idx="3">
                    <c:v>Wk 6</c:v>
                  </c:pt>
                  <c:pt idx="4">
                    <c:v>Wk 8</c:v>
                  </c:pt>
                  <c:pt idx="5">
                    <c:v>Wk 10</c:v>
                  </c:pt>
                  <c:pt idx="6">
                    <c:v>Wk 12</c:v>
                  </c:pt>
                  <c:pt idx="7">
                    <c:v>Wk 14</c:v>
                  </c:pt>
                </c:lvl>
              </c:multiLvlStrCache>
            </c:multiLvlStrRef>
          </c:cat>
          <c:val>
            <c:numRef>
              <c:f>Sheet1!$B$2:$B$9</c:f>
              <c:numCache>
                <c:formatCode>General</c:formatCode>
                <c:ptCount val="8"/>
                <c:pt idx="0">
                  <c:v>74</c:v>
                </c:pt>
                <c:pt idx="1">
                  <c:v>75</c:v>
                </c:pt>
                <c:pt idx="2">
                  <c:v>76</c:v>
                </c:pt>
                <c:pt idx="3">
                  <c:v>78</c:v>
                </c:pt>
                <c:pt idx="4">
                  <c:v>80</c:v>
                </c:pt>
                <c:pt idx="5">
                  <c:v>83</c:v>
                </c:pt>
                <c:pt idx="6">
                  <c:v>86</c:v>
                </c:pt>
                <c:pt idx="7">
                  <c:v>91</c:v>
                </c:pt>
              </c:numCache>
            </c:numRef>
          </c:val>
          <c:smooth val="0"/>
        </c:ser>
        <c:ser>
          <c:idx val="1"/>
          <c:order val="1"/>
          <c:tx>
            <c:strRef>
              <c:f>Sheet1!$C$1</c:f>
              <c:strCache>
                <c:ptCount val="1"/>
                <c:pt idx="0">
                  <c:v>Model expected (°C)</c:v>
                </c:pt>
              </c:strCache>
            </c:strRef>
          </c:tx>
          <c:spPr>
            <a:solidFill>
              <a:srgbClr val="11707F"/>
            </a:solidFill>
            <a:ln w="38100" cap="flat">
              <a:solidFill>
                <a:srgbClr val="11707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1707F"/>
              </a:solidFill>
              <a:ln w="9525" cap="flat">
                <a:solidFill>
                  <a:srgbClr val="11707F"/>
                </a:solidFill>
                <a:prstDash val="solid"/>
                <a:round/>
              </a:ln>
              <a:effectLst/>
            </c:spPr>
          </c:marker>
          <c:cat>
            <c:multiLvlStrRef>
              <c:f>Sheet1!$A$2:$A$9</c:f>
              <c:multiLvlStrCache>
                <c:ptCount val="8"/>
                <c:lvl>
                  <c:pt idx="0">
                    <c:v>Wk 0</c:v>
                  </c:pt>
                  <c:pt idx="1">
                    <c:v>Wk 2</c:v>
                  </c:pt>
                  <c:pt idx="2">
                    <c:v>Wk 4</c:v>
                  </c:pt>
                  <c:pt idx="3">
                    <c:v>Wk 6</c:v>
                  </c:pt>
                  <c:pt idx="4">
                    <c:v>Wk 8</c:v>
                  </c:pt>
                  <c:pt idx="5">
                    <c:v>Wk 10</c:v>
                  </c:pt>
                  <c:pt idx="6">
                    <c:v>Wk 12</c:v>
                  </c:pt>
                  <c:pt idx="7">
                    <c:v>Wk 14</c:v>
                  </c:pt>
                </c:lvl>
              </c:multiLvlStrCache>
            </c:multiLvlStrRef>
          </c:cat>
          <c:val>
            <c:numRef>
              <c:f>Sheet1!$C$2:$C$9</c:f>
              <c:numCache>
                <c:formatCode>General</c:formatCode>
                <c:ptCount val="8"/>
                <c:pt idx="0">
                  <c:v>74</c:v>
                </c:pt>
                <c:pt idx="1">
                  <c:v>74</c:v>
                </c:pt>
                <c:pt idx="2">
                  <c:v>74</c:v>
                </c:pt>
                <c:pt idx="3">
                  <c:v>74</c:v>
                </c:pt>
                <c:pt idx="4">
                  <c:v>74</c:v>
                </c:pt>
                <c:pt idx="5">
                  <c:v>74</c:v>
                </c:pt>
                <c:pt idx="6">
                  <c:v>74</c:v>
                </c:pt>
                <c:pt idx="7">
                  <c:v>74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6B7A"/>
                </a:solidFill>
                <a:latin typeface="Arial"/>
              </a:defRPr>
            </a:pPr>
            <a:endParaRPr lang="en-US"/>
          </a:p>
        </c:txPr>
        <c:crossAx val="2094734552"/>
        <c:crosses val="autoZero"/>
        <c:auto val="1"/>
        <c:lblAlgn val="ctr"/>
        <c:noMultiLvlLbl val="1"/>
      </c:catAx>
      <c:valAx>
        <c:axId val="2094734552"/>
        <c:scaling>
          <c:orientation val="minMax"/>
          <c:max val="95"/>
          <c:min val="60"/>
        </c:scaling>
        <c:delete val="0"/>
        <c:axPos val="l"/>
        <c:majorGridlines>
          <c:spPr>
            <a:ln w="12700" cap="flat">
              <a:solidFill>
                <a:srgbClr val="E4EAF0"/>
              </a:solidFill>
              <a:prstDash val="solid"/>
              <a:round/>
            </a:ln>
          </c:spPr>
        </c:majorGridlines>
        <c:title>
          <c:tx>
            <c:rich>
              <a:bodyPr/>
              <a:lstStyle/>
              <a:p>
                <a:pPr>
                  <a:defRPr sz="1100" b="0" i="0" u="none" strike="noStrike">
                    <a:solidFill>
                      <a:srgbClr val="5C6B7A"/>
                    </a:solidFill>
                    <a:latin typeface="Arial"/>
                  </a:defRPr>
                </a:pPr>
                <a:r>
                  <a:rPr sz="1100" b="0" i="0" u="none" strike="noStrike">
                    <a:solidFill>
                      <a:srgbClr val="5C6B7A"/>
                    </a:solidFill>
                    <a:latin typeface="Arial"/>
                  </a:rPr>
                  <a:t>Bearing temperature (°C)</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B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C6B7A"/>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Opening · target 0:00]
[10:00–10:02] Welcome everyone, including the stations joining online. Set the tone in the first thirty seconds: this is not a computer science lecture, and nothing today is theoretical. Every example uses equipment you have walked past this week, and after lunch we will work entirely from MAHAGENCO's own June 2026 numbers.
Say plainly: 'I am not here to tell you AI will run your plant. I am here to show you what it can do with data you already have, what it cannot do, and how to pick one sensible thing to try at your station.'
Housekeeping: ask everyone to open the simulation lab file on their laptop now, before the first break, so nobody is fighting with a file transfer at 11:41. Confirm the online stations can see the slides and hear clearly, and ask them to use chat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Opening · target 10:00]
[10:00–10:03] Open on time and open on the objective, not on yourself. Three minutes, no more.
Line to say: 'By five o'clock today you will not be a data scientist, and that is not the aim. You will be an engineer who can tell a real AI opportunity from a slide deck.'
Walk the four rows quickly and spend your time on rows three and four. This room has sat through vendor presentations before, and the fastest way to lose it is to oversell in the first minute. Say plainly that we will spend as much of today on what AI gets wrong as on what it does well.
Row four is the one to land. Every station represented here has its own June 2026 numbers, and by the last session each of you will have picked one pilot from your own evidence, with a named owner and a ninety-day plan.
Ask the room to hold one question in mind all day: which machine at my station has hurt me twice in the last two years? We come back to that question at five o'clock.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Opening · target 10:03]
[10:03–10:06] Show the shape of the day rather than reading it out. Point at the three places the labs sit — Sessions 2, 4 and 6, and again in Session 7 — and tell everyone to open the simulation lab file now so nobody is fighting a file transfer at 11:41.
Flag Session 5 specifically: twelve minutes on what other generators have actually achieved, with published numbers. It sits deliberately straight after we look at our own figures.
For the online stations, say when the breaks are so they can plan around them, and name the three checkpoints where you will hand over to them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Opening · target 10:06]
[10:06–10:10] Four minutes on the lab, and be precise, because credibility for the whole day rests on this slide.
Card one: one HTML file, opens in any browser, no internet, no installation, no login. Ask them to open it now and confirm that it loads before we start session one.
Card two is the one that matters to an engineer. The algorithms are real — a nearest-neighbour residual model, a ridge regression trained live by gradient descent, a TF-IDF retrieval index. Nothing is animated. Where the data is our own June 2026 figures it says so on the screen; where it is synthetic, the physics equations that generated it are printed alongside.
Card three: the file is theirs. Take it to the station and run it again with their own team.
Card four is the caution, and it must be said clearly rather than softened. These are teaching instruments. They are not calibrated models of anybody's unit. Nothing produced here should influence an operating decision.
Ask directly whether that boundary is clear, and get a nod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1. AI fundamentals · target 10:10]
[10:10] Section divider. Say the session title, name the two or three things they will be able to do at the end of it, and if there is a lab in this session, say so now so laptops are open. Ten to fifteen seconds — do not talk over a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1. AI fundamentals · target 10:10]
[10:10–10:14] Keep this crisp — four minutes maximum. The room does not need taxonomy, it needs to stop being confused by vendor vocabulary.
Line to say aloud: 'The interlock logic in your DCS is, strictly speaking, artificial intelligence. Somebody wrote the rule. Machine learning differs in exactly one respect — the machine works the rule out from history instead of being handed it. That is the entire idea, and everything today sits on top of it.'
Point at the middle ring and say that almost everything of value in a thermal station today lives there, not in deep learning.
On the aside: 'Notice generative AI is beside the circles, not inside them. Different tool, different job — documents and language, not process signals. People conflate the two constantly and then wonder why a chatbot cannot predict a bearing failure.'
Ask the room how many have sat through a vendor presentation using all four words interchangeably. Hands will go up. Tell them that by the end of this hour they will be able to ask the one question that sorts a real system from 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1. AI fundamentals · target 10:14]
[10:14–10:18] This slide has one job: nobody has to buy anything to start.
Read the last column aloud, slowly — 'live screens and trends', 'compliance reporting', 'statutory records', 'bill preparation', 'found when someone remembers it exists'. That column is the problem statement for the whole day.
Be honest about the volumes: they are indicative, not audited. Ask the room instead — 'roughly how many tags does your unit historise, and when did anyone last analyse a full month of them?'
The stat card is verified. 4,588 MU sent out from the thermal fleet in June 2026, billed at ₹2,806.55 crore. Every unit of that was measured, timestamped and stored. Then say the uncomfortable part: almost none of that record was re-read after the shift in which it was created.
Land the point. The constraint is not data collection — we are excellent at collecting. The constraint is that the data is stored for compliance and never interrogated for decisions. That is what changes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1. AI fundamentals · target 10:18]
[10:18–10:23] Slow right down. This is the single most important slide of the day. If they remember nothing else, they must remember expected versus actual.
Use a bearing everyone knows — an ID fan or a BFP bearing. Say: 'Seventy-four degrees means nothing on its own. Seventy-four at fifty-five per cent load on a January night is a problem. Seventy-four at full load in May is completely normal. Your fixed alarm cannot tell the difference and was never designed to. A model can, because it has seen thousands of hours of what normal looks like at every load and every ambient.'
DO NOT give the week-by-week numbers here. Slide 26 walks the whole degradation through and the five weeks of warning is its reveal. Spend it now and that slide has nothing left to deliver. Set up the idea; let Session 2 pay it off.
Finish on the subtraction and move on. If the room is with you on this one line, everything after lunch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1. AI fundamentals · target 10:23]
[10:23–10:27] Walk the four boxes at a steady pace. This is the mechanism behind everything for the rest of the day.
Hammer step one. 'Genuinely healthy running' is where most failed projects die: the training period already contained the developing fault, so the model learned the fault as normal and never raised anything. You will watch exactly this happen in the lab before lunch, on your own screen.
Step two deserves a sentence of reassurance. No physics equation is written. Nobody derives a heat balance. The model learns the relationship between signals from history alone.
Step four is what keeps the system switched on. Say it plainly: 'A spike is a sensor. A slope is a machine. Any system that alerts on spikes will be switched off within a month, and rightly so.'
Close on the punch line and add the framing that keeps the room on side all day — the model produces a number, the engineer decides what it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1. AI fundamentals · target 10:26]
[10:26–10:30] Draw the two lanes apart deliberately. The most common misunderstanding in the room will be that the model 'keeps learning' while it runs. It does not, and it must not — a model that learns continuously will quietly learn a developing fault as normal.
Walk the top lane left to right. Stop at 'Split by time' and say why random splitting is wrong for plant data: shuffle a time series and the model sees tomorrow while training on today, and the test result becomes a lie.
Walk the bottom lane. Stress 'Same feature recipe' — if the training pipeline normalised by load and the live pipeline does not, everything downstream is wrong, and this is one of the most common deployment defects.
End on the feedback arrow. Ask: 'Who at your station would know that a mill was re-lined last Tuesday?' That person is part of the AI system, whether or not anybody has told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1. AI fundamentals · target 10:27]
[10:27–10:31] Three families, two plant examples each. Four minutes, no more.
The key teaching point is the punch line, and it answers the objection that always comes: 'but we have no failure data.' The answer is that the most useful family for a power station needs none. Unsupervised anomaly detection needs one clean year of healthy running and nothing else.
On supervised learning, use the GCV example — the lab result is the answer key, and your station already generates it every day. That is a soft sensor, and it is SIM-4 this afternoon.
On reinforcement learning be blunt and be early: 'You will hear a great deal about this. It is real, it is impressive in simulation, and it is not ready to be let loose on a utility boiler. Anyone telling you otherwise is selling.'
Ask the room which of the two unsupervised examples they would start with on their own unit. It gets them thinking in terms of candidate applications rather than technology.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1. AI fundamentals · target 10:31]
[10:31–10:35] This is the slide that shows engineers exactly where they are indispensable.
Read one pair across, left to right — bearing temperature at 74 °C on the left, temperature rise above cooling medium normalised for load and ambient on the right. Then say: 'The left column is what your historian stores. The right column is what a model can actually learn from. Turning one into the other is called feature engineering, and it is the single highest-value contribution an experienced engineer makes to an AI project.'
Make the ratio point concrete. Mill current on its own tells you nothing. Mill current per tonne of coal holds across the whole load range and rises steadily as the grinding elements wear.
Make the memory point too. One instantaneous value has no history. Rate of change over ten minutes, and rolling statistics over one, six and twenty-four hours, are what allow a model to see a trend rather than a reading.
Land the punch: this is where your plant knowledge enters the model, and it is not optional.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1. AI fundamentals · target 10:34]
[10:34–10:38] Draw attention to the fact that there is no physics in the diagram. The network has no idea what a mill is. It has learned a shape from your history.
The useful analogy for this room: it is curve fitting, with a great many more knobs than a spreadsheet trendline. A polynomial fit has three or four coefficients; this has a few hundred. That is the whole difference in kind.
Stress the third note. Because the hidden nodes mean nothing physical, you cannot read the model to understand the boiler. You can only ask it what it would predict, and use tools like SHAP to ask which inputs drove a particular answer.
The punch line is the warning. Ask the room: 'If I gave this network the date and the shift-in-charge's name as inputs, would it find a pattern?' It absolutely would, and that pattern would be meaningless. Feature selection is engineering judgement, not a setting.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1. AI fundamentals · target 10:35]
[10:35–10:39] Four cards, four minutes. This is how they should judge every vendor claim they meet for the rest of their careers.
Take the cardinal sin card slowly. 'Judging a model on data it was trained on is like marking your own examination paper with the answers in front of you. The model will look magnificent. It will fail in the first week of live running.' Almost every inflated performance figure in this industry comes from precisely that mistake.
The time-based split card needs the plant analogy. Plant data is correlated minute to minute — split it randomly and the minute before and the minute after a held-out sample are both in the training set, so the model has effectively been shown the answer. Train on January to September and test on October onwards. That is the only honest split for a time series.
Give them the question on the punch line and ask them to write it down: 'What period was the model tested on, and had it seen that period before?' The good vendors answer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1. AI fundamentals · target 10:39]
[10:39–10:42] Three minutes. This is overfitting explained without a single equation.
Say it physically: 'Imagine a model that has memorised last year perfectly — including the week the transmitter drifted, the monsoon fortnight when CW temperature was odd, and the month Mill C was out. It reproduces all of it beautifully. Now show it this year. It flags perfectly normal running as abnormal, because this year is not last year. And it misses the real drift, because the real drift does not look like anything it memorised.'
The counterintuitive line is the one to land: 'A model that fits history perfectly has learned history, not the machine. When a vendor shows you a near-perfect fit, the correct response is suspicion, not admiration.'
Ask the room: 'Would you trust an engineer who could recite last year's log book word for word but could not tell you what the unit will do tomorrow?' That is the difference between memorising and generalising, and it is exactly the same distinction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 1. AI fundamentals · target 10:42]
[10:42–10:46] The whole slide is the last row, so build towards it.
Go down the left column first and let the jargon sound as alien as it genuinely is. Then read the right column — these are the six questions a shift engineer actually asks, and not one of them appears on a vendor slide.
Take false alarms per model-month seriously and define it precisely: one model, watching one machine, for one month. If that produces more than roughly one alert with nothing to find, the engineer will stop opening them. Not from laziness — from arithmetic. Multiply it across two hundred models and the programme collapses under its own noise.
Read the last row aloud twice: 'A very good model nobody acts on, against a merely adequate model that changed a decision.' The second is worth more. Always.
Ask the room what would make them personally open an alert on a Monday morning. The answer will be lead time, evidence and a next step. That is the specification, and it came from them rather than from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 1. AI fundamentals · target 10:46]
[10:46–10:49] Three minutes, six cards. Do not read them all — pick three and let the handout carry the rest.
The two-uncertainties card is the one that matters. 'The model is unsure because the data is noisy is a manageable problem. The model is unsure because it has never seen this operating point before is a dangerous one — and most systems present the two identically.'
The outside-the-envelope card is the practical one. Say: 'At a load, an ambient or a coal blend the model never saw in training, it will still give you a number. It will give it confidently. And it will be wrong. Ask every vendor for the operating range their model was trained across, in writing.'
Land the subtitle as the line of the slide: a number without an error bar is an opinion with a decimal point.
Ask them: 'When a vendor quotes 94 per cent accuracy — accuracy at what, over what period, and how wrong is it when it is wrong?' Watch how few can answer the third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 1. AI fundamentals · target 10:49]
[10:49–10:53] This is what an alert must look like before an engineer will act on it.
Walk the rows in order: the signal, the deviation with both numbers shown, how long it has persisted, then the two contributors with a percentage against each. That contribution breakdown is what the industry calls SHAP-style attribution. In plain terms, the model is asked how much of the total deviation each input explains, and it answers with a number.
The line to say aloud: 'No engineer will act on a score of 0.87. Every engineer will act on — bearing 2 is six degrees above expected, it has been for nine days, and most of it is showing up as temperature rise per unit of fan power.'
Note what is deliberately absent. No model accuracy, no network diagram, no confidence percentage floating on its own. The operator does not care about any of it. They care what moved, by how much, since when, and what to do about it.
Ask the room: would you raise an inspection on this? Usually yes — and that is the test every alert has to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19 · 1. AI fundamentals · target 10:53]
[10:53–10:57] Give them a filter they can apply to every vendor presentation they attend after today. That is the purpose of this slide.
Work down the rows and stress that the ranking is by where value is genuinely realised in a thermal station, not by how interesting the technology is. Anomaly detection is first because it needs no failure history, touches no control system, and produces a number an engineer can check by walking to the machine.
On closed-loop control be careful and precise: 'It exists, it works, and it belongs to a station that already has clamps, rate limits, a watchdog and bumpless transfer engineered. It is not a first project.'
On vision and language, split it honestly. Retrieval over your own manuals and trip reports is proven and cheap. Camera analytics is real but needs cameras, lighting and somebody to maintain them.
The punch is the takeaway. Start where the answer is a number an engineer can check — which is also the cheapest place to fail safely, and that matters more than it sounds.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20 · 1. AI fundamentals · target 10:57]
[10:57–11:00] Read the band at the bottom slowly and deliberately. In a room of O&amp;M engineers this is the slide that decides whether they trust the rest of the day.
Say the first one without hedging: 'Nothing in this course goes into a protection scheme, a trip circuit or an interlock. Not now, not in five years. Those systems are deterministic and safety-rated for a reason, and a statistical model has no business inside them.'
The one-time project card is the one people underestimate. A model is a maintained asset, exactly like a protection setting. After an overhaul, a retrofit or a sustained change in coal, it must be retrained or it will quietly become wrong while still producing confident output.
The headcount card matters for the room's own comfort, so say it directly: 'This covers equipment nobody has time to walk round and it gives earlier warning. It does not remove the engineer who decides what the warning means. That decision is not automatable, and nobody in this room should let it become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21 · 1. AI fundamentals · target 11:00]
[11:00–11:04] Eleven words grouped into four rows so they fit on a projected slide. The full glossary is in the handout — tell them that, and do not read the table out.
Do land three of them properly. Residual — actual minus expected, and by now they should be able to define it themselves, so ask them to. Drift — the plant moves away from the model, which is exactly why the last column says nobody owns retraining after an overhaul. Grounding, in the last row — an ungrounded language model will invent a clearance value with complete confidence, while a grounded one answers from your own document with a citation you can open and check.
The watch-out column is the useful one. Read it down on its own: a model trained on a faulty period learns the fault as normal; no label means no supervised model; nobody owns retraining; ungrounded answers invent numbers.
Give them the punch as a working tool for every vendor meeting from next week onwards.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22 · 1. AI fundamentals · target 11:04]
[11:04–11:07] Three minutes, and it is the most practical slide of the block. Read across the pairs — pathology on the left, consequence on the right.
Spend the time on compression. Historians are configured with an exception deviation and a compression deviation, chosen years ago so that screen trends looked clean and disc space lasted. Those settings discard small, slow movements — precisely the signal a degradation model exists to find. Say it plainly: 'Your historian may be deleting the evidence before it is ever stored, and the trend on the screen will look perfectly normal.'
The frozen transmitter is the one that frightens people correctly. A stuck input reads a plausible constant, the residual goes to zero, and the model reports perfect health on a degrading machine.
Ask the room: 'Does your DCS tag name, your historian point name and your SAP equipment number agree for the same fan?' The laughter is the answer, and it is why alerts cannot be joined to work orders.
Land the punch: fix the data before buying the algorithm.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23 · 1. AI fundamentals · target 11:07]
[11:07–11:10] Three minutes to close the block. Do not add new material.
Take the four cards as a checklist and ask the room to self-assess. 'Card one — could you now explain to a colleague why a fixed threshold asks the wrong question? Card two — could you define a residual in one sentence? Card three — what is the one question you ask a vendor about testing? Card four — name one data pathology at your own station.'
If the room can answer those four, the hour has done its job. If a hand goes up on card two, go back to the expected-versus-actual slide for thirty seconds. It is worth the time.
The punch line sets up the rest of the day: everything that follows is this same idea with equipment attached, rupees attached, and their own hands on the keyboard.
Tell them what is next. After the break, intelligent monitoring — and the first simulation lab, the ID fan bearing case running as real code on a laptop, where they will break the model themselves and watch it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24 · 2. Intelligent monitoring · target 11:25]
[11:25] Section divider. Say the session title, name the two or three things they will be able to do at the end of it, and if there is a lab in this session, say so now so laptops are open. Ten to fifteen seconds — do not talk over a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25 · 2. Intelligent monitoring · target 11:25]
[11:25–11:28] Three minutes. Draw the P–F curve verbally: the fault begins, symptoms become progressively detectable, and functional failure sits at the end. The interval between first detectable symptom and failure is the P–F interval, and every technique in this table sits somewhere inside it.
The insight to land: 'Every technique on this ladder is one you already run or already know. AI does not replace any of them. It adds one more rung, using signals you already historise, on equipment where you cannot justify a vibration route every month.'
That last clause is the real argument. Vibration analysis is excellent, and it is applied to a small population because it costs skilled time. Residual monitoring runs on every historised machine at once, for almost no marginal effort per machine.
Point at the bottom two rows. 'By the time the DCS alarm sounds you have consumed almost the entire interval. That is not a criticism of the alarm. A fixed threshold is a last line, and it is doing exactly what it was designed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26 · 2. Intelligent monitoring · target 11:28]
[11:28–11:32] Walk the chart left to right and let them watch the gap open. These are the same numbers as section 2.2 of the handout, so anyone following along sees one story, not two.
The single most important visual point: the expected line stays flat while the measured line climbs. It stays flat because the model has already removed load and ambient. Plot raw bearing temperature instead and it would wander with the weather and you would see nothing at all. The whole story is the widening gap, not the rising line.
This is the payoff for the residual idea you set up in slide 8 — deliver the five weeks here, with weight. Ask the room what they would do with five weeks' notice on an ID fan. Somebody will say 'line up the standby and order the shells' — that is exactly the answer, and it is worth more coming from them than from you.
Then pre-empt the obvious objection before anyone raises it: why not simply lower the alarm? Because a fixed alarm has one number and the plant has many operating conditions. That is not a configuration failing, it is the structural limit of the method.
Be honest about provenance: an illustrative reconstruction, not a MAHAGENCO case study — but the shape is exactly what these failures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27 · 2. Intelligent monitoring · target 11:32]
[11:32–11:35] Three minutes, no mathematics on the slide and none out of your mouth either.
The library analogy works well: 'The model keeps a memory of every operating state the machine visited during a healthy year. When you ask what the bearing should read right now, it finds the handful of remembered states most resembling the present one and reconstructs the answer from them. It is closer to an experienced operator saying I have seen this machine in this condition before than it is to any equation.'
Stress step four, because credibility lives there. Two tests must be passed before an alert exists: the gap must be large enough, and it must persist. Either one alone produces noise.
Land the punch. This is the answer to the objection from the last block — 'we have never had this machine fail, so we have no data to train on.' You do not need failure data. You need one clean year of healthy running.
Tell them they are about to do exactly this, themselves, in six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28 · 2. Intelligent monitoring · target 11:35]
[11:35–11:38] Three minutes, and this is the discrimination engineers value most once they have it.
Say it as a physical argument rather than a statistical one: 'Nothing physical can raise a bearing temperature and leave the fan power, the lube oil outlet, the vibration and the discharge pressure all exactly where they should be. If one signal has moved and its physical neighbours have not, you have an instrumentation problem, and you should check the transmitter before you touch the machine.'
Then the reverse: 'When four signals move together in the direction physics predicts, and not one of them has crossed an alarm limit, that is the machine telling you something weeks before any single number will.'
Ask the room how much time their station spends chasing single-tag alarms that turn out to be thermocouples. Every station has this problem, and this is the first thing multi-signal monitoring gives back — hours that were being spent on instrumentation, not machines.
Land the punch and move on. They will see this in the lab shortly.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29 · 2. Intelligent monitoring · target 11:37]
[11:37–11:41] This is the slide to photograph. It is the whole of Session 2 on one page.
Move through it steadily. At 'Validate', remind them a frozen transmitter reads a perfectly plausible constant and the model will believe it. At 'Operating mode', link back to the segmentation slide. At 'Rank and group', make the point that alerting on every tag is how you generate eleven alerts a week and lose the shift.
The punch line is the argument of the whole day: one box out of 12 is the algorithm. Vendors sell that one box. The other ten are yours.
End on the feedback arrow and hand over to the lab — SIM-1 is exactly the middle lane of this diagram, made interactive.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30 · 2. Intelligent monitoring · target 11:38]
[11:38–11:41] Three minutes. This is the design point that separates a demonstration from a working system.
Say it directly: 'A model trained only on full-load steady operation will scream through every start-up, every ramp and every night at technical minimum. Not because anything is wrong, but because it has never seen the machine in that condition, so everything looks abnormal to it.'
Make the cycling point personal to this fleet. Units designed for baseload now two-shift and run at technical minimum. Transitions are no longer rare. A design that treats them as exceptions to be suppressed will end up suppressed for most of the month, and then it is monitoring nothing.
The practical consequence is card four: budget for several models per machine, and a written rule for which one is live at any moment, with a name against it.
Give them the test on the punch line. 'If a vendor demonstration only ever shows steady full load, ask to see a start-up.' They will not be expecting the question, and how they answer tells you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31 · 2. Intelligent monitoring · target 11:41]
[11:41–11:53] [LAB] Twelve minutes at the keyboard. Get them into SIM-1 quickly — the file is on the desktop, opens in any browser, no login and no internet needed.
Set it up in one sentence: 'This is the ID fan bearing you just saw on the chart, except now the similarity model is genuinely running in your browser on realistic data. Nothing here is an animation.'
Read the five moves aloud before they start, then let them work. Walk the room. Sit with anyone who has not got the default case running within two minutes.
The moment that matters is the last one. When they tick 'train on contaminated history' the detection collapses — the model has learned the fault as normal and reports a healthy machine all the way to failure. Stop the room there and make somebody describe out loud what they have just seen. That is this morning's lesson, proven on their own screen.
Reconvene at eleven fifty-three sharp. Ask two people what threshold they settled on and why. There is no correct answer, and that is exactly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32 · 2. Intelligent monitoring · target 11:53]
[11:53–11:56] Three minutes. This is the specification for the programme, written in the language of the person who has to live with it.
Read the failing column down on its own — hours of warning, several false alarms a week, a small minority of alerts finding anything, a number with no reason attached, alerts sitting for weeks, findings never written back. That is a real description of a monitoring programme in its second year, and it is how they die.
Define false alarms per model-month again, because it is the one number to put in a contract: one model, one machine, one month. Below one is livable. Several a week, multiplied across a fleet of models, is unmanageable.
The stat card is verified from the June 2026 position: ₹100.87 crore of cumulative fixed-charge disallowance for availability shortfall, of which ₹32.93 crore was adjusted in the June 2026 bill alone. That is what late detection costs, and it is the company's own money, not an assumption.
Say the hard line: an alert nobody acts on is worse than no alert, because it spends the credibility the next one will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33 · 2. Intelligent monitoring · target 11:56]
[11:56–11:59] Three minutes, and it is a credibility slide. Be as precise about the right column as about the left.
The reason to be this explicit: the first miss defines the programme. If nobody has said out loud what the system cannot see, then the first sudden failure will be presented in a review meeting as proof that the whole thing does not work.
Take row four carefully, because it is the subtle one. A transmitter that stops responding is easy to catch, because its neighbours keep moving and the model notices. A transmitter that has been quietly wrong in a physically plausible way since commissioning is nearly invisible, because the model simply learned the wrong value as normal.
Read the last row twice: 'A machine degrading over weeks, against a machine failing in the next ten seconds — that is the protection system's job.' This ties straight back to this morning. Two layers, different work, neither substituting for the other.
Ask the room for a failure at their own station that this would not have caught. Take the answer seriously. It builds more trust than any success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34 · 2. Intelligent monitoring · target 11:59]
[11:59–12:02] Three minutes. Every one of these leaves the dashboard looking healthy, which is exactly what makes them dangerous.
Compression first, because it is the most common and the least suspected. Exception deviation and compression deviation were set years ago for clean screen trends and manageable disc space. Those settings discard small, slow movements — precisely the signal a degradation model exists to find. Say it plainly: 'The evidence may be deleted before it is ever stored, and the trend on your screen will look perfectly normal.'
The frozen transmitter is the one to dwell on: residual to zero, model reports perfect health, machine degrades unwatched. A monitoring system must therefore monitor its own inputs — a signal that has not changed in six hours is itself an alert.
Post-overhaul drift is the organisational one. After an overhaul the machine is genuinely different. An un-retrained model alarms continuously, is disbelieved, and is switched off inside a month — and nobody ever records that it was switched off.
Land the closing line: a quiet model is not evidence of a healthy machine until you have checked why it is quiet.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35 · 2. Intelligent monitoring · target 12:02]
[12:02–12:05] Slow down here. This slide is the difference between a working programme and an expensive dashboard.
Step two: 'A named engineer, daily, with time allocated in their day. Not a committee, not a vendor, not whoever happens to be free.' If nobody owns triage, alerts accumulate and within two months everybody stops opening them.
Step four is the one that always fails. Ask the room directly: 'When a condition-monitoring alert leads to an inspection at your station, does the finding ever get written back against that alert?' The honest answer is almost always no. Then explain the consequence — the model never learns which alerts were worth raising, so the false-alarm rate never falls, so trust never builds, so the programme dies.
Say explicitly that 'nothing found' is a valuable finding and must be recorded. Most programmes only capture the hits, which biases everything that follows.
The punch is a prediction, not a warning. Ask them to hold that sentence in mind when the first vendor proposal arrives with no mention of step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36 · 2. Intelligent monitoring · target 12:05]
[12:05–12:08] Three minutes. This is the slide for the people in the room who will have to run this across stations, not just on one machine.
Be honest that the model count is indicative — the order of magnitude is what matters. One model per fan, mill, pump, motor and heat exchanger reaches dozens on a single unit and several hundred across five stations.
The card that changes behaviour is the third. Say: 'Every one of these models needs an owner at the station, and the method needs one owner across the fleet. A model with no owner gets switched off quietly, and nobody writes it down.'
Use the verified contrast on card five. Khaperkheda Units 1 to 4 ran at 57.85 per cent availability in June 2026; Parli Unit 8 at 97.40 per cent. Same company, same month, entirely different duty and condition. A model does not transfer between them without retraining, and anyone who says otherwise has not tried it.
Land the punch: hundreds of models is a governance problem wearing an engineering costume.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37 · 2. Intelligent monitoring · target 12:08]
[12:08–12:10] Two minutes, then lunch. Do not introduce anything new and do not run over — the room is already thinking about food.
Take the three takeaways as statements they proved themselves rather than things you told them. 'You did not take my word for the lead time — you measured it in SIM-1. You did not take my word that the training period matters — you broke the model yourself and watched the detection disappear.'
The third card is the one to leave hanging. Without the feedback step the programme dies. Say it once, and let it sit.
Then set up the afternoon in a single sentence: after lunch we stop talking about equipment and start talking about money — heat-rate loss attribution and auxiliary power, on MAHAGENCO's own June 2026 numbers, with ₹56 crore of net heat-rate gap in one month and ₹100.87 crore of fixed-charge disallowance on the table.
Give them the exact time to be back, and then finish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38 · 3. Predictive maintenance · target 12:10]
[12:10] Section divider. Say the session title, name the two or three things they will be able to do at the end of it, and if there is a lab in this session, say so now so laptops are open. Ten to fifteen seconds — do not talk over a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39 · 3. Predictive maintenance · target 12:10]
[12:10–12:14] Open the block by asking the room to place their own station on this ladder, honestly. Most will say condition-based. Then ask the follow-up: how often is the vibration route actually walked, and what happens to the readings afterwards. That usually moves the answer back a rung.
Work down the third column. Row one costs you collateral damage and a spare nobody staged. Row two costs you healthy machines opened on a calendar. Row three is genuinely good engineering, but the sampling interval is monthly and the fault does not consult the schedule.
Row four is what changes: the same measurement, taken continuously, with a model that projects forward instead of comparing to a limit.
Be clear about what row four costs. Not a large capital sum — data plumbing, one engineer who owns triage, and the discipline to close every alert. That is the honest price, and this block will keep returning to it.
Land the punch. Prescriptive maintenance answers which action costs least, not merely when. It is real, and no station reaches it directly from row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40 · 3. Predictive maintenance · target 12:14]
[12:14–12:17] Start with the room's own experience. Ask how many BFP-related trips or load restrictions their station has had in the last two years. On a fleet this size the hands will go up quickly.
Walk the detects list, but spend the time on the last two. Hydraulic performance drift and balance drum wear are the ones nobody watches, because there is no alarm for them and no route reading that captures them. Developed head at a given speed and flow falls slowly over months. A model sees that; a shift engineer cannot.
Make the signals point concrete: everything in that list is already in the historian. This case needs no new instrument on most units.
The caution is the engineering point of the slide, and it applies to every case that follows. A turbine-driven pump has speed as a free variable, so its power and flow relationship is fundamentally different from a motor-driven pump running at fixed speed. One model across both drive types learns the average of two machines and represents neither.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41 · 3. Predictive maintenance · target 12:17]
[12:17–12:20] Mills are where this audience will engage hardest, so let them talk. Ask what fraction of their load restrictions in the last year traced back to a mill.
The single most useful idea on this slide is a ratio, not an algorithm: mill current per tonne of coal. Current alone tells you nothing because it moves with feed rate. Current per tonne holds across the load range and climbs steadily as grinding elements wear. Anybody in this room can plot that tomorrow in the historian with no AI at all — and almost nobody does.
On choking, be precise. Differential pressure and current start behaving abnormally hours before the mill actually chokes. That is not a threshold crossing, it is a change in pattern, which is exactly what a residual model detects.
Read the caution aloud and dwell on it. One model per mill, not per unit. Six mills on one boiler have different coal splits, different air balance and different wear. Averaging them is precisely how you hide the one that is failing.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42 · 3. Predictive maintenance · target 12:20]
[12:20–12:23] Fans matter twice over. They fail and take the unit down, and they consume a very large share of the auxiliary power bill we will read after lunch. Say that link explicitly — it sets up Block 4.
On axial fans, be careful and precise. Approach to surge is a pattern in pressure and flow that a model can flag before it becomes audible, but nothing in this course sits in the surge protection loop. Detection and protection are different systems.
The caution is the line to make them write down. Fan power against gas flow, plotted for a year, is free. Every signal is already in the historian, there is no algorithm, and it shows erosion and internal fouling as a slow upward drift in power for the same duty. Ask the room, directly: has anybody here seen that curve for their own ID fans?
Usually nobody has. That is the honest state of the art in most stations, and it is a better first step than any procurement.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43 · 3. Predictive maintenance · target 12:23]
[12:23–12:26] This is the case with the highest consequence per event and the longest warning time, so it is worth the three minutes even though it is the least fashionable.
Make the first bullet the headline. Dissolved gas analysis judged against a single limit is a pass or fail test. Judged as a trend with ratios, it is a diagnosis — it distinguishes overheating from arcing from partial discharge. Same data, entirely different value.
The OLTC point usually surprises people, so explain it. The tap changer motor draws a characteristic current profile through each operation. Contact wear, mechanism binding and spring problems change the shape of that profile long before anything fails. It is the same idea as motor current signature analysis, applied to a mechanism.
Read the caution and stop there. If your station samples oil twice a year, you have two data points and no trend. No model recovers information that was never sampled. Increasing sampling frequency, or fitting online DGA on the critical units, is the project — not the analytics.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44 · 3. Predictive maintenance · target 12:26]
[12:26–12:29] This case teaches a data lesson that applies far beyond motors, so make sure the caution lands.
Explain the principle in one sentence: a fault in the rotor modulates the stator current, producing small sidebands very close to the supply frequency, and their size tells you how many bars are broken. The motor is its own sensor. No accelerometer, no shutdown, no access.
Then make the obstacle explicit. Those sidebands live at a few hertz either side of fifty. To see them you need current sampled at kilohertz rates. Your historian stores a one-minute average, and a one-minute average has thrown away every trace of them before the data ever reaches a model.
Ask the room what resolution their historian actually stores for motor current. Most will not know, and that is a genuinely useful thing to go and find out on Monday.
Land the general lesson. The data you have is not always the data the technique needs. Some applications require processing near the machine. Recognising which ones is an engineering judgement, and it is yours to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45 · 3. Predictive maintenance · target 12:29]
[12:29–12:32] This is deliberately the unglamorous slide, and it is the one most likely to be true of everybody's station.
Ask the room a blunt question: what proportion of your maintenance man-hours goes to ash handling, coal handling and the ESP? The answer is usually far higher than anybody expects, and far higher than the analytics attention these systems receive.
The teaching point is that the technique here is trivial. Cycle-time drift — a vessel that used to evacuate in ninety seconds now taking a hundred and forty — is a first-year statistics problem, not machine learning. The obstacle is that the number is sitting in a PLC and never reaches a historian.
On the ESP, connect it forward to Block 4. Field energisation is both a maintenance question and an auxiliary power question, and after lunch we will see the auxiliary bill for the whole fleet.
Land the caution honestly. For this equipment, the first project is instrumentation and data collection, not analytics. Say that plainly — it protects the audience from being sold a model that has nothing to run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46 · 3. Predictive maintenance · target 12:32]
[12:32–12:35] Three minutes, and the whole slide exists to stop a common procurement mistake.
Say the two questions aloud as questions. What has changed? How long have I got? They sound similar and they are not. The first is answered from data you already have, with confidence an engineer can verify by walking to the machine. The second requires a model of how the damage progresses, and that model carries far more uncertainty.
Ask the room which question their morning meeting actually asks. In practice it is almost always the first — what is wrong with this machine — and that is the honest place to start.
Make the commercial warning explicit. Vendors sell prognostics because a date sounds more valuable than an alert. In a station with no reliable residual monitoring, buying prognostics is buying the roof before the walls.
Land the punch. Get diagnostics working, trusted and closing into work orders first. Prognostics is the second year of the programme, not the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47 · 3. Predictive maintenance · target 12:35]
[12:35–12:38] This slide sets up the lab, so keep it moving and let the software prove the point.
Start with the first card as a piece of theatre. Say: 'The bearing has sixty-two days left.' Then ask the room what they would actually do with that sentence. Somebody will say plan the outage at day fifty. Ask them how confident they are in the sixty-two. Nobody knows, because nobody was told.
Now reframe it with the third card. The planner does not need a date. The planner needs to know whether this machine reaches the outage that is already in the plan, and what it costs if it does not. That is a probability and an expected cost, and both are computable.
The fifth card is the one they will prove for themselves in three minutes. Thirty days of trend genuinely cannot distinguish a fast degradation from a slow one with noise on it.
Be honest about the last card. The uncertainty band is statistical only. If the degradation mechanism is not the one assumed, the band is confidently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48 · 3. Predictive maintenance · target 12:38]
[12:38–12:48] [LAB] Ten minutes, and it is the last activity before lunch, so start it briskly and keep the clock visible.
Frame it in one sentence: 'This is an exponential degradation model with a recursive parameter update, running in your browser on this station's own variable charge and its own disallowance figure. The rupees are real MAHAGENCO numbers.'
Read the six moves aloud before anybody touches the keyboard. Move three is the one that matters. When they drag days of trend observed down to thirty, the estimate of remaining life hardly changes but the ninety per cent band opens right up. Stop the room there and ask somebody to describe what they are looking at. The answer you want is that a short window cannot tell a fast degradation from a slow one with noise on it.
Move four is the second lesson. The same machine and the same trend produce opposite recommendations depending on when the next outage is. Remaining useful life only becomes a decision when it meets the outage plan.
Reconvene at twelve forty-eight. Take one answer from the room, then break for lunch.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49 · 3. Predictive maintenance · target 12:48]
[12:48–12:52] Come back from the lab straight into the company's own money. This is the slide that connects everything in this block to the regulatory filing.
Explain the mechanism first, briefly. MERC allows recovery of the annual fixed cost against a normative availability. Fall below it and a proportionate share of the fixed charge is disallowed. It is not a fine and it is not negotiable — it is arithmetic in the tariff order.
Read the top three rows slowly, because these are the largest numbers of the day. Koradi Units 8-10 at 72.50 per cent against a norm of 85, carrying ₹28.04 crore. Chandrapur 3-7 at 64.88 against a lower norm of 80, carrying ₹23.94 crore. Khaperkheda 1-4 at 57.85, the lowest in the fleet, carrying ₹21.75 crore.
Then point at the last row and let it sit. Parli Unit 8 ran at 97.40 per cent and carries nothing. The norm is achievable in this company, with this coal and these people.
Land the connection. Every case in this block was about avoiding one forced outage. That is where this number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50 · 3. Predictive maintenance · target 12:52]
[12:52–12:55] Slow this slide down. Everything before it was equipment. This is the part that decides whether any of it works.
Read the left column as a sequence and stress the fourth item. Every alert closed with a finding — confirmed, not confirmed, or not inspected. That third option is deliberate and important, because pretending everything was inspected corrupts the record. Without honest closure you never learn whether the model is any good, and the programme quietly dies of unmeasured mistrust.
On the right column, the spares point is the one that surprises managers. Predictive maintenance moves work earlier, which means the part must be available earlier. If procurement lead times are not addressed, a correct prediction produces a longer outage rather than a shorter one.
The outage scope item needs saying plainly: if the model adds work, something must come off the list in exchange, otherwise the outage grows every cycle and the programme gets blamed.
Land the last item on the right without softening it. No model output goes into protection or interlock logic. 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51 · 3. Predictive maintenance · target 12:55]
[12:55–12:58] Three minutes, and the framing matters more than the detail.
Open with the punch line rather than saving it: none of these eight failures is a mathematics problem. Every one is organisational, and every one is cheap to prevent if it is anticipated.
Take row one seriously, because it is the most common and the most invisible. A model trained on a period that already contained the developing fault learns the fault as normal and never alerts. They saw exactly this in SIM-1 this morning. The countermeasure is simple and almost never done — check your training window against the CMMS work-order history before you train.
Row three is the one that kills adoption fastest. Twenty alerts in the first fortnight and the operators stop reading them, permanently. Trust is spent once.
Ask the room which of the eight they think is most likely at their own station. Their answers are useful intelligence for whoever writes the implementation plan, and they will be candid because none of it is hypothetical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52 · 3. Predictive maintenance · target 12:58]
[12:58–13:00] Two minutes, no more. They are hungry and the afternoon is the important part of the day.
Run the four cards briskly. The first is continuity from this morning: the residual detects, the trend projects. The second is the engineering rule they should apply to every proposal they see — one model per machine, never per unit. The third is the organisational rule from the previous slide, compressed to one line.
The fourth card is the handover. Say it and then stop talking: one hundred crore and eighty-seven lakh, cumulative disallowance for availability shortfall, from our own June bill. Not an estimate, not a benchmark, not a vendor case study.
Then set up the afternoon in one sentence. 'When we come back, every number on the screen comes out of MAHAGENCO's own regulatory filing for June 2026, and by the end of that block you will be able to read your own station's F10 sheet and say where your money is going.'
Give them the return time clearly and let them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53 · 4. Reading our own numbers · target 14:30]
[14:30] Section divider. Say the session title, name the two or three things they will be able to do at the end of it, and if there is a lab in this session, say so now so laptops are open. Ten to fifteen seconds — do not talk over a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54 · 4. Reading our own numbers · target 14:30]
[14:30–14:32] Two minutes. The only job of this slide is credibility, so do not linger.
Say the framing sentence plainly: 'For the next half hour there is not one invented number on the screen. Everything comes from three documents this company produced in the last eight weeks.'
Name them quickly. The energy bill gives availability, PLF and generation. The Part-I fuel surcharge bill carries the F10 energy charge rate calculation, which contains heat rate, auxiliary consumption, as-fired GCV, oil consumption and transit loss for every station. The merit order stack gives the variable charge and the dispatch rank.
Spend the remaining time on the fourth card, because it is the point of the slide. F10 exists to compute a billing rate. It is prepared by the commercial department, submitted, and filed. Nobody in operations receives it as a performance report, and yet it is the most complete monthly statement of how each station actually ran.
Ask the room directly: who here has seen their own station's F10 sheet? Usually one or two hands. That is the opportunity, before any technology is discussed.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55 · 4. Reading our own numbers · target 14:32]
[14:32–14:35] Three minutes. Let them find their own station first — say the row order is by availability, highest at the top, so they can locate themselves quickly.
Draw out three contrasts and nothing more, or this becomes a reading exercise.
First, availability and PLF are not the same thing. Nashik is the most available station in the fleet at 94.62 per cent and its PLF is 58.40. It is ready and it is not being called. Hold that thought — slide six explains why.
Second, the heat-rate gap does not track the size or the age of the unit. Khaperkheda Unit 5 is ten kilocalories from its norm. Koradi Units 8-10, the newest and largest supercritical machines in the fleet, are two hundred and twelve away from theirs.
Third, the norm itself differs. Comparing raw heat rates across rows is meaningless; the gap column is the only fair comparison, because each station is being judged against its own approved standard.
The stat card is the number for the day. Fifty-six crore in one month, from heat rate alone. Roughly six hundred and seventy-six crore a year if June is typical.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56 · 4. Reading our own numbers · target 14:35]
[14:35–14:38] This is the pivot of the afternoon. Slow down and let the arithmetic land before you show the result.
Write the identity in the air as you say it: gross heat rate equals net heat rate multiplied by one minus the auxiliary fraction. Then say why it matters. Net heat rate already contains auxiliary power inside it. So a station can be penalised on net heat rate while its boiler and turbine are performing better than the norm, and the raw number gives no hint of that at all.
Now deliver the Nashik result and pause. Gross 2,440 against a normative 2,458. The boiler and the turbine are seventeen kilocalories better than the standard MERC set for them. Every one of the fifty kilocalories of penalty is auxiliary power, at 12.96 per cent against a norm of 10.75.
Say what that changes. A combustion optimisation project at Nashik would be aimed at the one part of the station that is already winning. The money is in the switchgear.
Ask the room whether anybody has ever seen this split for their own station.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57 · 4. Reading our own numbers · target 14:38]
[14:38–14:40] Two minutes, and it is a pointing slide rather than a reading slide. Give them the top four rows and the bottom row.
The top four all have a negative gross gap. Four station groups whose boilers and turbines are better than the standard MERC approved for them, and which are nonetheless being penalised on net heat rate. Chandrapur Units 3-7 are sixty-two kilocalories better than their gross norm and carry a three point zero two percentage point auxiliary gap. Every rupee of their heat-rate penalty is electricity consumed inside the fence.
Now the bottom row, which is the opposite case. Koradi Units 8-10 have almost no auxiliary gap at nought point nine five, and a genuine one hundred and seventy-six kilocalorie boiler and turbine gap on 964.8 MU. That is combustion, condenser and air pre-heater work, and it is worth ₹22.84 crore in one month by itself — that is the gross gap valued on gross generation.
One housekeeping note if anyone is sharp: the minus eighteen for Nashik here and the seventeen quoted on the previous slide are the same figure at two different roundings.
Same table, two opposite programmes. That is why the decomposition comes before the project list.
Watch the stat card, and say this out loud, because it is the discipline the whole session is teaching: the gross gap is 176 kcal/kWh and it is valued on the 964.8 MU the station generated, giving ₹22.84 crore. The net gap is 212 and it is valued on the 897.75 MU it sent out, giving ₹25.61 crore. Both are correct. Multiplying a gross gap by net units, or the reverse, is exactly the mistake that produces the ₹89 crore number nobody can defend.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58 · 4. Reading our own numbers · target 14:40]
[14:40–14:42] Two minutes. This slide gives every station in the room its own price for a kilocalorie, and that price should decide where effort goes.
Explain the arithmetic in one line. Divide the station's own merit order variable charge by its own actual net heat rate and you have the cost of one kilocalorie of delivered heat. No assumed coal price, no assumed GCV, no benchmark. Work back through the as-fired GCV and you get the implied delivered cost of a tonne of coal.
Then read the two ends. Nashik at ₹0.002133 a kilocalorie and an implied ₹6,217 a tonne. Khaperkheda Unit 5 at ₹0.001337 and ₹3,655. Seventy per cent apart, inside one company, in one month.
Draw the consequence out loud. Ten kilocalories per kilowatt hour saved at Nashik is worth substantially more than the same ten at Khaperkheda 5, on the same generation. Efficiency effort should follow the cost of heat, not the size of the unit or the age of the plant.
Ask each station to note its own row from the handout before we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59 · 4. Reading our own numbers · target 14:42]
[14:42–14:44] Handle this slide carefully. Nashik is the host station and several people in the room work there, so make the framing structural from the first sentence.
Say it directly: 'This is not a criticism of anybody's operation. It is how the merit order works, and Nashik happens to be the clearest illustration in the fleet.'
Then walk the chain slowly, because it is the most important causal argument of the day. Heat rate and delivered coal cost together set the variable charge. The variable charge sets the position in the merit order. The position determines how much the station is despatched. Despatch determines PLF. And PLF determines how well the fixed cost is recovered.
Hold the two Nashik numbers side by side. Highest availability in the fleet at 94.62 per cent, PLF at 58.40. The station is ready and the stack is not calling it.
Make the honest point about the lever. Nobody at a station controls where the other generators bid. What a station controls is its own variable charge, and that is heat rate and fuel cost — the two things this block has just decomposed.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60 · 4. Reading our own numbers · target 14:44]
[14:44–14:47] Three minutes, and one warning that must not be skipped.
Give them the scale first. Eighty-one and a half million units above normative auxiliary consumption in a single month. That is roughly the monthly output of a small unit, generated and then consumed inside the fence. Valued at each station's own variable charge it is ₹32.9 crore.
Read the worst three: Parli Units 6-7 at 12.41 against a norm of 9.30, Chandrapur 3-7 at 11.69 against 8.67, Nashik at 12.96 against 10.75. Note that Chandrapur 3-7 carries the largest excess in absolute terms at 23.03 MU because of its size, and the largest value at ₹9.52 crore.
Now the warning, and say it slowly. This ₹32.9 crore is not additional to the ₹56 crore heat-rate gap. Net heat rate already contains auxiliary power. The auxiliary figure is a component of the fifty-six, not an addition to it. Any business case that adds them together double counts about thirty-three crore and will not survive its first meeting with finance.
Ask them to write that down. It is the most common error in this arithmetic.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61 · 4. Reading our own numbers · target 14:47]
[14:47–14:49] Two minutes on the two costs that sit outside the heat-rate arithmetic and are usually treated as somebody else's department.
On oil, give the comparison rather than the raw figure. Parli Units 6-7 at 2.87 millilitres per kilowatt hour against a norm of 0.50 is nearly six times the allowance. Chandrapur 3-7 at 3.23 against 1.00. Then ask the question that matters: how much of that oil was genuinely required to hold a flame, and how much was precautionary because nobody could be sure. Nobody in any station can answer that today, and that is exactly what a flame-stability prediction addresses.
On coal, the transit loss and GCV loss figures are the ones to stress. Six hundred and nineteen to nine hundred and forty-one kilocalories per kilogram lost between loading and unloading. Paras at 1.924 per cent transit loss against a norm of 0.800.
Make the connection to this morning. A GCV soft sensor predicts as-fired quality from plant signals hours before the laboratory result arrives. That is SIM-4, and it is a supervised model trained on your own lab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62 · 4. Reading our own numbers · target 14:49]
[14:49–14:59] [LAB] Ten minutes, and this is the lab that most directly changes what people do on Monday. Get them started fast.
Frame it in one sentence: 'This module is running on the June 2026 F10 figures for your own station. The decomposition is the identity from three slides ago, and the rupee arithmetic uses your own merit order variable charge.'
Insist on move three, because it is the teaching point. Nashik and then Koradi Units 8-10, one after the other. Two stations with a similar-looking net penalty and completely opposite diagnoses. Ask somebody from each station to say aloud what their own bar chart shows.
Walk the room during moves four and five. The auxiliary slider is where the room usually goes quiet, because half a percentage point turns out to be worth more than most people assume.
Move six is not optional. The red panel is the warning that the fifty-six crore and the thirty-three crore are not additive.
Reconvene at fourteen fifty-nine sharp. Take one sentence from two different stations before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63 · 4. Reading our own numbers · target 14:59]
[14:59–15:00] One minute. This is the slide people will photograph, so give it the time it needs and end on the punch line rather than on a summary.
Run down the first column only, naming the pain point and its evidence, and let the second and third columns be read rather than spoken. Availability first, because the ₹100.87 crore disallowance is the largest single number in our own filing. Auxiliary power second at 81.5 MU and ₹32.9 crore. Boiler and turbine third, concentrated almost entirely at Koradi Units 8-10. Oil fourth, coal quality fifth.
Then stop and read the punch line word for word, slowly. Every rupee figure on this map is the value of closing a gap completely against the norm. No programme in any industry closes a gap completely. Fifteen to twenty-five per cent of the identified gap in the first year is what a serious plan assumes, and anybody promising more should be asked for their evidence.
Say the last sentence and leave it there: this map came out of our own bill, not out of a brochure.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64 · 5. What others have done · target 15:00]
[15:00] Section divider. Say the session title, name the two or three things they will be able to do at the end of it, and if there is a lab in this session, say so now so laptops are open. Ten to fifteen seconds — do not talk over a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65 · 5. What others have done · target 15:00]
[15:00–15:03] The point of this slide is not vendor promotion. It is to remove the objection that this is something foreign companies do.
Start with NTPC — NePPS is the closest analogue to what MAHAGENCO would build, and it came out of their own research centre rather than a purchase.
Be scrupulously honest about Tata Power: the Databricks announcement is about grid, renewables and customer data. Thermal generation is not mentioned. Say that out loud. If you overstate one reference, the room will discount all six.
The SAIL Bokaro number is the most useful one for a sceptic — ₹3.23 crore a year from optimising combustion chemistry, in an Indian PSU, reported publicly.
Ask the room: 'Which of these six is closest to something you could start at your station in ninety days?' The honest answer is usually the NLC and NPCIL route — a partnership with an engineering institute.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66 · 5. What others have done · target 15:03]
[15:03–15:07] This is the single most useful external reference in the day, because it is the same problem we looked at ten minutes ago.
Walk the four rows. Then do the arithmetic aloud: one per cent of Koradi 8-10's actual net heat rate of 2,442 kcal/kWh is about 24 kcal/kWh. Their measured gap against norm is 212. So a Vistra-class result would recover roughly a ninth of the identified gap — which at Koradi's own cost of heat is still meaningful money.
Make the honest point about the third row: the pilot got 2 per cent, the fleet averaged 1 per cent. That halving is completely typical, and any business case that assumes the pilot number will replicate across the fleet is wrong. Plan on the fleet number.
Ask: 'What would it take for us to run a thirty-minute setpoint advisory on one unit?' The answer is Session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67 · 5. What others have done · target 15:07]
[15:07–15:10] Duke Energy runs AVEVA's PRiSM predictive asset analytics. The technology matters less than the structure around it, and that structure is directly copyable.
Dwell on the third row. Five analysts. Eleven thousand models. That ratio only works because the monitoring is centralised — no station can justify a dedicated analyst, but a fleet can.
MAHAGENCO has thirteen thermal unit groups across seven stations. A central monitoring cell of three to five engineers, seeing every station's alerts, is a realistic organisational proposal and it is the one thing on this slide you could put in a note to management next week.
The US$ 34 million single catch is the headline, but be careful with it — it is one event, in one year, reported by the vendor. Use it as an existence proof of the upside, not as an expected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68 · 5. What others have done · target 15:05]
[15:05–15:10] Five minutes, and this is the most useful slide in the block for a MAHAGENCO audience, because it is the nearest neighbour — an Indian state-scale thermal fleet, imported and domestic coal, the same auxiliaries.
Give them the good news first, because it is genuinely impressive and it is real. Eight sites, twenty-five units, a hundred and fifty thousand tags, one operations centre in Ahmedabad. Boiler losses itemised every fifteen minutes. A health index that scores your boiler feed pumps individually. This is not a pilot on one unit, it is a fleet.
Then the two corrections, and take your time over them.
First: the fifteen-minute efficiency calculation is NOT machine learning. It is thermodynamics — enthalpy and entropy in PI Asset Framework — with coal quality entered manually. That is a heat balance running continuously, which is a fine thing and something we could do, but it is not AI, and their own slide says so. The AI/ML in that deployment is Python code scoring health parameters.
Second, and this is the one to sit on: there is no published number. Not in the vendor deck, not on AVEVA's website, not in Adani Power's own annual report. In that annual report the only two heat-rate improvements quantified in kilocalories are credited to replacing air-preheater baskets and cleaning water boxes. The digital programme is listed with no number attached at all.
So the honest reading is: capability documented, benefit undocumented. That is not an accusation — it is the normal state of this industry's published evidence, and NTPC's PI System presentation has exactly the same shape.
If somebody asks for an Indian number they can actually stand behind, give them NTPC Talcher Kaniha: station heat rate 2,700 down to 2,614 kcal/kWh over five years, USD 35 million saved, verified under ISO 50001 and the BEE PAT scheme and audited by the CAG. Even there the savings are not decomposed to say what the software contributed. That is how thin the ground is, and it is why we spent this morning on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69 · 5. What others have done · target 15:10]
[15:10–15:12] This slide is the most practically useful of the block, because everyone here will sit through vendor presentations in the next year.
Give them the three questions and make them write them down: which plant, what baseline, who measured it. A claim that survives all three is worth engaging with. A claim that fails any one of them is advertising.
Point out that even the strong references have caveats. Vistra's fleet number is half its pilot number. Duke's US$ 34 million is a single event. NTPC's system is real but publishes no benefit figure. Being able to state the caveat is what makes you credible when you take a proposal to management.
End with the honest position: the technology is proven, the benefit is real and smaller than the brochure, and the variable that decides your outcome is your own data and your own follow-through.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70 · 5. What others have done · target 15:11]
[15:11–15:12] Close the block on expectation management, because this is where internal credibility is won or lost.
The sentence that matters is the punch line. If someone in this room takes a proposal to a director claiming ten per cent and delivers one, the next five proposals from this room will not be read.
Relate it back to Session 4: our identified gap is 212 kcal/kWh at Koradi 8-10. A Vistra-class outcome recovers around 24 of that. That is not a disappointment — it is ₹2.95 crore a MONTH at that station's own cost of heat — about ₹35 crore a year, from software and discipline rather than capital works.
Then move straight into Session 5, which is how that 24 kcal/kWh is actually 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71 · 6. Performance optimisation · target 15:12]
[15:12] Section divider. Say the session title, name the two or three things they will be able to do at the end of it, and if there is a lab in this session, say so now so laptops are open. Ten to fifteen seconds — do not talk over a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72 · 6. Performance optimisation · target 15:12]
[15:00–15:02] Open the money block with this table up and do not rush it.
Say plainly that these sensitivities are indicative and typical, not measured at your station. Every unit has its own numbers and the OEM heat balance is where they live. What is not indicative is the shape of the table: the two largest single items are excess O₂ and unburnt carbon, and both are influenced by an operator on every shift.
Point at the supercritical column and make the comparison explicit. A 660 MW supercritical unit is less sensitive in kcal/kWh terms simply because its base heat rate is lower — but the same percentage loss on a bigger machine is more coal.
Ask the room directly: which of these eight does your station measure well enough to act on today, and which do you only ever see in the monthly performance report? The honest answer for most stations is two or three.
Land it on the stat card. One kcal/kWh held for a year is fourteen to forty-four lakh rupees depending on unit size. Across the thirteen groups, the June 2026 net heat-rate gap was fifty-six crore rupees in a single month. This table is the anatomy of that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73 · 6. Performance optimisation · target 15:14]
[15:02–15:04] Two minutes. This is the bridge from the sensitivity table to everything that follows.
The left panel is not a criticism of the performance engineer. The monthly report is a correct calculation of a dead month. Say it that way — the arithmetic is right, the timing makes it useless for control.
Explain expected heat rate in one sentence: the same idea as the residual from this morning, applied to the whole unit instead of one bearing. Given load, coal, ambient and cooling water temperature, the unit should be at a certain heat rate. It is at another. The difference is the only number worth managing.
The attribution is the part that changes behaviour. A gap of fifty kcal/kWh means nothing to a shift engineer. Fifty kcal/kWh of which twenty-three is auxiliary power, eleven is back pressure and nine is excess air — that is four separate conversations with four different people, and three of them can act before the shift ends.
Ask the room: how long after a heat-rate excursion does your station currently find out? Let the answer sit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74 · 6. Performance optimisation · target 15:16]
[15:04–15:06] Two minutes, and give the right column more of them than the left.
The left column is genuinely unremarkable engineering: a model fitted to your own data, a search over a handful of manipulated variables, a bias written to the DCS. Say the word bias carefully — it moves an existing setpoint within a bound. It does not take over the control loop and it does not touch a protection.
The right column is where these projects live or die. Read the availability line aloud and dwell on it: if the optimiser is in service forty per cent of the time, the benefit reported in the contract is a benefit nobody received. Ask the room whether anyone has an advanced control application on their unit that is currently switched off. There will be hands, and there always are.
The honest line to say: every one of the right-hand items is unglamorous, none of it appears in the sales presentation, and all of it is your responsibility to specify before the purchase order goes out.
Set up the next slide by asking what the optimiser is optimising for. Nobody ever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75 · 6. Performance optimisation · target 15:18]
[15:06–15:08] Two minutes, and make this the slide they argue about.
Walk the four cards quickly, then stop on the punch line and stay there. Every combustion optimiser contains a weighted sum. Somebody chose those weights. In almost every installation that somebody was a commissioning engineer under time pressure, working alone, and nobody in the station has looked at the numbers since.
Put the question to the room in its uncomfortable form: what is one milligram per normal cubic metre of NOx worth to MAHAGENCO in kcal/kWh? Nobody can answer it, and that is exactly the point. It is a policy question about emission compliance margin against fuel cost, and it belongs to management, not to the algorithm.
Say the consequence plainly. If you do not choose the weights, the vendor chooses them for you, and the machine will then optimise faithfully towards somebody else's priorities for the next ten years.
Then hand over to the lab. Tell them they are about to move those weights themselves and watch the recommended operating point slide along the frontier in front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76 · 6. Performance optimisation · target 15:20]
[15:08–15:20] [LAB] Twelve minutes. Get them into SIM-6 quickly and read the five moves aloud before anyone touches a slider.
Frame it in one sentence: a response-surface model of a boiler with a weighted-sum optimiser on top of it, running in the browser. Same structure as a real combustion optimiser, smaller.
The first two moves are the teaching. When the NOx weight goes to maximum the recommended operating point moves and the heat-rate gain falls. Nothing has broken. The optimiser is doing exactly what it was told. Stop the room after step two and ask somebody to read out both numbers — the NOx figure and the kcal/kWh they gave up to get it.
Moves four and five are the safety lesson and they land physically. With clamps removed the optimiser proposes an operating point that is arithmetically optimal and operationally unacceptable. It has no concept of a mill, a burner or a tube. It only has the objective function you gave it.
Walk the room. Reconvene at fifteen twenty sharp and ask two people what weights they settled on and why they would defend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77 · 6. Performance optimisation · target 15:32]
[15:20–15:22] Two minutes, straight out of the lab and into the most neglected loss on the plant.
The left column is a diagnosis that most stations never make. Fouling and air ingress both show as poor vacuum and are treated the same way — with a vacuum complaint in the log. They are different faults with different fixes, and the two of them separate cleanly on terminal temperature difference against cooling water rise. Say that this discrimination needs no new instrument, only the arithmetic done continuously on tags you already historise.
The right column is deliberately practical. Point at the wet bulb line. Back pressure judged against a fixed design figure will look bad every May and good every January, and neither reading tells you anything. Judged against what is achievable at today's wet bulb, it tells you whether you have a problem.
Ask the room: who computes cleanliness factor more often than once a month? Very few hands.
Land the punch. Eight to twelve kcal/kWh for ten millimetres of mercury, indicative, and most of it recoverable with cleaning and a pump schedule rather than capital.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78 · 6. Performance optimisation · target 15:34]
[15:22–15:24] Two minutes. This is the second-largest controllable loss in the company and the one with the least engineering attention on it.
Make the framing explicit before the cards: auxiliary power is not principally an efficiency problem, it is a combinatorial scheduling problem. At any load there are many valid combinations of mills, fans, pumps and fields. They are not equally expensive. Operations picks a valid one, because that is the job, and a valid one is not the cheapest one.
Read the punch line slowly. Three stations, three gaps of two to three percentage points, sustained over a month. Then say the consequence: 81.5 MU above norm across the fleet in June alone, worth 32.9 crore rupees at each station's own variable charge. That is roughly the annual output of a small unit, consumed behind the gate.
Ask the room: at your station, who decides the CW pump combination on a hot afternoon, and against what document? The answer is almost always a person and a habit, not a calculation.
Then hand straight over to SIM-3, where they will do that calculation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79 · 6. Performance optimisation · target 15:36]
[15:24–15:34] [LAB] Ten minutes. Insist on step one — their own station's load and cooling water temperature, not the default. The whole value of this module is that the answer is about their unit.
Step two matters as much. Make them enter the configuration they think is running right now, from memory. That is the comparison the module exists to make.
The teaching moment is step five. Push the cooling water inlet to thirty-eight degrees and the optimum pump count changes. Say aloud what that means: a pump schedule fixed at commissioning is correct on exactly one day of the year, and wrong by some margin on the other three hundred and sixty-four.
Step six is deliberately humbling and takes the sting out of the message. Some engineers will match the optimiser once. Nobody matches it repeatedly across load, ambient and equipment availability. That is not a comment on the engineer. It is a comment on how many combinations there are.
Walk the room and collect two or three rupee figures. Reconvene at fifteen thirty-four and read the best and the worst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80 · 6. Performance optimisation · target 15:42]
[15:30–15:33] The time-alignment box is the one engineers underestimate. A lab result describes coal sampled at a point in the chain, and the coal actually in the furnace at that moment left the bunker hours earlier. Getting that lag wrong destroys the model, and no algorithm recovers from it.
Stress 'Deploy with limits'. When the model is asked about an operating point outside anything in its training set, it will still return a number, confidently. A deployed soft sensor must say 'outside my range' instead.
The feedback arrow is the real-world killer. June 2026 shows imported coal at 4,624 to 4,709 kcal/kg blended with domestic at around 3,000. A model trained on one blend will mislead on another.
Hand over to SIM-4 if time allows, or point them to it for the evening.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81 · 6. Performance optimisation · target 15:46]
[15:34–15:35] One minute. This is a short slide and it should feel like an obvious idea that nobody has implemented.
Start with the current practice: soot blowers on a fixed sequence and a fixed interval, because that is what was commissioned. The furnace does not foul on a timetable. It fouls according to coal, load, ash chemistry and how the mills happen to be running.
The first step is the one that surprises people, so say it directly: no new instrument is required. Surface effectiveness is computed from gas and steam side temperatures and flows that are already on the DCS. It is arithmetic done continuously, not hardware.
Step four is the one to leave them with. If a blower operates and recovers no heat, that is not a fouling result, it is a defect report — a stuck lance, a blocked nozzle or a starved header. The system finds mechanical faults as a by-product of doing its main job.
One line to close: less steam consumed, less erosion, cleaner surfaces where it matters. Then move on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82 · 6. Performance optimisation · target 15:47]
[15:35–15:37] Two minutes. This slide connects the performance block to the fuel bill.
Open with the spread. As-fired gross calorific value across our own thirteen groups runs from 2,733 kcal per kilogram at Khaperkheda 5 to 3,270 at Parli 8. That is one company, one procurement function, and a twenty per cent spread in the energy content of the fuel.
Explain the soft sensor in plant language: it is not a laboratory replacement, it is a laboratory extension. It learns the relationship between what the boiler is doing and what the laboratory later reports, then predicts the laboratory result continuously. Its error must be reported honestly and it will be, in the lab module.
The transit loss card carries the hardest number. Between loading and unloading, GCV falls by 619 to 941 kcal per kilogram. Some of that is sampling method and some of it is real. Nobody currently separates the two, and the separation is worth doing rake by rake before it is argued about in a contract meeting.
Ask: at your station, how many hours old is the GCV figure the operator is working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83 · 6. Performance optimisation · target 15:49]
[15:37–15:39] Two minutes. This is the whole block on one screen.
The top three rows are Chandrapur 8-9's own June 2026 figures: net heat rate 2,425 against 2,375 normative, gross 2,258 against 2,232, auxiliary 6.90 per cent against a 6.00 per cent norm. Do the decomposition aloud — about twenty-seven kcal/kWh of the fifty is boiler and turbine, about twenty-three is auxiliary power. Say clearly that the split below that line is illustrative of how the screen would present it, not an audited attribution.
Then walk the structure, because the structure is the lesson. A deviation with both numbers. Contributors ranked, each with kcal/kWh against it. One specific action, not a list. A rupee figure for actioning it — eight kcal/kWh on this unit's June generation at its own cost of heat is about twenty-seven lakh rupees a month.
Ask the room whether they would act on this screen. Then read the punch line twice. Advisory and closed-loop are two different purchases with two different safety cases, and vendors routinely blur them in the same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84 · 6. Performance optimisation · target 15:51]
[15:39–15:40] One minute, then the break. Do not introduce anything new.
The point of this slide is that there is no fleet answer. Read the first two cards against each other. Nashik's gross heat rate is seventeen kcal/kWh better than its normative figure — the boiler and turbine are doing their job and the entire fifty kcal/kWh penalty is auxiliary consumption at 12.96 per cent against a 10.75 per cent norm. Koradi 8-10 is the mirror image, with a 176 kcal/kWh gross gap on nearly 965 MU of generation.
Say the consequence: if Nashik buys a combustion optimiser it will have bought the wrong thing, and if Koradi 8-10 starts with pump scheduling it will have started in the wrong place. The decomposition costs nothing and it comes first.
End on the Monday card, because it is the only one that requires action from them. One unit, one month, one loss account. Everything in this block was built on exactly that.
Give them the exact time to return, and finish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85 · 7. Generative AI, RAG and agents · target 15:55]
[15:55] Section divider. Say the session title, name the two or three things they will be able to do at the end of it, and if there is a lab in this session, say so now so laptops are open. Ten to fifteen seconds — do not talk over a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86 · 7. Generative AI, RAG and agents · target 15:55]
[15:50–15:52] Two minutes, and get the mental model right before anything else in this block.
Explain next-token prediction with a plant sentence. Start 'the boiler feed pump discharge pressure is' and the model will complete it with something entirely plausible. It is completing a pattern, not consulting a record. Everything else it appears to do is that operation, repeated at scale.
Then the honest part, which this audience will respect. There is no database inside it. When it produces a clause number, a setting or a torque value it is completing a pattern that looks like a clause number. Sometimes that pattern happens to be correct. It has no way of knowing which.
Ask the room whether anyone has caught one of these tools inventing something. Usually a few hands, usually with a good story. Let one person tell it.
Land the punch. Brilliant assistant, terrible authority. The rest of this block is entirely about how to keep the assistant and remove the authority — and the answer is not a better model, it is your own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87 · 7. Generative AI, RAG and agents · target 15:57]
[15:52–15:53] One minute. Move briskly; this slide only has to be recognised, not taught.
Read the cards as a description of their own working day rather than as a list. The test question to put to the room: at two in the morning, with a unit tripped, how long does it take to find the current version of the relevant operating instruction and the last time this same trip happened? Nobody says minutes.
The RCA card is the one to stop on. Those documents are the most expensive knowledge the station produces — a committee, weeks of work, the truth about a real failure — and they are read once. A failure repeats at another station three years later and nobody knows the report exists.
The tacit knowledge card lands by itself in this room. Do not over-explain it.
Land the punch. Every item on this slide is text written by engineers for engineers. That is precisely the material this technology handles well, and it is why the generative AI conversation for a power station starts with documents and not with chatbots.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88 · 7. Generative AI, RAG and agents · target 15:58]
[15:53–15:55] Two minutes. This is the slide that will save somebody a wasted procurement.
Work across the third column, because it decides everything. With prompting, the knowledge lasts one question. With retrieval, a revised SOP is live the moment it is re-indexed. With fine-tuning, the knowledge is baked into the weights and the only way to change it is to retrain and re-validate.
Then say the sentence they need to carry into a vendor meeting: a power station's documents change constantly — revisions, circulars, modified settings, new trip reports every month. Any approach that requires retraining to reflect a revision is structurally wrong for us, regardless of how impressive the demonstration was.
Be fair to fine-tuning so it does not sound like prejudice. It is genuinely useful for making a model write in a house style or produce a fixed report format. It is not a way to teach it facts that change.
Ask whether anyone has been offered a fine-tuned model trained on their manuals. If yes, the follow-up question is: what happens when the manual is revised?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89 · 7. Generative AI, RAG and agents · target 16:00]
[15:55–15:56] One minute, delivered crisply. The four steps are the whole architecture.
The order is the point, so say it as a sentence: search first, then answer. A plain chatbot answers from memory. A retrieval system finds the passage first and then writes an answer constrained to it. That single reordering is the difference between a novelty and an engineering tool.
Step four contains the instruction that matters most, and it is worth reading aloud: say that you do not know when the passages do not contain the answer. A model that admits ignorance is far more useful than one that always produces something, and that behaviour is configured, not hoped for.
Make the honest caveat now rather than later. Retrieval reduces invention sharply. It does not eliminate it, which is why the citation exists — so an engineer can open the source and check in thirty seconds.
Land the punch and move straight on. An answer you cannot trace is an answer you cannot use, whatever it says and however well it 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90 · 7. Generative AI, RAG and agents · target 16:01]
[15:56–15:57] One minute. This is the slide that separates people who have built one of these from people who have watched a demonstration.
Go straight to the fourth card and tell it as an incident, because it is the failure everybody eventually meets. An engineer asks about the Unit 4 boiler feed pump. The system retrieves a passage from the Unit 3 manual, because the two documents read almost identically. It answers fluently and cites its source correctly. Every part of the machinery worked. The answer is wrong for that machine, and the citation makes it look more trustworthy, not less.
Say the diagnosis plainly: nothing about the model caused that. It was a missing tag.
The revision card is the same failure in a different dress, and it is the one that carries safety weight. A superseded procedure retrieves just as well as the current one unless status is on the passage.
Land the punch. When somebody in this company scopes a retrieval project, the effort is in the filing, the tagging and the version control — and that work is done by engineers who know the documents, not by data scientists.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91 · 7. Generative AI, RAG and agents · target 16:02]
[15:57–16:07] [LAB] Ten minutes. Read the five moves aloud before they start, and insist on the order in step one — passages first, answer second.
Frame the module honestly: this is real TF-IDF retrieval with cosine similarity over an indexed plant corpus, running in the browser. The retrieval is genuine. The answer generation is simulated so that the module works offline, and the contrast it demonstrates is exactly the one you meet in a real system.
Step three is the moment that lands. Grounded off, the same question produces a fluent, confident, structured answer with no source — and something in it is invented. Stop the room there and ask somebody to read both answers aloud, one after the other. Most people cannot tell which is which from the writing alone. That is the entire lesson.
Step four is the practical one engineers appreciate. Meaning-based search is poor at exact strings, which is why real systems run keyword and semantic search together.
Walk the room. Reconvene at sixteen zero seven and ask what they had to check in the ungrounded answer to catch the invention.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92 · 7. Generative AI, RAG and agents · target 16:10]
[16:05–16:09] This is the most important diagram of the afternoon. It is the answer to 'but it makes things up'.
Walk the top lane and stop at 'Attach metadata'. This is where the Unit 4 versus Unit 3 failure is prevented, and it is the step every rushed implementation skips.
Walk the bottom lane. At 'Hybrid search', explain why pure semantic search fails on tag numbers and equipment codes — the very things engineers actually search for. At 'Answer with citations', make the point that the model is constrained to the retrieved passages and told to say so when they do not contain the answer.
The punch line is the takeaway: the language model is one box out of 10. Buying a better model does not fix a bad index.
Hand over to SIM-7, where they can watch the retrieval happen before the answer 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93 · 7. Generative AI, RAG and agents · target 16:12]
[16:07–16:08] One minute. Do not read all eight — point at three and let them read the rest.
Pick the three with the strongest pull for this room. Shift handover, because everybody does it and everybody does it under time pressure. Precedent search across the fleet, because five stations have almost certainly each solved the same failure separately and none of them know it. And the work-order taxonomy, because it is the one that turns text into numbers, and it is the bridge to the next slide.
The Marathi and English card deserves a sentence of its own. Safety communication that is only understood by people who read English is not safety communication, and translation is something this technology does genuinely well.
Ask the room to pick one card each, silently, that would save them time this week. Then say the constraint out loud, twice if necessary: every one of these produces a draft. An engineer reads it, corrects it and signs it. Nothing here writes to a plant system, nothing here closes a work order, and nothing here decides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94 · 7. Generative AI, RAG and agents · target 16:13]
[16:08–16:09] One minute, and make it the slide that justifies the whole block to a sceptic.
State the position without softening it. Khaperkheda 1-4 at 57.85 per cent availability, the lowest in the fleet. Chandrapur 3-7 at 64.88 per cent. Between them, 45.69 crore rupees of the cumulative fixed-charge disallowance — 21.75 and 23.94 respectively.
Then ask the question everyone assumes has an answer: what are the top five causes, ranked by hours lost, at Khaperkheda 1-4 over the last three years? Nobody in this company can produce that ranking today. Not because the data is missing — it is all there — but because it is in free text written by dozens of people who each described the same failure differently.
Say the reframing clearly, because it is the point of the slide. That is not a reliability engineering problem. It is a text classification problem, and it is exactly what this technology does well. Structure the history and the Pareto chart follows in an afternoon.
One line to close: we are not short of failure data. We are short of countable failure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95 · 7. Generative AI, RAG and agents · target 16:14]
[16:09–16:10] One minute. Define the word properly, because it is the most abused term in this year's sales material.
Use the three-way contrast in the punch line as your structure. A chatbot answers from what it was given. A script follows a path an engineer wrote in advance, and does the same thing every time. An agent is given a goal and a set of tools and works out the order of calls for itself.
Make the loop concrete with the case they are about to run. The goal is to find out why Unit 8 ID fan vibration is rising. The agent pulls the trend first, sees it climbing, then looks up the defect history for that fan, then finds the last inspection report. If the trend had been flat, its second call would have been different. Nobody wrote that branch.
Then state the consequence honestly. The flexibility that makes an agent useful is the same property that makes its behaviour impossible to fully test in advance. Which is why step four is not a feature to be configured away — it is the reason the thing is deployable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96 · 7. Generative AI, RAG and agents · target 16:15]
[16:10–16:11] One minute. This is the engineering answer to 'is an agent safe', and it is not about the model at all.
Make the principle explicit before the table: the agent's blast radius is defined entirely by the tools you give it, not by how clever or careful it is. A model with four read-only tools cannot do harm to plant no matter what it concludes. The same model with one write-capable tool can.
Walk the fourth column, which is the design reasoning. Each tool is deliberately narrow. The historian tool cannot write. The CMMS tool can read defect history but cannot raise or close a work order. The performance tool computes and holds no credentials.
Then take the punch line slowly, because it names the fifth tool everybody wants. A report generator that drafts is read-only. A report generator that files the report is write-capable, and that is a different safety case entirely — as is anything that raises a work order or moves a setpoint.
One closing line: specify the access level of every tool in the contract, in writing, before the first demonstration impresses anybody.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97 · 7. Generative AI, RAG and agents · target 16:16]
[16:11–16:21] [LAB] Ten minutes, the last lab of the day. Insist on step one — one call at a time, nobody presses run-all. The value is entirely in watching the plan form.
Step two is the teaching. Reading the reasoning before the result forces them to judge the agent as they would judge a junior engineer: was that the right thing to look at next? Sometimes it is not, and noticing that is the skill they are meant to leave with.
Step three is the one to stop the room on. Make everybody actually decide — approve or refuse — and then ask two people which way they went and why. There is no correct answer. There is only a named engineer who owns the decision, which is the entire point of the gate.
Step four should feel uncomfortable and it is meant to. Read the warning aloud once the room has seen it. Granting write access converts an advisory trace into an instruction that reaches a real system, and it is a decision for a committee, not for a checkbox.
Reconvene at sixteen twenty-one. Two slides left, and both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98 · 7. Generative AI, RAG and agents · target 16:21]
[16:16–16:19] Contrast this with a script. A script has a fixed sequence somebody wrote. An agent decides its next call based on what the last one returned — that is the entire difference, and it is what makes it useful for triage, where you cannot know in advance which question matters.
Point at 'Act' and note the words 'read-only credentials'. Every tool in the loop reads. Nothing in the loop writes.
Point at the gate. Say plainly: 'This box is not a formality and it is not removable. The agent can compress half a day of investigation into ninety seconds and lay out its evidence. It does not make the decision.'
The logging arrow matters for a public-sector utility — if an action is questioned six months later, every step is reconstructable.
Hand over to SIM-8, which is this diagram executed one step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99 · 7. Generative AI, RAG and agents · target 16:26]
[16:21–16:23] Two minutes, and read the band at the bottom slowly. This is the slide that decides whether the room trusts everything else in the block.
Take the arithmetic card seriously, because it surprises people who assume a computer can add. The model predicts text. A heat rate that looks right and is wrong by forty kcal/kWh reads exactly like a heat rate that is correct. Any number must come from a calculation tool and be checked by an engineer.
Prompt injection needs the concrete version. Someone scans a circular. Inside it is a line of text addressed to the model rather than to a reader. The model follows it, because it cannot distinguish an instruction from content. Harmless in an advisory system, serious in an agent with write access — which is another argument for the gate.
The confidentiality card is a policy point, not a technical one. Protection settings and tender documents pasted into a public service have left the company, and no privacy statement changes that.
Read the never line aloud, word by word. Nothing in this course goes near a protection setting or a permit decision. Nothing reaches the plant without an engineer's 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100 · 7. Generative AI, RAG and agents · target 16:28]
[16:23–16:25] Two minutes to close the block. Nothing new, and finish on time.
Take the four cards as instructions rather than suggestions. The first one prevents the commonest failure, which is starting with every document the station owns and producing a system nobody trusts. One package, current documents, version controlled.
The second card is the honest one. The work is filing and tagging, and it is done by engineers who know which document supersedes which. Say clearly that this is not a data science task and never has been.
The third card is the one to press hardest, because it is how they hold a vendor to account. Twenty questions with known answers, from their own documents. Count how many come back correctly cited. That count is the acceptance test, and it costs nothing to run.
The fourth card connects back to the availability numbers. One unit, one year of work orders, classified. The output is a ranked list of what actually stops your machines — and Khaperkheda 1-4 at 57.85 per cent availability is waiting for exactly that list.
Then hand over for the closing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101 · 8. Vision and emerging · target 16:28]
[16:28] Section divider. Say the session title, name the two or three things they will be able to do at the end of it, and if there is a lab in this session, say so now so laptops are open. Ten to fifteen seconds — do not talk over a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102 · 8. Vision and emerging · target 16:28]
[16:25–16:28] Three minutes, six cards, and one boundary that decides whether the programme lives.
Move quickly through the first five. Thermal on electrical plant is the easiest win in this block — a loose busduct joint shows as heat weeks before it fails, and most stations already own a thermal camera and use it once a quarter. Fixed thermal on the same assets, trended, is a different proposition altogether.
Coal stockpile spontaneous combustion deserves a sentence: thermal sees a hot spot developing inside the pile before anyone smells it.
Conveyors and CHP are where the money sits at most stations, because a belt tear stops coal to the bunkers and everything downstream follows.
On drones, say the DGCA point plainly, because somebody will ask. Permissions are a real constraint, not a formality.
Then stop on card six and say it slowly. Monitor zones and equipment. Do not monitor individual behaviour. The moment a camera project is seen as watching workers rather than watching plant, it acquires a privacy and industrial-relations problem that will sink it, and rightly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103 · 8. Vision and emerging · target 16:31]
[16:28–16:30] Two minutes. This is the reality check that keeps them out of a bad procurement.
Say the headline first: a vision model is not clever software you install. It is a model somebody trained on labelled pictures of your plant, and the labelling is the project.
Work down the left column briefly. Several hundred to a few thousand labelled images, marked by somebody who knows what a healthy idler looks like. Examples of the fault, which are rare by definition. A camera that stays exactly where it was when the images were taken. Consistent lighting, or thermal instead of lighting. And somebody whose job includes cleaning the lens.
The right column is what goes wrong in procurement. Land the transfer point hard, because it decides the fleet strategy. A model trained at one station will not work at the next without re-labelling — different camera, different angle, different lighting, different equipment.
Ask the room who has been shown a demonstration claiming ninety-nine per cent accuracy. Then ask on whose images it was measured. The answer is never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104 · 8. Vision and emerging · target 16:33]
[16:30–16:33] Three minutes on the sense we use least and should use most.
Boiler tube leak detection by acoustic emission is the strongest item in this block. Sensors on the waterwall and the second pass hear a leak as a rise in high-frequency energy, often days before the unit trips. That is the difference between a planned shutdown and a forced outage, and forced outages are what produced the hundred crore rupees of fixed-charge disallowance we looked at this afternoon.
Card two is the engineering discipline. An acoustic signal on its own moves people to argue. Pair it with a data-driven makeup water mass balance and you have two independent indications pointing the same way. That combination justifies a decision to pull a unit; neither alone does.
Steam and air leak surveys with ultrasonic detectors are cheap and unglamorous. Compressed air leaks are pure auxiliary power, and they sit inside the auxiliary number from session four.
Acoustic pyrometry is the interesting one — sound across the furnace where no thermocouple survives. Flag it as emerging, and tell them we rate it honestly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105 · 8. Vision and emerging · target 16:36]
[16:33–16:36] Three minutes, and this is the slide they should photograph.
Tell them what the table is for: it is a filter to apply to every vendor presentation they will attend for the next two years. Read the right-hand column before the left.
The top three can be bought today with a straight face. Acoustic tube-leak detection with a mass-balance cross-check. Thermal analytics on electrical plant. Drone and crawler inspection, subject to DGCA permissions. Note carefully that thermal is proven while general video analytics is younger — the distinction matters when a vendor sells both on one slide.
The middle two are pilots. Acoustic pyrometry has few installations in India. The digital twin is a genuine idea — a calibrated hybrid of physics and data kept live against the running unit — but it is the engineering effort to sustain it that people underestimate.
The bottom two: agentic assistants are experimental and the human approval gate is not optional. Reinforcement learning for unit control learns by making mistakes, and a live unit is not a place where mistakes are permitted.
Land the punch and pause on the last clause.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106 · 8. Vision and emerging · target 16:39]
[16:36–16:38] Two minutes to close the block. Do not add new material.
Card one is the cost correction. Every station in this room can afford cameras. What they must budget for is labelling, mounting, lighting, cleaning and a weekly review of wrong detections through the first months. That is where vision projects die, and it never appears on the quotation.
Card two repeats the transfer point deliberately. If the company decides to roll something out to a second station, budget for re-labelling. A programme that assumes free replication will fail at site two, and site two failing is what gets the whole thing stopped.
Card three is non-negotiable and worth saying aloud one more time: zones and equipment, never individuals.
Card four gives them something to do rather than something to admire. If a station wants to start with this block, there are two defensible starts, both with clear failure modes and both producing a number an engineer can verify by walking to the plant.
Then hand over: everything today only works if it is implemented responsibly, and that is the last twenty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107 · 9. Implementing responsibly · target 16:40]
[16:40] Section divider. Say the session title, name the two or three things they will be able to do at the end of it, and if there is a lab in this session, say so now so laptops are open. Ten to fifteen seconds — do not talk over a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108 · 9. Implementing responsibly · target 16:40]
[16:38–16:41] Three minutes. This is rule one, so say why it comes first.
Left column, and be concrete. Historian compression is the one nobody expects: compression and exception deviation settings are chosen to save disk, and they discard precisely the small excursions a model needs. A frozen transmitter reads a flat, plausible number for months and every model downstream believes it. Calibration drift gets learned as normal. And timestamps that differ between DCS and historian will show cause arriving after effect, which no algorithm can repair.
Right column is what a competent station does. Audit the tag list before the first model. Validate every output against first-principles engineering — if the model says the condenser is fouling, the terminal temperature difference should agree. Name an owner for the tag list, because a department is not an owner.
Then land the punch and mean it. Most plant AI projects fail on the asset hierarchy, not on the mathematics. Three systems, three different names for the same pump, and nobody authorised to reconcile them.
Ask the room directly: does your station have one agreed asset hierarchy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109 · 9. Implementing responsibly · target 16:43]
[16:41–16:44] Three minutes, and this is the most important slide in the deck. Slow down and read the red layer aloud exactly as written.
Protection systems, trip logic, interlocks and any safety instrumented function. No model, no advisory, no exception. If a vendor proposes anything that touches these, the conversation is over.
The amber layer is where closed-loop optimisation lives. It is legitimate, but only with clamps on the bias, rate limits on how fast it may move, a watchdog that returns control on loss of signal, bumpless transfer, an operator override on the panel and a documented approval. Say clearly that the clamps are the engineering — the model is the easy part.
The green layer is where every station in this room should start. Advisories, anomaly alerts, performance advisories, knowledge assistants. Validate them, then let the engineer decide.
On cyber, spend your remaining time on OEM remote access. At most stations it is the largest single OT risk and it belongs to nobody.
Finish on the AI-specific card. Prompt injection hidden inside a document an assistant reads is new, and most of this room has not heard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110 · 9. Implementing responsibly · target 16:46]
[16:44–16:46] Two minutes on the human side, and it matters more than it looks.
Card one is the heart of it. There are two ways trust fails. Under-trust is when nobody opens the alerts and the system quietly dies — embarrassing, visible, and recoverable. Over-trust is when the operator stops thinking because the screen is usually right. Say plainly which is more dangerous: the second, because the failure stays invisible until the day the model is wrong.
Alert fatigue is how most systems are killed in the first fortnight. Twenty alerts, three of them useful, and the credibility is spent. Trust is spent once.
Workflow fit gets designed last and should be designed first. If the output does not appear where the engineer already works, it does not exist.
Accountability closes it. The engineer decides. Record what the system said, what the engineer decided and why — particularly when the two differ, because that record is what protects the engineer afterwards.
Ask the room: who here has stopped reading an alarm list because it cried wolf? Every hand goes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111 · 9. Implementing responsibly · target 16:48]
[16:46–16:48] Two minutes. This is the slide the station head and the IT head need, so tell them to photograph it.
The usage policy should be one page. Permitted uses, prohibited uses, and who approves an exception.
Data classification is the practical one. Everybody in this room has a phone with a public AI assistant on it. The organisation has to say explicitly what may never be pasted into it — tender documents, protection settings, personnel records, anything commercially confidential. If nobody says it, people will guess, and they will guess generously.
Verification is the discipline that keeps all of this defensible. Any AI-produced figure that leaves the station is checked by a named engineer against source data before it reaches a report or a regulatory filing.
Record keeping matters more in a state utility than in a private one, because decisions are examined years later.
The DPDP Act applies wherever personal data is involved. That is a legal obligation, not a preference.
Read the six procurement questions aloud. They are worth more in a vendor meeting than any technical evaluation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112 · 9. Implementing responsibly · target 16:48]
[16:46–16:49] This is where programmes die, eighteen months after the launch photograph.
The fourth box of the top lane is the one nobody instruments: is anyone acting on the alerts? Usage telemetry — how many alerts were opened, how many led to an action — tells you whether the system is alive long before the benefit numbers do.
The feedback arrow is the single most actionable line on the slide. Adding 'retrain the affected models' to the outage checklist costs nothing and prevents the most common post-overhaul failure, where the machine is now a different machine and the model has not been told.
End on the punch. Treat the model like plant. It has an owner, a maintenance interval and a failure mode. Anything else and it becomes shelfware with a licence fee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113 · 9. Implementing responsibly · target 16:50]
[16:48–16:51] Three minutes, and lead with the punch rather than saving it.
Not one of these eight is a mathematics problem. Every one is organisational, and every one sits inside the control of the people in this room. That is genuinely good news and it should be said that way.
Row one is the most common. A programme that starts with 'we should do something with AI' has no way of knowing whether it succeeded. Write the problem and its rupee value first — and after this afternoon, every station here can.
Row three kills more programmes than any technical fault. A pilot with no decision date runs until the sponsor changes and then quietly stops. Fix the date and name the person who decides.
Row four turns a success into an argument. If the baseline is agreed after the result is known, finance will not accept the benefit, and they will be right to refuse.
Row seven is the temptation immediately after a good pilot. One machine, one owner, one proven result, then replicate.
Ask each station to pick the row most likely to happen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114 · 9. Implementing responsibly · target 16:53]
[16:51–16:53] Two minutes, and this slide is what keeps the business case honest.
Start with the evidence, which they have already seen this afternoon. Fifty-six point three five crore rupees a month is the net heat-rate gap across the thirteen thermal groups. Thirty-two point nine crore of auxiliary excess is a component of that gap, not an addition to it — say this twice, because adding the two is the most common error in presentations of this kind and finance will spot it immediately. One hundred point eight seven crore is the cumulative fixed-charge disallowance for availability shortfall, of which thirty-two point nine three crore was adjusted in the June bill.
Then take the honest step. Apply a realisation assumption of fifteen to twenty-five per cent. That gives roughly eight and a half to fourteen crore a month on heat rate, and roughly one hundred to one hundred and seventy crore across a year if June is a typical month.
Land the punch without softening it. These figures are the value of closing the gap entirely. No programme does that, and no credible one claims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115 · 9. Implementing responsibly · target 16:55]
[16:53–16:56] Three minutes. This is the slide that turns a training day into a project.
Read the seven criteria across the top quickly, then say which matters most: data already historised. Everything else can be arranged. Twelve months of history cannot be created retrospectively.
Work down the candidates. Boiler feed pump or ID fan anomaly detection is the strongest first choice for almost every station here — high value, low risk, no process interference, and the data already exists. Mill health is a close second, because mills hurt availability and heat rate at the same time. Auxiliary power optimisation has one great advantage: the benefit shows on the meter, so nobody argues about the measurement.
The document assistant carries no process risk at all, so it can run in parallel with the main pilot.
Then be blunt about the last row. Closed-loop combustion optimisation is high value and high risk. It is a station's third or fourth project, never its first, and a vendor proposing it as a first project is telling you something about themselves.
Walk the ninety-day plan and stress the named owner in each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116 · 9. Implementing responsibly · target 16:58]
[16:56–16:58] Two minutes. Four stations, four different answers, every one from their own June 2026 figures.
Nashik first, because it is the cleanest illustration in the fleet. The gross heat rate is seventeen kilocalories per kilowatt hour better than normative. The boiler and turbine are performing well. The entire fifty kilocalorie net penalty is auxiliary consumption at twelve point nine six per cent against a norm of ten point seven five. A combustion optimisation project at Nashik would be effort in the wrong place.
Koradi 8-10 is the opposite case. A one hundred and seventy-six kilocalorie gross gap on nine hundred and sixty-five million units. That is a boiler and turbine problem, and it is the largest single item in the fleet.
Khaperkheda 1-4 is availability — fifty-seven point eight five per cent, and twenty-one point seven five crore rupees of disallowance. That is a predictive maintenance problem.
Chandrapur 3-7 is auxiliary power at eleven point six nine against eight point six seven, with secondary oil at three point two three millilitres per kilowatt hour against a norm of one.
Say it plainly: there is no fleet-wide first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117 · 9. Implementing responsibly · target 17:00]
[16:58–17:00] Two minutes to close, and finish on time. Say the framing sentence first: every one of these six is free, takes under an hour, and needs nobody's approval.
Card one is the most useful telephone call any of them will make this week. How many tags are historised, and at what compression and exception deviation setting? Most engineers have never asked, and the answer is often uncomfortable.
Card two is the question from ten o'clock this morning: one machine that has hurt you twice in two years.
Card three follows directly. Does twelve months of clean history exist for it? If not, that is the project, and it is a C and I project rather than an AI project.
Card four is the honest test of readiness. If an alert arrived at two in the morning, who opens it? If there is no name, there is no programme yet.
Card five makes the economics theirs rather than mine.
Card six sends them back to the lab with the file they now own. Thank them, and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118 · Close · target 16:57]
[16:57–17:00] Close on the four verbs — they are the spine of the day.
Run through the six Monday actions. Every one is free, takes under an hour, and requires no approval from anybody. That is deliberate: the worst outcome of a full day like this is that everyone agrees it was interesting and nothing happens.
Remind them what they are taking away: this deck, the course material with the full handout and the lab guide, and the simulation lab file itself, which runs offline and can be re-run on their own station's data.
Final line, delivered plainly: 'The mathematics is the easy part. The data, the ownership and the follow-through are the job.'
Thank the online stations by name — Koradi, Khaperkheda, Bhusawal, Paras — and open the floor. The FAQ section of the course material covers the twelve questions this audience most often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530"/>
        </a:solidFill>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D96A16"/>
          </a:solidFill>
          <a:ln/>
        </p:spPr>
      </p:sp>
      <p:sp>
        <p:nvSpPr>
          <p:cNvPr id="3" name="Text 1"/>
          <p:cNvSpPr/>
          <p:nvPr/>
        </p:nvSpPr>
        <p:spPr>
          <a:xfrm>
            <a:off x="1051560" y="1554480"/>
            <a:ext cx="6400800" cy="1078992"/>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AI in Power Plants</a:t>
            </a:r>
            <a:endParaRPr lang="en-US" sz="4800" dirty="0"/>
          </a:p>
        </p:txBody>
      </p:sp>
      <p:sp>
        <p:nvSpPr>
          <p:cNvPr id="4" name="Text 2"/>
          <p:cNvSpPr/>
          <p:nvPr/>
        </p:nvSpPr>
        <p:spPr>
          <a:xfrm>
            <a:off x="1051560" y="2633472"/>
            <a:ext cx="6400800" cy="566928"/>
          </a:xfrm>
          <a:prstGeom prst="rect">
            <a:avLst/>
          </a:prstGeom>
          <a:noFill/>
          <a:ln/>
        </p:spPr>
        <p:txBody>
          <a:bodyPr wrap="square" lIns="0" tIns="0" rIns="0" bIns="0" rtlCol="0" anchor="ctr"/>
          <a:lstStyle/>
          <a:p>
            <a:pPr indent="0" marL="0">
              <a:buNone/>
            </a:pPr>
            <a:r>
              <a:rPr lang="en-US" sz="2700" dirty="0">
                <a:solidFill>
                  <a:srgbClr val="D96A16"/>
                </a:solidFill>
                <a:latin typeface="Cambria" pitchFamily="34" charset="0"/>
                <a:ea typeface="Cambria" pitchFamily="34" charset="-122"/>
                <a:cs typeface="Cambria" pitchFamily="34" charset="-120"/>
              </a:rPr>
              <a:t>From Data to Decisions</a:t>
            </a:r>
            <a:endParaRPr lang="en-US" sz="2700" dirty="0"/>
          </a:p>
        </p:txBody>
      </p:sp>
      <p:sp>
        <p:nvSpPr>
          <p:cNvPr id="5" name="Text 3"/>
          <p:cNvSpPr/>
          <p:nvPr/>
        </p:nvSpPr>
        <p:spPr>
          <a:xfrm>
            <a:off x="1051560" y="3310128"/>
            <a:ext cx="6309360" cy="768096"/>
          </a:xfrm>
          <a:prstGeom prst="rect">
            <a:avLst/>
          </a:prstGeom>
          <a:noFill/>
          <a:ln/>
        </p:spPr>
        <p:txBody>
          <a:bodyPr wrap="square" lIns="0" tIns="0" rIns="0" bIns="0" rtlCol="0" anchor="ctr"/>
          <a:lstStyle/>
          <a:p>
            <a:pPr indent="0" marL="0">
              <a:buNone/>
            </a:pPr>
            <a:r>
              <a:rPr lang="en-US" sz="1350" dirty="0">
                <a:solidFill>
                  <a:srgbClr val="B9C6D2"/>
                </a:solidFill>
                <a:latin typeface="Calibri" pitchFamily="34" charset="0"/>
                <a:ea typeface="Calibri" pitchFamily="34" charset="-122"/>
                <a:cs typeface="Calibri" pitchFamily="34" charset="-120"/>
              </a:rPr>
              <a:t>An introduction to Artificial Intelligence for smarter plant operation and maintenance</a:t>
            </a:r>
            <a:endParaRPr lang="en-US" sz="1350" dirty="0"/>
          </a:p>
        </p:txBody>
      </p:sp>
      <p:sp>
        <p:nvSpPr>
          <p:cNvPr id="6" name="Shape 4"/>
          <p:cNvSpPr/>
          <p:nvPr/>
        </p:nvSpPr>
        <p:spPr>
          <a:xfrm>
            <a:off x="1051560" y="4443984"/>
            <a:ext cx="6309360" cy="566928"/>
          </a:xfrm>
          <a:prstGeom prst="roundRect">
            <a:avLst>
              <a:gd name="adj" fmla="val 9677"/>
            </a:avLst>
          </a:prstGeom>
          <a:solidFill>
            <a:srgbClr val="2A3644"/>
          </a:solidFill>
          <a:ln w="12700">
            <a:solidFill>
              <a:srgbClr val="D96A16"/>
            </a:solidFill>
            <a:prstDash val="solid"/>
          </a:ln>
        </p:spPr>
      </p:sp>
      <p:sp>
        <p:nvSpPr>
          <p:cNvPr id="7" name="Text 5"/>
          <p:cNvSpPr/>
          <p:nvPr/>
        </p:nvSpPr>
        <p:spPr>
          <a:xfrm>
            <a:off x="1051560" y="4443984"/>
            <a:ext cx="6309360" cy="566928"/>
          </a:xfrm>
          <a:prstGeom prst="rect">
            <a:avLst/>
          </a:prstGeom>
          <a:noFill/>
          <a:ln/>
        </p:spPr>
        <p:txBody>
          <a:bodyPr wrap="square" lIns="0" tIns="0" rIns="0" bIns="0" rtlCol="0" anchor="ctr"/>
          <a:lstStyle/>
          <a:p>
            <a:pPr algn="ctr" indent="0" marL="0">
              <a:buNone/>
            </a:pPr>
            <a:r>
              <a:rPr lang="en-US" sz="1350" b="1" spc="100" kern="0" dirty="0">
                <a:solidFill>
                  <a:srgbClr val="D96A16"/>
                </a:solidFill>
                <a:latin typeface="Calibri" pitchFamily="34" charset="0"/>
                <a:ea typeface="Calibri" pitchFamily="34" charset="-122"/>
                <a:cs typeface="Calibri" pitchFamily="34" charset="-120"/>
              </a:rPr>
              <a:t>PREDICT · DIAGNOSE · OPTIMISE · ASSIST</a:t>
            </a:r>
            <a:endParaRPr lang="en-US" sz="1350" dirty="0"/>
          </a:p>
        </p:txBody>
      </p:sp>
      <p:sp>
        <p:nvSpPr>
          <p:cNvPr id="8" name="Text 6"/>
          <p:cNvSpPr/>
          <p:nvPr/>
        </p:nvSpPr>
        <p:spPr>
          <a:xfrm>
            <a:off x="1051560" y="5760720"/>
            <a:ext cx="6400800" cy="292608"/>
          </a:xfrm>
          <a:prstGeom prst="rect">
            <a:avLst/>
          </a:prstGeom>
          <a:noFill/>
          <a:ln/>
        </p:spPr>
        <p:txBody>
          <a:bodyPr wrap="square" lIns="0" tIns="0" rIns="0" bIns="0" rtlCol="0" anchor="ctr"/>
          <a:lstStyle/>
          <a:p>
            <a:pPr indent="0" marL="0">
              <a:buNone/>
            </a:pPr>
            <a:r>
              <a:rPr lang="en-US" sz="1150" dirty="0">
                <a:solidFill>
                  <a:srgbClr val="8C9BA8"/>
                </a:solidFill>
                <a:latin typeface="Calibri" pitchFamily="34" charset="0"/>
                <a:ea typeface="Calibri" pitchFamily="34" charset="-122"/>
                <a:cs typeface="Calibri" pitchFamily="34" charset="-120"/>
              </a:rPr>
              <a:t>MAHAGENCO Training Centre, Nashik</a:t>
            </a:r>
            <a:endParaRPr lang="en-US" sz="1150" dirty="0"/>
          </a:p>
        </p:txBody>
      </p:sp>
      <p:sp>
        <p:nvSpPr>
          <p:cNvPr id="9" name="Text 7"/>
          <p:cNvSpPr/>
          <p:nvPr/>
        </p:nvSpPr>
        <p:spPr>
          <a:xfrm>
            <a:off x="1051560" y="6053328"/>
            <a:ext cx="6400800" cy="566928"/>
          </a:xfrm>
          <a:prstGeom prst="rect">
            <a:avLst/>
          </a:prstGeom>
          <a:noFill/>
          <a:ln/>
        </p:spPr>
        <p:txBody>
          <a:bodyPr wrap="square" lIns="0" tIns="0" rIns="0" bIns="0" rtlCol="0" anchor="ctr"/>
          <a:lstStyle/>
          <a:p>
            <a:pPr indent="0" marL="0">
              <a:buNone/>
            </a:pPr>
            <a:r>
              <a:rPr lang="en-US" sz="1000" dirty="0">
                <a:solidFill>
                  <a:srgbClr val="65757F"/>
                </a:solidFill>
                <a:latin typeface="Calibri" pitchFamily="34" charset="0"/>
                <a:ea typeface="Calibri" pitchFamily="34" charset="-122"/>
                <a:cs typeface="Calibri" pitchFamily="34" charset="-120"/>
              </a:rPr>
              <a:t>Full-day programme · 10:00–13:00 and 14:30–17:00 · in person at Nashik, with participants online from Koradi, Khaperkheda, Bhusawal and Paras</a:t>
            </a:r>
            <a:endParaRPr lang="en-US" sz="1000" dirty="0"/>
          </a:p>
        </p:txBody>
      </p:sp>
      <p:sp>
        <p:nvSpPr>
          <p:cNvPr id="10" name="Shape 8"/>
          <p:cNvSpPr/>
          <p:nvPr/>
        </p:nvSpPr>
        <p:spPr>
          <a:xfrm>
            <a:off x="7699248" y="1517904"/>
            <a:ext cx="3438144" cy="4315968"/>
          </a:xfrm>
          <a:prstGeom prst="roundRect">
            <a:avLst>
              <a:gd name="adj" fmla="val 2128"/>
            </a:avLst>
          </a:prstGeom>
          <a:solidFill>
            <a:srgbClr val="2A3644"/>
          </a:solidFill>
          <a:ln w="12700">
            <a:solidFill>
              <a:srgbClr val="3C4C5C"/>
            </a:solidFill>
            <a:prstDash val="solid"/>
          </a:ln>
        </p:spPr>
      </p:sp>
      <p:sp>
        <p:nvSpPr>
          <p:cNvPr id="11" name="Text 9"/>
          <p:cNvSpPr/>
          <p:nvPr/>
        </p:nvSpPr>
        <p:spPr>
          <a:xfrm>
            <a:off x="7991856" y="1755648"/>
            <a:ext cx="2880360" cy="256032"/>
          </a:xfrm>
          <a:prstGeom prst="rect">
            <a:avLst/>
          </a:prstGeom>
          <a:noFill/>
          <a:ln/>
        </p:spPr>
        <p:txBody>
          <a:bodyPr wrap="square" lIns="0" tIns="0" rIns="0" bIns="0" rtlCol="0" anchor="ctr"/>
          <a:lstStyle/>
          <a:p>
            <a:pPr indent="0" marL="0">
              <a:buNone/>
            </a:pPr>
            <a:r>
              <a:rPr lang="en-US" sz="1000" b="1" spc="200" kern="0" dirty="0">
                <a:solidFill>
                  <a:srgbClr val="D96A16"/>
                </a:solidFill>
                <a:latin typeface="Calibri" pitchFamily="34" charset="0"/>
                <a:ea typeface="Calibri" pitchFamily="34" charset="-122"/>
                <a:cs typeface="Calibri" pitchFamily="34" charset="-120"/>
              </a:rPr>
              <a:t>PRESENTER</a:t>
            </a:r>
            <a:endParaRPr lang="en-US" sz="1000" dirty="0"/>
          </a:p>
        </p:txBody>
      </p:sp>
      <p:sp>
        <p:nvSpPr>
          <p:cNvPr id="12" name="Text 10"/>
          <p:cNvSpPr/>
          <p:nvPr/>
        </p:nvSpPr>
        <p:spPr>
          <a:xfrm>
            <a:off x="7991856" y="2048256"/>
            <a:ext cx="2880360" cy="42062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 H. Parihar</a:t>
            </a:r>
            <a:endParaRPr lang="en-US" sz="2600" dirty="0"/>
          </a:p>
        </p:txBody>
      </p:sp>
      <p:sp>
        <p:nvSpPr>
          <p:cNvPr id="13" name="Text 11"/>
          <p:cNvSpPr/>
          <p:nvPr/>
        </p:nvSpPr>
        <p:spPr>
          <a:xfrm>
            <a:off x="7991856" y="2505456"/>
            <a:ext cx="2880360" cy="512064"/>
          </a:xfrm>
          <a:prstGeom prst="rect">
            <a:avLst/>
          </a:prstGeom>
          <a:noFill/>
          <a:ln/>
        </p:spPr>
        <p:txBody>
          <a:bodyPr wrap="square" lIns="0" tIns="0" rIns="0" bIns="0" rtlCol="0" anchor="ctr"/>
          <a:lstStyle/>
          <a:p>
            <a:pPr indent="0" marL="0">
              <a:buNone/>
            </a:pPr>
            <a:r>
              <a:rPr lang="en-US" sz="1150" dirty="0">
                <a:solidFill>
                  <a:srgbClr val="A9B8C6"/>
                </a:solidFill>
                <a:latin typeface="Calibri" pitchFamily="34" charset="0"/>
                <a:ea typeface="Calibri" pitchFamily="34" charset="-122"/>
                <a:cs typeface="Calibri" pitchFamily="34" charset="-120"/>
              </a:rPr>
              <a:t>Power sector engineer · author · AI practitioner</a:t>
            </a:r>
            <a:endParaRPr lang="en-US" sz="1150" dirty="0"/>
          </a:p>
        </p:txBody>
      </p:sp>
      <p:sp>
        <p:nvSpPr>
          <p:cNvPr id="14" name="Shape 12"/>
          <p:cNvSpPr/>
          <p:nvPr/>
        </p:nvSpPr>
        <p:spPr>
          <a:xfrm>
            <a:off x="7991856" y="3108960"/>
            <a:ext cx="2880360" cy="18288"/>
          </a:xfrm>
          <a:prstGeom prst="rect">
            <a:avLst/>
          </a:prstGeom>
          <a:solidFill>
            <a:srgbClr val="46586A"/>
          </a:solidFill>
          <a:ln/>
        </p:spPr>
      </p:sp>
      <p:sp>
        <p:nvSpPr>
          <p:cNvPr id="15" name="Text 13"/>
          <p:cNvSpPr/>
          <p:nvPr/>
        </p:nvSpPr>
        <p:spPr>
          <a:xfrm>
            <a:off x="7991856" y="3236976"/>
            <a:ext cx="2880360" cy="237744"/>
          </a:xfrm>
          <a:prstGeom prst="rect">
            <a:avLst/>
          </a:prstGeom>
          <a:noFill/>
          <a:ln/>
        </p:spPr>
        <p:txBody>
          <a:bodyPr wrap="square" lIns="0" tIns="0" rIns="0" bIns="0" rtlCol="0" anchor="ctr"/>
          <a:lstStyle/>
          <a:p>
            <a:pPr indent="0" marL="0">
              <a:buNone/>
            </a:pPr>
            <a:r>
              <a:rPr lang="en-US" sz="950" b="1" spc="180" kern="0" dirty="0">
                <a:solidFill>
                  <a:srgbClr val="D96A16"/>
                </a:solidFill>
                <a:latin typeface="Calibri" pitchFamily="34" charset="0"/>
                <a:ea typeface="Calibri" pitchFamily="34" charset="-122"/>
                <a:cs typeface="Calibri" pitchFamily="34" charset="-120"/>
              </a:rPr>
              <a:t>AUTHOR OF</a:t>
            </a:r>
            <a:endParaRPr lang="en-US" sz="950" dirty="0"/>
          </a:p>
        </p:txBody>
      </p:sp>
      <p:sp>
        <p:nvSpPr>
          <p:cNvPr id="16" name="Shape 14"/>
          <p:cNvSpPr/>
          <p:nvPr/>
        </p:nvSpPr>
        <p:spPr>
          <a:xfrm>
            <a:off x="8010144" y="3602736"/>
            <a:ext cx="100584" cy="100584"/>
          </a:xfrm>
          <a:prstGeom prst="ellipse">
            <a:avLst/>
          </a:prstGeom>
          <a:solidFill>
            <a:srgbClr val="D96A16"/>
          </a:solidFill>
          <a:ln/>
        </p:spPr>
      </p:sp>
      <p:sp>
        <p:nvSpPr>
          <p:cNvPr id="17" name="Text 15"/>
          <p:cNvSpPr/>
          <p:nvPr/>
        </p:nvSpPr>
        <p:spPr>
          <a:xfrm>
            <a:off x="8247888" y="3511296"/>
            <a:ext cx="2651760" cy="402336"/>
          </a:xfrm>
          <a:prstGeom prst="rect">
            <a:avLst/>
          </a:prstGeom>
          <a:noFill/>
          <a:ln/>
        </p:spPr>
        <p:txBody>
          <a:bodyPr wrap="square" lIns="0" tIns="0" rIns="0" bIns="0" rtlCol="0" anchor="ctr"/>
          <a:lstStyle/>
          <a:p>
            <a:pPr indent="0" marL="0">
              <a:buNone/>
            </a:pPr>
            <a:r>
              <a:rPr lang="en-US" sz="1100" i="1" dirty="0">
                <a:solidFill>
                  <a:srgbClr val="DCE4EB"/>
                </a:solidFill>
                <a:latin typeface="Calibri" pitchFamily="34" charset="0"/>
                <a:ea typeface="Calibri" pitchFamily="34" charset="-122"/>
                <a:cs typeface="Calibri" pitchFamily="34" charset="-120"/>
              </a:rPr>
              <a:t>Lean AI</a:t>
            </a:r>
            <a:endParaRPr lang="en-US" sz="1100" dirty="0"/>
          </a:p>
        </p:txBody>
      </p:sp>
      <p:sp>
        <p:nvSpPr>
          <p:cNvPr id="18" name="Shape 16"/>
          <p:cNvSpPr/>
          <p:nvPr/>
        </p:nvSpPr>
        <p:spPr>
          <a:xfrm>
            <a:off x="8010144" y="4041648"/>
            <a:ext cx="100584" cy="100584"/>
          </a:xfrm>
          <a:prstGeom prst="ellipse">
            <a:avLst/>
          </a:prstGeom>
          <a:solidFill>
            <a:srgbClr val="D96A16"/>
          </a:solidFill>
          <a:ln/>
        </p:spPr>
      </p:sp>
      <p:sp>
        <p:nvSpPr>
          <p:cNvPr id="19" name="Text 17"/>
          <p:cNvSpPr/>
          <p:nvPr/>
        </p:nvSpPr>
        <p:spPr>
          <a:xfrm>
            <a:off x="8247888" y="3950208"/>
            <a:ext cx="2651760" cy="402336"/>
          </a:xfrm>
          <a:prstGeom prst="rect">
            <a:avLst/>
          </a:prstGeom>
          <a:noFill/>
          <a:ln/>
        </p:spPr>
        <p:txBody>
          <a:bodyPr wrap="square" lIns="0" tIns="0" rIns="0" bIns="0" rtlCol="0" anchor="ctr"/>
          <a:lstStyle/>
          <a:p>
            <a:pPr indent="0" marL="0">
              <a:buNone/>
            </a:pPr>
            <a:r>
              <a:rPr lang="en-US" sz="1100" i="1" dirty="0">
                <a:solidFill>
                  <a:srgbClr val="DCE4EB"/>
                </a:solidFill>
                <a:latin typeface="Calibri" pitchFamily="34" charset="0"/>
                <a:ea typeface="Calibri" pitchFamily="34" charset="-122"/>
                <a:cs typeface="Calibri" pitchFamily="34" charset="-120"/>
              </a:rPr>
              <a:t>Learn the English that AI Understands</a:t>
            </a:r>
            <a:endParaRPr lang="en-US" sz="1100" dirty="0"/>
          </a:p>
        </p:txBody>
      </p:sp>
      <p:sp>
        <p:nvSpPr>
          <p:cNvPr id="20" name="Shape 18"/>
          <p:cNvSpPr/>
          <p:nvPr/>
        </p:nvSpPr>
        <p:spPr>
          <a:xfrm>
            <a:off x="8010144" y="4480560"/>
            <a:ext cx="100584" cy="100584"/>
          </a:xfrm>
          <a:prstGeom prst="ellipse">
            <a:avLst/>
          </a:prstGeom>
          <a:solidFill>
            <a:srgbClr val="D96A16"/>
          </a:solidFill>
          <a:ln/>
        </p:spPr>
      </p:sp>
      <p:sp>
        <p:nvSpPr>
          <p:cNvPr id="21" name="Text 19"/>
          <p:cNvSpPr/>
          <p:nvPr/>
        </p:nvSpPr>
        <p:spPr>
          <a:xfrm>
            <a:off x="8247888" y="4389120"/>
            <a:ext cx="2651760" cy="402336"/>
          </a:xfrm>
          <a:prstGeom prst="rect">
            <a:avLst/>
          </a:prstGeom>
          <a:noFill/>
          <a:ln/>
        </p:spPr>
        <p:txBody>
          <a:bodyPr wrap="square" lIns="0" tIns="0" rIns="0" bIns="0" rtlCol="0" anchor="ctr"/>
          <a:lstStyle/>
          <a:p>
            <a:pPr indent="0" marL="0">
              <a:buNone/>
            </a:pPr>
            <a:r>
              <a:rPr lang="en-US" sz="1100" i="1" dirty="0">
                <a:solidFill>
                  <a:srgbClr val="DCE4EB"/>
                </a:solidFill>
                <a:latin typeface="Calibri" pitchFamily="34" charset="0"/>
                <a:ea typeface="Calibri" pitchFamily="34" charset="-122"/>
                <a:cs typeface="Calibri" pitchFamily="34" charset="-120"/>
              </a:rPr>
              <a:t>AI for Busy Parents</a:t>
            </a:r>
            <a:endParaRPr lang="en-US" sz="1100" dirty="0"/>
          </a:p>
        </p:txBody>
      </p:sp>
      <p:sp>
        <p:nvSpPr>
          <p:cNvPr id="22" name="Shape 20"/>
          <p:cNvSpPr/>
          <p:nvPr/>
        </p:nvSpPr>
        <p:spPr>
          <a:xfrm>
            <a:off x="7991856" y="4974336"/>
            <a:ext cx="2880360" cy="676656"/>
          </a:xfrm>
          <a:prstGeom prst="roundRect">
            <a:avLst>
              <a:gd name="adj" fmla="val 8108"/>
            </a:avLst>
          </a:prstGeom>
          <a:solidFill>
            <a:srgbClr val="1C2530"/>
          </a:solidFill>
          <a:ln/>
        </p:spPr>
      </p:sp>
      <p:sp>
        <p:nvSpPr>
          <p:cNvPr id="23" name="Text 21"/>
          <p:cNvSpPr/>
          <p:nvPr/>
        </p:nvSpPr>
        <p:spPr>
          <a:xfrm>
            <a:off x="7991856" y="5047488"/>
            <a:ext cx="2880360" cy="329184"/>
          </a:xfrm>
          <a:prstGeom prst="rect">
            <a:avLst/>
          </a:prstGeom>
          <a:noFill/>
          <a:ln/>
        </p:spPr>
        <p:txBody>
          <a:bodyPr wrap="square" lIns="0" tIns="0" rIns="0" bIns="0" rtlCol="0" anchor="ctr"/>
          <a:lstStyle/>
          <a:p>
            <a:pPr algn="ctr" indent="0" marL="0">
              <a:buNone/>
            </a:pPr>
            <a:r>
              <a:rPr lang="en-US" sz="2000" b="1" dirty="0">
                <a:solidFill>
                  <a:srgbClr val="D96A16"/>
                </a:solidFill>
                <a:latin typeface="Cambria" pitchFamily="34" charset="0"/>
                <a:ea typeface="Cambria" pitchFamily="34" charset="-122"/>
                <a:cs typeface="Cambria" pitchFamily="34" charset="-120"/>
              </a:rPr>
              <a:t>16 years</a:t>
            </a:r>
            <a:endParaRPr lang="en-US" sz="2000" dirty="0"/>
          </a:p>
        </p:txBody>
      </p:sp>
      <p:sp>
        <p:nvSpPr>
          <p:cNvPr id="24" name="Text 22"/>
          <p:cNvSpPr/>
          <p:nvPr/>
        </p:nvSpPr>
        <p:spPr>
          <a:xfrm>
            <a:off x="7991856" y="5358384"/>
            <a:ext cx="2880360" cy="237744"/>
          </a:xfrm>
          <a:prstGeom prst="rect">
            <a:avLst/>
          </a:prstGeom>
          <a:noFill/>
          <a:ln/>
        </p:spPr>
        <p:txBody>
          <a:bodyPr wrap="square" lIns="0" tIns="0" rIns="0" bIns="0" rtlCol="0" anchor="ctr"/>
          <a:lstStyle/>
          <a:p>
            <a:pPr algn="ctr" indent="0" marL="0">
              <a:buNone/>
            </a:pPr>
            <a:r>
              <a:rPr lang="en-US" sz="950" dirty="0">
                <a:solidFill>
                  <a:srgbClr val="9BAAB8"/>
                </a:solidFill>
                <a:latin typeface="Calibri" pitchFamily="34" charset="0"/>
                <a:ea typeface="Calibri" pitchFamily="34" charset="-122"/>
                <a:cs typeface="Calibri" pitchFamily="34" charset="-120"/>
              </a:rPr>
              <a:t>experience in the power sector</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What you will take away</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Session objective — one working day, four things you keep</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Opening</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2</a:t>
            </a:r>
            <a:endParaRPr lang="en-US" sz="950" dirty="0"/>
          </a:p>
        </p:txBody>
      </p:sp>
      <p:sp>
        <p:nvSpPr>
          <p:cNvPr id="7" name="Shape 5"/>
          <p:cNvSpPr/>
          <p:nvPr/>
        </p:nvSpPr>
        <p:spPr>
          <a:xfrm>
            <a:off x="566928" y="1627632"/>
            <a:ext cx="11057839" cy="1014984"/>
          </a:xfrm>
          <a:prstGeom prst="roundRect">
            <a:avLst>
              <a:gd name="adj" fmla="val 540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804672" y="1851660"/>
            <a:ext cx="566928" cy="566928"/>
          </a:xfrm>
          <a:prstGeom prst="ellipse">
            <a:avLst/>
          </a:prstGeom>
          <a:solidFill>
            <a:srgbClr val="D96A16"/>
          </a:solidFill>
          <a:ln/>
        </p:spPr>
      </p:sp>
      <p:sp>
        <p:nvSpPr>
          <p:cNvPr id="9" name="Text 7"/>
          <p:cNvSpPr/>
          <p:nvPr/>
        </p:nvSpPr>
        <p:spPr>
          <a:xfrm>
            <a:off x="804672" y="185166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10" name="Text 8"/>
          <p:cNvSpPr/>
          <p:nvPr/>
        </p:nvSpPr>
        <p:spPr>
          <a:xfrm>
            <a:off x="1572768" y="1773936"/>
            <a:ext cx="9686239" cy="384048"/>
          </a:xfrm>
          <a:prstGeom prst="rect">
            <a:avLst/>
          </a:prstGeom>
          <a:noFill/>
          <a:ln/>
        </p:spPr>
        <p:txBody>
          <a:bodyPr wrap="square" lIns="0" tIns="0" rIns="0" bIns="0" rtlCol="0" anchor="ctr"/>
          <a:lstStyle/>
          <a:p>
            <a:pPr indent="0" marL="0">
              <a:buNone/>
            </a:pPr>
            <a:r>
              <a:rPr lang="en-US" sz="1700" b="1" dirty="0">
                <a:solidFill>
                  <a:srgbClr val="1C2530"/>
                </a:solidFill>
                <a:latin typeface="Calibri" pitchFamily="34" charset="0"/>
                <a:ea typeface="Calibri" pitchFamily="34" charset="-122"/>
                <a:cs typeface="Calibri" pitchFamily="34" charset="-120"/>
              </a:rPr>
              <a:t>A working mental model of AI</a:t>
            </a:r>
            <a:endParaRPr lang="en-US" sz="1700" dirty="0"/>
          </a:p>
        </p:txBody>
      </p:sp>
      <p:sp>
        <p:nvSpPr>
          <p:cNvPr id="11" name="Text 9"/>
          <p:cNvSpPr/>
          <p:nvPr/>
        </p:nvSpPr>
        <p:spPr>
          <a:xfrm>
            <a:off x="1572768" y="2157984"/>
            <a:ext cx="9686239" cy="356616"/>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What machine learning, generative AI and an agent actually are, described in plant language rather than in vendor language.</a:t>
            </a:r>
            <a:endParaRPr lang="en-US" sz="1350" dirty="0"/>
          </a:p>
        </p:txBody>
      </p:sp>
      <p:sp>
        <p:nvSpPr>
          <p:cNvPr id="12" name="Shape 10"/>
          <p:cNvSpPr/>
          <p:nvPr/>
        </p:nvSpPr>
        <p:spPr>
          <a:xfrm>
            <a:off x="566928" y="2843784"/>
            <a:ext cx="11057839" cy="1014984"/>
          </a:xfrm>
          <a:prstGeom prst="roundRect">
            <a:avLst>
              <a:gd name="adj" fmla="val 540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Shape 11"/>
          <p:cNvSpPr/>
          <p:nvPr/>
        </p:nvSpPr>
        <p:spPr>
          <a:xfrm>
            <a:off x="804672" y="3067812"/>
            <a:ext cx="566928" cy="566928"/>
          </a:xfrm>
          <a:prstGeom prst="ellipse">
            <a:avLst/>
          </a:prstGeom>
          <a:solidFill>
            <a:srgbClr val="D96A16"/>
          </a:solidFill>
          <a:ln/>
        </p:spPr>
      </p:sp>
      <p:sp>
        <p:nvSpPr>
          <p:cNvPr id="14" name="Text 12"/>
          <p:cNvSpPr/>
          <p:nvPr/>
        </p:nvSpPr>
        <p:spPr>
          <a:xfrm>
            <a:off x="804672" y="3067812"/>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5" name="Text 13"/>
          <p:cNvSpPr/>
          <p:nvPr/>
        </p:nvSpPr>
        <p:spPr>
          <a:xfrm>
            <a:off x="1572768" y="2990088"/>
            <a:ext cx="9686239" cy="384048"/>
          </a:xfrm>
          <a:prstGeom prst="rect">
            <a:avLst/>
          </a:prstGeom>
          <a:noFill/>
          <a:ln/>
        </p:spPr>
        <p:txBody>
          <a:bodyPr wrap="square" lIns="0" tIns="0" rIns="0" bIns="0" rtlCol="0" anchor="ctr"/>
          <a:lstStyle/>
          <a:p>
            <a:pPr indent="0" marL="0">
              <a:buNone/>
            </a:pPr>
            <a:r>
              <a:rPr lang="en-US" sz="1700" b="1" dirty="0">
                <a:solidFill>
                  <a:srgbClr val="1C2530"/>
                </a:solidFill>
                <a:latin typeface="Calibri" pitchFamily="34" charset="0"/>
                <a:ea typeface="Calibri" pitchFamily="34" charset="-122"/>
                <a:cs typeface="Calibri" pitchFamily="34" charset="-120"/>
              </a:rPr>
              <a:t>Where it earns its keep in a power station</a:t>
            </a:r>
            <a:endParaRPr lang="en-US" sz="1700" dirty="0"/>
          </a:p>
        </p:txBody>
      </p:sp>
      <p:sp>
        <p:nvSpPr>
          <p:cNvPr id="16" name="Text 14"/>
          <p:cNvSpPr/>
          <p:nvPr/>
        </p:nvSpPr>
        <p:spPr>
          <a:xfrm>
            <a:off x="1572768" y="3374136"/>
            <a:ext cx="9686239" cy="356616"/>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Availability, heat rate, auxiliary power, coal quality and knowledge — the places where a thermal station has real money on the table.</a:t>
            </a:r>
            <a:endParaRPr lang="en-US" sz="1350" dirty="0"/>
          </a:p>
        </p:txBody>
      </p:sp>
      <p:sp>
        <p:nvSpPr>
          <p:cNvPr id="17" name="Shape 15"/>
          <p:cNvSpPr/>
          <p:nvPr/>
        </p:nvSpPr>
        <p:spPr>
          <a:xfrm>
            <a:off x="566928" y="4059936"/>
            <a:ext cx="11057839" cy="1014984"/>
          </a:xfrm>
          <a:prstGeom prst="roundRect">
            <a:avLst>
              <a:gd name="adj" fmla="val 540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8" name="Shape 16"/>
          <p:cNvSpPr/>
          <p:nvPr/>
        </p:nvSpPr>
        <p:spPr>
          <a:xfrm>
            <a:off x="804672" y="4283964"/>
            <a:ext cx="566928" cy="566928"/>
          </a:xfrm>
          <a:prstGeom prst="ellipse">
            <a:avLst/>
          </a:prstGeom>
          <a:solidFill>
            <a:srgbClr val="D96A16"/>
          </a:solidFill>
          <a:ln/>
        </p:spPr>
      </p:sp>
      <p:sp>
        <p:nvSpPr>
          <p:cNvPr id="19" name="Text 17"/>
          <p:cNvSpPr/>
          <p:nvPr/>
        </p:nvSpPr>
        <p:spPr>
          <a:xfrm>
            <a:off x="804672" y="4283964"/>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0" name="Text 18"/>
          <p:cNvSpPr/>
          <p:nvPr/>
        </p:nvSpPr>
        <p:spPr>
          <a:xfrm>
            <a:off x="1572768" y="4206240"/>
            <a:ext cx="9686239" cy="384048"/>
          </a:xfrm>
          <a:prstGeom prst="rect">
            <a:avLst/>
          </a:prstGeom>
          <a:noFill/>
          <a:ln/>
        </p:spPr>
        <p:txBody>
          <a:bodyPr wrap="square" lIns="0" tIns="0" rIns="0" bIns="0" rtlCol="0" anchor="ctr"/>
          <a:lstStyle/>
          <a:p>
            <a:pPr indent="0" marL="0">
              <a:buNone/>
            </a:pPr>
            <a:r>
              <a:rPr lang="en-US" sz="1700" b="1" dirty="0">
                <a:solidFill>
                  <a:srgbClr val="1C2530"/>
                </a:solidFill>
                <a:latin typeface="Calibri" pitchFamily="34" charset="0"/>
                <a:ea typeface="Calibri" pitchFamily="34" charset="-122"/>
                <a:cs typeface="Calibri" pitchFamily="34" charset="-120"/>
              </a:rPr>
              <a:t>An honest view of the limits</a:t>
            </a:r>
            <a:endParaRPr lang="en-US" sz="1700" dirty="0"/>
          </a:p>
        </p:txBody>
      </p:sp>
      <p:sp>
        <p:nvSpPr>
          <p:cNvPr id="21" name="Text 19"/>
          <p:cNvSpPr/>
          <p:nvPr/>
        </p:nvSpPr>
        <p:spPr>
          <a:xfrm>
            <a:off x="1572768" y="4590288"/>
            <a:ext cx="9686239" cy="356616"/>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What AI gets wrong, where it must never be connected, and why most programmes fail for reasons that have nothing to do with the algorithm.</a:t>
            </a:r>
            <a:endParaRPr lang="en-US" sz="1350" dirty="0"/>
          </a:p>
        </p:txBody>
      </p:sp>
      <p:sp>
        <p:nvSpPr>
          <p:cNvPr id="22" name="Shape 20"/>
          <p:cNvSpPr/>
          <p:nvPr/>
        </p:nvSpPr>
        <p:spPr>
          <a:xfrm>
            <a:off x="566928" y="5276088"/>
            <a:ext cx="11057839" cy="1014984"/>
          </a:xfrm>
          <a:prstGeom prst="roundRect">
            <a:avLst>
              <a:gd name="adj" fmla="val 540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3" name="Shape 21"/>
          <p:cNvSpPr/>
          <p:nvPr/>
        </p:nvSpPr>
        <p:spPr>
          <a:xfrm>
            <a:off x="804672" y="5500116"/>
            <a:ext cx="566928" cy="566928"/>
          </a:xfrm>
          <a:prstGeom prst="ellipse">
            <a:avLst/>
          </a:prstGeom>
          <a:solidFill>
            <a:srgbClr val="D96A16"/>
          </a:solidFill>
          <a:ln/>
        </p:spPr>
      </p:sp>
      <p:sp>
        <p:nvSpPr>
          <p:cNvPr id="24" name="Text 22"/>
          <p:cNvSpPr/>
          <p:nvPr/>
        </p:nvSpPr>
        <p:spPr>
          <a:xfrm>
            <a:off x="804672" y="5500116"/>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5" name="Text 23"/>
          <p:cNvSpPr/>
          <p:nvPr/>
        </p:nvSpPr>
        <p:spPr>
          <a:xfrm>
            <a:off x="1572768" y="5422392"/>
            <a:ext cx="9686239" cy="384048"/>
          </a:xfrm>
          <a:prstGeom prst="rect">
            <a:avLst/>
          </a:prstGeom>
          <a:noFill/>
          <a:ln/>
        </p:spPr>
        <p:txBody>
          <a:bodyPr wrap="square" lIns="0" tIns="0" rIns="0" bIns="0" rtlCol="0" anchor="ctr"/>
          <a:lstStyle/>
          <a:p>
            <a:pPr indent="0" marL="0">
              <a:buNone/>
            </a:pPr>
            <a:r>
              <a:rPr lang="en-US" sz="1700" b="1" dirty="0">
                <a:solidFill>
                  <a:srgbClr val="1C2530"/>
                </a:solidFill>
                <a:latin typeface="Calibri" pitchFamily="34" charset="0"/>
                <a:ea typeface="Calibri" pitchFamily="34" charset="-122"/>
                <a:cs typeface="Calibri" pitchFamily="34" charset="-120"/>
              </a:rPr>
              <a:t>A first step you can take at your own station</a:t>
            </a:r>
            <a:endParaRPr lang="en-US" sz="1700" dirty="0"/>
          </a:p>
        </p:txBody>
      </p:sp>
      <p:sp>
        <p:nvSpPr>
          <p:cNvPr id="26" name="Text 24"/>
          <p:cNvSpPr/>
          <p:nvPr/>
        </p:nvSpPr>
        <p:spPr>
          <a:xfrm>
            <a:off x="1572768" y="5806440"/>
            <a:ext cx="9686239" cy="356616"/>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One pilot, chosen from your own June 2026 numbers, that a named engineer can run in ninety days without a fleet-wide sanction.</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day, hour by hour</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Nine sessions, two tea breaks and lunch — with the simulation lab running through the middle of it</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Opening</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3</a:t>
            </a:r>
            <a:endParaRPr lang="en-US" sz="950" dirty="0"/>
          </a:p>
        </p:txBody>
      </p:sp>
      <p:sp>
        <p:nvSpPr>
          <p:cNvPr id="7" name="Shape 5"/>
          <p:cNvSpPr/>
          <p:nvPr/>
        </p:nvSpPr>
        <p:spPr>
          <a:xfrm>
            <a:off x="566928" y="1627632"/>
            <a:ext cx="7543800" cy="271272"/>
          </a:xfrm>
          <a:prstGeom prst="roundRect">
            <a:avLst>
              <a:gd name="adj" fmla="val 20225"/>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31520" y="1598676"/>
            <a:ext cx="329184" cy="329184"/>
          </a:xfrm>
          <a:prstGeom prst="ellipse">
            <a:avLst/>
          </a:prstGeom>
          <a:solidFill>
            <a:srgbClr val="11707F"/>
          </a:solidFill>
          <a:ln/>
        </p:spPr>
      </p:sp>
      <p:sp>
        <p:nvSpPr>
          <p:cNvPr id="9" name="Text 7"/>
          <p:cNvSpPr/>
          <p:nvPr/>
        </p:nvSpPr>
        <p:spPr>
          <a:xfrm>
            <a:off x="731520" y="1598676"/>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10" name="Text 8"/>
          <p:cNvSpPr/>
          <p:nvPr/>
        </p:nvSpPr>
        <p:spPr>
          <a:xfrm>
            <a:off x="1188720" y="1627632"/>
            <a:ext cx="5212080" cy="271272"/>
          </a:xfrm>
          <a:prstGeom prst="rect">
            <a:avLst/>
          </a:prstGeom>
          <a:noFill/>
          <a:ln/>
        </p:spPr>
        <p:txBody>
          <a:bodyPr wrap="square" lIns="0" tIns="0" rIns="0" bIns="0" rtlCol="0" anchor="ctr"/>
          <a:lstStyle/>
          <a:p>
            <a:pPr indent="0" marL="0">
              <a:buNone/>
            </a:pPr>
            <a:r>
              <a:rPr lang="en-US" sz="1350" dirty="0">
                <a:solidFill>
                  <a:srgbClr val="1C2530"/>
                </a:solidFill>
                <a:latin typeface="Calibri" pitchFamily="34" charset="0"/>
                <a:ea typeface="Calibri" pitchFamily="34" charset="-122"/>
                <a:cs typeface="Calibri" pitchFamily="34" charset="-120"/>
              </a:rPr>
              <a:t>AI fundamentals</a:t>
            </a:r>
            <a:endParaRPr lang="en-US" sz="1350" dirty="0"/>
          </a:p>
        </p:txBody>
      </p:sp>
      <p:sp>
        <p:nvSpPr>
          <p:cNvPr id="11" name="Text 9"/>
          <p:cNvSpPr/>
          <p:nvPr/>
        </p:nvSpPr>
        <p:spPr>
          <a:xfrm>
            <a:off x="6464808" y="1627632"/>
            <a:ext cx="1481328" cy="271272"/>
          </a:xfrm>
          <a:prstGeom prst="rect">
            <a:avLst/>
          </a:prstGeom>
          <a:noFill/>
          <a:ln/>
        </p:spPr>
        <p:txBody>
          <a:bodyPr wrap="square" lIns="0" tIns="0" rIns="0" bIns="0" rtlCol="0" anchor="ctr"/>
          <a:lstStyle/>
          <a:p>
            <a:pPr algn="r" indent="0" marL="0">
              <a:buNone/>
            </a:pPr>
            <a:r>
              <a:rPr lang="en-US" sz="1250" b="1" dirty="0">
                <a:solidFill>
                  <a:srgbClr val="D96A16"/>
                </a:solidFill>
                <a:latin typeface="Calibri" pitchFamily="34" charset="0"/>
                <a:ea typeface="Calibri" pitchFamily="34" charset="-122"/>
                <a:cs typeface="Calibri" pitchFamily="34" charset="-120"/>
              </a:rPr>
              <a:t>10:10–11:10</a:t>
            </a:r>
            <a:endParaRPr lang="en-US" sz="1250" dirty="0"/>
          </a:p>
        </p:txBody>
      </p:sp>
      <p:sp>
        <p:nvSpPr>
          <p:cNvPr id="12" name="Shape 10"/>
          <p:cNvSpPr/>
          <p:nvPr/>
        </p:nvSpPr>
        <p:spPr>
          <a:xfrm>
            <a:off x="566928" y="2026920"/>
            <a:ext cx="7543800" cy="271272"/>
          </a:xfrm>
          <a:prstGeom prst="roundRect">
            <a:avLst>
              <a:gd name="adj" fmla="val 2022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Shape 11"/>
          <p:cNvSpPr/>
          <p:nvPr/>
        </p:nvSpPr>
        <p:spPr>
          <a:xfrm>
            <a:off x="731520" y="1997964"/>
            <a:ext cx="329184" cy="329184"/>
          </a:xfrm>
          <a:prstGeom prst="ellipse">
            <a:avLst/>
          </a:prstGeom>
          <a:solidFill>
            <a:srgbClr val="11707F"/>
          </a:solidFill>
          <a:ln/>
        </p:spPr>
      </p:sp>
      <p:sp>
        <p:nvSpPr>
          <p:cNvPr id="14" name="Text 12"/>
          <p:cNvSpPr/>
          <p:nvPr/>
        </p:nvSpPr>
        <p:spPr>
          <a:xfrm>
            <a:off x="731520" y="1997964"/>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15" name="Text 13"/>
          <p:cNvSpPr/>
          <p:nvPr/>
        </p:nvSpPr>
        <p:spPr>
          <a:xfrm>
            <a:off x="1188720" y="2026920"/>
            <a:ext cx="5212080" cy="271272"/>
          </a:xfrm>
          <a:prstGeom prst="rect">
            <a:avLst/>
          </a:prstGeom>
          <a:noFill/>
          <a:ln/>
        </p:spPr>
        <p:txBody>
          <a:bodyPr wrap="square" lIns="0" tIns="0" rIns="0" bIns="0" rtlCol="0" anchor="ctr"/>
          <a:lstStyle/>
          <a:p>
            <a:pPr indent="0" marL="0">
              <a:buNone/>
            </a:pPr>
            <a:r>
              <a:rPr lang="en-US" sz="1350" dirty="0">
                <a:solidFill>
                  <a:srgbClr val="1C2530"/>
                </a:solidFill>
                <a:latin typeface="Calibri" pitchFamily="34" charset="0"/>
                <a:ea typeface="Calibri" pitchFamily="34" charset="-122"/>
                <a:cs typeface="Calibri" pitchFamily="34" charset="-120"/>
              </a:rPr>
              <a:t>Tea</a:t>
            </a:r>
            <a:endParaRPr lang="en-US" sz="1350" dirty="0"/>
          </a:p>
        </p:txBody>
      </p:sp>
      <p:sp>
        <p:nvSpPr>
          <p:cNvPr id="16" name="Text 14"/>
          <p:cNvSpPr/>
          <p:nvPr/>
        </p:nvSpPr>
        <p:spPr>
          <a:xfrm>
            <a:off x="6464808" y="2026920"/>
            <a:ext cx="1481328" cy="271272"/>
          </a:xfrm>
          <a:prstGeom prst="rect">
            <a:avLst/>
          </a:prstGeom>
          <a:noFill/>
          <a:ln/>
        </p:spPr>
        <p:txBody>
          <a:bodyPr wrap="square" lIns="0" tIns="0" rIns="0" bIns="0" rtlCol="0" anchor="ctr"/>
          <a:lstStyle/>
          <a:p>
            <a:pPr algn="r" indent="0" marL="0">
              <a:buNone/>
            </a:pPr>
            <a:r>
              <a:rPr lang="en-US" sz="1250" b="1" dirty="0">
                <a:solidFill>
                  <a:srgbClr val="D96A16"/>
                </a:solidFill>
                <a:latin typeface="Calibri" pitchFamily="34" charset="0"/>
                <a:ea typeface="Calibri" pitchFamily="34" charset="-122"/>
                <a:cs typeface="Calibri" pitchFamily="34" charset="-120"/>
              </a:rPr>
              <a:t>11:10–11:25</a:t>
            </a:r>
            <a:endParaRPr lang="en-US" sz="1250" dirty="0"/>
          </a:p>
        </p:txBody>
      </p:sp>
      <p:sp>
        <p:nvSpPr>
          <p:cNvPr id="17" name="Shape 15"/>
          <p:cNvSpPr/>
          <p:nvPr/>
        </p:nvSpPr>
        <p:spPr>
          <a:xfrm>
            <a:off x="566928" y="2426208"/>
            <a:ext cx="7543800" cy="271272"/>
          </a:xfrm>
          <a:prstGeom prst="roundRect">
            <a:avLst>
              <a:gd name="adj" fmla="val 20225"/>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8" name="Shape 16"/>
          <p:cNvSpPr/>
          <p:nvPr/>
        </p:nvSpPr>
        <p:spPr>
          <a:xfrm>
            <a:off x="731520" y="2397252"/>
            <a:ext cx="329184" cy="329184"/>
          </a:xfrm>
          <a:prstGeom prst="ellipse">
            <a:avLst/>
          </a:prstGeom>
          <a:solidFill>
            <a:srgbClr val="11707F"/>
          </a:solidFill>
          <a:ln/>
        </p:spPr>
      </p:sp>
      <p:sp>
        <p:nvSpPr>
          <p:cNvPr id="19" name="Text 17"/>
          <p:cNvSpPr/>
          <p:nvPr/>
        </p:nvSpPr>
        <p:spPr>
          <a:xfrm>
            <a:off x="731520" y="2397252"/>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20" name="Text 18"/>
          <p:cNvSpPr/>
          <p:nvPr/>
        </p:nvSpPr>
        <p:spPr>
          <a:xfrm>
            <a:off x="1188720" y="2426208"/>
            <a:ext cx="5212080" cy="271272"/>
          </a:xfrm>
          <a:prstGeom prst="rect">
            <a:avLst/>
          </a:prstGeom>
          <a:noFill/>
          <a:ln/>
        </p:spPr>
        <p:txBody>
          <a:bodyPr wrap="square" lIns="0" tIns="0" rIns="0" bIns="0" rtlCol="0" anchor="ctr"/>
          <a:lstStyle/>
          <a:p>
            <a:pPr indent="0" marL="0">
              <a:buNone/>
            </a:pPr>
            <a:r>
              <a:rPr lang="en-US" sz="1350" dirty="0">
                <a:solidFill>
                  <a:srgbClr val="1C2530"/>
                </a:solidFill>
                <a:latin typeface="Calibri" pitchFamily="34" charset="0"/>
                <a:ea typeface="Calibri" pitchFamily="34" charset="-122"/>
                <a:cs typeface="Calibri" pitchFamily="34" charset="-120"/>
              </a:rPr>
              <a:t>Intelligent monitoring</a:t>
            </a:r>
            <a:endParaRPr lang="en-US" sz="1350" dirty="0"/>
          </a:p>
        </p:txBody>
      </p:sp>
      <p:sp>
        <p:nvSpPr>
          <p:cNvPr id="21" name="Text 19"/>
          <p:cNvSpPr/>
          <p:nvPr/>
        </p:nvSpPr>
        <p:spPr>
          <a:xfrm>
            <a:off x="6464808" y="2426208"/>
            <a:ext cx="1481328" cy="271272"/>
          </a:xfrm>
          <a:prstGeom prst="rect">
            <a:avLst/>
          </a:prstGeom>
          <a:noFill/>
          <a:ln/>
        </p:spPr>
        <p:txBody>
          <a:bodyPr wrap="square" lIns="0" tIns="0" rIns="0" bIns="0" rtlCol="0" anchor="ctr"/>
          <a:lstStyle/>
          <a:p>
            <a:pPr algn="r" indent="0" marL="0">
              <a:buNone/>
            </a:pPr>
            <a:r>
              <a:rPr lang="en-US" sz="1250" b="1" dirty="0">
                <a:solidFill>
                  <a:srgbClr val="D96A16"/>
                </a:solidFill>
                <a:latin typeface="Calibri" pitchFamily="34" charset="0"/>
                <a:ea typeface="Calibri" pitchFamily="34" charset="-122"/>
                <a:cs typeface="Calibri" pitchFamily="34" charset="-120"/>
              </a:rPr>
              <a:t>11:25–12:10</a:t>
            </a:r>
            <a:endParaRPr lang="en-US" sz="1250" dirty="0"/>
          </a:p>
        </p:txBody>
      </p:sp>
      <p:sp>
        <p:nvSpPr>
          <p:cNvPr id="22" name="Shape 20"/>
          <p:cNvSpPr/>
          <p:nvPr/>
        </p:nvSpPr>
        <p:spPr>
          <a:xfrm>
            <a:off x="566928" y="2825496"/>
            <a:ext cx="7543800" cy="271272"/>
          </a:xfrm>
          <a:prstGeom prst="roundRect">
            <a:avLst>
              <a:gd name="adj" fmla="val 2022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3" name="Shape 21"/>
          <p:cNvSpPr/>
          <p:nvPr/>
        </p:nvSpPr>
        <p:spPr>
          <a:xfrm>
            <a:off x="731520" y="2796540"/>
            <a:ext cx="329184" cy="329184"/>
          </a:xfrm>
          <a:prstGeom prst="ellipse">
            <a:avLst/>
          </a:prstGeom>
          <a:solidFill>
            <a:srgbClr val="11707F"/>
          </a:solidFill>
          <a:ln/>
        </p:spPr>
      </p:sp>
      <p:sp>
        <p:nvSpPr>
          <p:cNvPr id="24" name="Text 22"/>
          <p:cNvSpPr/>
          <p:nvPr/>
        </p:nvSpPr>
        <p:spPr>
          <a:xfrm>
            <a:off x="731520" y="2796540"/>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25" name="Text 23"/>
          <p:cNvSpPr/>
          <p:nvPr/>
        </p:nvSpPr>
        <p:spPr>
          <a:xfrm>
            <a:off x="1188720" y="2825496"/>
            <a:ext cx="5212080" cy="271272"/>
          </a:xfrm>
          <a:prstGeom prst="rect">
            <a:avLst/>
          </a:prstGeom>
          <a:noFill/>
          <a:ln/>
        </p:spPr>
        <p:txBody>
          <a:bodyPr wrap="square" lIns="0" tIns="0" rIns="0" bIns="0" rtlCol="0" anchor="ctr"/>
          <a:lstStyle/>
          <a:p>
            <a:pPr indent="0" marL="0">
              <a:buNone/>
            </a:pPr>
            <a:r>
              <a:rPr lang="en-US" sz="1350" dirty="0">
                <a:solidFill>
                  <a:srgbClr val="1C2530"/>
                </a:solidFill>
                <a:latin typeface="Calibri" pitchFamily="34" charset="0"/>
                <a:ea typeface="Calibri" pitchFamily="34" charset="-122"/>
                <a:cs typeface="Calibri" pitchFamily="34" charset="-120"/>
              </a:rPr>
              <a:t>Predictive maintenance</a:t>
            </a:r>
            <a:endParaRPr lang="en-US" sz="1350" dirty="0"/>
          </a:p>
        </p:txBody>
      </p:sp>
      <p:sp>
        <p:nvSpPr>
          <p:cNvPr id="26" name="Text 24"/>
          <p:cNvSpPr/>
          <p:nvPr/>
        </p:nvSpPr>
        <p:spPr>
          <a:xfrm>
            <a:off x="6464808" y="2825496"/>
            <a:ext cx="1481328" cy="271272"/>
          </a:xfrm>
          <a:prstGeom prst="rect">
            <a:avLst/>
          </a:prstGeom>
          <a:noFill/>
          <a:ln/>
        </p:spPr>
        <p:txBody>
          <a:bodyPr wrap="square" lIns="0" tIns="0" rIns="0" bIns="0" rtlCol="0" anchor="ctr"/>
          <a:lstStyle/>
          <a:p>
            <a:pPr algn="r" indent="0" marL="0">
              <a:buNone/>
            </a:pPr>
            <a:r>
              <a:rPr lang="en-US" sz="1250" b="1" dirty="0">
                <a:solidFill>
                  <a:srgbClr val="D96A16"/>
                </a:solidFill>
                <a:latin typeface="Calibri" pitchFamily="34" charset="0"/>
                <a:ea typeface="Calibri" pitchFamily="34" charset="-122"/>
                <a:cs typeface="Calibri" pitchFamily="34" charset="-120"/>
              </a:rPr>
              <a:t>12:10–13:00</a:t>
            </a:r>
            <a:endParaRPr lang="en-US" sz="1250" dirty="0"/>
          </a:p>
        </p:txBody>
      </p:sp>
      <p:sp>
        <p:nvSpPr>
          <p:cNvPr id="27" name="Shape 25"/>
          <p:cNvSpPr/>
          <p:nvPr/>
        </p:nvSpPr>
        <p:spPr>
          <a:xfrm>
            <a:off x="566928" y="3224784"/>
            <a:ext cx="7543800" cy="271272"/>
          </a:xfrm>
          <a:prstGeom prst="roundRect">
            <a:avLst>
              <a:gd name="adj" fmla="val 20225"/>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Shape 26"/>
          <p:cNvSpPr/>
          <p:nvPr/>
        </p:nvSpPr>
        <p:spPr>
          <a:xfrm>
            <a:off x="731520" y="3195828"/>
            <a:ext cx="329184" cy="329184"/>
          </a:xfrm>
          <a:prstGeom prst="ellipse">
            <a:avLst/>
          </a:prstGeom>
          <a:solidFill>
            <a:srgbClr val="11707F"/>
          </a:solidFill>
          <a:ln/>
        </p:spPr>
      </p:sp>
      <p:sp>
        <p:nvSpPr>
          <p:cNvPr id="29" name="Text 27"/>
          <p:cNvSpPr/>
          <p:nvPr/>
        </p:nvSpPr>
        <p:spPr>
          <a:xfrm>
            <a:off x="731520" y="3195828"/>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30" name="Text 28"/>
          <p:cNvSpPr/>
          <p:nvPr/>
        </p:nvSpPr>
        <p:spPr>
          <a:xfrm>
            <a:off x="1188720" y="3224784"/>
            <a:ext cx="5212080" cy="271272"/>
          </a:xfrm>
          <a:prstGeom prst="rect">
            <a:avLst/>
          </a:prstGeom>
          <a:noFill/>
          <a:ln/>
        </p:spPr>
        <p:txBody>
          <a:bodyPr wrap="square" lIns="0" tIns="0" rIns="0" bIns="0" rtlCol="0" anchor="ctr"/>
          <a:lstStyle/>
          <a:p>
            <a:pPr indent="0" marL="0">
              <a:buNone/>
            </a:pPr>
            <a:r>
              <a:rPr lang="en-US" sz="1350" dirty="0">
                <a:solidFill>
                  <a:srgbClr val="1C2530"/>
                </a:solidFill>
                <a:latin typeface="Calibri" pitchFamily="34" charset="0"/>
                <a:ea typeface="Calibri" pitchFamily="34" charset="-122"/>
                <a:cs typeface="Calibri" pitchFamily="34" charset="-120"/>
              </a:rPr>
              <a:t>Lunch</a:t>
            </a:r>
            <a:endParaRPr lang="en-US" sz="1350" dirty="0"/>
          </a:p>
        </p:txBody>
      </p:sp>
      <p:sp>
        <p:nvSpPr>
          <p:cNvPr id="31" name="Text 29"/>
          <p:cNvSpPr/>
          <p:nvPr/>
        </p:nvSpPr>
        <p:spPr>
          <a:xfrm>
            <a:off x="6464808" y="3224784"/>
            <a:ext cx="1481328" cy="271272"/>
          </a:xfrm>
          <a:prstGeom prst="rect">
            <a:avLst/>
          </a:prstGeom>
          <a:noFill/>
          <a:ln/>
        </p:spPr>
        <p:txBody>
          <a:bodyPr wrap="square" lIns="0" tIns="0" rIns="0" bIns="0" rtlCol="0" anchor="ctr"/>
          <a:lstStyle/>
          <a:p>
            <a:pPr algn="r" indent="0" marL="0">
              <a:buNone/>
            </a:pPr>
            <a:r>
              <a:rPr lang="en-US" sz="1250" b="1" dirty="0">
                <a:solidFill>
                  <a:srgbClr val="D96A16"/>
                </a:solidFill>
                <a:latin typeface="Calibri" pitchFamily="34" charset="0"/>
                <a:ea typeface="Calibri" pitchFamily="34" charset="-122"/>
                <a:cs typeface="Calibri" pitchFamily="34" charset="-120"/>
              </a:rPr>
              <a:t>13:00–14:30</a:t>
            </a:r>
            <a:endParaRPr lang="en-US" sz="1250" dirty="0"/>
          </a:p>
        </p:txBody>
      </p:sp>
      <p:sp>
        <p:nvSpPr>
          <p:cNvPr id="32" name="Shape 30"/>
          <p:cNvSpPr/>
          <p:nvPr/>
        </p:nvSpPr>
        <p:spPr>
          <a:xfrm>
            <a:off x="566928" y="3624072"/>
            <a:ext cx="7543800" cy="271272"/>
          </a:xfrm>
          <a:prstGeom prst="roundRect">
            <a:avLst>
              <a:gd name="adj" fmla="val 2022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3" name="Shape 31"/>
          <p:cNvSpPr/>
          <p:nvPr/>
        </p:nvSpPr>
        <p:spPr>
          <a:xfrm>
            <a:off x="731520" y="3595116"/>
            <a:ext cx="329184" cy="329184"/>
          </a:xfrm>
          <a:prstGeom prst="ellipse">
            <a:avLst/>
          </a:prstGeom>
          <a:solidFill>
            <a:srgbClr val="11707F"/>
          </a:solidFill>
          <a:ln/>
        </p:spPr>
      </p:sp>
      <p:sp>
        <p:nvSpPr>
          <p:cNvPr id="34" name="Text 32"/>
          <p:cNvSpPr/>
          <p:nvPr/>
        </p:nvSpPr>
        <p:spPr>
          <a:xfrm>
            <a:off x="731520" y="3595116"/>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35" name="Text 33"/>
          <p:cNvSpPr/>
          <p:nvPr/>
        </p:nvSpPr>
        <p:spPr>
          <a:xfrm>
            <a:off x="1188720" y="3624072"/>
            <a:ext cx="5212080" cy="271272"/>
          </a:xfrm>
          <a:prstGeom prst="rect">
            <a:avLst/>
          </a:prstGeom>
          <a:noFill/>
          <a:ln/>
        </p:spPr>
        <p:txBody>
          <a:bodyPr wrap="square" lIns="0" tIns="0" rIns="0" bIns="0" rtlCol="0" anchor="ctr"/>
          <a:lstStyle/>
          <a:p>
            <a:pPr indent="0" marL="0">
              <a:buNone/>
            </a:pPr>
            <a:r>
              <a:rPr lang="en-US" sz="1350" dirty="0">
                <a:solidFill>
                  <a:srgbClr val="1C2530"/>
                </a:solidFill>
                <a:latin typeface="Calibri" pitchFamily="34" charset="0"/>
                <a:ea typeface="Calibri" pitchFamily="34" charset="-122"/>
                <a:cs typeface="Calibri" pitchFamily="34" charset="-120"/>
              </a:rPr>
              <a:t>Reading our own numbers</a:t>
            </a:r>
            <a:endParaRPr lang="en-US" sz="1350" dirty="0"/>
          </a:p>
        </p:txBody>
      </p:sp>
      <p:sp>
        <p:nvSpPr>
          <p:cNvPr id="36" name="Text 34"/>
          <p:cNvSpPr/>
          <p:nvPr/>
        </p:nvSpPr>
        <p:spPr>
          <a:xfrm>
            <a:off x="6464808" y="3624072"/>
            <a:ext cx="1481328" cy="271272"/>
          </a:xfrm>
          <a:prstGeom prst="rect">
            <a:avLst/>
          </a:prstGeom>
          <a:noFill/>
          <a:ln/>
        </p:spPr>
        <p:txBody>
          <a:bodyPr wrap="square" lIns="0" tIns="0" rIns="0" bIns="0" rtlCol="0" anchor="ctr"/>
          <a:lstStyle/>
          <a:p>
            <a:pPr algn="r" indent="0" marL="0">
              <a:buNone/>
            </a:pPr>
            <a:r>
              <a:rPr lang="en-US" sz="1250" b="1" dirty="0">
                <a:solidFill>
                  <a:srgbClr val="D96A16"/>
                </a:solidFill>
                <a:latin typeface="Calibri" pitchFamily="34" charset="0"/>
                <a:ea typeface="Calibri" pitchFamily="34" charset="-122"/>
                <a:cs typeface="Calibri" pitchFamily="34" charset="-120"/>
              </a:rPr>
              <a:t>14:30–15:00</a:t>
            </a:r>
            <a:endParaRPr lang="en-US" sz="1250" dirty="0"/>
          </a:p>
        </p:txBody>
      </p:sp>
      <p:sp>
        <p:nvSpPr>
          <p:cNvPr id="37" name="Shape 35"/>
          <p:cNvSpPr/>
          <p:nvPr/>
        </p:nvSpPr>
        <p:spPr>
          <a:xfrm>
            <a:off x="566928" y="4023360"/>
            <a:ext cx="7543800" cy="271272"/>
          </a:xfrm>
          <a:prstGeom prst="roundRect">
            <a:avLst>
              <a:gd name="adj" fmla="val 20225"/>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8" name="Shape 36"/>
          <p:cNvSpPr/>
          <p:nvPr/>
        </p:nvSpPr>
        <p:spPr>
          <a:xfrm>
            <a:off x="731520" y="3994404"/>
            <a:ext cx="329184" cy="329184"/>
          </a:xfrm>
          <a:prstGeom prst="ellipse">
            <a:avLst/>
          </a:prstGeom>
          <a:solidFill>
            <a:srgbClr val="11707F"/>
          </a:solidFill>
          <a:ln/>
        </p:spPr>
      </p:sp>
      <p:sp>
        <p:nvSpPr>
          <p:cNvPr id="39" name="Text 37"/>
          <p:cNvSpPr/>
          <p:nvPr/>
        </p:nvSpPr>
        <p:spPr>
          <a:xfrm>
            <a:off x="731520" y="3994404"/>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40" name="Text 38"/>
          <p:cNvSpPr/>
          <p:nvPr/>
        </p:nvSpPr>
        <p:spPr>
          <a:xfrm>
            <a:off x="1188720" y="4023360"/>
            <a:ext cx="5212080" cy="271272"/>
          </a:xfrm>
          <a:prstGeom prst="rect">
            <a:avLst/>
          </a:prstGeom>
          <a:noFill/>
          <a:ln/>
        </p:spPr>
        <p:txBody>
          <a:bodyPr wrap="square" lIns="0" tIns="0" rIns="0" bIns="0" rtlCol="0" anchor="ctr"/>
          <a:lstStyle/>
          <a:p>
            <a:pPr indent="0" marL="0">
              <a:buNone/>
            </a:pPr>
            <a:r>
              <a:rPr lang="en-US" sz="1350" dirty="0">
                <a:solidFill>
                  <a:srgbClr val="1C2530"/>
                </a:solidFill>
                <a:latin typeface="Calibri" pitchFamily="34" charset="0"/>
                <a:ea typeface="Calibri" pitchFamily="34" charset="-122"/>
                <a:cs typeface="Calibri" pitchFamily="34" charset="-120"/>
              </a:rPr>
              <a:t>What other generators have done</a:t>
            </a:r>
            <a:endParaRPr lang="en-US" sz="1350" dirty="0"/>
          </a:p>
        </p:txBody>
      </p:sp>
      <p:sp>
        <p:nvSpPr>
          <p:cNvPr id="41" name="Text 39"/>
          <p:cNvSpPr/>
          <p:nvPr/>
        </p:nvSpPr>
        <p:spPr>
          <a:xfrm>
            <a:off x="6464808" y="4023360"/>
            <a:ext cx="1481328" cy="271272"/>
          </a:xfrm>
          <a:prstGeom prst="rect">
            <a:avLst/>
          </a:prstGeom>
          <a:noFill/>
          <a:ln/>
        </p:spPr>
        <p:txBody>
          <a:bodyPr wrap="square" lIns="0" tIns="0" rIns="0" bIns="0" rtlCol="0" anchor="ctr"/>
          <a:lstStyle/>
          <a:p>
            <a:pPr algn="r" indent="0" marL="0">
              <a:buNone/>
            </a:pPr>
            <a:r>
              <a:rPr lang="en-US" sz="1250" b="1" dirty="0">
                <a:solidFill>
                  <a:srgbClr val="D96A16"/>
                </a:solidFill>
                <a:latin typeface="Calibri" pitchFamily="34" charset="0"/>
                <a:ea typeface="Calibri" pitchFamily="34" charset="-122"/>
                <a:cs typeface="Calibri" pitchFamily="34" charset="-120"/>
              </a:rPr>
              <a:t>15:00–15:12</a:t>
            </a:r>
            <a:endParaRPr lang="en-US" sz="1250" dirty="0"/>
          </a:p>
        </p:txBody>
      </p:sp>
      <p:sp>
        <p:nvSpPr>
          <p:cNvPr id="42" name="Shape 40"/>
          <p:cNvSpPr/>
          <p:nvPr/>
        </p:nvSpPr>
        <p:spPr>
          <a:xfrm>
            <a:off x="566928" y="4422648"/>
            <a:ext cx="7543800" cy="271272"/>
          </a:xfrm>
          <a:prstGeom prst="roundRect">
            <a:avLst>
              <a:gd name="adj" fmla="val 2022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43" name="Shape 41"/>
          <p:cNvSpPr/>
          <p:nvPr/>
        </p:nvSpPr>
        <p:spPr>
          <a:xfrm>
            <a:off x="731520" y="4393692"/>
            <a:ext cx="329184" cy="329184"/>
          </a:xfrm>
          <a:prstGeom prst="ellipse">
            <a:avLst/>
          </a:prstGeom>
          <a:solidFill>
            <a:srgbClr val="11707F"/>
          </a:solidFill>
          <a:ln/>
        </p:spPr>
      </p:sp>
      <p:sp>
        <p:nvSpPr>
          <p:cNvPr id="44" name="Text 42"/>
          <p:cNvSpPr/>
          <p:nvPr/>
        </p:nvSpPr>
        <p:spPr>
          <a:xfrm>
            <a:off x="731520" y="4393692"/>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6</a:t>
            </a:r>
            <a:endParaRPr lang="en-US" sz="1250" dirty="0"/>
          </a:p>
        </p:txBody>
      </p:sp>
      <p:sp>
        <p:nvSpPr>
          <p:cNvPr id="45" name="Text 43"/>
          <p:cNvSpPr/>
          <p:nvPr/>
        </p:nvSpPr>
        <p:spPr>
          <a:xfrm>
            <a:off x="1188720" y="4422648"/>
            <a:ext cx="5212080" cy="271272"/>
          </a:xfrm>
          <a:prstGeom prst="rect">
            <a:avLst/>
          </a:prstGeom>
          <a:noFill/>
          <a:ln/>
        </p:spPr>
        <p:txBody>
          <a:bodyPr wrap="square" lIns="0" tIns="0" rIns="0" bIns="0" rtlCol="0" anchor="ctr"/>
          <a:lstStyle/>
          <a:p>
            <a:pPr indent="0" marL="0">
              <a:buNone/>
            </a:pPr>
            <a:r>
              <a:rPr lang="en-US" sz="1350" dirty="0">
                <a:solidFill>
                  <a:srgbClr val="1C2530"/>
                </a:solidFill>
                <a:latin typeface="Calibri" pitchFamily="34" charset="0"/>
                <a:ea typeface="Calibri" pitchFamily="34" charset="-122"/>
                <a:cs typeface="Calibri" pitchFamily="34" charset="-120"/>
              </a:rPr>
              <a:t>Performance optimisation</a:t>
            </a:r>
            <a:endParaRPr lang="en-US" sz="1350" dirty="0"/>
          </a:p>
        </p:txBody>
      </p:sp>
      <p:sp>
        <p:nvSpPr>
          <p:cNvPr id="46" name="Text 44"/>
          <p:cNvSpPr/>
          <p:nvPr/>
        </p:nvSpPr>
        <p:spPr>
          <a:xfrm>
            <a:off x="6464808" y="4422648"/>
            <a:ext cx="1481328" cy="271272"/>
          </a:xfrm>
          <a:prstGeom prst="rect">
            <a:avLst/>
          </a:prstGeom>
          <a:noFill/>
          <a:ln/>
        </p:spPr>
        <p:txBody>
          <a:bodyPr wrap="square" lIns="0" tIns="0" rIns="0" bIns="0" rtlCol="0" anchor="ctr"/>
          <a:lstStyle/>
          <a:p>
            <a:pPr algn="r" indent="0" marL="0">
              <a:buNone/>
            </a:pPr>
            <a:r>
              <a:rPr lang="en-US" sz="1250" b="1" dirty="0">
                <a:solidFill>
                  <a:srgbClr val="D96A16"/>
                </a:solidFill>
                <a:latin typeface="Calibri" pitchFamily="34" charset="0"/>
                <a:ea typeface="Calibri" pitchFamily="34" charset="-122"/>
                <a:cs typeface="Calibri" pitchFamily="34" charset="-120"/>
              </a:rPr>
              <a:t>15:12–15:45</a:t>
            </a:r>
            <a:endParaRPr lang="en-US" sz="1250" dirty="0"/>
          </a:p>
        </p:txBody>
      </p:sp>
      <p:sp>
        <p:nvSpPr>
          <p:cNvPr id="47" name="Shape 45"/>
          <p:cNvSpPr/>
          <p:nvPr/>
        </p:nvSpPr>
        <p:spPr>
          <a:xfrm>
            <a:off x="566928" y="4821936"/>
            <a:ext cx="7543800" cy="271272"/>
          </a:xfrm>
          <a:prstGeom prst="roundRect">
            <a:avLst>
              <a:gd name="adj" fmla="val 20225"/>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48" name="Shape 46"/>
          <p:cNvSpPr/>
          <p:nvPr/>
        </p:nvSpPr>
        <p:spPr>
          <a:xfrm>
            <a:off x="731520" y="4792980"/>
            <a:ext cx="329184" cy="329184"/>
          </a:xfrm>
          <a:prstGeom prst="ellipse">
            <a:avLst/>
          </a:prstGeom>
          <a:solidFill>
            <a:srgbClr val="11707F"/>
          </a:solidFill>
          <a:ln/>
        </p:spPr>
      </p:sp>
      <p:sp>
        <p:nvSpPr>
          <p:cNvPr id="49" name="Text 47"/>
          <p:cNvSpPr/>
          <p:nvPr/>
        </p:nvSpPr>
        <p:spPr>
          <a:xfrm>
            <a:off x="731520" y="4792980"/>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50" name="Text 48"/>
          <p:cNvSpPr/>
          <p:nvPr/>
        </p:nvSpPr>
        <p:spPr>
          <a:xfrm>
            <a:off x="1188720" y="4821936"/>
            <a:ext cx="5212080" cy="271272"/>
          </a:xfrm>
          <a:prstGeom prst="rect">
            <a:avLst/>
          </a:prstGeom>
          <a:noFill/>
          <a:ln/>
        </p:spPr>
        <p:txBody>
          <a:bodyPr wrap="square" lIns="0" tIns="0" rIns="0" bIns="0" rtlCol="0" anchor="ctr"/>
          <a:lstStyle/>
          <a:p>
            <a:pPr indent="0" marL="0">
              <a:buNone/>
            </a:pPr>
            <a:r>
              <a:rPr lang="en-US" sz="1350" dirty="0">
                <a:solidFill>
                  <a:srgbClr val="1C2530"/>
                </a:solidFill>
                <a:latin typeface="Calibri" pitchFamily="34" charset="0"/>
                <a:ea typeface="Calibri" pitchFamily="34" charset="-122"/>
                <a:cs typeface="Calibri" pitchFamily="34" charset="-120"/>
              </a:rPr>
              <a:t>Tea</a:t>
            </a:r>
            <a:endParaRPr lang="en-US" sz="1350" dirty="0"/>
          </a:p>
        </p:txBody>
      </p:sp>
      <p:sp>
        <p:nvSpPr>
          <p:cNvPr id="51" name="Text 49"/>
          <p:cNvSpPr/>
          <p:nvPr/>
        </p:nvSpPr>
        <p:spPr>
          <a:xfrm>
            <a:off x="6464808" y="4821936"/>
            <a:ext cx="1481328" cy="271272"/>
          </a:xfrm>
          <a:prstGeom prst="rect">
            <a:avLst/>
          </a:prstGeom>
          <a:noFill/>
          <a:ln/>
        </p:spPr>
        <p:txBody>
          <a:bodyPr wrap="square" lIns="0" tIns="0" rIns="0" bIns="0" rtlCol="0" anchor="ctr"/>
          <a:lstStyle/>
          <a:p>
            <a:pPr algn="r" indent="0" marL="0">
              <a:buNone/>
            </a:pPr>
            <a:r>
              <a:rPr lang="en-US" sz="1250" b="1" dirty="0">
                <a:solidFill>
                  <a:srgbClr val="D96A16"/>
                </a:solidFill>
                <a:latin typeface="Calibri" pitchFamily="34" charset="0"/>
                <a:ea typeface="Calibri" pitchFamily="34" charset="-122"/>
                <a:cs typeface="Calibri" pitchFamily="34" charset="-120"/>
              </a:rPr>
              <a:t>15:45–15:55</a:t>
            </a:r>
            <a:endParaRPr lang="en-US" sz="1250" dirty="0"/>
          </a:p>
        </p:txBody>
      </p:sp>
      <p:sp>
        <p:nvSpPr>
          <p:cNvPr id="52" name="Shape 50"/>
          <p:cNvSpPr/>
          <p:nvPr/>
        </p:nvSpPr>
        <p:spPr>
          <a:xfrm>
            <a:off x="566928" y="5221224"/>
            <a:ext cx="7543800" cy="271272"/>
          </a:xfrm>
          <a:prstGeom prst="roundRect">
            <a:avLst>
              <a:gd name="adj" fmla="val 2022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53" name="Shape 51"/>
          <p:cNvSpPr/>
          <p:nvPr/>
        </p:nvSpPr>
        <p:spPr>
          <a:xfrm>
            <a:off x="731520" y="5192268"/>
            <a:ext cx="329184" cy="329184"/>
          </a:xfrm>
          <a:prstGeom prst="ellipse">
            <a:avLst/>
          </a:prstGeom>
          <a:solidFill>
            <a:srgbClr val="11707F"/>
          </a:solidFill>
          <a:ln/>
        </p:spPr>
      </p:sp>
      <p:sp>
        <p:nvSpPr>
          <p:cNvPr id="54" name="Text 52"/>
          <p:cNvSpPr/>
          <p:nvPr/>
        </p:nvSpPr>
        <p:spPr>
          <a:xfrm>
            <a:off x="731520" y="5192268"/>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7</a:t>
            </a:r>
            <a:endParaRPr lang="en-US" sz="1250" dirty="0"/>
          </a:p>
        </p:txBody>
      </p:sp>
      <p:sp>
        <p:nvSpPr>
          <p:cNvPr id="55" name="Text 53"/>
          <p:cNvSpPr/>
          <p:nvPr/>
        </p:nvSpPr>
        <p:spPr>
          <a:xfrm>
            <a:off x="1188720" y="5221224"/>
            <a:ext cx="5212080" cy="271272"/>
          </a:xfrm>
          <a:prstGeom prst="rect">
            <a:avLst/>
          </a:prstGeom>
          <a:noFill/>
          <a:ln/>
        </p:spPr>
        <p:txBody>
          <a:bodyPr wrap="square" lIns="0" tIns="0" rIns="0" bIns="0" rtlCol="0" anchor="ctr"/>
          <a:lstStyle/>
          <a:p>
            <a:pPr indent="0" marL="0">
              <a:buNone/>
            </a:pPr>
            <a:r>
              <a:rPr lang="en-US" sz="1350" dirty="0">
                <a:solidFill>
                  <a:srgbClr val="1C2530"/>
                </a:solidFill>
                <a:latin typeface="Calibri" pitchFamily="34" charset="0"/>
                <a:ea typeface="Calibri" pitchFamily="34" charset="-122"/>
                <a:cs typeface="Calibri" pitchFamily="34" charset="-120"/>
              </a:rPr>
              <a:t>Generative AI, RAG and agents</a:t>
            </a:r>
            <a:endParaRPr lang="en-US" sz="1350" dirty="0"/>
          </a:p>
        </p:txBody>
      </p:sp>
      <p:sp>
        <p:nvSpPr>
          <p:cNvPr id="56" name="Text 54"/>
          <p:cNvSpPr/>
          <p:nvPr/>
        </p:nvSpPr>
        <p:spPr>
          <a:xfrm>
            <a:off x="6464808" y="5221224"/>
            <a:ext cx="1481328" cy="271272"/>
          </a:xfrm>
          <a:prstGeom prst="rect">
            <a:avLst/>
          </a:prstGeom>
          <a:noFill/>
          <a:ln/>
        </p:spPr>
        <p:txBody>
          <a:bodyPr wrap="square" lIns="0" tIns="0" rIns="0" bIns="0" rtlCol="0" anchor="ctr"/>
          <a:lstStyle/>
          <a:p>
            <a:pPr algn="r" indent="0" marL="0">
              <a:buNone/>
            </a:pPr>
            <a:r>
              <a:rPr lang="en-US" sz="1250" b="1" dirty="0">
                <a:solidFill>
                  <a:srgbClr val="D96A16"/>
                </a:solidFill>
                <a:latin typeface="Calibri" pitchFamily="34" charset="0"/>
                <a:ea typeface="Calibri" pitchFamily="34" charset="-122"/>
                <a:cs typeface="Calibri" pitchFamily="34" charset="-120"/>
              </a:rPr>
              <a:t>15:55–16:28</a:t>
            </a:r>
            <a:endParaRPr lang="en-US" sz="1250" dirty="0"/>
          </a:p>
        </p:txBody>
      </p:sp>
      <p:sp>
        <p:nvSpPr>
          <p:cNvPr id="57" name="Shape 55"/>
          <p:cNvSpPr/>
          <p:nvPr/>
        </p:nvSpPr>
        <p:spPr>
          <a:xfrm>
            <a:off x="566928" y="5620512"/>
            <a:ext cx="7543800" cy="271272"/>
          </a:xfrm>
          <a:prstGeom prst="roundRect">
            <a:avLst>
              <a:gd name="adj" fmla="val 20225"/>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58" name="Shape 56"/>
          <p:cNvSpPr/>
          <p:nvPr/>
        </p:nvSpPr>
        <p:spPr>
          <a:xfrm>
            <a:off x="731520" y="5591556"/>
            <a:ext cx="329184" cy="329184"/>
          </a:xfrm>
          <a:prstGeom prst="ellipse">
            <a:avLst/>
          </a:prstGeom>
          <a:solidFill>
            <a:srgbClr val="11707F"/>
          </a:solidFill>
          <a:ln/>
        </p:spPr>
      </p:sp>
      <p:sp>
        <p:nvSpPr>
          <p:cNvPr id="59" name="Text 57"/>
          <p:cNvSpPr/>
          <p:nvPr/>
        </p:nvSpPr>
        <p:spPr>
          <a:xfrm>
            <a:off x="731520" y="5591556"/>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8</a:t>
            </a:r>
            <a:endParaRPr lang="en-US" sz="1250" dirty="0"/>
          </a:p>
        </p:txBody>
      </p:sp>
      <p:sp>
        <p:nvSpPr>
          <p:cNvPr id="60" name="Text 58"/>
          <p:cNvSpPr/>
          <p:nvPr/>
        </p:nvSpPr>
        <p:spPr>
          <a:xfrm>
            <a:off x="1188720" y="5620512"/>
            <a:ext cx="5212080" cy="271272"/>
          </a:xfrm>
          <a:prstGeom prst="rect">
            <a:avLst/>
          </a:prstGeom>
          <a:noFill/>
          <a:ln/>
        </p:spPr>
        <p:txBody>
          <a:bodyPr wrap="square" lIns="0" tIns="0" rIns="0" bIns="0" rtlCol="0" anchor="ctr"/>
          <a:lstStyle/>
          <a:p>
            <a:pPr indent="0" marL="0">
              <a:buNone/>
            </a:pPr>
            <a:r>
              <a:rPr lang="en-US" sz="1350" dirty="0">
                <a:solidFill>
                  <a:srgbClr val="1C2530"/>
                </a:solidFill>
                <a:latin typeface="Calibri" pitchFamily="34" charset="0"/>
                <a:ea typeface="Calibri" pitchFamily="34" charset="-122"/>
                <a:cs typeface="Calibri" pitchFamily="34" charset="-120"/>
              </a:rPr>
              <a:t>Computer vision and emerging</a:t>
            </a:r>
            <a:endParaRPr lang="en-US" sz="1350" dirty="0"/>
          </a:p>
        </p:txBody>
      </p:sp>
      <p:sp>
        <p:nvSpPr>
          <p:cNvPr id="61" name="Text 59"/>
          <p:cNvSpPr/>
          <p:nvPr/>
        </p:nvSpPr>
        <p:spPr>
          <a:xfrm>
            <a:off x="6464808" y="5620512"/>
            <a:ext cx="1481328" cy="271272"/>
          </a:xfrm>
          <a:prstGeom prst="rect">
            <a:avLst/>
          </a:prstGeom>
          <a:noFill/>
          <a:ln/>
        </p:spPr>
        <p:txBody>
          <a:bodyPr wrap="square" lIns="0" tIns="0" rIns="0" bIns="0" rtlCol="0" anchor="ctr"/>
          <a:lstStyle/>
          <a:p>
            <a:pPr algn="r" indent="0" marL="0">
              <a:buNone/>
            </a:pPr>
            <a:r>
              <a:rPr lang="en-US" sz="1250" b="1" dirty="0">
                <a:solidFill>
                  <a:srgbClr val="D96A16"/>
                </a:solidFill>
                <a:latin typeface="Calibri" pitchFamily="34" charset="0"/>
                <a:ea typeface="Calibri" pitchFamily="34" charset="-122"/>
                <a:cs typeface="Calibri" pitchFamily="34" charset="-120"/>
              </a:rPr>
              <a:t>16:28–16:40</a:t>
            </a:r>
            <a:endParaRPr lang="en-US" sz="1250" dirty="0"/>
          </a:p>
        </p:txBody>
      </p:sp>
      <p:sp>
        <p:nvSpPr>
          <p:cNvPr id="62" name="Shape 60"/>
          <p:cNvSpPr/>
          <p:nvPr/>
        </p:nvSpPr>
        <p:spPr>
          <a:xfrm>
            <a:off x="566928" y="6019800"/>
            <a:ext cx="7543800" cy="271272"/>
          </a:xfrm>
          <a:prstGeom prst="roundRect">
            <a:avLst>
              <a:gd name="adj" fmla="val 2022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63" name="Shape 61"/>
          <p:cNvSpPr/>
          <p:nvPr/>
        </p:nvSpPr>
        <p:spPr>
          <a:xfrm>
            <a:off x="731520" y="5990844"/>
            <a:ext cx="329184" cy="329184"/>
          </a:xfrm>
          <a:prstGeom prst="ellipse">
            <a:avLst/>
          </a:prstGeom>
          <a:solidFill>
            <a:srgbClr val="11707F"/>
          </a:solidFill>
          <a:ln/>
        </p:spPr>
      </p:sp>
      <p:sp>
        <p:nvSpPr>
          <p:cNvPr id="64" name="Text 62"/>
          <p:cNvSpPr/>
          <p:nvPr/>
        </p:nvSpPr>
        <p:spPr>
          <a:xfrm>
            <a:off x="731520" y="5990844"/>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9</a:t>
            </a:r>
            <a:endParaRPr lang="en-US" sz="1250" dirty="0"/>
          </a:p>
        </p:txBody>
      </p:sp>
      <p:sp>
        <p:nvSpPr>
          <p:cNvPr id="65" name="Text 63"/>
          <p:cNvSpPr/>
          <p:nvPr/>
        </p:nvSpPr>
        <p:spPr>
          <a:xfrm>
            <a:off x="1188720" y="6019800"/>
            <a:ext cx="5212080" cy="271272"/>
          </a:xfrm>
          <a:prstGeom prst="rect">
            <a:avLst/>
          </a:prstGeom>
          <a:noFill/>
          <a:ln/>
        </p:spPr>
        <p:txBody>
          <a:bodyPr wrap="square" lIns="0" tIns="0" rIns="0" bIns="0" rtlCol="0" anchor="ctr"/>
          <a:lstStyle/>
          <a:p>
            <a:pPr indent="0" marL="0">
              <a:buNone/>
            </a:pPr>
            <a:r>
              <a:rPr lang="en-US" sz="1350" dirty="0">
                <a:solidFill>
                  <a:srgbClr val="1C2530"/>
                </a:solidFill>
                <a:latin typeface="Calibri" pitchFamily="34" charset="0"/>
                <a:ea typeface="Calibri" pitchFamily="34" charset="-122"/>
                <a:cs typeface="Calibri" pitchFamily="34" charset="-120"/>
              </a:rPr>
              <a:t>Implementing responsibly</a:t>
            </a:r>
            <a:endParaRPr lang="en-US" sz="1350" dirty="0"/>
          </a:p>
        </p:txBody>
      </p:sp>
      <p:sp>
        <p:nvSpPr>
          <p:cNvPr id="66" name="Text 64"/>
          <p:cNvSpPr/>
          <p:nvPr/>
        </p:nvSpPr>
        <p:spPr>
          <a:xfrm>
            <a:off x="6464808" y="6019800"/>
            <a:ext cx="1481328" cy="271272"/>
          </a:xfrm>
          <a:prstGeom prst="rect">
            <a:avLst/>
          </a:prstGeom>
          <a:noFill/>
          <a:ln/>
        </p:spPr>
        <p:txBody>
          <a:bodyPr wrap="square" lIns="0" tIns="0" rIns="0" bIns="0" rtlCol="0" anchor="ctr"/>
          <a:lstStyle/>
          <a:p>
            <a:pPr algn="r" indent="0" marL="0">
              <a:buNone/>
            </a:pPr>
            <a:r>
              <a:rPr lang="en-US" sz="1250" b="1" dirty="0">
                <a:solidFill>
                  <a:srgbClr val="D96A16"/>
                </a:solidFill>
                <a:latin typeface="Calibri" pitchFamily="34" charset="0"/>
                <a:ea typeface="Calibri" pitchFamily="34" charset="-122"/>
                <a:cs typeface="Calibri" pitchFamily="34" charset="-120"/>
              </a:rPr>
              <a:t>16:40–17:00</a:t>
            </a:r>
            <a:endParaRPr lang="en-US" sz="1250" dirty="0"/>
          </a:p>
        </p:txBody>
      </p:sp>
      <p:sp>
        <p:nvSpPr>
          <p:cNvPr id="67" name="Shape 65"/>
          <p:cNvSpPr/>
          <p:nvPr/>
        </p:nvSpPr>
        <p:spPr>
          <a:xfrm>
            <a:off x="8403336" y="1627632"/>
            <a:ext cx="3221431" cy="1691640"/>
          </a:xfrm>
          <a:prstGeom prst="roundRect">
            <a:avLst>
              <a:gd name="adj" fmla="val 3243"/>
            </a:avLst>
          </a:prstGeom>
          <a:solidFill>
            <a:srgbClr val="1C253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68" name="Text 66"/>
          <p:cNvSpPr/>
          <p:nvPr/>
        </p:nvSpPr>
        <p:spPr>
          <a:xfrm>
            <a:off x="8403336" y="1847088"/>
            <a:ext cx="3221431" cy="713232"/>
          </a:xfrm>
          <a:prstGeom prst="rect">
            <a:avLst/>
          </a:prstGeom>
          <a:noFill/>
          <a:ln/>
        </p:spPr>
        <p:txBody>
          <a:bodyPr wrap="square" lIns="0" tIns="0" rIns="0" bIns="0" rtlCol="0" anchor="ctr"/>
          <a:lstStyle/>
          <a:p>
            <a:pPr algn="ctr" indent="0" marL="0">
              <a:buNone/>
            </a:pPr>
            <a:r>
              <a:rPr lang="en-US" sz="3400" b="1" dirty="0">
                <a:solidFill>
                  <a:srgbClr val="D96A16"/>
                </a:solidFill>
                <a:latin typeface="Cambria" pitchFamily="34" charset="0"/>
                <a:ea typeface="Cambria" pitchFamily="34" charset="-122"/>
                <a:cs typeface="Cambria" pitchFamily="34" charset="-120"/>
              </a:rPr>
              <a:t>8 hands-on</a:t>
            </a:r>
            <a:endParaRPr lang="en-US" sz="3400" dirty="0"/>
          </a:p>
        </p:txBody>
      </p:sp>
      <p:sp>
        <p:nvSpPr>
          <p:cNvPr id="69" name="Text 67"/>
          <p:cNvSpPr/>
          <p:nvPr/>
        </p:nvSpPr>
        <p:spPr>
          <a:xfrm>
            <a:off x="8586216" y="2542032"/>
            <a:ext cx="2855671" cy="685800"/>
          </a:xfrm>
          <a:prstGeom prst="rect">
            <a:avLst/>
          </a:prstGeom>
          <a:noFill/>
          <a:ln/>
        </p:spPr>
        <p:txBody>
          <a:bodyPr wrap="square" lIns="0" tIns="0" rIns="0" bIns="0" rtlCol="0" anchor="ctr"/>
          <a:lstStyle/>
          <a:p>
            <a:pPr algn="ctr" indent="0" marL="0">
              <a:buNone/>
            </a:pPr>
            <a:r>
              <a:rPr lang="en-US" sz="1150" dirty="0">
                <a:solidFill>
                  <a:srgbClr val="C3CFDA"/>
                </a:solidFill>
                <a:latin typeface="Calibri" pitchFamily="34" charset="0"/>
                <a:ea typeface="Calibri" pitchFamily="34" charset="-122"/>
                <a:cs typeface="Calibri" pitchFamily="34" charset="-120"/>
              </a:rPr>
              <a:t>simulation modules that run offline, in a browser, on the laptop in front of you</a:t>
            </a:r>
            <a:endParaRPr lang="en-US" sz="1150" dirty="0"/>
          </a:p>
        </p:txBody>
      </p:sp>
      <p:sp>
        <p:nvSpPr>
          <p:cNvPr id="70" name="Shape 68"/>
          <p:cNvSpPr/>
          <p:nvPr/>
        </p:nvSpPr>
        <p:spPr>
          <a:xfrm>
            <a:off x="8403336" y="3547872"/>
            <a:ext cx="3221431" cy="2743200"/>
          </a:xfrm>
          <a:prstGeom prst="roundRect">
            <a:avLst>
              <a:gd name="adj" fmla="val 2000"/>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71" name="Text 69"/>
          <p:cNvSpPr/>
          <p:nvPr/>
        </p:nvSpPr>
        <p:spPr>
          <a:xfrm>
            <a:off x="8604504" y="3675888"/>
            <a:ext cx="2819095" cy="292608"/>
          </a:xfrm>
          <a:prstGeom prst="rect">
            <a:avLst/>
          </a:prstGeom>
          <a:noFill/>
          <a:ln/>
        </p:spPr>
        <p:txBody>
          <a:bodyPr wrap="square" lIns="0" tIns="0" rIns="0" bIns="0" rtlCol="0" anchor="ctr"/>
          <a:lstStyle/>
          <a:p>
            <a:pPr indent="0" marL="0">
              <a:buNone/>
            </a:pPr>
            <a:r>
              <a:rPr lang="en-US" sz="1400" b="1" dirty="0">
                <a:solidFill>
                  <a:srgbClr val="1C2530"/>
                </a:solidFill>
                <a:latin typeface="Calibri" pitchFamily="34" charset="0"/>
                <a:ea typeface="Calibri" pitchFamily="34" charset="-122"/>
                <a:cs typeface="Calibri" pitchFamily="34" charset="-120"/>
              </a:rPr>
              <a:t>Breaks</a:t>
            </a:r>
            <a:endParaRPr lang="en-US" sz="1400" dirty="0"/>
          </a:p>
        </p:txBody>
      </p:sp>
      <p:sp>
        <p:nvSpPr>
          <p:cNvPr id="72" name="Shape 70"/>
          <p:cNvSpPr/>
          <p:nvPr/>
        </p:nvSpPr>
        <p:spPr>
          <a:xfrm>
            <a:off x="8567928" y="4059936"/>
            <a:ext cx="2892247" cy="402336"/>
          </a:xfrm>
          <a:prstGeom prst="roundRect">
            <a:avLst>
              <a:gd name="adj" fmla="val 11364"/>
            </a:avLst>
          </a:prstGeom>
          <a:solidFill>
            <a:srgbClr val="F1F4F7"/>
          </a:solidFill>
          <a:ln/>
        </p:spPr>
      </p:sp>
      <p:sp>
        <p:nvSpPr>
          <p:cNvPr id="73" name="Text 71"/>
          <p:cNvSpPr/>
          <p:nvPr/>
        </p:nvSpPr>
        <p:spPr>
          <a:xfrm>
            <a:off x="8695944" y="4059936"/>
            <a:ext cx="1804111" cy="402336"/>
          </a:xfrm>
          <a:prstGeom prst="rect">
            <a:avLst/>
          </a:prstGeom>
          <a:noFill/>
          <a:ln/>
        </p:spPr>
        <p:txBody>
          <a:bodyPr wrap="square" lIns="0" tIns="0" rIns="0" bIns="0" rtlCol="0" anchor="ctr"/>
          <a:lstStyle/>
          <a:p>
            <a:pPr indent="0" marL="0">
              <a:buNone/>
            </a:pPr>
            <a:r>
              <a:rPr lang="en-US" sz="1200" dirty="0">
                <a:solidFill>
                  <a:srgbClr val="1C2530"/>
                </a:solidFill>
                <a:latin typeface="Calibri" pitchFamily="34" charset="0"/>
                <a:ea typeface="Calibri" pitchFamily="34" charset="-122"/>
                <a:cs typeface="Calibri" pitchFamily="34" charset="-120"/>
              </a:rPr>
              <a:t>Morning tea</a:t>
            </a:r>
            <a:endParaRPr lang="en-US" sz="1200" dirty="0"/>
          </a:p>
        </p:txBody>
      </p:sp>
      <p:sp>
        <p:nvSpPr>
          <p:cNvPr id="74" name="Text 72"/>
          <p:cNvSpPr/>
          <p:nvPr/>
        </p:nvSpPr>
        <p:spPr>
          <a:xfrm>
            <a:off x="10344607" y="4059936"/>
            <a:ext cx="1115568" cy="402336"/>
          </a:xfrm>
          <a:prstGeom prst="rect">
            <a:avLst/>
          </a:prstGeom>
          <a:noFill/>
          <a:ln/>
        </p:spPr>
        <p:txBody>
          <a:bodyPr wrap="square" lIns="0" tIns="0" rIns="0" bIns="0" rtlCol="0" anchor="ctr"/>
          <a:lstStyle/>
          <a:p>
            <a:pPr algn="r" indent="0" marL="0">
              <a:buNone/>
            </a:pPr>
            <a:r>
              <a:rPr lang="en-US" sz="1150" b="1" dirty="0">
                <a:solidFill>
                  <a:srgbClr val="11707F"/>
                </a:solidFill>
                <a:latin typeface="Calibri" pitchFamily="34" charset="0"/>
                <a:ea typeface="Calibri" pitchFamily="34" charset="-122"/>
                <a:cs typeface="Calibri" pitchFamily="34" charset="-120"/>
              </a:rPr>
              <a:t>11:10 – 11:25</a:t>
            </a:r>
            <a:endParaRPr lang="en-US" sz="1150" dirty="0"/>
          </a:p>
        </p:txBody>
      </p:sp>
      <p:sp>
        <p:nvSpPr>
          <p:cNvPr id="75" name="Shape 73"/>
          <p:cNvSpPr/>
          <p:nvPr/>
        </p:nvSpPr>
        <p:spPr>
          <a:xfrm>
            <a:off x="8567928" y="4535424"/>
            <a:ext cx="2892247" cy="402336"/>
          </a:xfrm>
          <a:prstGeom prst="roundRect">
            <a:avLst>
              <a:gd name="adj" fmla="val 11364"/>
            </a:avLst>
          </a:prstGeom>
          <a:solidFill>
            <a:srgbClr val="F1F4F7"/>
          </a:solidFill>
          <a:ln/>
        </p:spPr>
      </p:sp>
      <p:sp>
        <p:nvSpPr>
          <p:cNvPr id="76" name="Text 74"/>
          <p:cNvSpPr/>
          <p:nvPr/>
        </p:nvSpPr>
        <p:spPr>
          <a:xfrm>
            <a:off x="8695944" y="4535424"/>
            <a:ext cx="1804111" cy="402336"/>
          </a:xfrm>
          <a:prstGeom prst="rect">
            <a:avLst/>
          </a:prstGeom>
          <a:noFill/>
          <a:ln/>
        </p:spPr>
        <p:txBody>
          <a:bodyPr wrap="square" lIns="0" tIns="0" rIns="0" bIns="0" rtlCol="0" anchor="ctr"/>
          <a:lstStyle/>
          <a:p>
            <a:pPr indent="0" marL="0">
              <a:buNone/>
            </a:pPr>
            <a:r>
              <a:rPr lang="en-US" sz="1200" dirty="0">
                <a:solidFill>
                  <a:srgbClr val="1C2530"/>
                </a:solidFill>
                <a:latin typeface="Calibri" pitchFamily="34" charset="0"/>
                <a:ea typeface="Calibri" pitchFamily="34" charset="-122"/>
                <a:cs typeface="Calibri" pitchFamily="34" charset="-120"/>
              </a:rPr>
              <a:t>Lunch</a:t>
            </a:r>
            <a:endParaRPr lang="en-US" sz="1200" dirty="0"/>
          </a:p>
        </p:txBody>
      </p:sp>
      <p:sp>
        <p:nvSpPr>
          <p:cNvPr id="77" name="Text 75"/>
          <p:cNvSpPr/>
          <p:nvPr/>
        </p:nvSpPr>
        <p:spPr>
          <a:xfrm>
            <a:off x="10344607" y="4535424"/>
            <a:ext cx="1115568" cy="402336"/>
          </a:xfrm>
          <a:prstGeom prst="rect">
            <a:avLst/>
          </a:prstGeom>
          <a:noFill/>
          <a:ln/>
        </p:spPr>
        <p:txBody>
          <a:bodyPr wrap="square" lIns="0" tIns="0" rIns="0" bIns="0" rtlCol="0" anchor="ctr"/>
          <a:lstStyle/>
          <a:p>
            <a:pPr algn="r" indent="0" marL="0">
              <a:buNone/>
            </a:pPr>
            <a:r>
              <a:rPr lang="en-US" sz="1150" b="1" dirty="0">
                <a:solidFill>
                  <a:srgbClr val="11707F"/>
                </a:solidFill>
                <a:latin typeface="Calibri" pitchFamily="34" charset="0"/>
                <a:ea typeface="Calibri" pitchFamily="34" charset="-122"/>
                <a:cs typeface="Calibri" pitchFamily="34" charset="-120"/>
              </a:rPr>
              <a:t>13:00 – 14:30</a:t>
            </a:r>
            <a:endParaRPr lang="en-US" sz="1150" dirty="0"/>
          </a:p>
        </p:txBody>
      </p:sp>
      <p:sp>
        <p:nvSpPr>
          <p:cNvPr id="78" name="Shape 76"/>
          <p:cNvSpPr/>
          <p:nvPr/>
        </p:nvSpPr>
        <p:spPr>
          <a:xfrm>
            <a:off x="8567928" y="5010912"/>
            <a:ext cx="2892247" cy="402336"/>
          </a:xfrm>
          <a:prstGeom prst="roundRect">
            <a:avLst>
              <a:gd name="adj" fmla="val 11364"/>
            </a:avLst>
          </a:prstGeom>
          <a:solidFill>
            <a:srgbClr val="F1F4F7"/>
          </a:solidFill>
          <a:ln/>
        </p:spPr>
      </p:sp>
      <p:sp>
        <p:nvSpPr>
          <p:cNvPr id="79" name="Text 77"/>
          <p:cNvSpPr/>
          <p:nvPr/>
        </p:nvSpPr>
        <p:spPr>
          <a:xfrm>
            <a:off x="8695944" y="5010912"/>
            <a:ext cx="1804111" cy="402336"/>
          </a:xfrm>
          <a:prstGeom prst="rect">
            <a:avLst/>
          </a:prstGeom>
          <a:noFill/>
          <a:ln/>
        </p:spPr>
        <p:txBody>
          <a:bodyPr wrap="square" lIns="0" tIns="0" rIns="0" bIns="0" rtlCol="0" anchor="ctr"/>
          <a:lstStyle/>
          <a:p>
            <a:pPr indent="0" marL="0">
              <a:buNone/>
            </a:pPr>
            <a:r>
              <a:rPr lang="en-US" sz="1200" dirty="0">
                <a:solidFill>
                  <a:srgbClr val="1C2530"/>
                </a:solidFill>
                <a:latin typeface="Calibri" pitchFamily="34" charset="0"/>
                <a:ea typeface="Calibri" pitchFamily="34" charset="-122"/>
                <a:cs typeface="Calibri" pitchFamily="34" charset="-120"/>
              </a:rPr>
              <a:t>Afternoon tea</a:t>
            </a:r>
            <a:endParaRPr lang="en-US" sz="1200" dirty="0"/>
          </a:p>
        </p:txBody>
      </p:sp>
      <p:sp>
        <p:nvSpPr>
          <p:cNvPr id="80" name="Text 78"/>
          <p:cNvSpPr/>
          <p:nvPr/>
        </p:nvSpPr>
        <p:spPr>
          <a:xfrm>
            <a:off x="10344607" y="5010912"/>
            <a:ext cx="1115568" cy="402336"/>
          </a:xfrm>
          <a:prstGeom prst="rect">
            <a:avLst/>
          </a:prstGeom>
          <a:noFill/>
          <a:ln/>
        </p:spPr>
        <p:txBody>
          <a:bodyPr wrap="square" lIns="0" tIns="0" rIns="0" bIns="0" rtlCol="0" anchor="ctr"/>
          <a:lstStyle/>
          <a:p>
            <a:pPr algn="r" indent="0" marL="0">
              <a:buNone/>
            </a:pPr>
            <a:r>
              <a:rPr lang="en-US" sz="1150" b="1" dirty="0">
                <a:solidFill>
                  <a:srgbClr val="11707F"/>
                </a:solidFill>
                <a:latin typeface="Calibri" pitchFamily="34" charset="0"/>
                <a:ea typeface="Calibri" pitchFamily="34" charset="-122"/>
                <a:cs typeface="Calibri" pitchFamily="34" charset="-120"/>
              </a:rPr>
              <a:t>15:45 – 15:55</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How today works — the simulation lab</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Eight modules you run yourself, and one boundary that applies to all of them</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Opening</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4</a:t>
            </a:r>
            <a:endParaRPr lang="en-US" sz="950" dirty="0"/>
          </a:p>
        </p:txBody>
      </p:sp>
      <p:sp>
        <p:nvSpPr>
          <p:cNvPr id="7" name="Shape 5"/>
          <p:cNvSpPr/>
          <p:nvPr/>
        </p:nvSpPr>
        <p:spPr>
          <a:xfrm>
            <a:off x="566928"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92808"/>
            <a:ext cx="137160" cy="137160"/>
          </a:xfrm>
          <a:prstGeom prst="ellipse">
            <a:avLst/>
          </a:prstGeom>
          <a:solidFill>
            <a:srgbClr val="D96A16"/>
          </a:solidFill>
          <a:ln/>
        </p:spPr>
      </p:sp>
      <p:sp>
        <p:nvSpPr>
          <p:cNvPr id="9" name="Text 7"/>
          <p:cNvSpPr/>
          <p:nvPr/>
        </p:nvSpPr>
        <p:spPr>
          <a:xfrm>
            <a:off x="969264" y="1792224"/>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One file, no internet</a:t>
            </a:r>
            <a:endParaRPr lang="en-US" sz="1450" dirty="0"/>
          </a:p>
        </p:txBody>
      </p:sp>
      <p:sp>
        <p:nvSpPr>
          <p:cNvPr id="10" name="Text 8"/>
          <p:cNvSpPr/>
          <p:nvPr/>
        </p:nvSpPr>
        <p:spPr>
          <a:xfrm>
            <a:off x="768096" y="2203704"/>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A single HTML file that opens in any browser on your own laptop. No installation, no login, no network. It works with the cable unplugged.</a:t>
            </a:r>
            <a:endParaRPr lang="en-US" sz="1200" dirty="0"/>
          </a:p>
        </p:txBody>
      </p:sp>
      <p:sp>
        <p:nvSpPr>
          <p:cNvPr id="11" name="Shape 9"/>
          <p:cNvSpPr/>
          <p:nvPr/>
        </p:nvSpPr>
        <p:spPr>
          <a:xfrm>
            <a:off x="6205576"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388456" y="1892808"/>
            <a:ext cx="137160" cy="137160"/>
          </a:xfrm>
          <a:prstGeom prst="ellipse">
            <a:avLst/>
          </a:prstGeom>
          <a:solidFill>
            <a:srgbClr val="D96A16"/>
          </a:solidFill>
          <a:ln/>
        </p:spPr>
      </p:sp>
      <p:sp>
        <p:nvSpPr>
          <p:cNvPr id="13" name="Text 11"/>
          <p:cNvSpPr/>
          <p:nvPr/>
        </p:nvSpPr>
        <p:spPr>
          <a:xfrm>
            <a:off x="6607912" y="1792224"/>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Real algorithms, stated data</a:t>
            </a:r>
            <a:endParaRPr lang="en-US" sz="1450" dirty="0"/>
          </a:p>
        </p:txBody>
      </p:sp>
      <p:sp>
        <p:nvSpPr>
          <p:cNvPr id="14" name="Text 12"/>
          <p:cNvSpPr/>
          <p:nvPr/>
        </p:nvSpPr>
        <p:spPr>
          <a:xfrm>
            <a:off x="6406744" y="2203704"/>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Nearest-neighbour residuals, ridge regression, TF-IDF retrieval — genuine code, not animation. Data is either our actual June 2026 figures or synthetic data whose physics equations are printed on screen.</a:t>
            </a:r>
            <a:endParaRPr lang="en-US" sz="1200" dirty="0"/>
          </a:p>
        </p:txBody>
      </p:sp>
      <p:sp>
        <p:nvSpPr>
          <p:cNvPr id="15" name="Shape 13"/>
          <p:cNvSpPr/>
          <p:nvPr/>
        </p:nvSpPr>
        <p:spPr>
          <a:xfrm>
            <a:off x="566928"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749808" y="3895344"/>
            <a:ext cx="137160" cy="137160"/>
          </a:xfrm>
          <a:prstGeom prst="ellipse">
            <a:avLst/>
          </a:prstGeom>
          <a:solidFill>
            <a:srgbClr val="D96A16"/>
          </a:solidFill>
          <a:ln/>
        </p:spPr>
      </p:sp>
      <p:sp>
        <p:nvSpPr>
          <p:cNvPr id="17" name="Text 15"/>
          <p:cNvSpPr/>
          <p:nvPr/>
        </p:nvSpPr>
        <p:spPr>
          <a:xfrm>
            <a:off x="969264"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You keep the file</a:t>
            </a:r>
            <a:endParaRPr lang="en-US" sz="1450" dirty="0"/>
          </a:p>
        </p:txBody>
      </p:sp>
      <p:sp>
        <p:nvSpPr>
          <p:cNvPr id="18" name="Text 16"/>
          <p:cNvSpPr/>
          <p:nvPr/>
        </p:nvSpPr>
        <p:spPr>
          <a:xfrm>
            <a:off x="768096"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Copy it to a pen drive and take it away. Re-run every module at your own station, with your own people, whenever you want.</a:t>
            </a:r>
            <a:endParaRPr lang="en-US" sz="1200" dirty="0"/>
          </a:p>
        </p:txBody>
      </p:sp>
      <p:sp>
        <p:nvSpPr>
          <p:cNvPr id="19" name="Shape 17"/>
          <p:cNvSpPr/>
          <p:nvPr/>
        </p:nvSpPr>
        <p:spPr>
          <a:xfrm>
            <a:off x="6205576"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6388456" y="3895344"/>
            <a:ext cx="137160" cy="137160"/>
          </a:xfrm>
          <a:prstGeom prst="ellipse">
            <a:avLst/>
          </a:prstGeom>
          <a:solidFill>
            <a:srgbClr val="D96A16"/>
          </a:solidFill>
          <a:ln/>
        </p:spPr>
      </p:sp>
      <p:sp>
        <p:nvSpPr>
          <p:cNvPr id="21" name="Text 19"/>
          <p:cNvSpPr/>
          <p:nvPr/>
        </p:nvSpPr>
        <p:spPr>
          <a:xfrm>
            <a:off x="6607912" y="3794760"/>
            <a:ext cx="485226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A teaching instrument, not a plant model</a:t>
            </a:r>
            <a:endParaRPr lang="en-US" sz="1450" dirty="0"/>
          </a:p>
        </p:txBody>
      </p:sp>
      <p:sp>
        <p:nvSpPr>
          <p:cNvPr id="22" name="Text 20"/>
          <p:cNvSpPr/>
          <p:nvPr/>
        </p:nvSpPr>
        <p:spPr>
          <a:xfrm>
            <a:off x="6406744" y="4407408"/>
            <a:ext cx="5016856" cy="960120"/>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These modules are not calibrated to your unit. Nothing that appears on these screens today should ever influence an operating decision.</a:t>
            </a:r>
            <a:endParaRPr lang="en-US" sz="1200" dirty="0"/>
          </a:p>
        </p:txBody>
      </p:sp>
      <p:sp>
        <p:nvSpPr>
          <p:cNvPr id="23" name="Shape 21"/>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24" name="Text 22"/>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Real algorithms, honest data, no plant authority. Learn the method here, and validate every result against your own engineering before it means anything.</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C2530"/>
        </a:solidFill>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D96A16"/>
          </a:solidFill>
          <a:ln/>
        </p:spPr>
      </p:sp>
      <p:sp>
        <p:nvSpPr>
          <p:cNvPr id="3" name="Text 1"/>
          <p:cNvSpPr/>
          <p:nvPr/>
        </p:nvSpPr>
        <p:spPr>
          <a:xfrm>
            <a:off x="9052560" y="822960"/>
            <a:ext cx="2377440" cy="2011680"/>
          </a:xfrm>
          <a:prstGeom prst="rect">
            <a:avLst/>
          </a:prstGeom>
          <a:noFill/>
          <a:ln/>
        </p:spPr>
        <p:txBody>
          <a:bodyPr wrap="square" lIns="0" tIns="0" rIns="0" bIns="0" rtlCol="0" anchor="ctr"/>
          <a:lstStyle/>
          <a:p>
            <a:pPr algn="r" indent="0" marL="0">
              <a:buNone/>
            </a:pPr>
            <a:r>
              <a:rPr lang="en-US" sz="13200" b="1" dirty="0">
                <a:solidFill>
                  <a:srgbClr val="2C3B4B"/>
                </a:solidFill>
                <a:latin typeface="Cambria" pitchFamily="34" charset="0"/>
                <a:ea typeface="Cambria" pitchFamily="34" charset="-122"/>
                <a:cs typeface="Cambria" pitchFamily="34" charset="-120"/>
              </a:rPr>
              <a:t>1</a:t>
            </a:r>
            <a:endParaRPr lang="en-US" sz="13200" dirty="0"/>
          </a:p>
        </p:txBody>
      </p:sp>
      <p:sp>
        <p:nvSpPr>
          <p:cNvPr id="4" name="Text 2"/>
          <p:cNvSpPr/>
          <p:nvPr/>
        </p:nvSpPr>
        <p:spPr>
          <a:xfrm>
            <a:off x="1051560" y="1920240"/>
            <a:ext cx="9601200" cy="310896"/>
          </a:xfrm>
          <a:prstGeom prst="rect">
            <a:avLst/>
          </a:prstGeom>
          <a:noFill/>
          <a:ln/>
        </p:spPr>
        <p:txBody>
          <a:bodyPr wrap="square" lIns="0" tIns="0" rIns="0" bIns="0" rtlCol="0" anchor="ctr"/>
          <a:lstStyle/>
          <a:p>
            <a:pPr indent="0" marL="0">
              <a:buNone/>
            </a:pPr>
            <a:r>
              <a:rPr lang="en-US" sz="1250" b="1" spc="220" kern="0" dirty="0">
                <a:solidFill>
                  <a:srgbClr val="D96A16"/>
                </a:solidFill>
                <a:latin typeface="Calibri" pitchFamily="34" charset="0"/>
                <a:ea typeface="Calibri" pitchFamily="34" charset="-122"/>
                <a:cs typeface="Calibri" pitchFamily="34" charset="-120"/>
              </a:rPr>
              <a:t>SESSION</a:t>
            </a:r>
            <a:endParaRPr lang="en-US" sz="1250" dirty="0"/>
          </a:p>
        </p:txBody>
      </p:sp>
      <p:sp>
        <p:nvSpPr>
          <p:cNvPr id="5" name="Text 3"/>
          <p:cNvSpPr/>
          <p:nvPr/>
        </p:nvSpPr>
        <p:spPr>
          <a:xfrm>
            <a:off x="1051560" y="2212848"/>
            <a:ext cx="804672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AI fundamentals for power plant engineers</a:t>
            </a:r>
            <a:endParaRPr lang="en-US" sz="4000" dirty="0"/>
          </a:p>
        </p:txBody>
      </p:sp>
      <p:sp>
        <p:nvSpPr>
          <p:cNvPr id="6" name="Text 4"/>
          <p:cNvSpPr/>
          <p:nvPr/>
        </p:nvSpPr>
        <p:spPr>
          <a:xfrm>
            <a:off x="1051560" y="3529584"/>
            <a:ext cx="8778240" cy="603504"/>
          </a:xfrm>
          <a:prstGeom prst="rect">
            <a:avLst/>
          </a:prstGeom>
          <a:noFill/>
          <a:ln/>
        </p:spPr>
        <p:txBody>
          <a:bodyPr wrap="square" lIns="0" tIns="0" rIns="0" bIns="0" rtlCol="0" anchor="t"/>
          <a:lstStyle/>
          <a:p>
            <a:pPr indent="0" marL="0">
              <a:buNone/>
            </a:pPr>
            <a:r>
              <a:rPr lang="en-US" sz="1500" dirty="0">
                <a:solidFill>
                  <a:srgbClr val="A9B8C6"/>
                </a:solidFill>
                <a:latin typeface="Calibri" pitchFamily="34" charset="0"/>
                <a:ea typeface="Calibri" pitchFamily="34" charset="-122"/>
                <a:cs typeface="Calibri" pitchFamily="34" charset="-120"/>
              </a:rPr>
              <a:t>What AI, machine learning and generative AI actually are — in plant language, not vendor language</a:t>
            </a:r>
            <a:endParaRPr lang="en-US" sz="1500" dirty="0"/>
          </a:p>
        </p:txBody>
      </p:sp>
      <p:sp>
        <p:nvSpPr>
          <p:cNvPr id="7" name="Shape 5"/>
          <p:cNvSpPr/>
          <p:nvPr/>
        </p:nvSpPr>
        <p:spPr>
          <a:xfrm>
            <a:off x="1078992" y="4315968"/>
            <a:ext cx="118872" cy="118872"/>
          </a:xfrm>
          <a:prstGeom prst="ellipse">
            <a:avLst/>
          </a:prstGeom>
          <a:solidFill>
            <a:srgbClr val="D96A16"/>
          </a:solidFill>
          <a:ln/>
        </p:spPr>
      </p:sp>
      <p:sp>
        <p:nvSpPr>
          <p:cNvPr id="8" name="Text 6"/>
          <p:cNvSpPr/>
          <p:nvPr/>
        </p:nvSpPr>
        <p:spPr>
          <a:xfrm>
            <a:off x="1389888" y="4224528"/>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The one idea that matters: expected versus actual</a:t>
            </a:r>
            <a:endParaRPr lang="en-US" sz="1250" dirty="0"/>
          </a:p>
        </p:txBody>
      </p:sp>
      <p:sp>
        <p:nvSpPr>
          <p:cNvPr id="9" name="Shape 7"/>
          <p:cNvSpPr/>
          <p:nvPr/>
        </p:nvSpPr>
        <p:spPr>
          <a:xfrm>
            <a:off x="1078992" y="4718304"/>
            <a:ext cx="118872" cy="118872"/>
          </a:xfrm>
          <a:prstGeom prst="ellipse">
            <a:avLst/>
          </a:prstGeom>
          <a:solidFill>
            <a:srgbClr val="D96A16"/>
          </a:solidFill>
          <a:ln/>
        </p:spPr>
      </p:sp>
      <p:sp>
        <p:nvSpPr>
          <p:cNvPr id="10" name="Text 8"/>
          <p:cNvSpPr/>
          <p:nvPr/>
        </p:nvSpPr>
        <p:spPr>
          <a:xfrm>
            <a:off x="1389888" y="4626864"/>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How a machine learns from plant data, and how it is used</a:t>
            </a:r>
            <a:endParaRPr lang="en-US" sz="1250" dirty="0"/>
          </a:p>
        </p:txBody>
      </p:sp>
      <p:sp>
        <p:nvSpPr>
          <p:cNvPr id="11" name="Shape 9"/>
          <p:cNvSpPr/>
          <p:nvPr/>
        </p:nvSpPr>
        <p:spPr>
          <a:xfrm>
            <a:off x="1078992" y="5120640"/>
            <a:ext cx="118872" cy="118872"/>
          </a:xfrm>
          <a:prstGeom prst="ellipse">
            <a:avLst/>
          </a:prstGeom>
          <a:solidFill>
            <a:srgbClr val="D96A16"/>
          </a:solidFill>
          <a:ln/>
        </p:spPr>
      </p:sp>
      <p:sp>
        <p:nvSpPr>
          <p:cNvPr id="12" name="Text 10"/>
          <p:cNvSpPr/>
          <p:nvPr/>
        </p:nvSpPr>
        <p:spPr>
          <a:xfrm>
            <a:off x="1389888" y="5029200"/>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Inside a neural network, without the mathematics</a:t>
            </a:r>
            <a:endParaRPr lang="en-US" sz="1250" dirty="0"/>
          </a:p>
        </p:txBody>
      </p:sp>
      <p:sp>
        <p:nvSpPr>
          <p:cNvPr id="13" name="Shape 11"/>
          <p:cNvSpPr/>
          <p:nvPr/>
        </p:nvSpPr>
        <p:spPr>
          <a:xfrm>
            <a:off x="1078992" y="5522976"/>
            <a:ext cx="118872" cy="118872"/>
          </a:xfrm>
          <a:prstGeom prst="ellipse">
            <a:avLst/>
          </a:prstGeom>
          <a:solidFill>
            <a:srgbClr val="D96A16"/>
          </a:solidFill>
          <a:ln/>
        </p:spPr>
      </p:sp>
      <p:sp>
        <p:nvSpPr>
          <p:cNvPr id="14" name="Text 12"/>
          <p:cNvSpPr/>
          <p:nvPr/>
        </p:nvSpPr>
        <p:spPr>
          <a:xfrm>
            <a:off x="1389888" y="5431536"/>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How to judge a model the way an operator will</a:t>
            </a:r>
            <a:endParaRPr lang="en-US" sz="1250" dirty="0"/>
          </a:p>
        </p:txBody>
      </p:sp>
      <p:sp>
        <p:nvSpPr>
          <p:cNvPr id="15" name="Shape 13"/>
          <p:cNvSpPr/>
          <p:nvPr/>
        </p:nvSpPr>
        <p:spPr>
          <a:xfrm>
            <a:off x="1078992" y="5925312"/>
            <a:ext cx="118872" cy="118872"/>
          </a:xfrm>
          <a:prstGeom prst="ellipse">
            <a:avLst/>
          </a:prstGeom>
          <a:solidFill>
            <a:srgbClr val="D96A16"/>
          </a:solidFill>
          <a:ln/>
        </p:spPr>
      </p:sp>
      <p:sp>
        <p:nvSpPr>
          <p:cNvPr id="16" name="Text 14"/>
          <p:cNvSpPr/>
          <p:nvPr/>
        </p:nvSpPr>
        <p:spPr>
          <a:xfrm>
            <a:off x="1389888" y="5833872"/>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What AI is not — and the data pathologies that break it</a:t>
            </a:r>
            <a:endParaRPr lang="en-US" sz="1250" dirty="0"/>
          </a:p>
        </p:txBody>
      </p:sp>
      <p:sp>
        <p:nvSpPr>
          <p:cNvPr id="17" name="Shape 15"/>
          <p:cNvSpPr/>
          <p:nvPr/>
        </p:nvSpPr>
        <p:spPr>
          <a:xfrm>
            <a:off x="9281160" y="4224528"/>
            <a:ext cx="1965960" cy="859536"/>
          </a:xfrm>
          <a:prstGeom prst="roundRect">
            <a:avLst>
              <a:gd name="adj" fmla="val 6383"/>
            </a:avLst>
          </a:prstGeom>
          <a:solidFill>
            <a:srgbClr val="2A3644"/>
          </a:solidFill>
          <a:ln w="12700">
            <a:solidFill>
              <a:srgbClr val="D96A16"/>
            </a:solidFill>
            <a:prstDash val="solid"/>
          </a:ln>
        </p:spPr>
      </p:sp>
      <p:sp>
        <p:nvSpPr>
          <p:cNvPr id="18" name="Text 16"/>
          <p:cNvSpPr/>
          <p:nvPr/>
        </p:nvSpPr>
        <p:spPr>
          <a:xfrm>
            <a:off x="9281160" y="4334256"/>
            <a:ext cx="1965960" cy="384048"/>
          </a:xfrm>
          <a:prstGeom prst="rect">
            <a:avLst/>
          </a:prstGeom>
          <a:noFill/>
          <a:ln/>
        </p:spPr>
        <p:txBody>
          <a:bodyPr wrap="square" lIns="0" tIns="0" rIns="0" bIns="0" rtlCol="0" anchor="ctr"/>
          <a:lstStyle/>
          <a:p>
            <a:pPr algn="ctr" indent="0" marL="0">
              <a:buNone/>
            </a:pPr>
            <a:r>
              <a:rPr lang="en-US" sz="1600" b="1" dirty="0">
                <a:solidFill>
                  <a:srgbClr val="D96A16"/>
                </a:solidFill>
                <a:latin typeface="Cambria" pitchFamily="34" charset="0"/>
                <a:ea typeface="Cambria" pitchFamily="34" charset="-122"/>
                <a:cs typeface="Cambria" pitchFamily="34" charset="-120"/>
              </a:rPr>
              <a:t>10:10 – 11:10</a:t>
            </a:r>
            <a:endParaRPr lang="en-US" sz="1600" dirty="0"/>
          </a:p>
        </p:txBody>
      </p:sp>
      <p:sp>
        <p:nvSpPr>
          <p:cNvPr id="19" name="Text 17"/>
          <p:cNvSpPr/>
          <p:nvPr/>
        </p:nvSpPr>
        <p:spPr>
          <a:xfrm>
            <a:off x="9281160" y="4700016"/>
            <a:ext cx="1965960" cy="310896"/>
          </a:xfrm>
          <a:prstGeom prst="rect">
            <a:avLst/>
          </a:prstGeom>
          <a:noFill/>
          <a:ln/>
        </p:spPr>
        <p:txBody>
          <a:bodyPr wrap="square" lIns="0" tIns="0" rIns="0" bIns="0" rtlCol="0" anchor="ctr"/>
          <a:lstStyle/>
          <a:p>
            <a:pPr algn="ctr" indent="0" marL="0">
              <a:buNone/>
            </a:pPr>
            <a:r>
              <a:rPr lang="en-US" sz="1100" dirty="0">
                <a:solidFill>
                  <a:srgbClr val="9BAAB8"/>
                </a:solidFill>
                <a:latin typeface="Calibri" pitchFamily="34" charset="0"/>
                <a:ea typeface="Calibri" pitchFamily="34" charset="-122"/>
                <a:cs typeface="Calibri" pitchFamily="34" charset="-120"/>
              </a:rPr>
              <a:t>60 minutes</a:t>
            </a:r>
            <a:endParaRPr lang="en-US" sz="1100" dirty="0"/>
          </a:p>
        </p:txBody>
      </p:sp>
      <p:sp>
        <p:nvSpPr>
          <p:cNvPr id="20" name="Text 18"/>
          <p:cNvSpPr/>
          <p:nvPr/>
        </p:nvSpPr>
        <p:spPr>
          <a:xfrm>
            <a:off x="11140135" y="6419088"/>
            <a:ext cx="502920" cy="274320"/>
          </a:xfrm>
          <a:prstGeom prst="rect">
            <a:avLst/>
          </a:prstGeom>
          <a:noFill/>
          <a:ln/>
        </p:spPr>
        <p:txBody>
          <a:bodyPr wrap="square" lIns="0" tIns="0" rIns="0" bIns="0" rtlCol="0" anchor="ctr"/>
          <a:lstStyle/>
          <a:p>
            <a:pPr algn="r" indent="0" marL="0">
              <a:buNone/>
            </a:pPr>
            <a:r>
              <a:rPr lang="en-US" sz="950" dirty="0">
                <a:solidFill>
                  <a:srgbClr val="5E6E7C"/>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What AI actually is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Four words vendors use interchangeably, and why the difference matters to you</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1. AI fundamentals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6</a:t>
            </a:r>
            <a:endParaRPr lang="en-US" sz="950" dirty="0"/>
          </a:p>
        </p:txBody>
      </p:sp>
      <p:sp>
        <p:nvSpPr>
          <p:cNvPr id="7" name="Shape 5"/>
          <p:cNvSpPr/>
          <p:nvPr/>
        </p:nvSpPr>
        <p:spPr>
          <a:xfrm>
            <a:off x="886968" y="1810512"/>
            <a:ext cx="4206240" cy="4206240"/>
          </a:xfrm>
          <a:prstGeom prst="ellipse">
            <a:avLst/>
          </a:prstGeom>
          <a:solidFill>
            <a:srgbClr val="1C2530"/>
          </a:solidFill>
          <a:ln w="25400">
            <a:solidFill>
              <a:srgbClr val="FFFFFF"/>
            </a:solidFill>
            <a:prstDash val="solid"/>
          </a:ln>
        </p:spPr>
      </p:sp>
      <p:sp>
        <p:nvSpPr>
          <p:cNvPr id="8" name="Shape 6"/>
          <p:cNvSpPr/>
          <p:nvPr/>
        </p:nvSpPr>
        <p:spPr>
          <a:xfrm>
            <a:off x="1389888" y="2313432"/>
            <a:ext cx="3200400" cy="3200400"/>
          </a:xfrm>
          <a:prstGeom prst="ellipse">
            <a:avLst/>
          </a:prstGeom>
          <a:solidFill>
            <a:srgbClr val="11707F"/>
          </a:solidFill>
          <a:ln w="25400">
            <a:solidFill>
              <a:srgbClr val="FFFFFF"/>
            </a:solidFill>
            <a:prstDash val="solid"/>
          </a:ln>
        </p:spPr>
      </p:sp>
      <p:sp>
        <p:nvSpPr>
          <p:cNvPr id="9" name="Shape 7"/>
          <p:cNvSpPr/>
          <p:nvPr/>
        </p:nvSpPr>
        <p:spPr>
          <a:xfrm>
            <a:off x="1892808" y="2816352"/>
            <a:ext cx="2194560" cy="2194560"/>
          </a:xfrm>
          <a:prstGeom prst="ellipse">
            <a:avLst/>
          </a:prstGeom>
          <a:solidFill>
            <a:srgbClr val="D96A16"/>
          </a:solidFill>
          <a:ln w="25400">
            <a:solidFill>
              <a:srgbClr val="FFFFFF"/>
            </a:solidFill>
            <a:prstDash val="solid"/>
          </a:ln>
        </p:spPr>
      </p:sp>
      <p:sp>
        <p:nvSpPr>
          <p:cNvPr id="10" name="Text 8"/>
          <p:cNvSpPr/>
          <p:nvPr/>
        </p:nvSpPr>
        <p:spPr>
          <a:xfrm>
            <a:off x="2487168" y="1892808"/>
            <a:ext cx="1005840"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AI</a:t>
            </a:r>
            <a:endParaRPr lang="en-US" sz="1800" dirty="0"/>
          </a:p>
        </p:txBody>
      </p:sp>
      <p:sp>
        <p:nvSpPr>
          <p:cNvPr id="11" name="Text 9"/>
          <p:cNvSpPr/>
          <p:nvPr/>
        </p:nvSpPr>
        <p:spPr>
          <a:xfrm>
            <a:off x="2487168" y="2377440"/>
            <a:ext cx="1005840" cy="34747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ML</a:t>
            </a:r>
            <a:endParaRPr lang="en-US" sz="1600" dirty="0"/>
          </a:p>
        </p:txBody>
      </p:sp>
      <p:sp>
        <p:nvSpPr>
          <p:cNvPr id="12" name="Text 10"/>
          <p:cNvSpPr/>
          <p:nvPr/>
        </p:nvSpPr>
        <p:spPr>
          <a:xfrm>
            <a:off x="2487168" y="3739896"/>
            <a:ext cx="1005840" cy="34747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DL</a:t>
            </a:r>
            <a:endParaRPr lang="en-US" sz="1600" dirty="0"/>
          </a:p>
        </p:txBody>
      </p:sp>
      <p:sp>
        <p:nvSpPr>
          <p:cNvPr id="13" name="Text 11"/>
          <p:cNvSpPr/>
          <p:nvPr/>
        </p:nvSpPr>
        <p:spPr>
          <a:xfrm>
            <a:off x="5413248" y="1673352"/>
            <a:ext cx="6400800" cy="310896"/>
          </a:xfrm>
          <a:prstGeom prst="rect">
            <a:avLst/>
          </a:prstGeom>
          <a:noFill/>
          <a:ln/>
        </p:spPr>
        <p:txBody>
          <a:bodyPr wrap="square" lIns="0" tIns="0" rIns="0" bIns="0" rtlCol="0" anchor="ctr"/>
          <a:lstStyle/>
          <a:p>
            <a:pPr indent="0" marL="0">
              <a:buNone/>
            </a:pPr>
            <a:r>
              <a:rPr lang="en-US" sz="1450" b="1" dirty="0">
                <a:solidFill>
                  <a:srgbClr val="1C2530"/>
                </a:solidFill>
                <a:latin typeface="Calibri" pitchFamily="34" charset="0"/>
                <a:ea typeface="Calibri" pitchFamily="34" charset="-122"/>
                <a:cs typeface="Calibri" pitchFamily="34" charset="-120"/>
              </a:rPr>
              <a:t>Artificial Intelligence</a:t>
            </a:r>
            <a:endParaRPr lang="en-US" sz="1450" dirty="0"/>
          </a:p>
        </p:txBody>
      </p:sp>
      <p:sp>
        <p:nvSpPr>
          <p:cNvPr id="14" name="Text 12"/>
          <p:cNvSpPr/>
          <p:nvPr/>
        </p:nvSpPr>
        <p:spPr>
          <a:xfrm>
            <a:off x="5413248" y="1984248"/>
            <a:ext cx="6309360" cy="713232"/>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Any technique that makes a machine do something we would call intelligent. Rule-based expert systems count. The interlock logic in your DCS is, strictly, the oldest form of it.</a:t>
            </a:r>
            <a:endParaRPr lang="en-US" sz="1200" dirty="0"/>
          </a:p>
        </p:txBody>
      </p:sp>
      <p:sp>
        <p:nvSpPr>
          <p:cNvPr id="15" name="Text 13"/>
          <p:cNvSpPr/>
          <p:nvPr/>
        </p:nvSpPr>
        <p:spPr>
          <a:xfrm>
            <a:off x="5413248" y="2724912"/>
            <a:ext cx="6400800" cy="310896"/>
          </a:xfrm>
          <a:prstGeom prst="rect">
            <a:avLst/>
          </a:prstGeom>
          <a:noFill/>
          <a:ln/>
        </p:spPr>
        <p:txBody>
          <a:bodyPr wrap="square" lIns="0" tIns="0" rIns="0" bIns="0" rtlCol="0" anchor="ctr"/>
          <a:lstStyle/>
          <a:p>
            <a:pPr indent="0" marL="0">
              <a:buNone/>
            </a:pPr>
            <a:r>
              <a:rPr lang="en-US" sz="1450" b="1" dirty="0">
                <a:solidFill>
                  <a:srgbClr val="11707F"/>
                </a:solidFill>
                <a:latin typeface="Calibri" pitchFamily="34" charset="0"/>
                <a:ea typeface="Calibri" pitchFamily="34" charset="-122"/>
                <a:cs typeface="Calibri" pitchFamily="34" charset="-120"/>
              </a:rPr>
              <a:t>Machine Learning</a:t>
            </a:r>
            <a:endParaRPr lang="en-US" sz="1450" dirty="0"/>
          </a:p>
        </p:txBody>
      </p:sp>
      <p:sp>
        <p:nvSpPr>
          <p:cNvPr id="16" name="Text 14"/>
          <p:cNvSpPr/>
          <p:nvPr/>
        </p:nvSpPr>
        <p:spPr>
          <a:xfrm>
            <a:off x="5413248" y="3035808"/>
            <a:ext cx="6309360" cy="713232"/>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The machine works the rule out from data instead of being handed it. Almost every application in today's course sits inside this ring.</a:t>
            </a:r>
            <a:endParaRPr lang="en-US" sz="1200" dirty="0"/>
          </a:p>
        </p:txBody>
      </p:sp>
      <p:sp>
        <p:nvSpPr>
          <p:cNvPr id="17" name="Text 15"/>
          <p:cNvSpPr/>
          <p:nvPr/>
        </p:nvSpPr>
        <p:spPr>
          <a:xfrm>
            <a:off x="5413248" y="3776472"/>
            <a:ext cx="6400800" cy="310896"/>
          </a:xfrm>
          <a:prstGeom prst="rect">
            <a:avLst/>
          </a:prstGeom>
          <a:noFill/>
          <a:ln/>
        </p:spPr>
        <p:txBody>
          <a:bodyPr wrap="square" lIns="0" tIns="0" rIns="0" bIns="0" rtlCol="0" anchor="ctr"/>
          <a:lstStyle/>
          <a:p>
            <a:pPr indent="0" marL="0">
              <a:buNone/>
            </a:pPr>
            <a:r>
              <a:rPr lang="en-US" sz="1450" b="1" dirty="0">
                <a:solidFill>
                  <a:srgbClr val="D96A16"/>
                </a:solidFill>
                <a:latin typeface="Calibri" pitchFamily="34" charset="0"/>
                <a:ea typeface="Calibri" pitchFamily="34" charset="-122"/>
                <a:cs typeface="Calibri" pitchFamily="34" charset="-120"/>
              </a:rPr>
              <a:t>Deep Learning</a:t>
            </a:r>
            <a:endParaRPr lang="en-US" sz="1450" dirty="0"/>
          </a:p>
        </p:txBody>
      </p:sp>
      <p:sp>
        <p:nvSpPr>
          <p:cNvPr id="18" name="Text 16"/>
          <p:cNvSpPr/>
          <p:nvPr/>
        </p:nvSpPr>
        <p:spPr>
          <a:xfrm>
            <a:off x="5413248" y="4087368"/>
            <a:ext cx="6309360" cy="713232"/>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Machine learning using large neural networks. Needed for images, sound and language. Usually overkill for process signals out of a historian.</a:t>
            </a:r>
            <a:endParaRPr lang="en-US" sz="1200" dirty="0"/>
          </a:p>
        </p:txBody>
      </p:sp>
      <p:sp>
        <p:nvSpPr>
          <p:cNvPr id="19" name="Shape 17"/>
          <p:cNvSpPr/>
          <p:nvPr/>
        </p:nvSpPr>
        <p:spPr>
          <a:xfrm>
            <a:off x="5413248" y="4937760"/>
            <a:ext cx="6309360" cy="1225296"/>
          </a:xfrm>
          <a:prstGeom prst="roundRect">
            <a:avLst>
              <a:gd name="adj" fmla="val 4478"/>
            </a:avLst>
          </a:prstGeom>
          <a:solidFill>
            <a:srgbClr val="E1EFF1"/>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Text 18"/>
          <p:cNvSpPr/>
          <p:nvPr/>
        </p:nvSpPr>
        <p:spPr>
          <a:xfrm>
            <a:off x="5596128" y="5029200"/>
            <a:ext cx="5943600" cy="292608"/>
          </a:xfrm>
          <a:prstGeom prst="rect">
            <a:avLst/>
          </a:prstGeom>
          <a:noFill/>
          <a:ln/>
        </p:spPr>
        <p:txBody>
          <a:bodyPr wrap="square" lIns="0" tIns="0" rIns="0" bIns="0" rtlCol="0" anchor="ctr"/>
          <a:lstStyle/>
          <a:p>
            <a:pPr indent="0" marL="0">
              <a:buNone/>
            </a:pPr>
            <a:r>
              <a:rPr lang="en-US" sz="1450" b="1" dirty="0">
                <a:solidFill>
                  <a:srgbClr val="11707F"/>
                </a:solidFill>
                <a:latin typeface="Calibri" pitchFamily="34" charset="0"/>
                <a:ea typeface="Calibri" pitchFamily="34" charset="-122"/>
                <a:cs typeface="Calibri" pitchFamily="34" charset="-120"/>
              </a:rPr>
              <a:t>Generative AI</a:t>
            </a:r>
            <a:endParaRPr lang="en-US" sz="1450" dirty="0"/>
          </a:p>
        </p:txBody>
      </p:sp>
      <p:sp>
        <p:nvSpPr>
          <p:cNvPr id="21" name="Text 19"/>
          <p:cNvSpPr/>
          <p:nvPr/>
        </p:nvSpPr>
        <p:spPr>
          <a:xfrm>
            <a:off x="5596128" y="5340096"/>
            <a:ext cx="5943600" cy="749808"/>
          </a:xfrm>
          <a:prstGeom prst="rect">
            <a:avLst/>
          </a:prstGeom>
          <a:noFill/>
          <a:ln/>
        </p:spPr>
        <p:txBody>
          <a:bodyPr wrap="square" lIns="0" tIns="0" rIns="0" bIns="0" rtlCol="0" anchor="ctr"/>
          <a:lstStyle/>
          <a:p>
            <a:pPr indent="0" marL="0">
              <a:buNone/>
            </a:pPr>
            <a:r>
              <a:rPr lang="en-US" sz="1200" dirty="0">
                <a:solidFill>
                  <a:srgbClr val="2E5C63"/>
                </a:solidFill>
                <a:latin typeface="Calibri" pitchFamily="34" charset="0"/>
                <a:ea typeface="Calibri" pitchFamily="34" charset="-122"/>
                <a:cs typeface="Calibri" pitchFamily="34" charset="-120"/>
              </a:rPr>
              <a:t>Beside the circles, not inside them. Models that produce new text, images or code. Excellent with manuals, SOPs and reports. Knows nothing about your unit until you give it your documents.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asset you already own</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What a 210 to 660 MW unit holds today, with no new investment at all</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1. AI fundamentals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7</a:t>
            </a:r>
            <a:endParaRPr lang="en-US" sz="9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8275320" cy="914400"/>
        </p:xfrm>
        <a:graphic>
          <a:graphicData uri="http://schemas.openxmlformats.org/drawingml/2006/table">
            <a:tbl>
              <a:tblPr/>
              <a:tblGrid>
                <a:gridCol w="1634993"/>
                <a:gridCol w="2753794"/>
                <a:gridCol w="1994511"/>
                <a:gridCol w="1892022"/>
              </a:tblGrid>
              <a:tr h="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Source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What it holds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Typical volume (indicative)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What it is used for today</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DCS and historian</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Pressures, temperatures, flows, MW, damper and valve positions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Thousands of tags per unit</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Live screens and trends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Vibration and condition monitoring</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Shaft and bearing vibration, orbits, spectra</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Continuous on TG, route-based elsewhere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Alarm and periodic review</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CMMS / SAP PM</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Work orders, defect history, spares, notifications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Years of records per station</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Compliance reporting</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Chemistry lab / LIMS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Cycle chemistry, coal and ash analysis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Daily to hourly</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Statutory records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CEMS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Stack emissions and opacity</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Continuous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Regulatory submission</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Coal and fuel accounting</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Rake weights, loading and unloading GCV, transit loss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Every rake, every day</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Bill preparation</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Documents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Manuals, SOPs, RCA and trip reports, drawings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Decades of paper and PDF</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Found when someone remembers it exists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bl>
          </a:graphicData>
        </a:graphic>
      </p:graphicFrame>
      <p:sp>
        <p:nvSpPr>
          <p:cNvPr id="8" name="Shape 5"/>
          <p:cNvSpPr/>
          <p:nvPr/>
        </p:nvSpPr>
        <p:spPr>
          <a:xfrm>
            <a:off x="9116568" y="1627632"/>
            <a:ext cx="2508199" cy="2331720"/>
          </a:xfrm>
          <a:prstGeom prst="roundRect">
            <a:avLst>
              <a:gd name="adj" fmla="val 2353"/>
            </a:avLst>
          </a:prstGeom>
          <a:solidFill>
            <a:srgbClr val="1C253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9" name="Text 6"/>
          <p:cNvSpPr/>
          <p:nvPr/>
        </p:nvSpPr>
        <p:spPr>
          <a:xfrm>
            <a:off x="9226296" y="2011680"/>
            <a:ext cx="2288743" cy="822960"/>
          </a:xfrm>
          <a:prstGeom prst="rect">
            <a:avLst/>
          </a:prstGeom>
          <a:noFill/>
          <a:ln/>
        </p:spPr>
        <p:txBody>
          <a:bodyPr wrap="square" lIns="0" tIns="0" rIns="0" bIns="0" rtlCol="0" anchor="ctr"/>
          <a:lstStyle/>
          <a:p>
            <a:pPr algn="ctr" indent="0" marL="0">
              <a:buNone/>
            </a:pPr>
            <a:r>
              <a:rPr lang="en-US" sz="3600" b="1" dirty="0">
                <a:solidFill>
                  <a:srgbClr val="D96A16"/>
                </a:solidFill>
                <a:latin typeface="Cambria" pitchFamily="34" charset="0"/>
                <a:ea typeface="Cambria" pitchFamily="34" charset="-122"/>
                <a:cs typeface="Cambria" pitchFamily="34" charset="-120"/>
              </a:rPr>
              <a:t>4,588 MU</a:t>
            </a:r>
            <a:endParaRPr lang="en-US" sz="3600" dirty="0"/>
          </a:p>
        </p:txBody>
      </p:sp>
      <p:sp>
        <p:nvSpPr>
          <p:cNvPr id="10" name="Text 7"/>
          <p:cNvSpPr/>
          <p:nvPr/>
        </p:nvSpPr>
        <p:spPr>
          <a:xfrm>
            <a:off x="9317736" y="2852928"/>
            <a:ext cx="2105863" cy="1005840"/>
          </a:xfrm>
          <a:prstGeom prst="rect">
            <a:avLst/>
          </a:prstGeom>
          <a:noFill/>
          <a:ln/>
        </p:spPr>
        <p:txBody>
          <a:bodyPr wrap="square" lIns="0" tIns="0" rIns="0" bIns="0" rtlCol="0" anchor="ctr"/>
          <a:lstStyle/>
          <a:p>
            <a:pPr algn="ctr" indent="0" marL="0">
              <a:buNone/>
            </a:pPr>
            <a:r>
              <a:rPr lang="en-US" sz="1200" dirty="0">
                <a:solidFill>
                  <a:srgbClr val="C3CFDA"/>
                </a:solidFill>
                <a:latin typeface="Calibri" pitchFamily="34" charset="0"/>
                <a:ea typeface="Calibri" pitchFamily="34" charset="-122"/>
                <a:cs typeface="Calibri" pitchFamily="34" charset="-120"/>
              </a:rPr>
              <a:t>sent out in June 2026 — recorded second by second, and almost none of it ever re-read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one idea that matters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Expected versus actual — the residual</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1. AI fundamentals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8</a:t>
            </a:r>
            <a:endParaRPr lang="en-US" sz="950" dirty="0"/>
          </a:p>
        </p:txBody>
      </p:sp>
      <p:sp>
        <p:nvSpPr>
          <p:cNvPr id="7" name="Shape 5"/>
          <p:cNvSpPr/>
          <p:nvPr/>
        </p:nvSpPr>
        <p:spPr>
          <a:xfrm>
            <a:off x="566928" y="1627632"/>
            <a:ext cx="5382616" cy="3886200"/>
          </a:xfrm>
          <a:prstGeom prst="roundRect">
            <a:avLst>
              <a:gd name="adj" fmla="val 141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841248" y="1847088"/>
            <a:ext cx="4833976" cy="292608"/>
          </a:xfrm>
          <a:prstGeom prst="rect">
            <a:avLst/>
          </a:prstGeom>
          <a:noFill/>
          <a:ln/>
        </p:spPr>
        <p:txBody>
          <a:bodyPr wrap="square" lIns="0" tIns="0" rIns="0" bIns="0" rtlCol="0" anchor="ctr"/>
          <a:lstStyle/>
          <a:p>
            <a:pPr indent="0" marL="0">
              <a:buNone/>
            </a:pPr>
            <a:r>
              <a:rPr lang="en-US" sz="1150" b="1" spc="120" kern="0" dirty="0">
                <a:solidFill>
                  <a:srgbClr val="3B4A5A"/>
                </a:solidFill>
                <a:latin typeface="Calibri" pitchFamily="34" charset="0"/>
                <a:ea typeface="Calibri" pitchFamily="34" charset="-122"/>
                <a:cs typeface="Calibri" pitchFamily="34" charset="-120"/>
              </a:rPr>
              <a:t>THE QUESTION A FIXED ALARM ASKS</a:t>
            </a:r>
            <a:endParaRPr lang="en-US" sz="1150" dirty="0"/>
          </a:p>
        </p:txBody>
      </p:sp>
      <p:sp>
        <p:nvSpPr>
          <p:cNvPr id="9" name="Text 7"/>
          <p:cNvSpPr/>
          <p:nvPr/>
        </p:nvSpPr>
        <p:spPr>
          <a:xfrm>
            <a:off x="841248"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Is it above 90 °C?</a:t>
            </a:r>
            <a:endParaRPr lang="en-US" sz="3300" dirty="0"/>
          </a:p>
        </p:txBody>
      </p:sp>
      <p:sp>
        <p:nvSpPr>
          <p:cNvPr id="10" name="Text 8"/>
          <p:cNvSpPr/>
          <p:nvPr/>
        </p:nvSpPr>
        <p:spPr>
          <a:xfrm>
            <a:off x="841248"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One tag, one number, no context. The same 90 °C setpoint at 55 per cent load on a January night and at full load on a May afternoon. It cannot tell the difference, and it was never asked to.</a:t>
            </a:r>
            <a:endParaRPr lang="en-US" sz="1350" dirty="0"/>
          </a:p>
        </p:txBody>
      </p:sp>
      <p:sp>
        <p:nvSpPr>
          <p:cNvPr id="11" name="Shape 9"/>
          <p:cNvSpPr/>
          <p:nvPr/>
        </p:nvSpPr>
        <p:spPr>
          <a:xfrm>
            <a:off x="6242152" y="1627632"/>
            <a:ext cx="5382616" cy="3886200"/>
          </a:xfrm>
          <a:prstGeom prst="roundRect">
            <a:avLst>
              <a:gd name="adj" fmla="val 1412"/>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10"/>
          <p:cNvSpPr/>
          <p:nvPr/>
        </p:nvSpPr>
        <p:spPr>
          <a:xfrm>
            <a:off x="6516472" y="1847088"/>
            <a:ext cx="4833976" cy="292608"/>
          </a:xfrm>
          <a:prstGeom prst="rect">
            <a:avLst/>
          </a:prstGeom>
          <a:noFill/>
          <a:ln/>
        </p:spPr>
        <p:txBody>
          <a:bodyPr wrap="square" lIns="0" tIns="0" rIns="0" bIns="0" rtlCol="0" anchor="ctr"/>
          <a:lstStyle/>
          <a:p>
            <a:pPr indent="0" marL="0">
              <a:buNone/>
            </a:pPr>
            <a:r>
              <a:rPr lang="en-US" sz="1150" b="1" spc="120" kern="0" dirty="0">
                <a:solidFill>
                  <a:srgbClr val="D96A16"/>
                </a:solidFill>
                <a:latin typeface="Calibri" pitchFamily="34" charset="0"/>
                <a:ea typeface="Calibri" pitchFamily="34" charset="-122"/>
                <a:cs typeface="Calibri" pitchFamily="34" charset="-120"/>
              </a:rPr>
              <a:t>THE QUESTION A MODEL ASKS</a:t>
            </a:r>
            <a:endParaRPr lang="en-US" sz="1150" dirty="0"/>
          </a:p>
        </p:txBody>
      </p:sp>
      <p:sp>
        <p:nvSpPr>
          <p:cNvPr id="13" name="Text 11"/>
          <p:cNvSpPr/>
          <p:nvPr/>
        </p:nvSpPr>
        <p:spPr>
          <a:xfrm>
            <a:off x="6516472" y="2176272"/>
            <a:ext cx="4833976" cy="1170432"/>
          </a:xfrm>
          <a:prstGeom prst="rect">
            <a:avLst/>
          </a:prstGeom>
          <a:noFill/>
          <a:ln/>
        </p:spPr>
        <p:txBody>
          <a:bodyPr wrap="square" lIns="0" tIns="0" rIns="0" bIns="0" rtlCol="0" anchor="t"/>
          <a:lstStyle/>
          <a:p>
            <a:pPr indent="0" marL="0">
              <a:buNone/>
            </a:pPr>
            <a:r>
              <a:rPr lang="en-US" sz="2700" b="1" dirty="0">
                <a:solidFill>
                  <a:srgbClr val="1C2530"/>
                </a:solidFill>
                <a:latin typeface="Cambria" pitchFamily="34" charset="0"/>
                <a:ea typeface="Cambria" pitchFamily="34" charset="-122"/>
                <a:cs typeface="Cambria" pitchFamily="34" charset="-120"/>
              </a:rPr>
              <a:t>Is it above what it should be?</a:t>
            </a:r>
            <a:endParaRPr lang="en-US" sz="2700" dirty="0"/>
          </a:p>
        </p:txBody>
      </p:sp>
      <p:sp>
        <p:nvSpPr>
          <p:cNvPr id="14" name="Text 12"/>
          <p:cNvSpPr/>
          <p:nvPr/>
        </p:nvSpPr>
        <p:spPr>
          <a:xfrm>
            <a:off x="6516472" y="3547872"/>
            <a:ext cx="4833976" cy="1856232"/>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Given this load, this ambient, this cooling water inlet and this oil flow, the model says what the bearing should read right now. Subtract that from what it does read. What is left over is the only part that carries information about the machine.</a:t>
            </a:r>
            <a:endParaRPr lang="en-US" sz="1350" dirty="0"/>
          </a:p>
        </p:txBody>
      </p:sp>
      <p:sp>
        <p:nvSpPr>
          <p:cNvPr id="15" name="Shape 13"/>
          <p:cNvSpPr/>
          <p:nvPr/>
        </p:nvSpPr>
        <p:spPr>
          <a:xfrm>
            <a:off x="566928" y="56967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6967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Actual minus expected is the residual. Every process-data application in this course is built on that one subtraction — and Session 2 walks a real bearing through it week by week.</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How a machine learns from plant data</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same four steps sit behind almost every application you will see today</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1. AI fundamentals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9</a:t>
            </a:r>
            <a:endParaRPr lang="en-US" sz="950" dirty="0"/>
          </a:p>
        </p:txBody>
      </p:sp>
      <p:sp>
        <p:nvSpPr>
          <p:cNvPr id="7" name="Shape 5"/>
          <p:cNvSpPr/>
          <p:nvPr/>
        </p:nvSpPr>
        <p:spPr>
          <a:xfrm>
            <a:off x="566928"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2586152" cy="566928"/>
          </a:xfrm>
          <a:prstGeom prst="roundRect">
            <a:avLst>
              <a:gd name="adj" fmla="val 9677"/>
            </a:avLst>
          </a:prstGeom>
          <a:solidFill>
            <a:srgbClr val="2A3644"/>
          </a:solidFill>
          <a:ln/>
        </p:spPr>
      </p:sp>
      <p:sp>
        <p:nvSpPr>
          <p:cNvPr id="9" name="Shape 7"/>
          <p:cNvSpPr/>
          <p:nvPr/>
        </p:nvSpPr>
        <p:spPr>
          <a:xfrm>
            <a:off x="768096" y="1746504"/>
            <a:ext cx="329184" cy="329184"/>
          </a:xfrm>
          <a:prstGeom prst="ellipse">
            <a:avLst/>
          </a:prstGeom>
          <a:solidFill>
            <a:srgbClr val="D96A16"/>
          </a:solidFill>
          <a:ln/>
        </p:spPr>
      </p:sp>
      <p:sp>
        <p:nvSpPr>
          <p:cNvPr id="10" name="Text 8"/>
          <p:cNvSpPr/>
          <p:nvPr/>
        </p:nvSpPr>
        <p:spPr>
          <a:xfrm>
            <a:off x="768096"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p:nvPr/>
        </p:nvSpPr>
        <p:spPr>
          <a:xfrm>
            <a:off x="1188720"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Learn normal</a:t>
            </a:r>
            <a:endParaRPr lang="en-US" sz="1400" dirty="0"/>
          </a:p>
        </p:txBody>
      </p:sp>
      <p:sp>
        <p:nvSpPr>
          <p:cNvPr id="12" name="Text 10"/>
          <p:cNvSpPr/>
          <p:nvPr/>
        </p:nvSpPr>
        <p:spPr>
          <a:xfrm>
            <a:off x="786384"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Feed the model a period of genuinely healthy running — ideally a full year, covering the whole load range, summer and winter, and every coal blend you actually fire.</a:t>
            </a:r>
            <a:endParaRPr lang="en-US" sz="1250" dirty="0"/>
          </a:p>
        </p:txBody>
      </p:sp>
      <p:sp>
        <p:nvSpPr>
          <p:cNvPr id="13" name="Shape 11"/>
          <p:cNvSpPr/>
          <p:nvPr/>
        </p:nvSpPr>
        <p:spPr>
          <a:xfrm rot="5400000">
            <a:off x="3194228" y="1810512"/>
            <a:ext cx="155448" cy="219456"/>
          </a:xfrm>
          <a:prstGeom prst="triangle">
            <a:avLst/>
          </a:prstGeom>
          <a:solidFill>
            <a:srgbClr val="D96A16"/>
          </a:solidFill>
          <a:ln/>
        </p:spPr>
      </p:sp>
      <p:sp>
        <p:nvSpPr>
          <p:cNvPr id="14" name="Shape 12"/>
          <p:cNvSpPr/>
          <p:nvPr/>
        </p:nvSpPr>
        <p:spPr>
          <a:xfrm>
            <a:off x="3390824"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5" name="Shape 13"/>
          <p:cNvSpPr/>
          <p:nvPr/>
        </p:nvSpPr>
        <p:spPr>
          <a:xfrm>
            <a:off x="3390824" y="1627632"/>
            <a:ext cx="2586152" cy="566928"/>
          </a:xfrm>
          <a:prstGeom prst="roundRect">
            <a:avLst>
              <a:gd name="adj" fmla="val 9677"/>
            </a:avLst>
          </a:prstGeom>
          <a:solidFill>
            <a:srgbClr val="2A3644"/>
          </a:solidFill>
          <a:ln/>
        </p:spPr>
      </p:sp>
      <p:sp>
        <p:nvSpPr>
          <p:cNvPr id="16" name="Shape 14"/>
          <p:cNvSpPr/>
          <p:nvPr/>
        </p:nvSpPr>
        <p:spPr>
          <a:xfrm>
            <a:off x="3591992" y="1746504"/>
            <a:ext cx="329184" cy="329184"/>
          </a:xfrm>
          <a:prstGeom prst="ellipse">
            <a:avLst/>
          </a:prstGeom>
          <a:solidFill>
            <a:srgbClr val="D96A16"/>
          </a:solidFill>
          <a:ln/>
        </p:spPr>
      </p:sp>
      <p:sp>
        <p:nvSpPr>
          <p:cNvPr id="17" name="Text 15"/>
          <p:cNvSpPr/>
          <p:nvPr/>
        </p:nvSpPr>
        <p:spPr>
          <a:xfrm>
            <a:off x="3591992"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6"/>
          <p:cNvSpPr/>
          <p:nvPr/>
        </p:nvSpPr>
        <p:spPr>
          <a:xfrm>
            <a:off x="4012616"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Predict expected</a:t>
            </a:r>
            <a:endParaRPr lang="en-US" sz="1400" dirty="0"/>
          </a:p>
        </p:txBody>
      </p:sp>
      <p:sp>
        <p:nvSpPr>
          <p:cNvPr id="19" name="Text 17"/>
          <p:cNvSpPr/>
          <p:nvPr/>
        </p:nvSpPr>
        <p:spPr>
          <a:xfrm>
            <a:off x="3610280"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For every minute, the model estimates what each signal should be, given every other signal. Not a physics equation — a pattern learned from thousands of hours of history.</a:t>
            </a:r>
            <a:endParaRPr lang="en-US" sz="1250" dirty="0"/>
          </a:p>
        </p:txBody>
      </p:sp>
      <p:sp>
        <p:nvSpPr>
          <p:cNvPr id="20" name="Shape 18"/>
          <p:cNvSpPr/>
          <p:nvPr/>
        </p:nvSpPr>
        <p:spPr>
          <a:xfrm rot="5400000">
            <a:off x="6018124" y="1810512"/>
            <a:ext cx="155448" cy="219456"/>
          </a:xfrm>
          <a:prstGeom prst="triangle">
            <a:avLst/>
          </a:prstGeom>
          <a:solidFill>
            <a:srgbClr val="D96A16"/>
          </a:solidFill>
          <a:ln/>
        </p:spPr>
      </p:sp>
      <p:sp>
        <p:nvSpPr>
          <p:cNvPr id="21" name="Shape 19"/>
          <p:cNvSpPr/>
          <p:nvPr/>
        </p:nvSpPr>
        <p:spPr>
          <a:xfrm>
            <a:off x="6214720"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2" name="Shape 20"/>
          <p:cNvSpPr/>
          <p:nvPr/>
        </p:nvSpPr>
        <p:spPr>
          <a:xfrm>
            <a:off x="6214720" y="1627632"/>
            <a:ext cx="2586152" cy="566928"/>
          </a:xfrm>
          <a:prstGeom prst="roundRect">
            <a:avLst>
              <a:gd name="adj" fmla="val 9677"/>
            </a:avLst>
          </a:prstGeom>
          <a:solidFill>
            <a:srgbClr val="2A3644"/>
          </a:solidFill>
          <a:ln/>
        </p:spPr>
      </p:sp>
      <p:sp>
        <p:nvSpPr>
          <p:cNvPr id="23" name="Shape 21"/>
          <p:cNvSpPr/>
          <p:nvPr/>
        </p:nvSpPr>
        <p:spPr>
          <a:xfrm>
            <a:off x="6415888" y="1746504"/>
            <a:ext cx="329184" cy="329184"/>
          </a:xfrm>
          <a:prstGeom prst="ellipse">
            <a:avLst/>
          </a:prstGeom>
          <a:solidFill>
            <a:srgbClr val="D96A16"/>
          </a:solidFill>
          <a:ln/>
        </p:spPr>
      </p:sp>
      <p:sp>
        <p:nvSpPr>
          <p:cNvPr id="24" name="Text 22"/>
          <p:cNvSpPr/>
          <p:nvPr/>
        </p:nvSpPr>
        <p:spPr>
          <a:xfrm>
            <a:off x="6415888"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5" name="Text 23"/>
          <p:cNvSpPr/>
          <p:nvPr/>
        </p:nvSpPr>
        <p:spPr>
          <a:xfrm>
            <a:off x="6836512"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Compute the residual</a:t>
            </a:r>
            <a:endParaRPr lang="en-US" sz="1400" dirty="0"/>
          </a:p>
        </p:txBody>
      </p:sp>
      <p:sp>
        <p:nvSpPr>
          <p:cNvPr id="26" name="Text 24"/>
          <p:cNvSpPr/>
          <p:nvPr/>
        </p:nvSpPr>
        <p:spPr>
          <a:xfrm>
            <a:off x="6434176"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Actual minus expected, signal by signal. Small and noisy when the machine is healthy, because load and ambient conditions have already been accounted for.</a:t>
            </a:r>
            <a:endParaRPr lang="en-US" sz="1250" dirty="0"/>
          </a:p>
        </p:txBody>
      </p:sp>
      <p:sp>
        <p:nvSpPr>
          <p:cNvPr id="27" name="Shape 25"/>
          <p:cNvSpPr/>
          <p:nvPr/>
        </p:nvSpPr>
        <p:spPr>
          <a:xfrm rot="5400000">
            <a:off x="8842019" y="1810512"/>
            <a:ext cx="155448" cy="219456"/>
          </a:xfrm>
          <a:prstGeom prst="triangle">
            <a:avLst/>
          </a:prstGeom>
          <a:solidFill>
            <a:srgbClr val="D96A16"/>
          </a:solidFill>
          <a:ln/>
        </p:spPr>
      </p:sp>
      <p:sp>
        <p:nvSpPr>
          <p:cNvPr id="28" name="Shape 26"/>
          <p:cNvSpPr/>
          <p:nvPr/>
        </p:nvSpPr>
        <p:spPr>
          <a:xfrm>
            <a:off x="9038615"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9" name="Shape 27"/>
          <p:cNvSpPr/>
          <p:nvPr/>
        </p:nvSpPr>
        <p:spPr>
          <a:xfrm>
            <a:off x="9038615" y="1627632"/>
            <a:ext cx="2586152" cy="566928"/>
          </a:xfrm>
          <a:prstGeom prst="roundRect">
            <a:avLst>
              <a:gd name="adj" fmla="val 9677"/>
            </a:avLst>
          </a:prstGeom>
          <a:solidFill>
            <a:srgbClr val="2A3644"/>
          </a:solidFill>
          <a:ln/>
        </p:spPr>
      </p:sp>
      <p:sp>
        <p:nvSpPr>
          <p:cNvPr id="30" name="Shape 28"/>
          <p:cNvSpPr/>
          <p:nvPr/>
        </p:nvSpPr>
        <p:spPr>
          <a:xfrm>
            <a:off x="9239783" y="1746504"/>
            <a:ext cx="329184" cy="329184"/>
          </a:xfrm>
          <a:prstGeom prst="ellipse">
            <a:avLst/>
          </a:prstGeom>
          <a:solidFill>
            <a:srgbClr val="D96A16"/>
          </a:solidFill>
          <a:ln/>
        </p:spPr>
      </p:sp>
      <p:sp>
        <p:nvSpPr>
          <p:cNvPr id="31" name="Text 29"/>
          <p:cNvSpPr/>
          <p:nvPr/>
        </p:nvSpPr>
        <p:spPr>
          <a:xfrm>
            <a:off x="9239783"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2" name="Text 30"/>
          <p:cNvSpPr/>
          <p:nvPr/>
        </p:nvSpPr>
        <p:spPr>
          <a:xfrm>
            <a:off x="9660407"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Flag persistence</a:t>
            </a:r>
            <a:endParaRPr lang="en-US" sz="1400" dirty="0"/>
          </a:p>
        </p:txBody>
      </p:sp>
      <p:sp>
        <p:nvSpPr>
          <p:cNvPr id="33" name="Text 31"/>
          <p:cNvSpPr/>
          <p:nvPr/>
        </p:nvSpPr>
        <p:spPr>
          <a:xfrm>
            <a:off x="9258071"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A residual that grows and stays is a developing fault. A single spike is a sensor or a transient. Persistence logic is what makes the alert believable.</a:t>
            </a:r>
            <a:endParaRPr lang="en-US" sz="1250" dirty="0"/>
          </a:p>
        </p:txBody>
      </p:sp>
      <p:sp>
        <p:nvSpPr>
          <p:cNvPr id="34" name="Shape 32"/>
          <p:cNvSpPr/>
          <p:nvPr/>
        </p:nvSpPr>
        <p:spPr>
          <a:xfrm>
            <a:off x="566928" y="5074920"/>
            <a:ext cx="11057839" cy="548640"/>
          </a:xfrm>
          <a:prstGeom prst="roundRect">
            <a:avLst>
              <a:gd name="adj" fmla="val 8333"/>
            </a:avLst>
          </a:prstGeom>
          <a:solidFill>
            <a:srgbClr val="FCEDE0"/>
          </a:solidFill>
          <a:ln w="12700">
            <a:solidFill>
              <a:srgbClr val="D96A16"/>
            </a:solidFill>
            <a:prstDash val="solid"/>
          </a:ln>
        </p:spPr>
      </p:sp>
      <p:sp>
        <p:nvSpPr>
          <p:cNvPr id="35" name="Text 33"/>
          <p:cNvSpPr/>
          <p:nvPr/>
        </p:nvSpPr>
        <p:spPr>
          <a:xfrm>
            <a:off x="768096" y="5074920"/>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Step one decides everything. Train on a period that already contained the fault and the model learns the fault as normal.</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How a model is built, and then used</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Two separate pipelines that people constantly confuse — training happens once, inference happens every minute</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1. AI fundamentals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10</a:t>
            </a:r>
            <a:endParaRPr lang="en-US" sz="950" dirty="0"/>
          </a:p>
        </p:txBody>
      </p:sp>
      <p:sp>
        <p:nvSpPr>
          <p:cNvPr id="7" name="Text 5"/>
          <p:cNvSpPr/>
          <p:nvPr/>
        </p:nvSpPr>
        <p:spPr>
          <a:xfrm>
            <a:off x="566928" y="1627632"/>
            <a:ext cx="11057839" cy="201168"/>
          </a:xfrm>
          <a:prstGeom prst="rect">
            <a:avLst/>
          </a:prstGeom>
          <a:noFill/>
          <a:ln/>
        </p:spPr>
        <p:txBody>
          <a:bodyPr wrap="square" lIns="0" tIns="0" rIns="0" bIns="0" rtlCol="0" anchor="ctr"/>
          <a:lstStyle/>
          <a:p>
            <a:pPr indent="0" marL="0">
              <a:buNone/>
            </a:pPr>
            <a:r>
              <a:rPr lang="en-US" sz="1000" b="1" dirty="0">
                <a:solidFill>
                  <a:srgbClr val="5C6B7A"/>
                </a:solidFill>
                <a:latin typeface="Calibri" pitchFamily="34" charset="0"/>
                <a:ea typeface="Calibri" pitchFamily="34" charset="-122"/>
                <a:cs typeface="Calibri" pitchFamily="34" charset="-120"/>
              </a:rPr>
              <a:t>TRAINING — once, offline, with an engineer curating</a:t>
            </a:r>
            <a:endParaRPr lang="en-US" sz="1000" dirty="0"/>
          </a:p>
        </p:txBody>
      </p:sp>
      <p:sp>
        <p:nvSpPr>
          <p:cNvPr id="8" name="Shape 6"/>
          <p:cNvSpPr/>
          <p:nvPr/>
        </p:nvSpPr>
        <p:spPr>
          <a:xfrm>
            <a:off x="566928" y="1828800"/>
            <a:ext cx="1614373" cy="1618488"/>
          </a:xfrm>
          <a:prstGeom prst="roundRect">
            <a:avLst>
              <a:gd name="adj" fmla="val 3398"/>
            </a:avLst>
          </a:prstGeom>
          <a:solidFill>
            <a:srgbClr val="E1EFF1"/>
          </a:solidFill>
          <a:ln w="13970">
            <a:solidFill>
              <a:srgbClr val="11707F"/>
            </a:solidFill>
            <a:prstDash val="solid"/>
          </a:ln>
        </p:spPr>
      </p:sp>
      <p:sp>
        <p:nvSpPr>
          <p:cNvPr id="9" name="Text 7"/>
          <p:cNvSpPr/>
          <p:nvPr/>
        </p:nvSpPr>
        <p:spPr>
          <a:xfrm>
            <a:off x="658368" y="1883664"/>
            <a:ext cx="1431493" cy="712135"/>
          </a:xfrm>
          <a:prstGeom prst="rect">
            <a:avLst/>
          </a:prstGeom>
          <a:noFill/>
          <a:ln/>
        </p:spPr>
        <p:txBody>
          <a:bodyPr wrap="square" lIns="0" tIns="0" rIns="0" bIns="0" rtlCol="0" anchor="ctr"/>
          <a:lstStyle/>
          <a:p>
            <a:pPr algn="ctr" indent="0" marL="0">
              <a:buNone/>
            </a:pPr>
            <a:r>
              <a:rPr lang="en-US" sz="1050" b="1" dirty="0">
                <a:solidFill>
                  <a:srgbClr val="14555F"/>
                </a:solidFill>
                <a:latin typeface="Calibri" pitchFamily="34" charset="0"/>
                <a:ea typeface="Calibri" pitchFamily="34" charset="-122"/>
                <a:cs typeface="Calibri" pitchFamily="34" charset="-120"/>
              </a:rPr>
              <a:t>Historian export</a:t>
            </a:r>
            <a:endParaRPr lang="en-US" sz="1050" dirty="0"/>
          </a:p>
        </p:txBody>
      </p:sp>
      <p:sp>
        <p:nvSpPr>
          <p:cNvPr id="10" name="Text 8"/>
          <p:cNvSpPr/>
          <p:nvPr/>
        </p:nvSpPr>
        <p:spPr>
          <a:xfrm>
            <a:off x="649224" y="2573304"/>
            <a:ext cx="1449781" cy="809244"/>
          </a:xfrm>
          <a:prstGeom prst="rect">
            <a:avLst/>
          </a:prstGeom>
          <a:noFill/>
          <a:ln/>
        </p:spPr>
        <p:txBody>
          <a:bodyPr wrap="square" lIns="0" tIns="0" rIns="0" bIns="0" rtlCol="0" anchor="t"/>
          <a:lstStyle/>
          <a:p>
            <a:pPr algn="ctr" indent="0" marL="0">
              <a:buNone/>
            </a:pPr>
            <a:r>
              <a:rPr lang="en-US" sz="860" dirty="0">
                <a:solidFill>
                  <a:srgbClr val="5C6B7A"/>
                </a:solidFill>
                <a:latin typeface="Calibri" pitchFamily="34" charset="0"/>
                <a:ea typeface="Calibri" pitchFamily="34" charset="-122"/>
                <a:cs typeface="Calibri" pitchFamily="34" charset="-120"/>
              </a:rPr>
              <a:t>12 months of tags</a:t>
            </a:r>
            <a:endParaRPr lang="en-US" sz="860" dirty="0"/>
          </a:p>
        </p:txBody>
      </p:sp>
      <p:sp>
        <p:nvSpPr>
          <p:cNvPr id="11" name="Shape 9"/>
          <p:cNvSpPr/>
          <p:nvPr/>
        </p:nvSpPr>
        <p:spPr>
          <a:xfrm rot="5400000">
            <a:off x="2231593" y="2537460"/>
            <a:ext cx="155448" cy="201168"/>
          </a:xfrm>
          <a:prstGeom prst="triangle">
            <a:avLst/>
          </a:prstGeom>
          <a:solidFill>
            <a:srgbClr val="9AA9B6"/>
          </a:solidFill>
          <a:ln/>
        </p:spPr>
      </p:sp>
      <p:sp>
        <p:nvSpPr>
          <p:cNvPr id="12" name="Shape 10"/>
          <p:cNvSpPr/>
          <p:nvPr/>
        </p:nvSpPr>
        <p:spPr>
          <a:xfrm>
            <a:off x="2455621" y="1828800"/>
            <a:ext cx="1614373" cy="1618488"/>
          </a:xfrm>
          <a:prstGeom prst="roundRect">
            <a:avLst>
              <a:gd name="adj" fmla="val 3398"/>
            </a:avLst>
          </a:prstGeom>
          <a:solidFill>
            <a:srgbClr val="E1EFF1"/>
          </a:solidFill>
          <a:ln w="13970">
            <a:solidFill>
              <a:srgbClr val="11707F"/>
            </a:solidFill>
            <a:prstDash val="solid"/>
          </a:ln>
        </p:spPr>
      </p:sp>
      <p:sp>
        <p:nvSpPr>
          <p:cNvPr id="13" name="Text 11"/>
          <p:cNvSpPr/>
          <p:nvPr/>
        </p:nvSpPr>
        <p:spPr>
          <a:xfrm>
            <a:off x="2547061" y="1883664"/>
            <a:ext cx="1431493" cy="712135"/>
          </a:xfrm>
          <a:prstGeom prst="rect">
            <a:avLst/>
          </a:prstGeom>
          <a:noFill/>
          <a:ln/>
        </p:spPr>
        <p:txBody>
          <a:bodyPr wrap="square" lIns="0" tIns="0" rIns="0" bIns="0" rtlCol="0" anchor="ctr"/>
          <a:lstStyle/>
          <a:p>
            <a:pPr algn="ctr" indent="0" marL="0">
              <a:buNone/>
            </a:pPr>
            <a:r>
              <a:rPr lang="en-US" sz="1050" b="1" dirty="0">
                <a:solidFill>
                  <a:srgbClr val="14555F"/>
                </a:solidFill>
                <a:latin typeface="Calibri" pitchFamily="34" charset="0"/>
                <a:ea typeface="Calibri" pitchFamily="34" charset="-122"/>
                <a:cs typeface="Calibri" pitchFamily="34" charset="-120"/>
              </a:rPr>
              <a:t>Clean and align</a:t>
            </a:r>
            <a:endParaRPr lang="en-US" sz="1050" dirty="0"/>
          </a:p>
        </p:txBody>
      </p:sp>
      <p:sp>
        <p:nvSpPr>
          <p:cNvPr id="14" name="Text 12"/>
          <p:cNvSpPr/>
          <p:nvPr/>
        </p:nvSpPr>
        <p:spPr>
          <a:xfrm>
            <a:off x="2537917" y="2573304"/>
            <a:ext cx="1449781" cy="809244"/>
          </a:xfrm>
          <a:prstGeom prst="rect">
            <a:avLst/>
          </a:prstGeom>
          <a:noFill/>
          <a:ln/>
        </p:spPr>
        <p:txBody>
          <a:bodyPr wrap="square" lIns="0" tIns="0" rIns="0" bIns="0" rtlCol="0" anchor="t"/>
          <a:lstStyle/>
          <a:p>
            <a:pPr algn="ctr" indent="0" marL="0">
              <a:buNone/>
            </a:pPr>
            <a:r>
              <a:rPr lang="en-US" sz="860" dirty="0">
                <a:solidFill>
                  <a:srgbClr val="5C6B7A"/>
                </a:solidFill>
                <a:latin typeface="Calibri" pitchFamily="34" charset="0"/>
                <a:ea typeface="Calibri" pitchFamily="34" charset="-122"/>
                <a:cs typeface="Calibri" pitchFamily="34" charset="-120"/>
              </a:rPr>
              <a:t>gaps, freezes, timestamps</a:t>
            </a:r>
            <a:endParaRPr lang="en-US" sz="860" dirty="0"/>
          </a:p>
        </p:txBody>
      </p:sp>
      <p:sp>
        <p:nvSpPr>
          <p:cNvPr id="15" name="Shape 13"/>
          <p:cNvSpPr/>
          <p:nvPr/>
        </p:nvSpPr>
        <p:spPr>
          <a:xfrm rot="5400000">
            <a:off x="4120286" y="2537460"/>
            <a:ext cx="155448" cy="201168"/>
          </a:xfrm>
          <a:prstGeom prst="triangle">
            <a:avLst/>
          </a:prstGeom>
          <a:solidFill>
            <a:srgbClr val="9AA9B6"/>
          </a:solidFill>
          <a:ln/>
        </p:spPr>
      </p:sp>
      <p:sp>
        <p:nvSpPr>
          <p:cNvPr id="16" name="Shape 14"/>
          <p:cNvSpPr/>
          <p:nvPr/>
        </p:nvSpPr>
        <p:spPr>
          <a:xfrm>
            <a:off x="4344314" y="1828800"/>
            <a:ext cx="1614373" cy="1618488"/>
          </a:xfrm>
          <a:prstGeom prst="roundRect">
            <a:avLst>
              <a:gd name="adj" fmla="val 3398"/>
            </a:avLst>
          </a:prstGeom>
          <a:solidFill>
            <a:srgbClr val="E1EFF1"/>
          </a:solidFill>
          <a:ln w="13970">
            <a:solidFill>
              <a:srgbClr val="11707F"/>
            </a:solidFill>
            <a:prstDash val="solid"/>
          </a:ln>
        </p:spPr>
      </p:sp>
      <p:sp>
        <p:nvSpPr>
          <p:cNvPr id="17" name="Text 15"/>
          <p:cNvSpPr/>
          <p:nvPr/>
        </p:nvSpPr>
        <p:spPr>
          <a:xfrm>
            <a:off x="4435754" y="1883664"/>
            <a:ext cx="1431493" cy="712135"/>
          </a:xfrm>
          <a:prstGeom prst="rect">
            <a:avLst/>
          </a:prstGeom>
          <a:noFill/>
          <a:ln/>
        </p:spPr>
        <p:txBody>
          <a:bodyPr wrap="square" lIns="0" tIns="0" rIns="0" bIns="0" rtlCol="0" anchor="ctr"/>
          <a:lstStyle/>
          <a:p>
            <a:pPr algn="ctr" indent="0" marL="0">
              <a:buNone/>
            </a:pPr>
            <a:r>
              <a:rPr lang="en-US" sz="1050" b="1" dirty="0">
                <a:solidFill>
                  <a:srgbClr val="14555F"/>
                </a:solidFill>
                <a:latin typeface="Calibri" pitchFamily="34" charset="0"/>
                <a:ea typeface="Calibri" pitchFamily="34" charset="-122"/>
                <a:cs typeface="Calibri" pitchFamily="34" charset="-120"/>
              </a:rPr>
              <a:t>Build features</a:t>
            </a:r>
            <a:endParaRPr lang="en-US" sz="1050" dirty="0"/>
          </a:p>
        </p:txBody>
      </p:sp>
      <p:sp>
        <p:nvSpPr>
          <p:cNvPr id="18" name="Text 16"/>
          <p:cNvSpPr/>
          <p:nvPr/>
        </p:nvSpPr>
        <p:spPr>
          <a:xfrm>
            <a:off x="4426610" y="2573304"/>
            <a:ext cx="1449781" cy="809244"/>
          </a:xfrm>
          <a:prstGeom prst="rect">
            <a:avLst/>
          </a:prstGeom>
          <a:noFill/>
          <a:ln/>
        </p:spPr>
        <p:txBody>
          <a:bodyPr wrap="square" lIns="0" tIns="0" rIns="0" bIns="0" rtlCol="0" anchor="t"/>
          <a:lstStyle/>
          <a:p>
            <a:pPr algn="ctr" indent="0" marL="0">
              <a:buNone/>
            </a:pPr>
            <a:r>
              <a:rPr lang="en-US" sz="860" dirty="0">
                <a:solidFill>
                  <a:srgbClr val="5C6B7A"/>
                </a:solidFill>
                <a:latin typeface="Calibri" pitchFamily="34" charset="0"/>
                <a:ea typeface="Calibri" pitchFamily="34" charset="-122"/>
                <a:cs typeface="Calibri" pitchFamily="34" charset="-120"/>
              </a:rPr>
              <a:t>normalise for load and ambient</a:t>
            </a:r>
            <a:endParaRPr lang="en-US" sz="860" dirty="0"/>
          </a:p>
        </p:txBody>
      </p:sp>
      <p:sp>
        <p:nvSpPr>
          <p:cNvPr id="19" name="Shape 17"/>
          <p:cNvSpPr/>
          <p:nvPr/>
        </p:nvSpPr>
        <p:spPr>
          <a:xfrm rot="5400000">
            <a:off x="6008980" y="2537460"/>
            <a:ext cx="155448" cy="201168"/>
          </a:xfrm>
          <a:prstGeom prst="triangle">
            <a:avLst/>
          </a:prstGeom>
          <a:solidFill>
            <a:srgbClr val="9AA9B6"/>
          </a:solidFill>
          <a:ln/>
        </p:spPr>
      </p:sp>
      <p:sp>
        <p:nvSpPr>
          <p:cNvPr id="20" name="Shape 18"/>
          <p:cNvSpPr/>
          <p:nvPr/>
        </p:nvSpPr>
        <p:spPr>
          <a:xfrm>
            <a:off x="6233008" y="1828800"/>
            <a:ext cx="1614373" cy="1618488"/>
          </a:xfrm>
          <a:prstGeom prst="roundRect">
            <a:avLst>
              <a:gd name="adj" fmla="val 3398"/>
            </a:avLst>
          </a:prstGeom>
          <a:solidFill>
            <a:srgbClr val="E1EFF1"/>
          </a:solidFill>
          <a:ln w="13970">
            <a:solidFill>
              <a:srgbClr val="11707F"/>
            </a:solidFill>
            <a:prstDash val="solid"/>
          </a:ln>
        </p:spPr>
      </p:sp>
      <p:sp>
        <p:nvSpPr>
          <p:cNvPr id="21" name="Text 19"/>
          <p:cNvSpPr/>
          <p:nvPr/>
        </p:nvSpPr>
        <p:spPr>
          <a:xfrm>
            <a:off x="6324448" y="1883664"/>
            <a:ext cx="1431493" cy="712135"/>
          </a:xfrm>
          <a:prstGeom prst="rect">
            <a:avLst/>
          </a:prstGeom>
          <a:noFill/>
          <a:ln/>
        </p:spPr>
        <p:txBody>
          <a:bodyPr wrap="square" lIns="0" tIns="0" rIns="0" bIns="0" rtlCol="0" anchor="ctr"/>
          <a:lstStyle/>
          <a:p>
            <a:pPr algn="ctr" indent="0" marL="0">
              <a:buNone/>
            </a:pPr>
            <a:r>
              <a:rPr lang="en-US" sz="1050" b="1" dirty="0">
                <a:solidFill>
                  <a:srgbClr val="14555F"/>
                </a:solidFill>
                <a:latin typeface="Calibri" pitchFamily="34" charset="0"/>
                <a:ea typeface="Calibri" pitchFamily="34" charset="-122"/>
                <a:cs typeface="Calibri" pitchFamily="34" charset="-120"/>
              </a:rPr>
              <a:t>Split by time</a:t>
            </a:r>
            <a:endParaRPr lang="en-US" sz="1050" dirty="0"/>
          </a:p>
        </p:txBody>
      </p:sp>
      <p:sp>
        <p:nvSpPr>
          <p:cNvPr id="22" name="Text 20"/>
          <p:cNvSpPr/>
          <p:nvPr/>
        </p:nvSpPr>
        <p:spPr>
          <a:xfrm>
            <a:off x="6315304" y="2573304"/>
            <a:ext cx="1449781" cy="809244"/>
          </a:xfrm>
          <a:prstGeom prst="rect">
            <a:avLst/>
          </a:prstGeom>
          <a:noFill/>
          <a:ln/>
        </p:spPr>
        <p:txBody>
          <a:bodyPr wrap="square" lIns="0" tIns="0" rIns="0" bIns="0" rtlCol="0" anchor="t"/>
          <a:lstStyle/>
          <a:p>
            <a:pPr algn="ctr" indent="0" marL="0">
              <a:buNone/>
            </a:pPr>
            <a:r>
              <a:rPr lang="en-US" sz="860" dirty="0">
                <a:solidFill>
                  <a:srgbClr val="5C6B7A"/>
                </a:solidFill>
                <a:latin typeface="Calibri" pitchFamily="34" charset="0"/>
                <a:ea typeface="Calibri" pitchFamily="34" charset="-122"/>
                <a:cs typeface="Calibri" pitchFamily="34" charset="-120"/>
              </a:rPr>
              <a:t>train on early, test on late</a:t>
            </a:r>
            <a:endParaRPr lang="en-US" sz="860" dirty="0"/>
          </a:p>
        </p:txBody>
      </p:sp>
      <p:sp>
        <p:nvSpPr>
          <p:cNvPr id="23" name="Shape 21"/>
          <p:cNvSpPr/>
          <p:nvPr/>
        </p:nvSpPr>
        <p:spPr>
          <a:xfrm rot="5400000">
            <a:off x="7897673" y="2537460"/>
            <a:ext cx="155448" cy="201168"/>
          </a:xfrm>
          <a:prstGeom prst="triangle">
            <a:avLst/>
          </a:prstGeom>
          <a:solidFill>
            <a:srgbClr val="9AA9B6"/>
          </a:solidFill>
          <a:ln/>
        </p:spPr>
      </p:sp>
      <p:sp>
        <p:nvSpPr>
          <p:cNvPr id="24" name="Shape 22"/>
          <p:cNvSpPr/>
          <p:nvPr/>
        </p:nvSpPr>
        <p:spPr>
          <a:xfrm>
            <a:off x="8121701" y="1828800"/>
            <a:ext cx="1614373" cy="1618488"/>
          </a:xfrm>
          <a:prstGeom prst="roundRect">
            <a:avLst>
              <a:gd name="adj" fmla="val 3398"/>
            </a:avLst>
          </a:prstGeom>
          <a:solidFill>
            <a:srgbClr val="FCEDE0"/>
          </a:solidFill>
          <a:ln w="13970">
            <a:solidFill>
              <a:srgbClr val="D96A16"/>
            </a:solidFill>
            <a:prstDash val="solid"/>
          </a:ln>
        </p:spPr>
      </p:sp>
      <p:sp>
        <p:nvSpPr>
          <p:cNvPr id="25" name="Text 23"/>
          <p:cNvSpPr/>
          <p:nvPr/>
        </p:nvSpPr>
        <p:spPr>
          <a:xfrm>
            <a:off x="8213141" y="1883664"/>
            <a:ext cx="1431493" cy="712135"/>
          </a:xfrm>
          <a:prstGeom prst="rect">
            <a:avLst/>
          </a:prstGeom>
          <a:noFill/>
          <a:ln/>
        </p:spPr>
        <p:txBody>
          <a:bodyPr wrap="square" lIns="0" tIns="0" rIns="0" bIns="0" rtlCol="0" anchor="ctr"/>
          <a:lstStyle/>
          <a:p>
            <a:pPr algn="ctr" indent="0" marL="0">
              <a:buNone/>
            </a:pPr>
            <a:r>
              <a:rPr lang="en-US" sz="1050" b="1" dirty="0">
                <a:solidFill>
                  <a:srgbClr val="8A4310"/>
                </a:solidFill>
                <a:latin typeface="Calibri" pitchFamily="34" charset="0"/>
                <a:ea typeface="Calibri" pitchFamily="34" charset="-122"/>
                <a:cs typeface="Calibri" pitchFamily="34" charset="-120"/>
              </a:rPr>
              <a:t>Fit the model</a:t>
            </a:r>
            <a:endParaRPr lang="en-US" sz="1050" dirty="0"/>
          </a:p>
        </p:txBody>
      </p:sp>
      <p:sp>
        <p:nvSpPr>
          <p:cNvPr id="26" name="Text 24"/>
          <p:cNvSpPr/>
          <p:nvPr/>
        </p:nvSpPr>
        <p:spPr>
          <a:xfrm>
            <a:off x="8203997" y="2573304"/>
            <a:ext cx="1449781" cy="809244"/>
          </a:xfrm>
          <a:prstGeom prst="rect">
            <a:avLst/>
          </a:prstGeom>
          <a:noFill/>
          <a:ln/>
        </p:spPr>
        <p:txBody>
          <a:bodyPr wrap="square" lIns="0" tIns="0" rIns="0" bIns="0" rtlCol="0" anchor="t"/>
          <a:lstStyle/>
          <a:p>
            <a:pPr algn="ctr" indent="0" marL="0">
              <a:buNone/>
            </a:pPr>
            <a:r>
              <a:rPr lang="en-US" sz="860" dirty="0">
                <a:solidFill>
                  <a:srgbClr val="5C6B7A"/>
                </a:solidFill>
                <a:latin typeface="Calibri" pitchFamily="34" charset="0"/>
                <a:ea typeface="Calibri" pitchFamily="34" charset="-122"/>
                <a:cs typeface="Calibri" pitchFamily="34" charset="-120"/>
              </a:rPr>
              <a:t>minimise error on training data</a:t>
            </a:r>
            <a:endParaRPr lang="en-US" sz="860" dirty="0"/>
          </a:p>
        </p:txBody>
      </p:sp>
      <p:sp>
        <p:nvSpPr>
          <p:cNvPr id="27" name="Shape 25"/>
          <p:cNvSpPr/>
          <p:nvPr/>
        </p:nvSpPr>
        <p:spPr>
          <a:xfrm rot="5400000">
            <a:off x="9786366" y="2537460"/>
            <a:ext cx="155448" cy="201168"/>
          </a:xfrm>
          <a:prstGeom prst="triangle">
            <a:avLst/>
          </a:prstGeom>
          <a:solidFill>
            <a:srgbClr val="9AA9B6"/>
          </a:solidFill>
          <a:ln/>
        </p:spPr>
      </p:sp>
      <p:sp>
        <p:nvSpPr>
          <p:cNvPr id="28" name="Shape 26"/>
          <p:cNvSpPr/>
          <p:nvPr/>
        </p:nvSpPr>
        <p:spPr>
          <a:xfrm>
            <a:off x="10010394" y="1828800"/>
            <a:ext cx="1614373" cy="1618488"/>
          </a:xfrm>
          <a:prstGeom prst="roundRect">
            <a:avLst>
              <a:gd name="adj" fmla="val 3398"/>
            </a:avLst>
          </a:prstGeom>
          <a:solidFill>
            <a:srgbClr val="FCEDE0"/>
          </a:solidFill>
          <a:ln w="13970">
            <a:solidFill>
              <a:srgbClr val="D96A16"/>
            </a:solidFill>
            <a:prstDash val="solid"/>
          </a:ln>
        </p:spPr>
      </p:sp>
      <p:sp>
        <p:nvSpPr>
          <p:cNvPr id="29" name="Text 27"/>
          <p:cNvSpPr/>
          <p:nvPr/>
        </p:nvSpPr>
        <p:spPr>
          <a:xfrm>
            <a:off x="10101834" y="1883664"/>
            <a:ext cx="1431493" cy="712135"/>
          </a:xfrm>
          <a:prstGeom prst="rect">
            <a:avLst/>
          </a:prstGeom>
          <a:noFill/>
          <a:ln/>
        </p:spPr>
        <p:txBody>
          <a:bodyPr wrap="square" lIns="0" tIns="0" rIns="0" bIns="0" rtlCol="0" anchor="ctr"/>
          <a:lstStyle/>
          <a:p>
            <a:pPr algn="ctr" indent="0" marL="0">
              <a:buNone/>
            </a:pPr>
            <a:r>
              <a:rPr lang="en-US" sz="1050" b="1" dirty="0">
                <a:solidFill>
                  <a:srgbClr val="8A4310"/>
                </a:solidFill>
                <a:latin typeface="Calibri" pitchFamily="34" charset="0"/>
                <a:ea typeface="Calibri" pitchFamily="34" charset="-122"/>
                <a:cs typeface="Calibri" pitchFamily="34" charset="-120"/>
              </a:rPr>
              <a:t>Test honestly</a:t>
            </a:r>
            <a:endParaRPr lang="en-US" sz="1050" dirty="0"/>
          </a:p>
        </p:txBody>
      </p:sp>
      <p:sp>
        <p:nvSpPr>
          <p:cNvPr id="30" name="Text 28"/>
          <p:cNvSpPr/>
          <p:nvPr/>
        </p:nvSpPr>
        <p:spPr>
          <a:xfrm>
            <a:off x="10092690" y="2573304"/>
            <a:ext cx="1449781" cy="809244"/>
          </a:xfrm>
          <a:prstGeom prst="rect">
            <a:avLst/>
          </a:prstGeom>
          <a:noFill/>
          <a:ln/>
        </p:spPr>
        <p:txBody>
          <a:bodyPr wrap="square" lIns="0" tIns="0" rIns="0" bIns="0" rtlCol="0" anchor="t"/>
          <a:lstStyle/>
          <a:p>
            <a:pPr algn="ctr" indent="0" marL="0">
              <a:buNone/>
            </a:pPr>
            <a:r>
              <a:rPr lang="en-US" sz="860" dirty="0">
                <a:solidFill>
                  <a:srgbClr val="5C6B7A"/>
                </a:solidFill>
                <a:latin typeface="Calibri" pitchFamily="34" charset="0"/>
                <a:ea typeface="Calibri" pitchFamily="34" charset="-122"/>
                <a:cs typeface="Calibri" pitchFamily="34" charset="-120"/>
              </a:rPr>
              <a:t>on data it has never seen</a:t>
            </a:r>
            <a:endParaRPr lang="en-US" sz="860" dirty="0"/>
          </a:p>
        </p:txBody>
      </p:sp>
      <p:sp>
        <p:nvSpPr>
          <p:cNvPr id="31" name="Shape 29"/>
          <p:cNvSpPr/>
          <p:nvPr/>
        </p:nvSpPr>
        <p:spPr>
          <a:xfrm>
            <a:off x="10817581" y="3447288"/>
            <a:ext cx="0" cy="142646"/>
          </a:xfrm>
          <a:prstGeom prst="line">
            <a:avLst/>
          </a:prstGeom>
          <a:noFill/>
          <a:ln w="15240">
            <a:solidFill>
              <a:srgbClr val="9AA9B6"/>
            </a:solidFill>
            <a:prstDash val="solid"/>
          </a:ln>
        </p:spPr>
      </p:sp>
      <p:sp>
        <p:nvSpPr>
          <p:cNvPr id="32" name="Shape 30"/>
          <p:cNvSpPr/>
          <p:nvPr/>
        </p:nvSpPr>
        <p:spPr>
          <a:xfrm>
            <a:off x="1374115" y="3589934"/>
            <a:ext cx="9443466" cy="0"/>
          </a:xfrm>
          <a:prstGeom prst="line">
            <a:avLst/>
          </a:prstGeom>
          <a:noFill/>
          <a:ln w="15240">
            <a:solidFill>
              <a:srgbClr val="9AA9B6"/>
            </a:solidFill>
            <a:prstDash val="solid"/>
          </a:ln>
        </p:spPr>
      </p:sp>
      <p:sp>
        <p:nvSpPr>
          <p:cNvPr id="33" name="Shape 31"/>
          <p:cNvSpPr/>
          <p:nvPr/>
        </p:nvSpPr>
        <p:spPr>
          <a:xfrm>
            <a:off x="1374115" y="3589934"/>
            <a:ext cx="0" cy="76810"/>
          </a:xfrm>
          <a:prstGeom prst="line">
            <a:avLst/>
          </a:prstGeom>
          <a:noFill/>
          <a:ln w="15240">
            <a:solidFill>
              <a:srgbClr val="9AA9B6"/>
            </a:solidFill>
            <a:prstDash val="solid"/>
          </a:ln>
        </p:spPr>
      </p:sp>
      <p:sp>
        <p:nvSpPr>
          <p:cNvPr id="34" name="Shape 32"/>
          <p:cNvSpPr/>
          <p:nvPr/>
        </p:nvSpPr>
        <p:spPr>
          <a:xfrm rot="10800000">
            <a:off x="1282675" y="3661258"/>
            <a:ext cx="182880" cy="118872"/>
          </a:xfrm>
          <a:prstGeom prst="triangle">
            <a:avLst/>
          </a:prstGeom>
          <a:solidFill>
            <a:srgbClr val="9AA9B6"/>
          </a:solidFill>
          <a:ln/>
        </p:spPr>
      </p:sp>
      <p:sp>
        <p:nvSpPr>
          <p:cNvPr id="35" name="Text 33"/>
          <p:cNvSpPr/>
          <p:nvPr/>
        </p:nvSpPr>
        <p:spPr>
          <a:xfrm>
            <a:off x="566928" y="3721608"/>
            <a:ext cx="11057839" cy="201168"/>
          </a:xfrm>
          <a:prstGeom prst="rect">
            <a:avLst/>
          </a:prstGeom>
          <a:noFill/>
          <a:ln/>
        </p:spPr>
        <p:txBody>
          <a:bodyPr wrap="square" lIns="0" tIns="0" rIns="0" bIns="0" rtlCol="0" anchor="ctr"/>
          <a:lstStyle/>
          <a:p>
            <a:pPr indent="0" marL="0">
              <a:buNone/>
            </a:pPr>
            <a:r>
              <a:rPr lang="en-US" sz="1000" b="1" dirty="0">
                <a:solidFill>
                  <a:srgbClr val="5C6B7A"/>
                </a:solidFill>
                <a:latin typeface="Calibri" pitchFamily="34" charset="0"/>
                <a:ea typeface="Calibri" pitchFamily="34" charset="-122"/>
                <a:cs typeface="Calibri" pitchFamily="34" charset="-120"/>
              </a:rPr>
              <a:t>INFERENCE — continuously, online, unattended</a:t>
            </a:r>
            <a:endParaRPr lang="en-US" sz="1000" dirty="0"/>
          </a:p>
        </p:txBody>
      </p:sp>
      <p:sp>
        <p:nvSpPr>
          <p:cNvPr id="36" name="Shape 34"/>
          <p:cNvSpPr/>
          <p:nvPr/>
        </p:nvSpPr>
        <p:spPr>
          <a:xfrm>
            <a:off x="566928" y="3922776"/>
            <a:ext cx="1614373" cy="1618488"/>
          </a:xfrm>
          <a:prstGeom prst="roundRect">
            <a:avLst>
              <a:gd name="adj" fmla="val 3398"/>
            </a:avLst>
          </a:prstGeom>
          <a:solidFill>
            <a:srgbClr val="E1EFF1"/>
          </a:solidFill>
          <a:ln w="13970">
            <a:solidFill>
              <a:srgbClr val="11707F"/>
            </a:solidFill>
            <a:prstDash val="solid"/>
          </a:ln>
        </p:spPr>
      </p:sp>
      <p:sp>
        <p:nvSpPr>
          <p:cNvPr id="37" name="Text 35"/>
          <p:cNvSpPr/>
          <p:nvPr/>
        </p:nvSpPr>
        <p:spPr>
          <a:xfrm>
            <a:off x="658368" y="3977640"/>
            <a:ext cx="1431493" cy="712135"/>
          </a:xfrm>
          <a:prstGeom prst="rect">
            <a:avLst/>
          </a:prstGeom>
          <a:noFill/>
          <a:ln/>
        </p:spPr>
        <p:txBody>
          <a:bodyPr wrap="square" lIns="0" tIns="0" rIns="0" bIns="0" rtlCol="0" anchor="ctr"/>
          <a:lstStyle/>
          <a:p>
            <a:pPr algn="ctr" indent="0" marL="0">
              <a:buNone/>
            </a:pPr>
            <a:r>
              <a:rPr lang="en-US" sz="1050" b="1" dirty="0">
                <a:solidFill>
                  <a:srgbClr val="14555F"/>
                </a:solidFill>
                <a:latin typeface="Calibri" pitchFamily="34" charset="0"/>
                <a:ea typeface="Calibri" pitchFamily="34" charset="-122"/>
                <a:cs typeface="Calibri" pitchFamily="34" charset="-120"/>
              </a:rPr>
              <a:t>Live tag values</a:t>
            </a:r>
            <a:endParaRPr lang="en-US" sz="1050" dirty="0"/>
          </a:p>
        </p:txBody>
      </p:sp>
      <p:sp>
        <p:nvSpPr>
          <p:cNvPr id="38" name="Text 36"/>
          <p:cNvSpPr/>
          <p:nvPr/>
        </p:nvSpPr>
        <p:spPr>
          <a:xfrm>
            <a:off x="649224" y="4667280"/>
            <a:ext cx="1449781" cy="809244"/>
          </a:xfrm>
          <a:prstGeom prst="rect">
            <a:avLst/>
          </a:prstGeom>
          <a:noFill/>
          <a:ln/>
        </p:spPr>
        <p:txBody>
          <a:bodyPr wrap="square" lIns="0" tIns="0" rIns="0" bIns="0" rtlCol="0" anchor="t"/>
          <a:lstStyle/>
          <a:p>
            <a:pPr algn="ctr" indent="0" marL="0">
              <a:buNone/>
            </a:pPr>
            <a:r>
              <a:rPr lang="en-US" sz="860" dirty="0">
                <a:solidFill>
                  <a:srgbClr val="5C6B7A"/>
                </a:solidFill>
                <a:latin typeface="Calibri" pitchFamily="34" charset="0"/>
                <a:ea typeface="Calibri" pitchFamily="34" charset="-122"/>
                <a:cs typeface="Calibri" pitchFamily="34" charset="-120"/>
              </a:rPr>
              <a:t>every minute</a:t>
            </a:r>
            <a:endParaRPr lang="en-US" sz="860" dirty="0"/>
          </a:p>
        </p:txBody>
      </p:sp>
      <p:sp>
        <p:nvSpPr>
          <p:cNvPr id="39" name="Shape 37"/>
          <p:cNvSpPr/>
          <p:nvPr/>
        </p:nvSpPr>
        <p:spPr>
          <a:xfrm rot="5400000">
            <a:off x="2231593" y="4631436"/>
            <a:ext cx="155448" cy="201168"/>
          </a:xfrm>
          <a:prstGeom prst="triangle">
            <a:avLst/>
          </a:prstGeom>
          <a:solidFill>
            <a:srgbClr val="9AA9B6"/>
          </a:solidFill>
          <a:ln/>
        </p:spPr>
      </p:sp>
      <p:sp>
        <p:nvSpPr>
          <p:cNvPr id="40" name="Shape 38"/>
          <p:cNvSpPr/>
          <p:nvPr/>
        </p:nvSpPr>
        <p:spPr>
          <a:xfrm>
            <a:off x="2455621" y="3922776"/>
            <a:ext cx="1614373" cy="1618488"/>
          </a:xfrm>
          <a:prstGeom prst="roundRect">
            <a:avLst>
              <a:gd name="adj" fmla="val 3398"/>
            </a:avLst>
          </a:prstGeom>
          <a:solidFill>
            <a:srgbClr val="E1EFF1"/>
          </a:solidFill>
          <a:ln w="13970">
            <a:solidFill>
              <a:srgbClr val="11707F"/>
            </a:solidFill>
            <a:prstDash val="solid"/>
          </a:ln>
        </p:spPr>
      </p:sp>
      <p:sp>
        <p:nvSpPr>
          <p:cNvPr id="41" name="Text 39"/>
          <p:cNvSpPr/>
          <p:nvPr/>
        </p:nvSpPr>
        <p:spPr>
          <a:xfrm>
            <a:off x="2547061" y="3977640"/>
            <a:ext cx="1431493" cy="712135"/>
          </a:xfrm>
          <a:prstGeom prst="rect">
            <a:avLst/>
          </a:prstGeom>
          <a:noFill/>
          <a:ln/>
        </p:spPr>
        <p:txBody>
          <a:bodyPr wrap="square" lIns="0" tIns="0" rIns="0" bIns="0" rtlCol="0" anchor="ctr"/>
          <a:lstStyle/>
          <a:p>
            <a:pPr algn="ctr" indent="0" marL="0">
              <a:buNone/>
            </a:pPr>
            <a:r>
              <a:rPr lang="en-US" sz="1050" b="1" dirty="0">
                <a:solidFill>
                  <a:srgbClr val="14555F"/>
                </a:solidFill>
                <a:latin typeface="Calibri" pitchFamily="34" charset="0"/>
                <a:ea typeface="Calibri" pitchFamily="34" charset="-122"/>
                <a:cs typeface="Calibri" pitchFamily="34" charset="-120"/>
              </a:rPr>
              <a:t>Same feature recipe</a:t>
            </a:r>
            <a:endParaRPr lang="en-US" sz="1050" dirty="0"/>
          </a:p>
        </p:txBody>
      </p:sp>
      <p:sp>
        <p:nvSpPr>
          <p:cNvPr id="42" name="Text 40"/>
          <p:cNvSpPr/>
          <p:nvPr/>
        </p:nvSpPr>
        <p:spPr>
          <a:xfrm>
            <a:off x="2537917" y="4667280"/>
            <a:ext cx="1449781" cy="809244"/>
          </a:xfrm>
          <a:prstGeom prst="rect">
            <a:avLst/>
          </a:prstGeom>
          <a:noFill/>
          <a:ln/>
        </p:spPr>
        <p:txBody>
          <a:bodyPr wrap="square" lIns="0" tIns="0" rIns="0" bIns="0" rtlCol="0" anchor="t"/>
          <a:lstStyle/>
          <a:p>
            <a:pPr algn="ctr" indent="0" marL="0">
              <a:buNone/>
            </a:pPr>
            <a:r>
              <a:rPr lang="en-US" sz="860" dirty="0">
                <a:solidFill>
                  <a:srgbClr val="5C6B7A"/>
                </a:solidFill>
                <a:latin typeface="Calibri" pitchFamily="34" charset="0"/>
                <a:ea typeface="Calibri" pitchFamily="34" charset="-122"/>
                <a:cs typeface="Calibri" pitchFamily="34" charset="-120"/>
              </a:rPr>
              <a:t>identical to training</a:t>
            </a:r>
            <a:endParaRPr lang="en-US" sz="860" dirty="0"/>
          </a:p>
        </p:txBody>
      </p:sp>
      <p:sp>
        <p:nvSpPr>
          <p:cNvPr id="43" name="Shape 41"/>
          <p:cNvSpPr/>
          <p:nvPr/>
        </p:nvSpPr>
        <p:spPr>
          <a:xfrm rot="5400000">
            <a:off x="4120286" y="4631436"/>
            <a:ext cx="155448" cy="201168"/>
          </a:xfrm>
          <a:prstGeom prst="triangle">
            <a:avLst/>
          </a:prstGeom>
          <a:solidFill>
            <a:srgbClr val="9AA9B6"/>
          </a:solidFill>
          <a:ln/>
        </p:spPr>
      </p:sp>
      <p:sp>
        <p:nvSpPr>
          <p:cNvPr id="44" name="Shape 42"/>
          <p:cNvSpPr/>
          <p:nvPr/>
        </p:nvSpPr>
        <p:spPr>
          <a:xfrm>
            <a:off x="4344314" y="3922776"/>
            <a:ext cx="1614373" cy="1618488"/>
          </a:xfrm>
          <a:prstGeom prst="roundRect">
            <a:avLst>
              <a:gd name="adj" fmla="val 3398"/>
            </a:avLst>
          </a:prstGeom>
          <a:solidFill>
            <a:srgbClr val="FCEDE0"/>
          </a:solidFill>
          <a:ln w="13970">
            <a:solidFill>
              <a:srgbClr val="D96A16"/>
            </a:solidFill>
            <a:prstDash val="solid"/>
          </a:ln>
        </p:spPr>
      </p:sp>
      <p:sp>
        <p:nvSpPr>
          <p:cNvPr id="45" name="Text 43"/>
          <p:cNvSpPr/>
          <p:nvPr/>
        </p:nvSpPr>
        <p:spPr>
          <a:xfrm>
            <a:off x="4435754" y="3977640"/>
            <a:ext cx="1431493" cy="712135"/>
          </a:xfrm>
          <a:prstGeom prst="rect">
            <a:avLst/>
          </a:prstGeom>
          <a:noFill/>
          <a:ln/>
        </p:spPr>
        <p:txBody>
          <a:bodyPr wrap="square" lIns="0" tIns="0" rIns="0" bIns="0" rtlCol="0" anchor="ctr"/>
          <a:lstStyle/>
          <a:p>
            <a:pPr algn="ctr" indent="0" marL="0">
              <a:buNone/>
            </a:pPr>
            <a:r>
              <a:rPr lang="en-US" sz="1050" b="1" dirty="0">
                <a:solidFill>
                  <a:srgbClr val="8A4310"/>
                </a:solidFill>
                <a:latin typeface="Calibri" pitchFamily="34" charset="0"/>
                <a:ea typeface="Calibri" pitchFamily="34" charset="-122"/>
                <a:cs typeface="Calibri" pitchFamily="34" charset="-120"/>
              </a:rPr>
              <a:t>Frozen model</a:t>
            </a:r>
            <a:endParaRPr lang="en-US" sz="1050" dirty="0"/>
          </a:p>
        </p:txBody>
      </p:sp>
      <p:sp>
        <p:nvSpPr>
          <p:cNvPr id="46" name="Text 44"/>
          <p:cNvSpPr/>
          <p:nvPr/>
        </p:nvSpPr>
        <p:spPr>
          <a:xfrm>
            <a:off x="4426610" y="4667280"/>
            <a:ext cx="1449781" cy="809244"/>
          </a:xfrm>
          <a:prstGeom prst="rect">
            <a:avLst/>
          </a:prstGeom>
          <a:noFill/>
          <a:ln/>
        </p:spPr>
        <p:txBody>
          <a:bodyPr wrap="square" lIns="0" tIns="0" rIns="0" bIns="0" rtlCol="0" anchor="t"/>
          <a:lstStyle/>
          <a:p>
            <a:pPr algn="ctr" indent="0" marL="0">
              <a:buNone/>
            </a:pPr>
            <a:r>
              <a:rPr lang="en-US" sz="860" dirty="0">
                <a:solidFill>
                  <a:srgbClr val="5C6B7A"/>
                </a:solidFill>
                <a:latin typeface="Calibri" pitchFamily="34" charset="0"/>
                <a:ea typeface="Calibri" pitchFamily="34" charset="-122"/>
                <a:cs typeface="Calibri" pitchFamily="34" charset="-120"/>
              </a:rPr>
              <a:t>no learning at run time</a:t>
            </a:r>
            <a:endParaRPr lang="en-US" sz="860" dirty="0"/>
          </a:p>
        </p:txBody>
      </p:sp>
      <p:sp>
        <p:nvSpPr>
          <p:cNvPr id="47" name="Shape 45"/>
          <p:cNvSpPr/>
          <p:nvPr/>
        </p:nvSpPr>
        <p:spPr>
          <a:xfrm rot="5400000">
            <a:off x="6008980" y="4631436"/>
            <a:ext cx="155448" cy="201168"/>
          </a:xfrm>
          <a:prstGeom prst="triangle">
            <a:avLst/>
          </a:prstGeom>
          <a:solidFill>
            <a:srgbClr val="9AA9B6"/>
          </a:solidFill>
          <a:ln/>
        </p:spPr>
      </p:sp>
      <p:sp>
        <p:nvSpPr>
          <p:cNvPr id="48" name="Shape 46"/>
          <p:cNvSpPr/>
          <p:nvPr/>
        </p:nvSpPr>
        <p:spPr>
          <a:xfrm>
            <a:off x="6233008" y="3922776"/>
            <a:ext cx="1614373" cy="1618488"/>
          </a:xfrm>
          <a:prstGeom prst="roundRect">
            <a:avLst>
              <a:gd name="adj" fmla="val 3398"/>
            </a:avLst>
          </a:prstGeom>
          <a:solidFill>
            <a:srgbClr val="F1F4F7"/>
          </a:solidFill>
          <a:ln w="13970">
            <a:solidFill>
              <a:srgbClr val="3B4A5A"/>
            </a:solidFill>
            <a:prstDash val="solid"/>
          </a:ln>
        </p:spPr>
      </p:sp>
      <p:sp>
        <p:nvSpPr>
          <p:cNvPr id="49" name="Text 47"/>
          <p:cNvSpPr/>
          <p:nvPr/>
        </p:nvSpPr>
        <p:spPr>
          <a:xfrm>
            <a:off x="6324448" y="3977640"/>
            <a:ext cx="1431493" cy="712135"/>
          </a:xfrm>
          <a:prstGeom prst="rect">
            <a:avLst/>
          </a:prstGeom>
          <a:noFill/>
          <a:ln/>
        </p:spPr>
        <p:txBody>
          <a:bodyPr wrap="square" lIns="0" tIns="0" rIns="0" bIns="0" rtlCol="0" anchor="ctr"/>
          <a:lstStyle/>
          <a:p>
            <a:pPr algn="ctr" indent="0" marL="0">
              <a:buNone/>
            </a:pPr>
            <a:r>
              <a:rPr lang="en-US" sz="1050" b="1" dirty="0">
                <a:solidFill>
                  <a:srgbClr val="1C2530"/>
                </a:solidFill>
                <a:latin typeface="Calibri" pitchFamily="34" charset="0"/>
                <a:ea typeface="Calibri" pitchFamily="34" charset="-122"/>
                <a:cs typeface="Calibri" pitchFamily="34" charset="-120"/>
              </a:rPr>
              <a:t>Expected value</a:t>
            </a:r>
            <a:endParaRPr lang="en-US" sz="1050" dirty="0"/>
          </a:p>
        </p:txBody>
      </p:sp>
      <p:sp>
        <p:nvSpPr>
          <p:cNvPr id="50" name="Text 48"/>
          <p:cNvSpPr/>
          <p:nvPr/>
        </p:nvSpPr>
        <p:spPr>
          <a:xfrm>
            <a:off x="6315304" y="4667280"/>
            <a:ext cx="1449781" cy="809244"/>
          </a:xfrm>
          <a:prstGeom prst="rect">
            <a:avLst/>
          </a:prstGeom>
          <a:noFill/>
          <a:ln/>
        </p:spPr>
        <p:txBody>
          <a:bodyPr wrap="square" lIns="0" tIns="0" rIns="0" bIns="0" rtlCol="0" anchor="t"/>
          <a:lstStyle/>
          <a:p>
            <a:pPr algn="ctr" indent="0" marL="0">
              <a:buNone/>
            </a:pPr>
            <a:r>
              <a:rPr lang="en-US" sz="860" dirty="0">
                <a:solidFill>
                  <a:srgbClr val="5C6B7A"/>
                </a:solidFill>
                <a:latin typeface="Calibri" pitchFamily="34" charset="0"/>
                <a:ea typeface="Calibri" pitchFamily="34" charset="-122"/>
                <a:cs typeface="Calibri" pitchFamily="34" charset="-120"/>
              </a:rPr>
              <a:t>what it should read</a:t>
            </a:r>
            <a:endParaRPr lang="en-US" sz="860" dirty="0"/>
          </a:p>
        </p:txBody>
      </p:sp>
      <p:sp>
        <p:nvSpPr>
          <p:cNvPr id="51" name="Shape 49"/>
          <p:cNvSpPr/>
          <p:nvPr/>
        </p:nvSpPr>
        <p:spPr>
          <a:xfrm rot="5400000">
            <a:off x="7897673" y="4631436"/>
            <a:ext cx="155448" cy="201168"/>
          </a:xfrm>
          <a:prstGeom prst="triangle">
            <a:avLst/>
          </a:prstGeom>
          <a:solidFill>
            <a:srgbClr val="9AA9B6"/>
          </a:solidFill>
          <a:ln/>
        </p:spPr>
      </p:sp>
      <p:sp>
        <p:nvSpPr>
          <p:cNvPr id="52" name="Shape 50"/>
          <p:cNvSpPr/>
          <p:nvPr/>
        </p:nvSpPr>
        <p:spPr>
          <a:xfrm>
            <a:off x="8121701" y="3922776"/>
            <a:ext cx="1614373" cy="1618488"/>
          </a:xfrm>
          <a:prstGeom prst="roundRect">
            <a:avLst>
              <a:gd name="adj" fmla="val 3398"/>
            </a:avLst>
          </a:prstGeom>
          <a:solidFill>
            <a:srgbClr val="F1F4F7"/>
          </a:solidFill>
          <a:ln w="13970">
            <a:solidFill>
              <a:srgbClr val="3B4A5A"/>
            </a:solidFill>
            <a:prstDash val="solid"/>
          </a:ln>
        </p:spPr>
      </p:sp>
      <p:sp>
        <p:nvSpPr>
          <p:cNvPr id="53" name="Text 51"/>
          <p:cNvSpPr/>
          <p:nvPr/>
        </p:nvSpPr>
        <p:spPr>
          <a:xfrm>
            <a:off x="8213141" y="3977640"/>
            <a:ext cx="1431493" cy="712135"/>
          </a:xfrm>
          <a:prstGeom prst="rect">
            <a:avLst/>
          </a:prstGeom>
          <a:noFill/>
          <a:ln/>
        </p:spPr>
        <p:txBody>
          <a:bodyPr wrap="square" lIns="0" tIns="0" rIns="0" bIns="0" rtlCol="0" anchor="ctr"/>
          <a:lstStyle/>
          <a:p>
            <a:pPr algn="ctr" indent="0" marL="0">
              <a:buNone/>
            </a:pPr>
            <a:r>
              <a:rPr lang="en-US" sz="1050" b="1" dirty="0">
                <a:solidFill>
                  <a:srgbClr val="1C2530"/>
                </a:solidFill>
                <a:latin typeface="Calibri" pitchFamily="34" charset="0"/>
                <a:ea typeface="Calibri" pitchFamily="34" charset="-122"/>
                <a:cs typeface="Calibri" pitchFamily="34" charset="-120"/>
              </a:rPr>
              <a:t>Residual + persistence</a:t>
            </a:r>
            <a:endParaRPr lang="en-US" sz="1050" dirty="0"/>
          </a:p>
        </p:txBody>
      </p:sp>
      <p:sp>
        <p:nvSpPr>
          <p:cNvPr id="54" name="Text 52"/>
          <p:cNvSpPr/>
          <p:nvPr/>
        </p:nvSpPr>
        <p:spPr>
          <a:xfrm>
            <a:off x="8203997" y="4667280"/>
            <a:ext cx="1449781" cy="809244"/>
          </a:xfrm>
          <a:prstGeom prst="rect">
            <a:avLst/>
          </a:prstGeom>
          <a:noFill/>
          <a:ln/>
        </p:spPr>
        <p:txBody>
          <a:bodyPr wrap="square" lIns="0" tIns="0" rIns="0" bIns="0" rtlCol="0" anchor="t"/>
          <a:lstStyle/>
          <a:p>
            <a:pPr algn="ctr" indent="0" marL="0">
              <a:buNone/>
            </a:pPr>
            <a:r>
              <a:rPr lang="en-US" sz="860" dirty="0">
                <a:solidFill>
                  <a:srgbClr val="5C6B7A"/>
                </a:solidFill>
                <a:latin typeface="Calibri" pitchFamily="34" charset="0"/>
                <a:ea typeface="Calibri" pitchFamily="34" charset="-122"/>
                <a:cs typeface="Calibri" pitchFamily="34" charset="-120"/>
              </a:rPr>
              <a:t>actual minus expected</a:t>
            </a:r>
            <a:endParaRPr lang="en-US" sz="860" dirty="0"/>
          </a:p>
        </p:txBody>
      </p:sp>
      <p:sp>
        <p:nvSpPr>
          <p:cNvPr id="55" name="Shape 53"/>
          <p:cNvSpPr/>
          <p:nvPr/>
        </p:nvSpPr>
        <p:spPr>
          <a:xfrm rot="5400000">
            <a:off x="9786366" y="4631436"/>
            <a:ext cx="155448" cy="201168"/>
          </a:xfrm>
          <a:prstGeom prst="triangle">
            <a:avLst/>
          </a:prstGeom>
          <a:solidFill>
            <a:srgbClr val="9AA9B6"/>
          </a:solidFill>
          <a:ln/>
        </p:spPr>
      </p:sp>
      <p:sp>
        <p:nvSpPr>
          <p:cNvPr id="56" name="Shape 54"/>
          <p:cNvSpPr/>
          <p:nvPr/>
        </p:nvSpPr>
        <p:spPr>
          <a:xfrm>
            <a:off x="10010394" y="3922776"/>
            <a:ext cx="1614373" cy="1618488"/>
          </a:xfrm>
          <a:prstGeom prst="roundRect">
            <a:avLst>
              <a:gd name="adj" fmla="val 3398"/>
            </a:avLst>
          </a:prstGeom>
          <a:solidFill>
            <a:srgbClr val="E4F0EA"/>
          </a:solidFill>
          <a:ln w="13970">
            <a:solidFill>
              <a:srgbClr val="256B45"/>
            </a:solidFill>
            <a:prstDash val="solid"/>
          </a:ln>
        </p:spPr>
      </p:sp>
      <p:sp>
        <p:nvSpPr>
          <p:cNvPr id="57" name="Text 55"/>
          <p:cNvSpPr/>
          <p:nvPr/>
        </p:nvSpPr>
        <p:spPr>
          <a:xfrm>
            <a:off x="10101834" y="3977640"/>
            <a:ext cx="1431493" cy="712135"/>
          </a:xfrm>
          <a:prstGeom prst="rect">
            <a:avLst/>
          </a:prstGeom>
          <a:noFill/>
          <a:ln/>
        </p:spPr>
        <p:txBody>
          <a:bodyPr wrap="square" lIns="0" tIns="0" rIns="0" bIns="0" rtlCol="0" anchor="ctr"/>
          <a:lstStyle/>
          <a:p>
            <a:pPr algn="ctr" indent="0" marL="0">
              <a:buNone/>
            </a:pPr>
            <a:r>
              <a:rPr lang="en-US" sz="1050" b="1" dirty="0">
                <a:solidFill>
                  <a:srgbClr val="1B4E32"/>
                </a:solidFill>
                <a:latin typeface="Calibri" pitchFamily="34" charset="0"/>
                <a:ea typeface="Calibri" pitchFamily="34" charset="-122"/>
                <a:cs typeface="Calibri" pitchFamily="34" charset="-120"/>
              </a:rPr>
              <a:t>Engineer decides</a:t>
            </a:r>
            <a:endParaRPr lang="en-US" sz="1050" dirty="0"/>
          </a:p>
        </p:txBody>
      </p:sp>
      <p:sp>
        <p:nvSpPr>
          <p:cNvPr id="58" name="Text 56"/>
          <p:cNvSpPr/>
          <p:nvPr/>
        </p:nvSpPr>
        <p:spPr>
          <a:xfrm>
            <a:off x="10092690" y="4667280"/>
            <a:ext cx="1449781" cy="809244"/>
          </a:xfrm>
          <a:prstGeom prst="rect">
            <a:avLst/>
          </a:prstGeom>
          <a:noFill/>
          <a:ln/>
        </p:spPr>
        <p:txBody>
          <a:bodyPr wrap="square" lIns="0" tIns="0" rIns="0" bIns="0" rtlCol="0" anchor="t"/>
          <a:lstStyle/>
          <a:p>
            <a:pPr algn="ctr" indent="0" marL="0">
              <a:buNone/>
            </a:pPr>
            <a:r>
              <a:rPr lang="en-US" sz="860" dirty="0">
                <a:solidFill>
                  <a:srgbClr val="5C6B7A"/>
                </a:solidFill>
                <a:latin typeface="Calibri" pitchFamily="34" charset="0"/>
                <a:ea typeface="Calibri" pitchFamily="34" charset="-122"/>
                <a:cs typeface="Calibri" pitchFamily="34" charset="-120"/>
              </a:rPr>
              <a:t>advisory, never automatic</a:t>
            </a:r>
            <a:endParaRPr lang="en-US" sz="860" dirty="0"/>
          </a:p>
        </p:txBody>
      </p:sp>
      <p:sp>
        <p:nvSpPr>
          <p:cNvPr id="59" name="Shape 57"/>
          <p:cNvSpPr/>
          <p:nvPr/>
        </p:nvSpPr>
        <p:spPr>
          <a:xfrm>
            <a:off x="566928" y="5833872"/>
            <a:ext cx="11057839" cy="420624"/>
          </a:xfrm>
          <a:prstGeom prst="roundRect">
            <a:avLst>
              <a:gd name="adj" fmla="val 10870"/>
            </a:avLst>
          </a:prstGeom>
          <a:solidFill>
            <a:srgbClr val="F4F1FA"/>
          </a:solidFill>
          <a:ln w="12700">
            <a:solidFill>
              <a:srgbClr val="8B77B8"/>
            </a:solidFill>
            <a:prstDash val="dash"/>
          </a:ln>
        </p:spPr>
      </p:sp>
      <p:sp>
        <p:nvSpPr>
          <p:cNvPr id="60" name="Text 58"/>
          <p:cNvSpPr/>
          <p:nvPr/>
        </p:nvSpPr>
        <p:spPr>
          <a:xfrm>
            <a:off x="749808" y="5833872"/>
            <a:ext cx="10692079" cy="420624"/>
          </a:xfrm>
          <a:prstGeom prst="rect">
            <a:avLst/>
          </a:prstGeom>
          <a:noFill/>
          <a:ln/>
        </p:spPr>
        <p:txBody>
          <a:bodyPr wrap="square" lIns="0" tIns="0" rIns="0" bIns="0" rtlCol="0" anchor="ctr"/>
          <a:lstStyle/>
          <a:p>
            <a:pPr indent="0" marL="0">
              <a:buNone/>
            </a:pPr>
            <a:r>
              <a:rPr lang="en-US" sz="1150" b="1" dirty="0">
                <a:solidFill>
                  <a:srgbClr val="5B4A85"/>
                </a:solidFill>
                <a:latin typeface="Calibri" pitchFamily="34" charset="0"/>
                <a:ea typeface="Calibri" pitchFamily="34" charset="-122"/>
                <a:cs typeface="Calibri" pitchFamily="34" charset="-120"/>
              </a:rPr>
              <a:t>Feedback:  </a:t>
            </a:r>
            <a:pPr indent="0" marL="0">
              <a:buNone/>
            </a:pPr>
            <a:r>
              <a:rPr lang="en-US" sz="1150" dirty="0">
                <a:solidFill>
                  <a:srgbClr val="5B4A85"/>
                </a:solidFill>
                <a:latin typeface="Calibri" pitchFamily="34" charset="0"/>
                <a:ea typeface="Calibri" pitchFamily="34" charset="-122"/>
                <a:cs typeface="Calibri" pitchFamily="34" charset="-120"/>
              </a:rPr>
              <a:t>Retrain when the machine changes: after an overhaul, a retrofit, or a change of coal source</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Three ways machines learn</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Two plant examples each — and where the value actually sits for us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1. AI fundamentals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11</a:t>
            </a:r>
            <a:endParaRPr lang="en-US" sz="9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1828800"/>
          <a:ext cx="11057839" cy="914400"/>
        </p:xfrm>
        <a:graphic>
          <a:graphicData uri="http://schemas.openxmlformats.org/drawingml/2006/table">
            <a:tbl>
              <a:tblPr/>
              <a:tblGrid>
                <a:gridCol w="2689895"/>
                <a:gridCol w="2265182"/>
                <a:gridCol w="2947156"/>
                <a:gridCol w="3155606"/>
              </a:tblGrid>
              <a:tr h="731520">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Family</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What it needs</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Plant example 1</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Plant example 2</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r>
              <a:tr h="731520">
                <a:tc>
                  <a:txBody>
                    <a:bodyPr/>
                    <a:lstStyle/>
                    <a:p>
                      <a:pPr algn="l" indent="0" marL="0">
                        <a:buNone/>
                      </a:pPr>
                      <a:r>
                        <a:rPr lang="en-US" sz="1350" b="1" dirty="0">
                          <a:solidFill>
                            <a:srgbClr val="1C2530"/>
                          </a:solidFill>
                          <a:latin typeface="Calibri" pitchFamily="34" charset="0"/>
                          <a:ea typeface="Calibri" pitchFamily="34" charset="-122"/>
                          <a:cs typeface="Calibri" pitchFamily="34" charset="-120"/>
                        </a:rPr>
                        <a:t>Supervised — learns from labelled examples</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50" dirty="0">
                          <a:solidFill>
                            <a:srgbClr val="1C2530"/>
                          </a:solidFill>
                          <a:latin typeface="Calibri" pitchFamily="34" charset="0"/>
                          <a:ea typeface="Calibri" pitchFamily="34" charset="-122"/>
                          <a:cs typeface="Calibri" pitchFamily="34" charset="-120"/>
                        </a:rPr>
                        <a:t>History where you already know the answer</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50" dirty="0">
                          <a:solidFill>
                            <a:srgbClr val="1C2530"/>
                          </a:solidFill>
                          <a:latin typeface="Calibri" pitchFamily="34" charset="0"/>
                          <a:ea typeface="Calibri" pitchFamily="34" charset="-122"/>
                          <a:cs typeface="Calibri" pitchFamily="34" charset="-120"/>
                        </a:rPr>
                        <a:t>As-fired GCV predicted from plant signals, with lab results as the answer key</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50" dirty="0">
                          <a:solidFill>
                            <a:srgbClr val="1C2530"/>
                          </a:solidFill>
                          <a:latin typeface="Calibri" pitchFamily="34" charset="0"/>
                          <a:ea typeface="Calibri" pitchFamily="34" charset="-122"/>
                          <a:cs typeface="Calibri" pitchFamily="34" charset="-120"/>
                        </a:rPr>
                        <a:t>Vibration signature classified as unbalance, misalignment or looseness</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731520">
                <a:tc>
                  <a:txBody>
                    <a:bodyPr/>
                    <a:lstStyle/>
                    <a:p>
                      <a:pPr algn="l" indent="0" marL="0">
                        <a:buNone/>
                      </a:pPr>
                      <a:r>
                        <a:rPr lang="en-US" sz="1350" b="1" dirty="0">
                          <a:solidFill>
                            <a:srgbClr val="1C2530"/>
                          </a:solidFill>
                          <a:latin typeface="Calibri" pitchFamily="34" charset="0"/>
                          <a:ea typeface="Calibri" pitchFamily="34" charset="-122"/>
                          <a:cs typeface="Calibri" pitchFamily="34" charset="-120"/>
                        </a:rPr>
                        <a:t>Unsupervised — finds structure with no labels</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C2530"/>
                          </a:solidFill>
                          <a:latin typeface="Calibri" pitchFamily="34" charset="0"/>
                          <a:ea typeface="Calibri" pitchFamily="34" charset="-122"/>
                          <a:cs typeface="Calibri" pitchFamily="34" charset="-120"/>
                        </a:rPr>
                        <a:t>Only a clean period of healthy running</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C2530"/>
                          </a:solidFill>
                          <a:latin typeface="Calibri" pitchFamily="34" charset="0"/>
                          <a:ea typeface="Calibri" pitchFamily="34" charset="-122"/>
                          <a:cs typeface="Calibri" pitchFamily="34" charset="-120"/>
                        </a:rPr>
                        <a:t>ID fan or mill anomaly detection, with no failure history at all</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C2530"/>
                          </a:solidFill>
                          <a:latin typeface="Calibri" pitchFamily="34" charset="0"/>
                          <a:ea typeface="Calibri" pitchFamily="34" charset="-122"/>
                          <a:cs typeface="Calibri" pitchFamily="34" charset="-120"/>
                        </a:rPr>
                        <a:t>Grouping operating states to spot an unusual mill combination</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731520">
                <a:tc>
                  <a:txBody>
                    <a:bodyPr/>
                    <a:lstStyle/>
                    <a:p>
                      <a:pPr algn="l" indent="0" marL="0">
                        <a:buNone/>
                      </a:pPr>
                      <a:r>
                        <a:rPr lang="en-US" sz="1350" b="1" dirty="0">
                          <a:solidFill>
                            <a:srgbClr val="1C2530"/>
                          </a:solidFill>
                          <a:latin typeface="Calibri" pitchFamily="34" charset="0"/>
                          <a:ea typeface="Calibri" pitchFamily="34" charset="-122"/>
                          <a:cs typeface="Calibri" pitchFamily="34" charset="-120"/>
                        </a:rPr>
                        <a:t>Reinforcement — learns by trial and consequence</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50" dirty="0">
                          <a:solidFill>
                            <a:srgbClr val="1C2530"/>
                          </a:solidFill>
                          <a:latin typeface="Calibri" pitchFamily="34" charset="0"/>
                          <a:ea typeface="Calibri" pitchFamily="34" charset="-122"/>
                          <a:cs typeface="Calibri" pitchFamily="34" charset="-120"/>
                        </a:rPr>
                        <a:t>A simulator, or a very tolerant process</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50" dirty="0">
                          <a:solidFill>
                            <a:srgbClr val="1C2530"/>
                          </a:solidFill>
                          <a:latin typeface="Calibri" pitchFamily="34" charset="0"/>
                          <a:ea typeface="Calibri" pitchFamily="34" charset="-122"/>
                          <a:cs typeface="Calibri" pitchFamily="34" charset="-120"/>
                        </a:rPr>
                        <a:t>Combustion setpoint search, in a simulator only</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50" dirty="0">
                          <a:solidFill>
                            <a:srgbClr val="1C2530"/>
                          </a:solidFill>
                          <a:latin typeface="Calibri" pitchFamily="34" charset="0"/>
                          <a:ea typeface="Calibri" pitchFamily="34" charset="-122"/>
                          <a:cs typeface="Calibri" pitchFamily="34" charset="-120"/>
                        </a:rPr>
                        <a:t>Not appropriate for direct control of a utility boiler today</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bl>
          </a:graphicData>
        </a:graphic>
      </p:graphicFrame>
      <p:sp>
        <p:nvSpPr>
          <p:cNvPr id="8" name="Shape 5"/>
          <p:cNvSpPr/>
          <p:nvPr/>
        </p:nvSpPr>
        <p:spPr>
          <a:xfrm>
            <a:off x="566928" y="4919472"/>
            <a:ext cx="11057839" cy="548640"/>
          </a:xfrm>
          <a:prstGeom prst="roundRect">
            <a:avLst>
              <a:gd name="adj" fmla="val 8333"/>
            </a:avLst>
          </a:prstGeom>
          <a:solidFill>
            <a:srgbClr val="FCEDE0"/>
          </a:solidFill>
          <a:ln w="12700">
            <a:solidFill>
              <a:srgbClr val="D96A16"/>
            </a:solidFill>
            <a:prstDash val="solid"/>
          </a:ln>
        </p:spPr>
      </p:sp>
      <p:sp>
        <p:nvSpPr>
          <p:cNvPr id="9" name="Text 6"/>
          <p:cNvSpPr/>
          <p:nvPr/>
        </p:nvSpPr>
        <p:spPr>
          <a:xfrm>
            <a:off x="768096" y="491947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Most plant value today comes from the middle row. It needs no failure history — only one clean period of healthy running.</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A tag is not a feature</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Why raw historian values go into a model badly, and what engineering fixes them</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1. AI fundamentals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12</a:t>
            </a:r>
            <a:endParaRPr lang="en-US" sz="950" dirty="0"/>
          </a:p>
        </p:txBody>
      </p:sp>
      <p:sp>
        <p:nvSpPr>
          <p:cNvPr id="7" name="Shape 5"/>
          <p:cNvSpPr/>
          <p:nvPr/>
        </p:nvSpPr>
        <p:spPr>
          <a:xfrm>
            <a:off x="566928" y="1627632"/>
            <a:ext cx="5391760" cy="3429000"/>
          </a:xfrm>
          <a:prstGeom prst="roundRect">
            <a:avLst>
              <a:gd name="adj" fmla="val 1600"/>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5391760" cy="493776"/>
          </a:xfrm>
          <a:prstGeom prst="roundRect">
            <a:avLst>
              <a:gd name="adj" fmla="val 9259"/>
            </a:avLst>
          </a:prstGeom>
          <a:solidFill>
            <a:srgbClr val="2A3644"/>
          </a:solidFill>
          <a:ln/>
        </p:spPr>
      </p:sp>
      <p:sp>
        <p:nvSpPr>
          <p:cNvPr id="9" name="Text 7"/>
          <p:cNvSpPr/>
          <p:nvPr/>
        </p:nvSpPr>
        <p:spPr>
          <a:xfrm>
            <a:off x="786384" y="1627632"/>
            <a:ext cx="4980280" cy="49377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Raw tag, as the historian stores it</a:t>
            </a:r>
            <a:endParaRPr lang="en-US" sz="1400" dirty="0"/>
          </a:p>
        </p:txBody>
      </p:sp>
      <p:sp>
        <p:nvSpPr>
          <p:cNvPr id="10" name="Text 8"/>
          <p:cNvSpPr/>
          <p:nvPr/>
        </p:nvSpPr>
        <p:spPr>
          <a:xfrm>
            <a:off x="804672" y="2267712"/>
            <a:ext cx="4916272" cy="265176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Bearing temperature, 74 °C — meaningless without load and ambient</a:t>
            </a:r>
            <a:endParaRPr lang="en-US" sz="1300" dirty="0"/>
          </a:p>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Mill current, 62 A — depends entirely on coal flow and fineness</a:t>
            </a:r>
            <a:endParaRPr lang="en-US" sz="1300" dirty="0"/>
          </a:p>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Condenser back pressure — moves with CW inlet temperature all year</a:t>
            </a:r>
            <a:endParaRPr lang="en-US" sz="1300" dirty="0"/>
          </a:p>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APH outlet gas temperature — moves with load, coal and air flow</a:t>
            </a:r>
            <a:endParaRPr lang="en-US" sz="1300" dirty="0"/>
          </a:p>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One instantaneous value, with no memory of the last six hours</a:t>
            </a:r>
            <a:endParaRPr lang="en-US" sz="1300" dirty="0"/>
          </a:p>
        </p:txBody>
      </p:sp>
      <p:sp>
        <p:nvSpPr>
          <p:cNvPr id="11" name="Shape 9"/>
          <p:cNvSpPr/>
          <p:nvPr/>
        </p:nvSpPr>
        <p:spPr>
          <a:xfrm>
            <a:off x="6233008" y="1627632"/>
            <a:ext cx="5391760" cy="3429000"/>
          </a:xfrm>
          <a:prstGeom prst="roundRect">
            <a:avLst>
              <a:gd name="adj" fmla="val 1600"/>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233008" y="1627632"/>
            <a:ext cx="5391760" cy="493776"/>
          </a:xfrm>
          <a:prstGeom prst="roundRect">
            <a:avLst>
              <a:gd name="adj" fmla="val 9259"/>
            </a:avLst>
          </a:prstGeom>
          <a:solidFill>
            <a:srgbClr val="11707F"/>
          </a:solidFill>
          <a:ln/>
        </p:spPr>
      </p:sp>
      <p:sp>
        <p:nvSpPr>
          <p:cNvPr id="13" name="Text 11"/>
          <p:cNvSpPr/>
          <p:nvPr/>
        </p:nvSpPr>
        <p:spPr>
          <a:xfrm>
            <a:off x="6452464" y="1627632"/>
            <a:ext cx="4980280" cy="49377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feature an engineer builds from it</a:t>
            </a:r>
            <a:endParaRPr lang="en-US" sz="1400" dirty="0"/>
          </a:p>
        </p:txBody>
      </p:sp>
      <p:sp>
        <p:nvSpPr>
          <p:cNvPr id="14" name="Text 12"/>
          <p:cNvSpPr/>
          <p:nvPr/>
        </p:nvSpPr>
        <p:spPr>
          <a:xfrm>
            <a:off x="6470752" y="2267712"/>
            <a:ext cx="4916272" cy="265176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Temperature rise above cooling medium, normalised for load and ambient</a:t>
            </a:r>
            <a:endParaRPr lang="en-US" sz="1300" dirty="0"/>
          </a:p>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Current per tonne of coal — a ratio that holds across the load range</a:t>
            </a:r>
            <a:endParaRPr lang="en-US" sz="1300" dirty="0"/>
          </a:p>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Back pressure minus achievable at today's CW inlet — the controllable part</a:t>
            </a:r>
            <a:endParaRPr lang="en-US" sz="1300" dirty="0"/>
          </a:p>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Gas-side and air-side differential, and the leakage ratio derived from it</a:t>
            </a:r>
            <a:endParaRPr lang="en-US" sz="1300" dirty="0"/>
          </a:p>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Rolling mean, standard deviation and slope over one, six and twenty-four hours</a:t>
            </a:r>
            <a:endParaRPr lang="en-US" sz="1300" dirty="0"/>
          </a:p>
        </p:txBody>
      </p:sp>
      <p:sp>
        <p:nvSpPr>
          <p:cNvPr id="15" name="Shape 13"/>
          <p:cNvSpPr/>
          <p:nvPr/>
        </p:nvSpPr>
        <p:spPr>
          <a:xfrm>
            <a:off x="566928" y="52395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2395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Feature engineering is where plant knowledge enters the model. It is the one part a data scientist cannot do without you.</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Inside a neural network, without the mathematics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What is actually happening between the inputs you know and the output you want</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1. AI fundamentals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13</a:t>
            </a:r>
            <a:endParaRPr lang="en-US" sz="950" dirty="0"/>
          </a:p>
        </p:txBody>
      </p:sp>
      <p:sp>
        <p:nvSpPr>
          <p:cNvPr id="7" name="Shape 5"/>
          <p:cNvSpPr/>
          <p:nvPr/>
        </p:nvSpPr>
        <p:spPr>
          <a:xfrm flipV="1">
            <a:off x="1069848" y="2048256"/>
            <a:ext cx="1783080" cy="365760"/>
          </a:xfrm>
          <a:prstGeom prst="line">
            <a:avLst/>
          </a:prstGeom>
          <a:noFill/>
          <a:ln w="7620">
            <a:solidFill>
              <a:srgbClr val="DFE7ED"/>
            </a:solidFill>
            <a:prstDash val="solid"/>
          </a:ln>
        </p:spPr>
      </p:sp>
      <p:sp>
        <p:nvSpPr>
          <p:cNvPr id="8" name="Shape 6"/>
          <p:cNvSpPr/>
          <p:nvPr/>
        </p:nvSpPr>
        <p:spPr>
          <a:xfrm flipV="1">
            <a:off x="1069848" y="2414016"/>
            <a:ext cx="1783080" cy="3658"/>
          </a:xfrm>
          <a:prstGeom prst="line">
            <a:avLst/>
          </a:prstGeom>
          <a:noFill/>
          <a:ln w="7620">
            <a:solidFill>
              <a:srgbClr val="DFE7ED"/>
            </a:solidFill>
            <a:prstDash val="solid"/>
          </a:ln>
        </p:spPr>
      </p:sp>
      <p:sp>
        <p:nvSpPr>
          <p:cNvPr id="9" name="Shape 7"/>
          <p:cNvSpPr/>
          <p:nvPr/>
        </p:nvSpPr>
        <p:spPr>
          <a:xfrm>
            <a:off x="1069848" y="2414016"/>
            <a:ext cx="1783080" cy="365760"/>
          </a:xfrm>
          <a:prstGeom prst="line">
            <a:avLst/>
          </a:prstGeom>
          <a:noFill/>
          <a:ln w="7620">
            <a:solidFill>
              <a:srgbClr val="DFE7ED"/>
            </a:solidFill>
            <a:prstDash val="solid"/>
          </a:ln>
        </p:spPr>
      </p:sp>
      <p:sp>
        <p:nvSpPr>
          <p:cNvPr id="10" name="Shape 8"/>
          <p:cNvSpPr/>
          <p:nvPr/>
        </p:nvSpPr>
        <p:spPr>
          <a:xfrm>
            <a:off x="1069848" y="2414016"/>
            <a:ext cx="1783080" cy="731520"/>
          </a:xfrm>
          <a:prstGeom prst="line">
            <a:avLst/>
          </a:prstGeom>
          <a:noFill/>
          <a:ln w="7620">
            <a:solidFill>
              <a:srgbClr val="DFE7ED"/>
            </a:solidFill>
            <a:prstDash val="solid"/>
          </a:ln>
        </p:spPr>
      </p:sp>
      <p:sp>
        <p:nvSpPr>
          <p:cNvPr id="11" name="Shape 9"/>
          <p:cNvSpPr/>
          <p:nvPr/>
        </p:nvSpPr>
        <p:spPr>
          <a:xfrm>
            <a:off x="1069848" y="2414016"/>
            <a:ext cx="1783080" cy="1097280"/>
          </a:xfrm>
          <a:prstGeom prst="line">
            <a:avLst/>
          </a:prstGeom>
          <a:noFill/>
          <a:ln w="7620">
            <a:solidFill>
              <a:srgbClr val="DFE7ED"/>
            </a:solidFill>
            <a:prstDash val="solid"/>
          </a:ln>
        </p:spPr>
      </p:sp>
      <p:sp>
        <p:nvSpPr>
          <p:cNvPr id="12" name="Shape 10"/>
          <p:cNvSpPr/>
          <p:nvPr/>
        </p:nvSpPr>
        <p:spPr>
          <a:xfrm>
            <a:off x="1069848" y="2414016"/>
            <a:ext cx="1783080" cy="1463040"/>
          </a:xfrm>
          <a:prstGeom prst="line">
            <a:avLst/>
          </a:prstGeom>
          <a:noFill/>
          <a:ln w="7620">
            <a:solidFill>
              <a:srgbClr val="DFE7ED"/>
            </a:solidFill>
            <a:prstDash val="solid"/>
          </a:ln>
        </p:spPr>
      </p:sp>
      <p:sp>
        <p:nvSpPr>
          <p:cNvPr id="13" name="Shape 11"/>
          <p:cNvSpPr/>
          <p:nvPr/>
        </p:nvSpPr>
        <p:spPr>
          <a:xfrm>
            <a:off x="1069848" y="2414016"/>
            <a:ext cx="1783080" cy="1828800"/>
          </a:xfrm>
          <a:prstGeom prst="line">
            <a:avLst/>
          </a:prstGeom>
          <a:noFill/>
          <a:ln w="7620">
            <a:solidFill>
              <a:srgbClr val="DFE7ED"/>
            </a:solidFill>
            <a:prstDash val="solid"/>
          </a:ln>
        </p:spPr>
      </p:sp>
      <p:sp>
        <p:nvSpPr>
          <p:cNvPr id="14" name="Shape 12"/>
          <p:cNvSpPr/>
          <p:nvPr/>
        </p:nvSpPr>
        <p:spPr>
          <a:xfrm>
            <a:off x="1069848" y="2414016"/>
            <a:ext cx="1783080" cy="2194560"/>
          </a:xfrm>
          <a:prstGeom prst="line">
            <a:avLst/>
          </a:prstGeom>
          <a:noFill/>
          <a:ln w="7620">
            <a:solidFill>
              <a:srgbClr val="DFE7ED"/>
            </a:solidFill>
            <a:prstDash val="solid"/>
          </a:ln>
        </p:spPr>
      </p:sp>
      <p:sp>
        <p:nvSpPr>
          <p:cNvPr id="15" name="Shape 13"/>
          <p:cNvSpPr/>
          <p:nvPr/>
        </p:nvSpPr>
        <p:spPr>
          <a:xfrm flipV="1">
            <a:off x="1069848" y="2048256"/>
            <a:ext cx="1783080" cy="731520"/>
          </a:xfrm>
          <a:prstGeom prst="line">
            <a:avLst/>
          </a:prstGeom>
          <a:noFill/>
          <a:ln w="7620">
            <a:solidFill>
              <a:srgbClr val="DFE7ED"/>
            </a:solidFill>
            <a:prstDash val="solid"/>
          </a:ln>
        </p:spPr>
      </p:sp>
      <p:sp>
        <p:nvSpPr>
          <p:cNvPr id="16" name="Shape 14"/>
          <p:cNvSpPr/>
          <p:nvPr/>
        </p:nvSpPr>
        <p:spPr>
          <a:xfrm flipV="1">
            <a:off x="1069848" y="2414016"/>
            <a:ext cx="1783080" cy="365760"/>
          </a:xfrm>
          <a:prstGeom prst="line">
            <a:avLst/>
          </a:prstGeom>
          <a:noFill/>
          <a:ln w="7620">
            <a:solidFill>
              <a:srgbClr val="DFE7ED"/>
            </a:solidFill>
            <a:prstDash val="solid"/>
          </a:ln>
        </p:spPr>
      </p:sp>
      <p:sp>
        <p:nvSpPr>
          <p:cNvPr id="17" name="Shape 15"/>
          <p:cNvSpPr/>
          <p:nvPr/>
        </p:nvSpPr>
        <p:spPr>
          <a:xfrm flipV="1">
            <a:off x="1069848" y="2779776"/>
            <a:ext cx="1783080" cy="3658"/>
          </a:xfrm>
          <a:prstGeom prst="line">
            <a:avLst/>
          </a:prstGeom>
          <a:noFill/>
          <a:ln w="7620">
            <a:solidFill>
              <a:srgbClr val="DFE7ED"/>
            </a:solidFill>
            <a:prstDash val="solid"/>
          </a:ln>
        </p:spPr>
      </p:sp>
      <p:sp>
        <p:nvSpPr>
          <p:cNvPr id="18" name="Shape 16"/>
          <p:cNvSpPr/>
          <p:nvPr/>
        </p:nvSpPr>
        <p:spPr>
          <a:xfrm>
            <a:off x="1069848" y="2779776"/>
            <a:ext cx="1783080" cy="365760"/>
          </a:xfrm>
          <a:prstGeom prst="line">
            <a:avLst/>
          </a:prstGeom>
          <a:noFill/>
          <a:ln w="7620">
            <a:solidFill>
              <a:srgbClr val="DFE7ED"/>
            </a:solidFill>
            <a:prstDash val="solid"/>
          </a:ln>
        </p:spPr>
      </p:sp>
      <p:sp>
        <p:nvSpPr>
          <p:cNvPr id="19" name="Shape 17"/>
          <p:cNvSpPr/>
          <p:nvPr/>
        </p:nvSpPr>
        <p:spPr>
          <a:xfrm>
            <a:off x="1069848" y="2779776"/>
            <a:ext cx="1783080" cy="731520"/>
          </a:xfrm>
          <a:prstGeom prst="line">
            <a:avLst/>
          </a:prstGeom>
          <a:noFill/>
          <a:ln w="7620">
            <a:solidFill>
              <a:srgbClr val="DFE7ED"/>
            </a:solidFill>
            <a:prstDash val="solid"/>
          </a:ln>
        </p:spPr>
      </p:sp>
      <p:sp>
        <p:nvSpPr>
          <p:cNvPr id="20" name="Shape 18"/>
          <p:cNvSpPr/>
          <p:nvPr/>
        </p:nvSpPr>
        <p:spPr>
          <a:xfrm>
            <a:off x="1069848" y="2779776"/>
            <a:ext cx="1783080" cy="1097280"/>
          </a:xfrm>
          <a:prstGeom prst="line">
            <a:avLst/>
          </a:prstGeom>
          <a:noFill/>
          <a:ln w="7620">
            <a:solidFill>
              <a:srgbClr val="DFE7ED"/>
            </a:solidFill>
            <a:prstDash val="solid"/>
          </a:ln>
        </p:spPr>
      </p:sp>
      <p:sp>
        <p:nvSpPr>
          <p:cNvPr id="21" name="Shape 19"/>
          <p:cNvSpPr/>
          <p:nvPr/>
        </p:nvSpPr>
        <p:spPr>
          <a:xfrm>
            <a:off x="1069848" y="2779776"/>
            <a:ext cx="1783080" cy="1463040"/>
          </a:xfrm>
          <a:prstGeom prst="line">
            <a:avLst/>
          </a:prstGeom>
          <a:noFill/>
          <a:ln w="7620">
            <a:solidFill>
              <a:srgbClr val="DFE7ED"/>
            </a:solidFill>
            <a:prstDash val="solid"/>
          </a:ln>
        </p:spPr>
      </p:sp>
      <p:sp>
        <p:nvSpPr>
          <p:cNvPr id="22" name="Shape 20"/>
          <p:cNvSpPr/>
          <p:nvPr/>
        </p:nvSpPr>
        <p:spPr>
          <a:xfrm>
            <a:off x="1069848" y="2779776"/>
            <a:ext cx="1783080" cy="1828800"/>
          </a:xfrm>
          <a:prstGeom prst="line">
            <a:avLst/>
          </a:prstGeom>
          <a:noFill/>
          <a:ln w="7620">
            <a:solidFill>
              <a:srgbClr val="DFE7ED"/>
            </a:solidFill>
            <a:prstDash val="solid"/>
          </a:ln>
        </p:spPr>
      </p:sp>
      <p:sp>
        <p:nvSpPr>
          <p:cNvPr id="23" name="Shape 21"/>
          <p:cNvSpPr/>
          <p:nvPr/>
        </p:nvSpPr>
        <p:spPr>
          <a:xfrm flipV="1">
            <a:off x="1069848" y="2048256"/>
            <a:ext cx="1783080" cy="1097280"/>
          </a:xfrm>
          <a:prstGeom prst="line">
            <a:avLst/>
          </a:prstGeom>
          <a:noFill/>
          <a:ln w="7620">
            <a:solidFill>
              <a:srgbClr val="DFE7ED"/>
            </a:solidFill>
            <a:prstDash val="solid"/>
          </a:ln>
        </p:spPr>
      </p:sp>
      <p:sp>
        <p:nvSpPr>
          <p:cNvPr id="24" name="Shape 22"/>
          <p:cNvSpPr/>
          <p:nvPr/>
        </p:nvSpPr>
        <p:spPr>
          <a:xfrm flipV="1">
            <a:off x="1069848" y="2414016"/>
            <a:ext cx="1783080" cy="731520"/>
          </a:xfrm>
          <a:prstGeom prst="line">
            <a:avLst/>
          </a:prstGeom>
          <a:noFill/>
          <a:ln w="7620">
            <a:solidFill>
              <a:srgbClr val="DFE7ED"/>
            </a:solidFill>
            <a:prstDash val="solid"/>
          </a:ln>
        </p:spPr>
      </p:sp>
      <p:sp>
        <p:nvSpPr>
          <p:cNvPr id="25" name="Shape 23"/>
          <p:cNvSpPr/>
          <p:nvPr/>
        </p:nvSpPr>
        <p:spPr>
          <a:xfrm flipV="1">
            <a:off x="1069848" y="2779776"/>
            <a:ext cx="1783080" cy="365760"/>
          </a:xfrm>
          <a:prstGeom prst="line">
            <a:avLst/>
          </a:prstGeom>
          <a:noFill/>
          <a:ln w="7620">
            <a:solidFill>
              <a:srgbClr val="DFE7ED"/>
            </a:solidFill>
            <a:prstDash val="solid"/>
          </a:ln>
        </p:spPr>
      </p:sp>
      <p:sp>
        <p:nvSpPr>
          <p:cNvPr id="26" name="Shape 24"/>
          <p:cNvSpPr/>
          <p:nvPr/>
        </p:nvSpPr>
        <p:spPr>
          <a:xfrm>
            <a:off x="1069848" y="3145536"/>
            <a:ext cx="1783080" cy="3658"/>
          </a:xfrm>
          <a:prstGeom prst="line">
            <a:avLst/>
          </a:prstGeom>
          <a:noFill/>
          <a:ln w="7620">
            <a:solidFill>
              <a:srgbClr val="DFE7ED"/>
            </a:solidFill>
            <a:prstDash val="solid"/>
          </a:ln>
        </p:spPr>
      </p:sp>
      <p:sp>
        <p:nvSpPr>
          <p:cNvPr id="27" name="Shape 25"/>
          <p:cNvSpPr/>
          <p:nvPr/>
        </p:nvSpPr>
        <p:spPr>
          <a:xfrm>
            <a:off x="1069848" y="3145536"/>
            <a:ext cx="1783080" cy="365760"/>
          </a:xfrm>
          <a:prstGeom prst="line">
            <a:avLst/>
          </a:prstGeom>
          <a:noFill/>
          <a:ln w="7620">
            <a:solidFill>
              <a:srgbClr val="DFE7ED"/>
            </a:solidFill>
            <a:prstDash val="solid"/>
          </a:ln>
        </p:spPr>
      </p:sp>
      <p:sp>
        <p:nvSpPr>
          <p:cNvPr id="28" name="Shape 26"/>
          <p:cNvSpPr/>
          <p:nvPr/>
        </p:nvSpPr>
        <p:spPr>
          <a:xfrm>
            <a:off x="1069848" y="3145536"/>
            <a:ext cx="1783080" cy="731520"/>
          </a:xfrm>
          <a:prstGeom prst="line">
            <a:avLst/>
          </a:prstGeom>
          <a:noFill/>
          <a:ln w="7620">
            <a:solidFill>
              <a:srgbClr val="DFE7ED"/>
            </a:solidFill>
            <a:prstDash val="solid"/>
          </a:ln>
        </p:spPr>
      </p:sp>
      <p:sp>
        <p:nvSpPr>
          <p:cNvPr id="29" name="Shape 27"/>
          <p:cNvSpPr/>
          <p:nvPr/>
        </p:nvSpPr>
        <p:spPr>
          <a:xfrm>
            <a:off x="1069848" y="3145536"/>
            <a:ext cx="1783080" cy="1097280"/>
          </a:xfrm>
          <a:prstGeom prst="line">
            <a:avLst/>
          </a:prstGeom>
          <a:noFill/>
          <a:ln w="7620">
            <a:solidFill>
              <a:srgbClr val="DFE7ED"/>
            </a:solidFill>
            <a:prstDash val="solid"/>
          </a:ln>
        </p:spPr>
      </p:sp>
      <p:sp>
        <p:nvSpPr>
          <p:cNvPr id="30" name="Shape 28"/>
          <p:cNvSpPr/>
          <p:nvPr/>
        </p:nvSpPr>
        <p:spPr>
          <a:xfrm>
            <a:off x="1069848" y="3145536"/>
            <a:ext cx="1783080" cy="1463040"/>
          </a:xfrm>
          <a:prstGeom prst="line">
            <a:avLst/>
          </a:prstGeom>
          <a:noFill/>
          <a:ln w="7620">
            <a:solidFill>
              <a:srgbClr val="DFE7ED"/>
            </a:solidFill>
            <a:prstDash val="solid"/>
          </a:ln>
        </p:spPr>
      </p:sp>
      <p:sp>
        <p:nvSpPr>
          <p:cNvPr id="31" name="Shape 29"/>
          <p:cNvSpPr/>
          <p:nvPr/>
        </p:nvSpPr>
        <p:spPr>
          <a:xfrm flipV="1">
            <a:off x="1069848" y="2048256"/>
            <a:ext cx="1783080" cy="1463040"/>
          </a:xfrm>
          <a:prstGeom prst="line">
            <a:avLst/>
          </a:prstGeom>
          <a:noFill/>
          <a:ln w="7620">
            <a:solidFill>
              <a:srgbClr val="DFE7ED"/>
            </a:solidFill>
            <a:prstDash val="solid"/>
          </a:ln>
        </p:spPr>
      </p:sp>
      <p:sp>
        <p:nvSpPr>
          <p:cNvPr id="32" name="Shape 30"/>
          <p:cNvSpPr/>
          <p:nvPr/>
        </p:nvSpPr>
        <p:spPr>
          <a:xfrm flipV="1">
            <a:off x="1069848" y="2414016"/>
            <a:ext cx="1783080" cy="1097280"/>
          </a:xfrm>
          <a:prstGeom prst="line">
            <a:avLst/>
          </a:prstGeom>
          <a:noFill/>
          <a:ln w="7620">
            <a:solidFill>
              <a:srgbClr val="DFE7ED"/>
            </a:solidFill>
            <a:prstDash val="solid"/>
          </a:ln>
        </p:spPr>
      </p:sp>
      <p:sp>
        <p:nvSpPr>
          <p:cNvPr id="33" name="Shape 31"/>
          <p:cNvSpPr/>
          <p:nvPr/>
        </p:nvSpPr>
        <p:spPr>
          <a:xfrm flipV="1">
            <a:off x="1069848" y="2779776"/>
            <a:ext cx="1783080" cy="731520"/>
          </a:xfrm>
          <a:prstGeom prst="line">
            <a:avLst/>
          </a:prstGeom>
          <a:noFill/>
          <a:ln w="7620">
            <a:solidFill>
              <a:srgbClr val="DFE7ED"/>
            </a:solidFill>
            <a:prstDash val="solid"/>
          </a:ln>
        </p:spPr>
      </p:sp>
      <p:sp>
        <p:nvSpPr>
          <p:cNvPr id="34" name="Shape 32"/>
          <p:cNvSpPr/>
          <p:nvPr/>
        </p:nvSpPr>
        <p:spPr>
          <a:xfrm flipV="1">
            <a:off x="1069848" y="3145536"/>
            <a:ext cx="1783080" cy="365760"/>
          </a:xfrm>
          <a:prstGeom prst="line">
            <a:avLst/>
          </a:prstGeom>
          <a:noFill/>
          <a:ln w="7620">
            <a:solidFill>
              <a:srgbClr val="DFE7ED"/>
            </a:solidFill>
            <a:prstDash val="solid"/>
          </a:ln>
        </p:spPr>
      </p:sp>
      <p:sp>
        <p:nvSpPr>
          <p:cNvPr id="35" name="Shape 33"/>
          <p:cNvSpPr/>
          <p:nvPr/>
        </p:nvSpPr>
        <p:spPr>
          <a:xfrm flipV="1">
            <a:off x="1069848" y="3511296"/>
            <a:ext cx="1783080" cy="3658"/>
          </a:xfrm>
          <a:prstGeom prst="line">
            <a:avLst/>
          </a:prstGeom>
          <a:noFill/>
          <a:ln w="7620">
            <a:solidFill>
              <a:srgbClr val="DFE7ED"/>
            </a:solidFill>
            <a:prstDash val="solid"/>
          </a:ln>
        </p:spPr>
      </p:sp>
      <p:sp>
        <p:nvSpPr>
          <p:cNvPr id="36" name="Shape 34"/>
          <p:cNvSpPr/>
          <p:nvPr/>
        </p:nvSpPr>
        <p:spPr>
          <a:xfrm>
            <a:off x="1069848" y="3511296"/>
            <a:ext cx="1783080" cy="365760"/>
          </a:xfrm>
          <a:prstGeom prst="line">
            <a:avLst/>
          </a:prstGeom>
          <a:noFill/>
          <a:ln w="7620">
            <a:solidFill>
              <a:srgbClr val="DFE7ED"/>
            </a:solidFill>
            <a:prstDash val="solid"/>
          </a:ln>
        </p:spPr>
      </p:sp>
      <p:sp>
        <p:nvSpPr>
          <p:cNvPr id="37" name="Shape 35"/>
          <p:cNvSpPr/>
          <p:nvPr/>
        </p:nvSpPr>
        <p:spPr>
          <a:xfrm>
            <a:off x="1069848" y="3511296"/>
            <a:ext cx="1783080" cy="731520"/>
          </a:xfrm>
          <a:prstGeom prst="line">
            <a:avLst/>
          </a:prstGeom>
          <a:noFill/>
          <a:ln w="7620">
            <a:solidFill>
              <a:srgbClr val="DFE7ED"/>
            </a:solidFill>
            <a:prstDash val="solid"/>
          </a:ln>
        </p:spPr>
      </p:sp>
      <p:sp>
        <p:nvSpPr>
          <p:cNvPr id="38" name="Shape 36"/>
          <p:cNvSpPr/>
          <p:nvPr/>
        </p:nvSpPr>
        <p:spPr>
          <a:xfrm>
            <a:off x="1069848" y="3511296"/>
            <a:ext cx="1783080" cy="1097280"/>
          </a:xfrm>
          <a:prstGeom prst="line">
            <a:avLst/>
          </a:prstGeom>
          <a:noFill/>
          <a:ln w="7620">
            <a:solidFill>
              <a:srgbClr val="DFE7ED"/>
            </a:solidFill>
            <a:prstDash val="solid"/>
          </a:ln>
        </p:spPr>
      </p:sp>
      <p:sp>
        <p:nvSpPr>
          <p:cNvPr id="39" name="Shape 37"/>
          <p:cNvSpPr/>
          <p:nvPr/>
        </p:nvSpPr>
        <p:spPr>
          <a:xfrm flipV="1">
            <a:off x="1069848" y="2048256"/>
            <a:ext cx="1783080" cy="1828800"/>
          </a:xfrm>
          <a:prstGeom prst="line">
            <a:avLst/>
          </a:prstGeom>
          <a:noFill/>
          <a:ln w="7620">
            <a:solidFill>
              <a:srgbClr val="DFE7ED"/>
            </a:solidFill>
            <a:prstDash val="solid"/>
          </a:ln>
        </p:spPr>
      </p:sp>
      <p:sp>
        <p:nvSpPr>
          <p:cNvPr id="40" name="Shape 38"/>
          <p:cNvSpPr/>
          <p:nvPr/>
        </p:nvSpPr>
        <p:spPr>
          <a:xfrm flipV="1">
            <a:off x="1069848" y="2414016"/>
            <a:ext cx="1783080" cy="1463040"/>
          </a:xfrm>
          <a:prstGeom prst="line">
            <a:avLst/>
          </a:prstGeom>
          <a:noFill/>
          <a:ln w="7620">
            <a:solidFill>
              <a:srgbClr val="DFE7ED"/>
            </a:solidFill>
            <a:prstDash val="solid"/>
          </a:ln>
        </p:spPr>
      </p:sp>
      <p:sp>
        <p:nvSpPr>
          <p:cNvPr id="41" name="Shape 39"/>
          <p:cNvSpPr/>
          <p:nvPr/>
        </p:nvSpPr>
        <p:spPr>
          <a:xfrm flipV="1">
            <a:off x="1069848" y="2779776"/>
            <a:ext cx="1783080" cy="1097280"/>
          </a:xfrm>
          <a:prstGeom prst="line">
            <a:avLst/>
          </a:prstGeom>
          <a:noFill/>
          <a:ln w="7620">
            <a:solidFill>
              <a:srgbClr val="DFE7ED"/>
            </a:solidFill>
            <a:prstDash val="solid"/>
          </a:ln>
        </p:spPr>
      </p:sp>
      <p:sp>
        <p:nvSpPr>
          <p:cNvPr id="42" name="Shape 40"/>
          <p:cNvSpPr/>
          <p:nvPr/>
        </p:nvSpPr>
        <p:spPr>
          <a:xfrm flipV="1">
            <a:off x="1069848" y="3145536"/>
            <a:ext cx="1783080" cy="731520"/>
          </a:xfrm>
          <a:prstGeom prst="line">
            <a:avLst/>
          </a:prstGeom>
          <a:noFill/>
          <a:ln w="7620">
            <a:solidFill>
              <a:srgbClr val="DFE7ED"/>
            </a:solidFill>
            <a:prstDash val="solid"/>
          </a:ln>
        </p:spPr>
      </p:sp>
      <p:sp>
        <p:nvSpPr>
          <p:cNvPr id="43" name="Shape 41"/>
          <p:cNvSpPr/>
          <p:nvPr/>
        </p:nvSpPr>
        <p:spPr>
          <a:xfrm flipV="1">
            <a:off x="1069848" y="3511296"/>
            <a:ext cx="1783080" cy="365760"/>
          </a:xfrm>
          <a:prstGeom prst="line">
            <a:avLst/>
          </a:prstGeom>
          <a:noFill/>
          <a:ln w="7620">
            <a:solidFill>
              <a:srgbClr val="DFE7ED"/>
            </a:solidFill>
            <a:prstDash val="solid"/>
          </a:ln>
        </p:spPr>
      </p:sp>
      <p:sp>
        <p:nvSpPr>
          <p:cNvPr id="44" name="Shape 42"/>
          <p:cNvSpPr/>
          <p:nvPr/>
        </p:nvSpPr>
        <p:spPr>
          <a:xfrm flipV="1">
            <a:off x="1069848" y="3877056"/>
            <a:ext cx="1783080" cy="3658"/>
          </a:xfrm>
          <a:prstGeom prst="line">
            <a:avLst/>
          </a:prstGeom>
          <a:noFill/>
          <a:ln w="7620">
            <a:solidFill>
              <a:srgbClr val="DFE7ED"/>
            </a:solidFill>
            <a:prstDash val="solid"/>
          </a:ln>
        </p:spPr>
      </p:sp>
      <p:sp>
        <p:nvSpPr>
          <p:cNvPr id="45" name="Shape 43"/>
          <p:cNvSpPr/>
          <p:nvPr/>
        </p:nvSpPr>
        <p:spPr>
          <a:xfrm>
            <a:off x="1069848" y="3877056"/>
            <a:ext cx="1783080" cy="365760"/>
          </a:xfrm>
          <a:prstGeom prst="line">
            <a:avLst/>
          </a:prstGeom>
          <a:noFill/>
          <a:ln w="7620">
            <a:solidFill>
              <a:srgbClr val="DFE7ED"/>
            </a:solidFill>
            <a:prstDash val="solid"/>
          </a:ln>
        </p:spPr>
      </p:sp>
      <p:sp>
        <p:nvSpPr>
          <p:cNvPr id="46" name="Shape 44"/>
          <p:cNvSpPr/>
          <p:nvPr/>
        </p:nvSpPr>
        <p:spPr>
          <a:xfrm>
            <a:off x="1069848" y="3877056"/>
            <a:ext cx="1783080" cy="731520"/>
          </a:xfrm>
          <a:prstGeom prst="line">
            <a:avLst/>
          </a:prstGeom>
          <a:noFill/>
          <a:ln w="7620">
            <a:solidFill>
              <a:srgbClr val="DFE7ED"/>
            </a:solidFill>
            <a:prstDash val="solid"/>
          </a:ln>
        </p:spPr>
      </p:sp>
      <p:sp>
        <p:nvSpPr>
          <p:cNvPr id="47" name="Shape 45"/>
          <p:cNvSpPr/>
          <p:nvPr/>
        </p:nvSpPr>
        <p:spPr>
          <a:xfrm flipV="1">
            <a:off x="1069848" y="2048256"/>
            <a:ext cx="1783080" cy="2194560"/>
          </a:xfrm>
          <a:prstGeom prst="line">
            <a:avLst/>
          </a:prstGeom>
          <a:noFill/>
          <a:ln w="7620">
            <a:solidFill>
              <a:srgbClr val="DFE7ED"/>
            </a:solidFill>
            <a:prstDash val="solid"/>
          </a:ln>
        </p:spPr>
      </p:sp>
      <p:sp>
        <p:nvSpPr>
          <p:cNvPr id="48" name="Shape 46"/>
          <p:cNvSpPr/>
          <p:nvPr/>
        </p:nvSpPr>
        <p:spPr>
          <a:xfrm flipV="1">
            <a:off x="1069848" y="2414016"/>
            <a:ext cx="1783080" cy="1828800"/>
          </a:xfrm>
          <a:prstGeom prst="line">
            <a:avLst/>
          </a:prstGeom>
          <a:noFill/>
          <a:ln w="7620">
            <a:solidFill>
              <a:srgbClr val="DFE7ED"/>
            </a:solidFill>
            <a:prstDash val="solid"/>
          </a:ln>
        </p:spPr>
      </p:sp>
      <p:sp>
        <p:nvSpPr>
          <p:cNvPr id="49" name="Shape 47"/>
          <p:cNvSpPr/>
          <p:nvPr/>
        </p:nvSpPr>
        <p:spPr>
          <a:xfrm flipV="1">
            <a:off x="1069848" y="2779776"/>
            <a:ext cx="1783080" cy="1463040"/>
          </a:xfrm>
          <a:prstGeom prst="line">
            <a:avLst/>
          </a:prstGeom>
          <a:noFill/>
          <a:ln w="7620">
            <a:solidFill>
              <a:srgbClr val="DFE7ED"/>
            </a:solidFill>
            <a:prstDash val="solid"/>
          </a:ln>
        </p:spPr>
      </p:sp>
      <p:sp>
        <p:nvSpPr>
          <p:cNvPr id="50" name="Shape 48"/>
          <p:cNvSpPr/>
          <p:nvPr/>
        </p:nvSpPr>
        <p:spPr>
          <a:xfrm flipV="1">
            <a:off x="1069848" y="3145536"/>
            <a:ext cx="1783080" cy="1097280"/>
          </a:xfrm>
          <a:prstGeom prst="line">
            <a:avLst/>
          </a:prstGeom>
          <a:noFill/>
          <a:ln w="7620">
            <a:solidFill>
              <a:srgbClr val="DFE7ED"/>
            </a:solidFill>
            <a:prstDash val="solid"/>
          </a:ln>
        </p:spPr>
      </p:sp>
      <p:sp>
        <p:nvSpPr>
          <p:cNvPr id="51" name="Shape 49"/>
          <p:cNvSpPr/>
          <p:nvPr/>
        </p:nvSpPr>
        <p:spPr>
          <a:xfrm flipV="1">
            <a:off x="1069848" y="3511296"/>
            <a:ext cx="1783080" cy="731520"/>
          </a:xfrm>
          <a:prstGeom prst="line">
            <a:avLst/>
          </a:prstGeom>
          <a:noFill/>
          <a:ln w="7620">
            <a:solidFill>
              <a:srgbClr val="DFE7ED"/>
            </a:solidFill>
            <a:prstDash val="solid"/>
          </a:ln>
        </p:spPr>
      </p:sp>
      <p:sp>
        <p:nvSpPr>
          <p:cNvPr id="52" name="Shape 50"/>
          <p:cNvSpPr/>
          <p:nvPr/>
        </p:nvSpPr>
        <p:spPr>
          <a:xfrm flipV="1">
            <a:off x="1069848" y="3877056"/>
            <a:ext cx="1783080" cy="365760"/>
          </a:xfrm>
          <a:prstGeom prst="line">
            <a:avLst/>
          </a:prstGeom>
          <a:noFill/>
          <a:ln w="7620">
            <a:solidFill>
              <a:srgbClr val="DFE7ED"/>
            </a:solidFill>
            <a:prstDash val="solid"/>
          </a:ln>
        </p:spPr>
      </p:sp>
      <p:sp>
        <p:nvSpPr>
          <p:cNvPr id="53" name="Shape 51"/>
          <p:cNvSpPr/>
          <p:nvPr/>
        </p:nvSpPr>
        <p:spPr>
          <a:xfrm>
            <a:off x="1069848" y="4242816"/>
            <a:ext cx="1783080" cy="3658"/>
          </a:xfrm>
          <a:prstGeom prst="line">
            <a:avLst/>
          </a:prstGeom>
          <a:noFill/>
          <a:ln w="7620">
            <a:solidFill>
              <a:srgbClr val="DFE7ED"/>
            </a:solidFill>
            <a:prstDash val="solid"/>
          </a:ln>
        </p:spPr>
      </p:sp>
      <p:sp>
        <p:nvSpPr>
          <p:cNvPr id="54" name="Shape 52"/>
          <p:cNvSpPr/>
          <p:nvPr/>
        </p:nvSpPr>
        <p:spPr>
          <a:xfrm>
            <a:off x="1069848" y="4242816"/>
            <a:ext cx="1783080" cy="365760"/>
          </a:xfrm>
          <a:prstGeom prst="line">
            <a:avLst/>
          </a:prstGeom>
          <a:noFill/>
          <a:ln w="7620">
            <a:solidFill>
              <a:srgbClr val="DFE7ED"/>
            </a:solidFill>
            <a:prstDash val="solid"/>
          </a:ln>
        </p:spPr>
      </p:sp>
      <p:sp>
        <p:nvSpPr>
          <p:cNvPr id="55" name="Shape 53"/>
          <p:cNvSpPr/>
          <p:nvPr/>
        </p:nvSpPr>
        <p:spPr>
          <a:xfrm>
            <a:off x="2852928" y="2048256"/>
            <a:ext cx="1783080" cy="365760"/>
          </a:xfrm>
          <a:prstGeom prst="line">
            <a:avLst/>
          </a:prstGeom>
          <a:noFill/>
          <a:ln w="7620">
            <a:solidFill>
              <a:srgbClr val="DFE7ED"/>
            </a:solidFill>
            <a:prstDash val="solid"/>
          </a:ln>
        </p:spPr>
      </p:sp>
      <p:sp>
        <p:nvSpPr>
          <p:cNvPr id="56" name="Shape 54"/>
          <p:cNvSpPr/>
          <p:nvPr/>
        </p:nvSpPr>
        <p:spPr>
          <a:xfrm>
            <a:off x="2852928" y="2048256"/>
            <a:ext cx="1783080" cy="731520"/>
          </a:xfrm>
          <a:prstGeom prst="line">
            <a:avLst/>
          </a:prstGeom>
          <a:noFill/>
          <a:ln w="7620">
            <a:solidFill>
              <a:srgbClr val="DFE7ED"/>
            </a:solidFill>
            <a:prstDash val="solid"/>
          </a:ln>
        </p:spPr>
      </p:sp>
      <p:sp>
        <p:nvSpPr>
          <p:cNvPr id="57" name="Shape 55"/>
          <p:cNvSpPr/>
          <p:nvPr/>
        </p:nvSpPr>
        <p:spPr>
          <a:xfrm>
            <a:off x="2852928" y="2048256"/>
            <a:ext cx="1783080" cy="1097280"/>
          </a:xfrm>
          <a:prstGeom prst="line">
            <a:avLst/>
          </a:prstGeom>
          <a:noFill/>
          <a:ln w="7620">
            <a:solidFill>
              <a:srgbClr val="DFE7ED"/>
            </a:solidFill>
            <a:prstDash val="solid"/>
          </a:ln>
        </p:spPr>
      </p:sp>
      <p:sp>
        <p:nvSpPr>
          <p:cNvPr id="58" name="Shape 56"/>
          <p:cNvSpPr/>
          <p:nvPr/>
        </p:nvSpPr>
        <p:spPr>
          <a:xfrm>
            <a:off x="2852928" y="2048256"/>
            <a:ext cx="1783080" cy="1463040"/>
          </a:xfrm>
          <a:prstGeom prst="line">
            <a:avLst/>
          </a:prstGeom>
          <a:noFill/>
          <a:ln w="7620">
            <a:solidFill>
              <a:srgbClr val="DFE7ED"/>
            </a:solidFill>
            <a:prstDash val="solid"/>
          </a:ln>
        </p:spPr>
      </p:sp>
      <p:sp>
        <p:nvSpPr>
          <p:cNvPr id="59" name="Shape 57"/>
          <p:cNvSpPr/>
          <p:nvPr/>
        </p:nvSpPr>
        <p:spPr>
          <a:xfrm>
            <a:off x="2852928" y="2048256"/>
            <a:ext cx="1783080" cy="1828800"/>
          </a:xfrm>
          <a:prstGeom prst="line">
            <a:avLst/>
          </a:prstGeom>
          <a:noFill/>
          <a:ln w="7620">
            <a:solidFill>
              <a:srgbClr val="DFE7ED"/>
            </a:solidFill>
            <a:prstDash val="solid"/>
          </a:ln>
        </p:spPr>
      </p:sp>
      <p:sp>
        <p:nvSpPr>
          <p:cNvPr id="60" name="Shape 58"/>
          <p:cNvSpPr/>
          <p:nvPr/>
        </p:nvSpPr>
        <p:spPr>
          <a:xfrm>
            <a:off x="2852928" y="2048256"/>
            <a:ext cx="1783080" cy="2194560"/>
          </a:xfrm>
          <a:prstGeom prst="line">
            <a:avLst/>
          </a:prstGeom>
          <a:noFill/>
          <a:ln w="7620">
            <a:solidFill>
              <a:srgbClr val="DFE7ED"/>
            </a:solidFill>
            <a:prstDash val="solid"/>
          </a:ln>
        </p:spPr>
      </p:sp>
      <p:sp>
        <p:nvSpPr>
          <p:cNvPr id="61" name="Shape 59"/>
          <p:cNvSpPr/>
          <p:nvPr/>
        </p:nvSpPr>
        <p:spPr>
          <a:xfrm>
            <a:off x="2852928" y="2414016"/>
            <a:ext cx="1783080" cy="3658"/>
          </a:xfrm>
          <a:prstGeom prst="line">
            <a:avLst/>
          </a:prstGeom>
          <a:noFill/>
          <a:ln w="7620">
            <a:solidFill>
              <a:srgbClr val="DFE7ED"/>
            </a:solidFill>
            <a:prstDash val="solid"/>
          </a:ln>
        </p:spPr>
      </p:sp>
      <p:sp>
        <p:nvSpPr>
          <p:cNvPr id="62" name="Shape 60"/>
          <p:cNvSpPr/>
          <p:nvPr/>
        </p:nvSpPr>
        <p:spPr>
          <a:xfrm>
            <a:off x="2852928" y="2414016"/>
            <a:ext cx="1783080" cy="365760"/>
          </a:xfrm>
          <a:prstGeom prst="line">
            <a:avLst/>
          </a:prstGeom>
          <a:noFill/>
          <a:ln w="7620">
            <a:solidFill>
              <a:srgbClr val="DFE7ED"/>
            </a:solidFill>
            <a:prstDash val="solid"/>
          </a:ln>
        </p:spPr>
      </p:sp>
      <p:sp>
        <p:nvSpPr>
          <p:cNvPr id="63" name="Shape 61"/>
          <p:cNvSpPr/>
          <p:nvPr/>
        </p:nvSpPr>
        <p:spPr>
          <a:xfrm>
            <a:off x="2852928" y="2414016"/>
            <a:ext cx="1783080" cy="731520"/>
          </a:xfrm>
          <a:prstGeom prst="line">
            <a:avLst/>
          </a:prstGeom>
          <a:noFill/>
          <a:ln w="7620">
            <a:solidFill>
              <a:srgbClr val="DFE7ED"/>
            </a:solidFill>
            <a:prstDash val="solid"/>
          </a:ln>
        </p:spPr>
      </p:sp>
      <p:sp>
        <p:nvSpPr>
          <p:cNvPr id="64" name="Shape 62"/>
          <p:cNvSpPr/>
          <p:nvPr/>
        </p:nvSpPr>
        <p:spPr>
          <a:xfrm>
            <a:off x="2852928" y="2414016"/>
            <a:ext cx="1783080" cy="1097280"/>
          </a:xfrm>
          <a:prstGeom prst="line">
            <a:avLst/>
          </a:prstGeom>
          <a:noFill/>
          <a:ln w="7620">
            <a:solidFill>
              <a:srgbClr val="DFE7ED"/>
            </a:solidFill>
            <a:prstDash val="solid"/>
          </a:ln>
        </p:spPr>
      </p:sp>
      <p:sp>
        <p:nvSpPr>
          <p:cNvPr id="65" name="Shape 63"/>
          <p:cNvSpPr/>
          <p:nvPr/>
        </p:nvSpPr>
        <p:spPr>
          <a:xfrm>
            <a:off x="2852928" y="2414016"/>
            <a:ext cx="1783080" cy="1463040"/>
          </a:xfrm>
          <a:prstGeom prst="line">
            <a:avLst/>
          </a:prstGeom>
          <a:noFill/>
          <a:ln w="7620">
            <a:solidFill>
              <a:srgbClr val="DFE7ED"/>
            </a:solidFill>
            <a:prstDash val="solid"/>
          </a:ln>
        </p:spPr>
      </p:sp>
      <p:sp>
        <p:nvSpPr>
          <p:cNvPr id="66" name="Shape 64"/>
          <p:cNvSpPr/>
          <p:nvPr/>
        </p:nvSpPr>
        <p:spPr>
          <a:xfrm>
            <a:off x="2852928" y="2414016"/>
            <a:ext cx="1783080" cy="1828800"/>
          </a:xfrm>
          <a:prstGeom prst="line">
            <a:avLst/>
          </a:prstGeom>
          <a:noFill/>
          <a:ln w="7620">
            <a:solidFill>
              <a:srgbClr val="DFE7ED"/>
            </a:solidFill>
            <a:prstDash val="solid"/>
          </a:ln>
        </p:spPr>
      </p:sp>
      <p:sp>
        <p:nvSpPr>
          <p:cNvPr id="67" name="Shape 65"/>
          <p:cNvSpPr/>
          <p:nvPr/>
        </p:nvSpPr>
        <p:spPr>
          <a:xfrm flipV="1">
            <a:off x="2852928" y="2414016"/>
            <a:ext cx="1783080" cy="365760"/>
          </a:xfrm>
          <a:prstGeom prst="line">
            <a:avLst/>
          </a:prstGeom>
          <a:noFill/>
          <a:ln w="7620">
            <a:solidFill>
              <a:srgbClr val="DFE7ED"/>
            </a:solidFill>
            <a:prstDash val="solid"/>
          </a:ln>
        </p:spPr>
      </p:sp>
      <p:sp>
        <p:nvSpPr>
          <p:cNvPr id="68" name="Shape 66"/>
          <p:cNvSpPr/>
          <p:nvPr/>
        </p:nvSpPr>
        <p:spPr>
          <a:xfrm>
            <a:off x="2852928" y="2779776"/>
            <a:ext cx="1783080" cy="3658"/>
          </a:xfrm>
          <a:prstGeom prst="line">
            <a:avLst/>
          </a:prstGeom>
          <a:noFill/>
          <a:ln w="7620">
            <a:solidFill>
              <a:srgbClr val="DFE7ED"/>
            </a:solidFill>
            <a:prstDash val="solid"/>
          </a:ln>
        </p:spPr>
      </p:sp>
      <p:sp>
        <p:nvSpPr>
          <p:cNvPr id="69" name="Shape 67"/>
          <p:cNvSpPr/>
          <p:nvPr/>
        </p:nvSpPr>
        <p:spPr>
          <a:xfrm>
            <a:off x="2852928" y="2779776"/>
            <a:ext cx="1783080" cy="365760"/>
          </a:xfrm>
          <a:prstGeom prst="line">
            <a:avLst/>
          </a:prstGeom>
          <a:noFill/>
          <a:ln w="7620">
            <a:solidFill>
              <a:srgbClr val="DFE7ED"/>
            </a:solidFill>
            <a:prstDash val="solid"/>
          </a:ln>
        </p:spPr>
      </p:sp>
      <p:sp>
        <p:nvSpPr>
          <p:cNvPr id="70" name="Shape 68"/>
          <p:cNvSpPr/>
          <p:nvPr/>
        </p:nvSpPr>
        <p:spPr>
          <a:xfrm>
            <a:off x="2852928" y="2779776"/>
            <a:ext cx="1783080" cy="731520"/>
          </a:xfrm>
          <a:prstGeom prst="line">
            <a:avLst/>
          </a:prstGeom>
          <a:noFill/>
          <a:ln w="7620">
            <a:solidFill>
              <a:srgbClr val="DFE7ED"/>
            </a:solidFill>
            <a:prstDash val="solid"/>
          </a:ln>
        </p:spPr>
      </p:sp>
      <p:sp>
        <p:nvSpPr>
          <p:cNvPr id="71" name="Shape 69"/>
          <p:cNvSpPr/>
          <p:nvPr/>
        </p:nvSpPr>
        <p:spPr>
          <a:xfrm>
            <a:off x="2852928" y="2779776"/>
            <a:ext cx="1783080" cy="1097280"/>
          </a:xfrm>
          <a:prstGeom prst="line">
            <a:avLst/>
          </a:prstGeom>
          <a:noFill/>
          <a:ln w="7620">
            <a:solidFill>
              <a:srgbClr val="DFE7ED"/>
            </a:solidFill>
            <a:prstDash val="solid"/>
          </a:ln>
        </p:spPr>
      </p:sp>
      <p:sp>
        <p:nvSpPr>
          <p:cNvPr id="72" name="Shape 70"/>
          <p:cNvSpPr/>
          <p:nvPr/>
        </p:nvSpPr>
        <p:spPr>
          <a:xfrm>
            <a:off x="2852928" y="2779776"/>
            <a:ext cx="1783080" cy="1463040"/>
          </a:xfrm>
          <a:prstGeom prst="line">
            <a:avLst/>
          </a:prstGeom>
          <a:noFill/>
          <a:ln w="7620">
            <a:solidFill>
              <a:srgbClr val="DFE7ED"/>
            </a:solidFill>
            <a:prstDash val="solid"/>
          </a:ln>
        </p:spPr>
      </p:sp>
      <p:sp>
        <p:nvSpPr>
          <p:cNvPr id="73" name="Shape 71"/>
          <p:cNvSpPr/>
          <p:nvPr/>
        </p:nvSpPr>
        <p:spPr>
          <a:xfrm flipV="1">
            <a:off x="2852928" y="2414016"/>
            <a:ext cx="1783080" cy="731520"/>
          </a:xfrm>
          <a:prstGeom prst="line">
            <a:avLst/>
          </a:prstGeom>
          <a:noFill/>
          <a:ln w="7620">
            <a:solidFill>
              <a:srgbClr val="DFE7ED"/>
            </a:solidFill>
            <a:prstDash val="solid"/>
          </a:ln>
        </p:spPr>
      </p:sp>
      <p:sp>
        <p:nvSpPr>
          <p:cNvPr id="74" name="Shape 72"/>
          <p:cNvSpPr/>
          <p:nvPr/>
        </p:nvSpPr>
        <p:spPr>
          <a:xfrm flipV="1">
            <a:off x="2852928" y="2779776"/>
            <a:ext cx="1783080" cy="365760"/>
          </a:xfrm>
          <a:prstGeom prst="line">
            <a:avLst/>
          </a:prstGeom>
          <a:noFill/>
          <a:ln w="7620">
            <a:solidFill>
              <a:srgbClr val="DFE7ED"/>
            </a:solidFill>
            <a:prstDash val="solid"/>
          </a:ln>
        </p:spPr>
      </p:sp>
      <p:sp>
        <p:nvSpPr>
          <p:cNvPr id="75" name="Shape 73"/>
          <p:cNvSpPr/>
          <p:nvPr/>
        </p:nvSpPr>
        <p:spPr>
          <a:xfrm>
            <a:off x="2852928" y="3145536"/>
            <a:ext cx="1783080" cy="3658"/>
          </a:xfrm>
          <a:prstGeom prst="line">
            <a:avLst/>
          </a:prstGeom>
          <a:noFill/>
          <a:ln w="7620">
            <a:solidFill>
              <a:srgbClr val="DFE7ED"/>
            </a:solidFill>
            <a:prstDash val="solid"/>
          </a:ln>
        </p:spPr>
      </p:sp>
      <p:sp>
        <p:nvSpPr>
          <p:cNvPr id="76" name="Shape 74"/>
          <p:cNvSpPr/>
          <p:nvPr/>
        </p:nvSpPr>
        <p:spPr>
          <a:xfrm>
            <a:off x="2852928" y="3145536"/>
            <a:ext cx="1783080" cy="365760"/>
          </a:xfrm>
          <a:prstGeom prst="line">
            <a:avLst/>
          </a:prstGeom>
          <a:noFill/>
          <a:ln w="7620">
            <a:solidFill>
              <a:srgbClr val="DFE7ED"/>
            </a:solidFill>
            <a:prstDash val="solid"/>
          </a:ln>
        </p:spPr>
      </p:sp>
      <p:sp>
        <p:nvSpPr>
          <p:cNvPr id="77" name="Shape 75"/>
          <p:cNvSpPr/>
          <p:nvPr/>
        </p:nvSpPr>
        <p:spPr>
          <a:xfrm>
            <a:off x="2852928" y="3145536"/>
            <a:ext cx="1783080" cy="731520"/>
          </a:xfrm>
          <a:prstGeom prst="line">
            <a:avLst/>
          </a:prstGeom>
          <a:noFill/>
          <a:ln w="7620">
            <a:solidFill>
              <a:srgbClr val="DFE7ED"/>
            </a:solidFill>
            <a:prstDash val="solid"/>
          </a:ln>
        </p:spPr>
      </p:sp>
      <p:sp>
        <p:nvSpPr>
          <p:cNvPr id="78" name="Shape 76"/>
          <p:cNvSpPr/>
          <p:nvPr/>
        </p:nvSpPr>
        <p:spPr>
          <a:xfrm>
            <a:off x="2852928" y="3145536"/>
            <a:ext cx="1783080" cy="1097280"/>
          </a:xfrm>
          <a:prstGeom prst="line">
            <a:avLst/>
          </a:prstGeom>
          <a:noFill/>
          <a:ln w="7620">
            <a:solidFill>
              <a:srgbClr val="DFE7ED"/>
            </a:solidFill>
            <a:prstDash val="solid"/>
          </a:ln>
        </p:spPr>
      </p:sp>
      <p:sp>
        <p:nvSpPr>
          <p:cNvPr id="79" name="Shape 77"/>
          <p:cNvSpPr/>
          <p:nvPr/>
        </p:nvSpPr>
        <p:spPr>
          <a:xfrm flipV="1">
            <a:off x="2852928" y="2414016"/>
            <a:ext cx="1783080" cy="1097280"/>
          </a:xfrm>
          <a:prstGeom prst="line">
            <a:avLst/>
          </a:prstGeom>
          <a:noFill/>
          <a:ln w="7620">
            <a:solidFill>
              <a:srgbClr val="DFE7ED"/>
            </a:solidFill>
            <a:prstDash val="solid"/>
          </a:ln>
        </p:spPr>
      </p:sp>
      <p:sp>
        <p:nvSpPr>
          <p:cNvPr id="80" name="Shape 78"/>
          <p:cNvSpPr/>
          <p:nvPr/>
        </p:nvSpPr>
        <p:spPr>
          <a:xfrm flipV="1">
            <a:off x="2852928" y="2779776"/>
            <a:ext cx="1783080" cy="731520"/>
          </a:xfrm>
          <a:prstGeom prst="line">
            <a:avLst/>
          </a:prstGeom>
          <a:noFill/>
          <a:ln w="7620">
            <a:solidFill>
              <a:srgbClr val="DFE7ED"/>
            </a:solidFill>
            <a:prstDash val="solid"/>
          </a:ln>
        </p:spPr>
      </p:sp>
      <p:sp>
        <p:nvSpPr>
          <p:cNvPr id="81" name="Shape 79"/>
          <p:cNvSpPr/>
          <p:nvPr/>
        </p:nvSpPr>
        <p:spPr>
          <a:xfrm flipV="1">
            <a:off x="2852928" y="3145536"/>
            <a:ext cx="1783080" cy="365760"/>
          </a:xfrm>
          <a:prstGeom prst="line">
            <a:avLst/>
          </a:prstGeom>
          <a:noFill/>
          <a:ln w="7620">
            <a:solidFill>
              <a:srgbClr val="DFE7ED"/>
            </a:solidFill>
            <a:prstDash val="solid"/>
          </a:ln>
        </p:spPr>
      </p:sp>
      <p:sp>
        <p:nvSpPr>
          <p:cNvPr id="82" name="Shape 80"/>
          <p:cNvSpPr/>
          <p:nvPr/>
        </p:nvSpPr>
        <p:spPr>
          <a:xfrm>
            <a:off x="2852928" y="3511296"/>
            <a:ext cx="1783080" cy="3658"/>
          </a:xfrm>
          <a:prstGeom prst="line">
            <a:avLst/>
          </a:prstGeom>
          <a:noFill/>
          <a:ln w="7620">
            <a:solidFill>
              <a:srgbClr val="DFE7ED"/>
            </a:solidFill>
            <a:prstDash val="solid"/>
          </a:ln>
        </p:spPr>
      </p:sp>
      <p:sp>
        <p:nvSpPr>
          <p:cNvPr id="83" name="Shape 81"/>
          <p:cNvSpPr/>
          <p:nvPr/>
        </p:nvSpPr>
        <p:spPr>
          <a:xfrm>
            <a:off x="2852928" y="3511296"/>
            <a:ext cx="1783080" cy="365760"/>
          </a:xfrm>
          <a:prstGeom prst="line">
            <a:avLst/>
          </a:prstGeom>
          <a:noFill/>
          <a:ln w="7620">
            <a:solidFill>
              <a:srgbClr val="DFE7ED"/>
            </a:solidFill>
            <a:prstDash val="solid"/>
          </a:ln>
        </p:spPr>
      </p:sp>
      <p:sp>
        <p:nvSpPr>
          <p:cNvPr id="84" name="Shape 82"/>
          <p:cNvSpPr/>
          <p:nvPr/>
        </p:nvSpPr>
        <p:spPr>
          <a:xfrm>
            <a:off x="2852928" y="3511296"/>
            <a:ext cx="1783080" cy="731520"/>
          </a:xfrm>
          <a:prstGeom prst="line">
            <a:avLst/>
          </a:prstGeom>
          <a:noFill/>
          <a:ln w="7620">
            <a:solidFill>
              <a:srgbClr val="DFE7ED"/>
            </a:solidFill>
            <a:prstDash val="solid"/>
          </a:ln>
        </p:spPr>
      </p:sp>
      <p:sp>
        <p:nvSpPr>
          <p:cNvPr id="85" name="Shape 83"/>
          <p:cNvSpPr/>
          <p:nvPr/>
        </p:nvSpPr>
        <p:spPr>
          <a:xfrm flipV="1">
            <a:off x="2852928" y="2414016"/>
            <a:ext cx="1783080" cy="1463040"/>
          </a:xfrm>
          <a:prstGeom prst="line">
            <a:avLst/>
          </a:prstGeom>
          <a:noFill/>
          <a:ln w="7620">
            <a:solidFill>
              <a:srgbClr val="DFE7ED"/>
            </a:solidFill>
            <a:prstDash val="solid"/>
          </a:ln>
        </p:spPr>
      </p:sp>
      <p:sp>
        <p:nvSpPr>
          <p:cNvPr id="86" name="Shape 84"/>
          <p:cNvSpPr/>
          <p:nvPr/>
        </p:nvSpPr>
        <p:spPr>
          <a:xfrm flipV="1">
            <a:off x="2852928" y="2779776"/>
            <a:ext cx="1783080" cy="1097280"/>
          </a:xfrm>
          <a:prstGeom prst="line">
            <a:avLst/>
          </a:prstGeom>
          <a:noFill/>
          <a:ln w="7620">
            <a:solidFill>
              <a:srgbClr val="DFE7ED"/>
            </a:solidFill>
            <a:prstDash val="solid"/>
          </a:ln>
        </p:spPr>
      </p:sp>
      <p:sp>
        <p:nvSpPr>
          <p:cNvPr id="87" name="Shape 85"/>
          <p:cNvSpPr/>
          <p:nvPr/>
        </p:nvSpPr>
        <p:spPr>
          <a:xfrm flipV="1">
            <a:off x="2852928" y="3145536"/>
            <a:ext cx="1783080" cy="731520"/>
          </a:xfrm>
          <a:prstGeom prst="line">
            <a:avLst/>
          </a:prstGeom>
          <a:noFill/>
          <a:ln w="7620">
            <a:solidFill>
              <a:srgbClr val="DFE7ED"/>
            </a:solidFill>
            <a:prstDash val="solid"/>
          </a:ln>
        </p:spPr>
      </p:sp>
      <p:sp>
        <p:nvSpPr>
          <p:cNvPr id="88" name="Shape 86"/>
          <p:cNvSpPr/>
          <p:nvPr/>
        </p:nvSpPr>
        <p:spPr>
          <a:xfrm flipV="1">
            <a:off x="2852928" y="3511296"/>
            <a:ext cx="1783080" cy="365760"/>
          </a:xfrm>
          <a:prstGeom prst="line">
            <a:avLst/>
          </a:prstGeom>
          <a:noFill/>
          <a:ln w="7620">
            <a:solidFill>
              <a:srgbClr val="DFE7ED"/>
            </a:solidFill>
            <a:prstDash val="solid"/>
          </a:ln>
        </p:spPr>
      </p:sp>
      <p:sp>
        <p:nvSpPr>
          <p:cNvPr id="89" name="Shape 87"/>
          <p:cNvSpPr/>
          <p:nvPr/>
        </p:nvSpPr>
        <p:spPr>
          <a:xfrm>
            <a:off x="2852928" y="3877056"/>
            <a:ext cx="1783080" cy="3658"/>
          </a:xfrm>
          <a:prstGeom prst="line">
            <a:avLst/>
          </a:prstGeom>
          <a:noFill/>
          <a:ln w="7620">
            <a:solidFill>
              <a:srgbClr val="DFE7ED"/>
            </a:solidFill>
            <a:prstDash val="solid"/>
          </a:ln>
        </p:spPr>
      </p:sp>
      <p:sp>
        <p:nvSpPr>
          <p:cNvPr id="90" name="Shape 88"/>
          <p:cNvSpPr/>
          <p:nvPr/>
        </p:nvSpPr>
        <p:spPr>
          <a:xfrm>
            <a:off x="2852928" y="3877056"/>
            <a:ext cx="1783080" cy="365760"/>
          </a:xfrm>
          <a:prstGeom prst="line">
            <a:avLst/>
          </a:prstGeom>
          <a:noFill/>
          <a:ln w="7620">
            <a:solidFill>
              <a:srgbClr val="DFE7ED"/>
            </a:solidFill>
            <a:prstDash val="solid"/>
          </a:ln>
        </p:spPr>
      </p:sp>
      <p:sp>
        <p:nvSpPr>
          <p:cNvPr id="91" name="Shape 89"/>
          <p:cNvSpPr/>
          <p:nvPr/>
        </p:nvSpPr>
        <p:spPr>
          <a:xfrm flipV="1">
            <a:off x="2852928" y="2414016"/>
            <a:ext cx="1783080" cy="1828800"/>
          </a:xfrm>
          <a:prstGeom prst="line">
            <a:avLst/>
          </a:prstGeom>
          <a:noFill/>
          <a:ln w="7620">
            <a:solidFill>
              <a:srgbClr val="DFE7ED"/>
            </a:solidFill>
            <a:prstDash val="solid"/>
          </a:ln>
        </p:spPr>
      </p:sp>
      <p:sp>
        <p:nvSpPr>
          <p:cNvPr id="92" name="Shape 90"/>
          <p:cNvSpPr/>
          <p:nvPr/>
        </p:nvSpPr>
        <p:spPr>
          <a:xfrm flipV="1">
            <a:off x="2852928" y="2779776"/>
            <a:ext cx="1783080" cy="1463040"/>
          </a:xfrm>
          <a:prstGeom prst="line">
            <a:avLst/>
          </a:prstGeom>
          <a:noFill/>
          <a:ln w="7620">
            <a:solidFill>
              <a:srgbClr val="DFE7ED"/>
            </a:solidFill>
            <a:prstDash val="solid"/>
          </a:ln>
        </p:spPr>
      </p:sp>
      <p:sp>
        <p:nvSpPr>
          <p:cNvPr id="93" name="Shape 91"/>
          <p:cNvSpPr/>
          <p:nvPr/>
        </p:nvSpPr>
        <p:spPr>
          <a:xfrm flipV="1">
            <a:off x="2852928" y="3145536"/>
            <a:ext cx="1783080" cy="1097280"/>
          </a:xfrm>
          <a:prstGeom prst="line">
            <a:avLst/>
          </a:prstGeom>
          <a:noFill/>
          <a:ln w="7620">
            <a:solidFill>
              <a:srgbClr val="DFE7ED"/>
            </a:solidFill>
            <a:prstDash val="solid"/>
          </a:ln>
        </p:spPr>
      </p:sp>
      <p:sp>
        <p:nvSpPr>
          <p:cNvPr id="94" name="Shape 92"/>
          <p:cNvSpPr/>
          <p:nvPr/>
        </p:nvSpPr>
        <p:spPr>
          <a:xfrm flipV="1">
            <a:off x="2852928" y="3511296"/>
            <a:ext cx="1783080" cy="731520"/>
          </a:xfrm>
          <a:prstGeom prst="line">
            <a:avLst/>
          </a:prstGeom>
          <a:noFill/>
          <a:ln w="7620">
            <a:solidFill>
              <a:srgbClr val="DFE7ED"/>
            </a:solidFill>
            <a:prstDash val="solid"/>
          </a:ln>
        </p:spPr>
      </p:sp>
      <p:sp>
        <p:nvSpPr>
          <p:cNvPr id="95" name="Shape 93"/>
          <p:cNvSpPr/>
          <p:nvPr/>
        </p:nvSpPr>
        <p:spPr>
          <a:xfrm flipV="1">
            <a:off x="2852928" y="3877056"/>
            <a:ext cx="1783080" cy="365760"/>
          </a:xfrm>
          <a:prstGeom prst="line">
            <a:avLst/>
          </a:prstGeom>
          <a:noFill/>
          <a:ln w="7620">
            <a:solidFill>
              <a:srgbClr val="DFE7ED"/>
            </a:solidFill>
            <a:prstDash val="solid"/>
          </a:ln>
        </p:spPr>
      </p:sp>
      <p:sp>
        <p:nvSpPr>
          <p:cNvPr id="96" name="Shape 94"/>
          <p:cNvSpPr/>
          <p:nvPr/>
        </p:nvSpPr>
        <p:spPr>
          <a:xfrm>
            <a:off x="2852928" y="4242816"/>
            <a:ext cx="1783080" cy="3658"/>
          </a:xfrm>
          <a:prstGeom prst="line">
            <a:avLst/>
          </a:prstGeom>
          <a:noFill/>
          <a:ln w="7620">
            <a:solidFill>
              <a:srgbClr val="DFE7ED"/>
            </a:solidFill>
            <a:prstDash val="solid"/>
          </a:ln>
        </p:spPr>
      </p:sp>
      <p:sp>
        <p:nvSpPr>
          <p:cNvPr id="97" name="Shape 95"/>
          <p:cNvSpPr/>
          <p:nvPr/>
        </p:nvSpPr>
        <p:spPr>
          <a:xfrm flipV="1">
            <a:off x="2852928" y="2414016"/>
            <a:ext cx="1783080" cy="2194560"/>
          </a:xfrm>
          <a:prstGeom prst="line">
            <a:avLst/>
          </a:prstGeom>
          <a:noFill/>
          <a:ln w="7620">
            <a:solidFill>
              <a:srgbClr val="DFE7ED"/>
            </a:solidFill>
            <a:prstDash val="solid"/>
          </a:ln>
        </p:spPr>
      </p:sp>
      <p:sp>
        <p:nvSpPr>
          <p:cNvPr id="98" name="Shape 96"/>
          <p:cNvSpPr/>
          <p:nvPr/>
        </p:nvSpPr>
        <p:spPr>
          <a:xfrm flipV="1">
            <a:off x="2852928" y="2779776"/>
            <a:ext cx="1783080" cy="1828800"/>
          </a:xfrm>
          <a:prstGeom prst="line">
            <a:avLst/>
          </a:prstGeom>
          <a:noFill/>
          <a:ln w="7620">
            <a:solidFill>
              <a:srgbClr val="DFE7ED"/>
            </a:solidFill>
            <a:prstDash val="solid"/>
          </a:ln>
        </p:spPr>
      </p:sp>
      <p:sp>
        <p:nvSpPr>
          <p:cNvPr id="99" name="Shape 97"/>
          <p:cNvSpPr/>
          <p:nvPr/>
        </p:nvSpPr>
        <p:spPr>
          <a:xfrm flipV="1">
            <a:off x="2852928" y="3145536"/>
            <a:ext cx="1783080" cy="1463040"/>
          </a:xfrm>
          <a:prstGeom prst="line">
            <a:avLst/>
          </a:prstGeom>
          <a:noFill/>
          <a:ln w="7620">
            <a:solidFill>
              <a:srgbClr val="DFE7ED"/>
            </a:solidFill>
            <a:prstDash val="solid"/>
          </a:ln>
        </p:spPr>
      </p:sp>
      <p:sp>
        <p:nvSpPr>
          <p:cNvPr id="100" name="Shape 98"/>
          <p:cNvSpPr/>
          <p:nvPr/>
        </p:nvSpPr>
        <p:spPr>
          <a:xfrm flipV="1">
            <a:off x="2852928" y="3511296"/>
            <a:ext cx="1783080" cy="1097280"/>
          </a:xfrm>
          <a:prstGeom prst="line">
            <a:avLst/>
          </a:prstGeom>
          <a:noFill/>
          <a:ln w="7620">
            <a:solidFill>
              <a:srgbClr val="DFE7ED"/>
            </a:solidFill>
            <a:prstDash val="solid"/>
          </a:ln>
        </p:spPr>
      </p:sp>
      <p:sp>
        <p:nvSpPr>
          <p:cNvPr id="101" name="Shape 99"/>
          <p:cNvSpPr/>
          <p:nvPr/>
        </p:nvSpPr>
        <p:spPr>
          <a:xfrm flipV="1">
            <a:off x="2852928" y="3877056"/>
            <a:ext cx="1783080" cy="731520"/>
          </a:xfrm>
          <a:prstGeom prst="line">
            <a:avLst/>
          </a:prstGeom>
          <a:noFill/>
          <a:ln w="7620">
            <a:solidFill>
              <a:srgbClr val="DFE7ED"/>
            </a:solidFill>
            <a:prstDash val="solid"/>
          </a:ln>
        </p:spPr>
      </p:sp>
      <p:sp>
        <p:nvSpPr>
          <p:cNvPr id="102" name="Shape 100"/>
          <p:cNvSpPr/>
          <p:nvPr/>
        </p:nvSpPr>
        <p:spPr>
          <a:xfrm flipV="1">
            <a:off x="2852928" y="4242816"/>
            <a:ext cx="1783080" cy="365760"/>
          </a:xfrm>
          <a:prstGeom prst="line">
            <a:avLst/>
          </a:prstGeom>
          <a:noFill/>
          <a:ln w="7620">
            <a:solidFill>
              <a:srgbClr val="DFE7ED"/>
            </a:solidFill>
            <a:prstDash val="solid"/>
          </a:ln>
        </p:spPr>
      </p:sp>
      <p:sp>
        <p:nvSpPr>
          <p:cNvPr id="103" name="Shape 101"/>
          <p:cNvSpPr/>
          <p:nvPr/>
        </p:nvSpPr>
        <p:spPr>
          <a:xfrm>
            <a:off x="4636008" y="2414016"/>
            <a:ext cx="1783080" cy="548640"/>
          </a:xfrm>
          <a:prstGeom prst="line">
            <a:avLst/>
          </a:prstGeom>
          <a:noFill/>
          <a:ln w="7620">
            <a:solidFill>
              <a:srgbClr val="DFE7ED"/>
            </a:solidFill>
            <a:prstDash val="solid"/>
          </a:ln>
        </p:spPr>
      </p:sp>
      <p:sp>
        <p:nvSpPr>
          <p:cNvPr id="104" name="Shape 102"/>
          <p:cNvSpPr/>
          <p:nvPr/>
        </p:nvSpPr>
        <p:spPr>
          <a:xfrm>
            <a:off x="4636008" y="2414016"/>
            <a:ext cx="1783080" cy="914400"/>
          </a:xfrm>
          <a:prstGeom prst="line">
            <a:avLst/>
          </a:prstGeom>
          <a:noFill/>
          <a:ln w="7620">
            <a:solidFill>
              <a:srgbClr val="DFE7ED"/>
            </a:solidFill>
            <a:prstDash val="solid"/>
          </a:ln>
        </p:spPr>
      </p:sp>
      <p:sp>
        <p:nvSpPr>
          <p:cNvPr id="105" name="Shape 103"/>
          <p:cNvSpPr/>
          <p:nvPr/>
        </p:nvSpPr>
        <p:spPr>
          <a:xfrm>
            <a:off x="4636008" y="2414016"/>
            <a:ext cx="1783080" cy="1280160"/>
          </a:xfrm>
          <a:prstGeom prst="line">
            <a:avLst/>
          </a:prstGeom>
          <a:noFill/>
          <a:ln w="7620">
            <a:solidFill>
              <a:srgbClr val="DFE7ED"/>
            </a:solidFill>
            <a:prstDash val="solid"/>
          </a:ln>
        </p:spPr>
      </p:sp>
      <p:sp>
        <p:nvSpPr>
          <p:cNvPr id="106" name="Shape 104"/>
          <p:cNvSpPr/>
          <p:nvPr/>
        </p:nvSpPr>
        <p:spPr>
          <a:xfrm>
            <a:off x="4636008" y="2779776"/>
            <a:ext cx="1783080" cy="182880"/>
          </a:xfrm>
          <a:prstGeom prst="line">
            <a:avLst/>
          </a:prstGeom>
          <a:noFill/>
          <a:ln w="7620">
            <a:solidFill>
              <a:srgbClr val="DFE7ED"/>
            </a:solidFill>
            <a:prstDash val="solid"/>
          </a:ln>
        </p:spPr>
      </p:sp>
      <p:sp>
        <p:nvSpPr>
          <p:cNvPr id="107" name="Shape 105"/>
          <p:cNvSpPr/>
          <p:nvPr/>
        </p:nvSpPr>
        <p:spPr>
          <a:xfrm>
            <a:off x="4636008" y="2779776"/>
            <a:ext cx="1783080" cy="548640"/>
          </a:xfrm>
          <a:prstGeom prst="line">
            <a:avLst/>
          </a:prstGeom>
          <a:noFill/>
          <a:ln w="7620">
            <a:solidFill>
              <a:srgbClr val="DFE7ED"/>
            </a:solidFill>
            <a:prstDash val="solid"/>
          </a:ln>
        </p:spPr>
      </p:sp>
      <p:sp>
        <p:nvSpPr>
          <p:cNvPr id="108" name="Shape 106"/>
          <p:cNvSpPr/>
          <p:nvPr/>
        </p:nvSpPr>
        <p:spPr>
          <a:xfrm>
            <a:off x="4636008" y="2779776"/>
            <a:ext cx="1783080" cy="914400"/>
          </a:xfrm>
          <a:prstGeom prst="line">
            <a:avLst/>
          </a:prstGeom>
          <a:noFill/>
          <a:ln w="7620">
            <a:solidFill>
              <a:srgbClr val="DFE7ED"/>
            </a:solidFill>
            <a:prstDash val="solid"/>
          </a:ln>
        </p:spPr>
      </p:sp>
      <p:sp>
        <p:nvSpPr>
          <p:cNvPr id="109" name="Shape 107"/>
          <p:cNvSpPr/>
          <p:nvPr/>
        </p:nvSpPr>
        <p:spPr>
          <a:xfrm flipV="1">
            <a:off x="4636008" y="2962656"/>
            <a:ext cx="1783080" cy="182880"/>
          </a:xfrm>
          <a:prstGeom prst="line">
            <a:avLst/>
          </a:prstGeom>
          <a:noFill/>
          <a:ln w="7620">
            <a:solidFill>
              <a:srgbClr val="DFE7ED"/>
            </a:solidFill>
            <a:prstDash val="solid"/>
          </a:ln>
        </p:spPr>
      </p:sp>
      <p:sp>
        <p:nvSpPr>
          <p:cNvPr id="110" name="Shape 108"/>
          <p:cNvSpPr/>
          <p:nvPr/>
        </p:nvSpPr>
        <p:spPr>
          <a:xfrm>
            <a:off x="4636008" y="3145536"/>
            <a:ext cx="1783080" cy="182880"/>
          </a:xfrm>
          <a:prstGeom prst="line">
            <a:avLst/>
          </a:prstGeom>
          <a:noFill/>
          <a:ln w="7620">
            <a:solidFill>
              <a:srgbClr val="DFE7ED"/>
            </a:solidFill>
            <a:prstDash val="solid"/>
          </a:ln>
        </p:spPr>
      </p:sp>
      <p:sp>
        <p:nvSpPr>
          <p:cNvPr id="111" name="Shape 109"/>
          <p:cNvSpPr/>
          <p:nvPr/>
        </p:nvSpPr>
        <p:spPr>
          <a:xfrm>
            <a:off x="4636008" y="3145536"/>
            <a:ext cx="1783080" cy="548640"/>
          </a:xfrm>
          <a:prstGeom prst="line">
            <a:avLst/>
          </a:prstGeom>
          <a:noFill/>
          <a:ln w="7620">
            <a:solidFill>
              <a:srgbClr val="DFE7ED"/>
            </a:solidFill>
            <a:prstDash val="solid"/>
          </a:ln>
        </p:spPr>
      </p:sp>
      <p:sp>
        <p:nvSpPr>
          <p:cNvPr id="112" name="Shape 110"/>
          <p:cNvSpPr/>
          <p:nvPr/>
        </p:nvSpPr>
        <p:spPr>
          <a:xfrm flipV="1">
            <a:off x="4636008" y="2962656"/>
            <a:ext cx="1783080" cy="548640"/>
          </a:xfrm>
          <a:prstGeom prst="line">
            <a:avLst/>
          </a:prstGeom>
          <a:noFill/>
          <a:ln w="7620">
            <a:solidFill>
              <a:srgbClr val="DFE7ED"/>
            </a:solidFill>
            <a:prstDash val="solid"/>
          </a:ln>
        </p:spPr>
      </p:sp>
      <p:sp>
        <p:nvSpPr>
          <p:cNvPr id="113" name="Shape 111"/>
          <p:cNvSpPr/>
          <p:nvPr/>
        </p:nvSpPr>
        <p:spPr>
          <a:xfrm flipV="1">
            <a:off x="4636008" y="3328416"/>
            <a:ext cx="1783080" cy="182880"/>
          </a:xfrm>
          <a:prstGeom prst="line">
            <a:avLst/>
          </a:prstGeom>
          <a:noFill/>
          <a:ln w="7620">
            <a:solidFill>
              <a:srgbClr val="DFE7ED"/>
            </a:solidFill>
            <a:prstDash val="solid"/>
          </a:ln>
        </p:spPr>
      </p:sp>
      <p:sp>
        <p:nvSpPr>
          <p:cNvPr id="114" name="Shape 112"/>
          <p:cNvSpPr/>
          <p:nvPr/>
        </p:nvSpPr>
        <p:spPr>
          <a:xfrm>
            <a:off x="4636008" y="3511296"/>
            <a:ext cx="1783080" cy="182880"/>
          </a:xfrm>
          <a:prstGeom prst="line">
            <a:avLst/>
          </a:prstGeom>
          <a:noFill/>
          <a:ln w="7620">
            <a:solidFill>
              <a:srgbClr val="DFE7ED"/>
            </a:solidFill>
            <a:prstDash val="solid"/>
          </a:ln>
        </p:spPr>
      </p:sp>
      <p:sp>
        <p:nvSpPr>
          <p:cNvPr id="115" name="Shape 113"/>
          <p:cNvSpPr/>
          <p:nvPr/>
        </p:nvSpPr>
        <p:spPr>
          <a:xfrm flipV="1">
            <a:off x="4636008" y="2962656"/>
            <a:ext cx="1783080" cy="914400"/>
          </a:xfrm>
          <a:prstGeom prst="line">
            <a:avLst/>
          </a:prstGeom>
          <a:noFill/>
          <a:ln w="7620">
            <a:solidFill>
              <a:srgbClr val="DFE7ED"/>
            </a:solidFill>
            <a:prstDash val="solid"/>
          </a:ln>
        </p:spPr>
      </p:sp>
      <p:sp>
        <p:nvSpPr>
          <p:cNvPr id="116" name="Shape 114"/>
          <p:cNvSpPr/>
          <p:nvPr/>
        </p:nvSpPr>
        <p:spPr>
          <a:xfrm flipV="1">
            <a:off x="4636008" y="3328416"/>
            <a:ext cx="1783080" cy="548640"/>
          </a:xfrm>
          <a:prstGeom prst="line">
            <a:avLst/>
          </a:prstGeom>
          <a:noFill/>
          <a:ln w="7620">
            <a:solidFill>
              <a:srgbClr val="DFE7ED"/>
            </a:solidFill>
            <a:prstDash val="solid"/>
          </a:ln>
        </p:spPr>
      </p:sp>
      <p:sp>
        <p:nvSpPr>
          <p:cNvPr id="117" name="Shape 115"/>
          <p:cNvSpPr/>
          <p:nvPr/>
        </p:nvSpPr>
        <p:spPr>
          <a:xfrm flipV="1">
            <a:off x="4636008" y="3694176"/>
            <a:ext cx="1783080" cy="182880"/>
          </a:xfrm>
          <a:prstGeom prst="line">
            <a:avLst/>
          </a:prstGeom>
          <a:noFill/>
          <a:ln w="7620">
            <a:solidFill>
              <a:srgbClr val="DFE7ED"/>
            </a:solidFill>
            <a:prstDash val="solid"/>
          </a:ln>
        </p:spPr>
      </p:sp>
      <p:sp>
        <p:nvSpPr>
          <p:cNvPr id="118" name="Shape 116"/>
          <p:cNvSpPr/>
          <p:nvPr/>
        </p:nvSpPr>
        <p:spPr>
          <a:xfrm flipV="1">
            <a:off x="4636008" y="2962656"/>
            <a:ext cx="1783080" cy="1280160"/>
          </a:xfrm>
          <a:prstGeom prst="line">
            <a:avLst/>
          </a:prstGeom>
          <a:noFill/>
          <a:ln w="7620">
            <a:solidFill>
              <a:srgbClr val="DFE7ED"/>
            </a:solidFill>
            <a:prstDash val="solid"/>
          </a:ln>
        </p:spPr>
      </p:sp>
      <p:sp>
        <p:nvSpPr>
          <p:cNvPr id="119" name="Shape 117"/>
          <p:cNvSpPr/>
          <p:nvPr/>
        </p:nvSpPr>
        <p:spPr>
          <a:xfrm flipV="1">
            <a:off x="4636008" y="3328416"/>
            <a:ext cx="1783080" cy="914400"/>
          </a:xfrm>
          <a:prstGeom prst="line">
            <a:avLst/>
          </a:prstGeom>
          <a:noFill/>
          <a:ln w="7620">
            <a:solidFill>
              <a:srgbClr val="DFE7ED"/>
            </a:solidFill>
            <a:prstDash val="solid"/>
          </a:ln>
        </p:spPr>
      </p:sp>
      <p:sp>
        <p:nvSpPr>
          <p:cNvPr id="120" name="Shape 118"/>
          <p:cNvSpPr/>
          <p:nvPr/>
        </p:nvSpPr>
        <p:spPr>
          <a:xfrm flipV="1">
            <a:off x="4636008" y="3694176"/>
            <a:ext cx="1783080" cy="548640"/>
          </a:xfrm>
          <a:prstGeom prst="line">
            <a:avLst/>
          </a:prstGeom>
          <a:noFill/>
          <a:ln w="7620">
            <a:solidFill>
              <a:srgbClr val="DFE7ED"/>
            </a:solidFill>
            <a:prstDash val="solid"/>
          </a:ln>
        </p:spPr>
      </p:sp>
      <p:sp>
        <p:nvSpPr>
          <p:cNvPr id="121" name="Shape 119"/>
          <p:cNvSpPr/>
          <p:nvPr/>
        </p:nvSpPr>
        <p:spPr>
          <a:xfrm>
            <a:off x="964692" y="2308860"/>
            <a:ext cx="210312" cy="210312"/>
          </a:xfrm>
          <a:prstGeom prst="ellipse">
            <a:avLst/>
          </a:prstGeom>
          <a:solidFill>
            <a:srgbClr val="11707F"/>
          </a:solidFill>
          <a:ln w="12700">
            <a:solidFill>
              <a:srgbClr val="FFFFFF"/>
            </a:solidFill>
            <a:prstDash val="solid"/>
          </a:ln>
        </p:spPr>
      </p:sp>
      <p:sp>
        <p:nvSpPr>
          <p:cNvPr id="122" name="Shape 120"/>
          <p:cNvSpPr/>
          <p:nvPr/>
        </p:nvSpPr>
        <p:spPr>
          <a:xfrm>
            <a:off x="964692" y="2674620"/>
            <a:ext cx="210312" cy="210312"/>
          </a:xfrm>
          <a:prstGeom prst="ellipse">
            <a:avLst/>
          </a:prstGeom>
          <a:solidFill>
            <a:srgbClr val="11707F"/>
          </a:solidFill>
          <a:ln w="12700">
            <a:solidFill>
              <a:srgbClr val="FFFFFF"/>
            </a:solidFill>
            <a:prstDash val="solid"/>
          </a:ln>
        </p:spPr>
      </p:sp>
      <p:sp>
        <p:nvSpPr>
          <p:cNvPr id="123" name="Shape 121"/>
          <p:cNvSpPr/>
          <p:nvPr/>
        </p:nvSpPr>
        <p:spPr>
          <a:xfrm>
            <a:off x="964692" y="3040380"/>
            <a:ext cx="210312" cy="210312"/>
          </a:xfrm>
          <a:prstGeom prst="ellipse">
            <a:avLst/>
          </a:prstGeom>
          <a:solidFill>
            <a:srgbClr val="11707F"/>
          </a:solidFill>
          <a:ln w="12700">
            <a:solidFill>
              <a:srgbClr val="FFFFFF"/>
            </a:solidFill>
            <a:prstDash val="solid"/>
          </a:ln>
        </p:spPr>
      </p:sp>
      <p:sp>
        <p:nvSpPr>
          <p:cNvPr id="124" name="Shape 122"/>
          <p:cNvSpPr/>
          <p:nvPr/>
        </p:nvSpPr>
        <p:spPr>
          <a:xfrm>
            <a:off x="964692" y="3406140"/>
            <a:ext cx="210312" cy="210312"/>
          </a:xfrm>
          <a:prstGeom prst="ellipse">
            <a:avLst/>
          </a:prstGeom>
          <a:solidFill>
            <a:srgbClr val="11707F"/>
          </a:solidFill>
          <a:ln w="12700">
            <a:solidFill>
              <a:srgbClr val="FFFFFF"/>
            </a:solidFill>
            <a:prstDash val="solid"/>
          </a:ln>
        </p:spPr>
      </p:sp>
      <p:sp>
        <p:nvSpPr>
          <p:cNvPr id="125" name="Shape 123"/>
          <p:cNvSpPr/>
          <p:nvPr/>
        </p:nvSpPr>
        <p:spPr>
          <a:xfrm>
            <a:off x="964692" y="3771900"/>
            <a:ext cx="210312" cy="210312"/>
          </a:xfrm>
          <a:prstGeom prst="ellipse">
            <a:avLst/>
          </a:prstGeom>
          <a:solidFill>
            <a:srgbClr val="11707F"/>
          </a:solidFill>
          <a:ln w="12700">
            <a:solidFill>
              <a:srgbClr val="FFFFFF"/>
            </a:solidFill>
            <a:prstDash val="solid"/>
          </a:ln>
        </p:spPr>
      </p:sp>
      <p:sp>
        <p:nvSpPr>
          <p:cNvPr id="126" name="Shape 124"/>
          <p:cNvSpPr/>
          <p:nvPr/>
        </p:nvSpPr>
        <p:spPr>
          <a:xfrm>
            <a:off x="964692" y="4137660"/>
            <a:ext cx="210312" cy="210312"/>
          </a:xfrm>
          <a:prstGeom prst="ellipse">
            <a:avLst/>
          </a:prstGeom>
          <a:solidFill>
            <a:srgbClr val="11707F"/>
          </a:solidFill>
          <a:ln w="12700">
            <a:solidFill>
              <a:srgbClr val="FFFFFF"/>
            </a:solidFill>
            <a:prstDash val="solid"/>
          </a:ln>
        </p:spPr>
      </p:sp>
      <p:sp>
        <p:nvSpPr>
          <p:cNvPr id="127" name="Text 125"/>
          <p:cNvSpPr/>
          <p:nvPr/>
        </p:nvSpPr>
        <p:spPr>
          <a:xfrm>
            <a:off x="566928" y="4846320"/>
            <a:ext cx="1783080" cy="237744"/>
          </a:xfrm>
          <a:prstGeom prst="rect">
            <a:avLst/>
          </a:prstGeom>
          <a:noFill/>
          <a:ln/>
        </p:spPr>
        <p:txBody>
          <a:bodyPr wrap="square" lIns="0" tIns="0" rIns="0" bIns="0" rtlCol="0" anchor="ctr"/>
          <a:lstStyle/>
          <a:p>
            <a:pPr algn="ctr" indent="0" marL="0">
              <a:buNone/>
            </a:pPr>
            <a:r>
              <a:rPr lang="en-US" sz="1050" b="1" dirty="0">
                <a:solidFill>
                  <a:srgbClr val="1C2530"/>
                </a:solidFill>
                <a:latin typeface="Calibri" pitchFamily="34" charset="0"/>
                <a:ea typeface="Calibri" pitchFamily="34" charset="-122"/>
                <a:cs typeface="Calibri" pitchFamily="34" charset="-120"/>
              </a:rPr>
              <a:t>Inputs</a:t>
            </a:r>
            <a:endParaRPr lang="en-US" sz="1050" dirty="0"/>
          </a:p>
        </p:txBody>
      </p:sp>
      <p:sp>
        <p:nvSpPr>
          <p:cNvPr id="128" name="Text 126"/>
          <p:cNvSpPr/>
          <p:nvPr/>
        </p:nvSpPr>
        <p:spPr>
          <a:xfrm>
            <a:off x="566928" y="5084064"/>
            <a:ext cx="1435608" cy="530352"/>
          </a:xfrm>
          <a:prstGeom prst="rect">
            <a:avLst/>
          </a:prstGeom>
          <a:noFill/>
          <a:ln/>
        </p:spPr>
        <p:txBody>
          <a:bodyPr wrap="square" lIns="0" tIns="0" rIns="0" bIns="0" rtlCol="0" anchor="t"/>
          <a:lstStyle/>
          <a:p>
            <a:pPr algn="ctr" indent="0" marL="0">
              <a:buNone/>
            </a:pPr>
            <a:r>
              <a:rPr lang="en-US" sz="780" dirty="0">
                <a:solidFill>
                  <a:srgbClr val="5C6B7A"/>
                </a:solidFill>
                <a:latin typeface="Calibri" pitchFamily="34" charset="0"/>
                <a:ea typeface="Calibri" pitchFamily="34" charset="-122"/>
                <a:cs typeface="Calibri" pitchFamily="34" charset="-120"/>
              </a:rPr>
              <a:t>Plant tags: load, O₂, mill combination, burner tilt, coal GCV, ambient</a:t>
            </a:r>
            <a:endParaRPr lang="en-US" sz="780" dirty="0"/>
          </a:p>
        </p:txBody>
      </p:sp>
      <p:sp>
        <p:nvSpPr>
          <p:cNvPr id="129" name="Shape 127"/>
          <p:cNvSpPr/>
          <p:nvPr/>
        </p:nvSpPr>
        <p:spPr>
          <a:xfrm>
            <a:off x="2747772" y="1943100"/>
            <a:ext cx="210312" cy="210312"/>
          </a:xfrm>
          <a:prstGeom prst="ellipse">
            <a:avLst/>
          </a:prstGeom>
          <a:solidFill>
            <a:srgbClr val="D96A16"/>
          </a:solidFill>
          <a:ln w="12700">
            <a:solidFill>
              <a:srgbClr val="FFFFFF"/>
            </a:solidFill>
            <a:prstDash val="solid"/>
          </a:ln>
        </p:spPr>
      </p:sp>
      <p:sp>
        <p:nvSpPr>
          <p:cNvPr id="130" name="Shape 128"/>
          <p:cNvSpPr/>
          <p:nvPr/>
        </p:nvSpPr>
        <p:spPr>
          <a:xfrm>
            <a:off x="2747772" y="2308860"/>
            <a:ext cx="210312" cy="210312"/>
          </a:xfrm>
          <a:prstGeom prst="ellipse">
            <a:avLst/>
          </a:prstGeom>
          <a:solidFill>
            <a:srgbClr val="D96A16"/>
          </a:solidFill>
          <a:ln w="12700">
            <a:solidFill>
              <a:srgbClr val="FFFFFF"/>
            </a:solidFill>
            <a:prstDash val="solid"/>
          </a:ln>
        </p:spPr>
      </p:sp>
      <p:sp>
        <p:nvSpPr>
          <p:cNvPr id="131" name="Shape 129"/>
          <p:cNvSpPr/>
          <p:nvPr/>
        </p:nvSpPr>
        <p:spPr>
          <a:xfrm>
            <a:off x="2747772" y="2674620"/>
            <a:ext cx="210312" cy="210312"/>
          </a:xfrm>
          <a:prstGeom prst="ellipse">
            <a:avLst/>
          </a:prstGeom>
          <a:solidFill>
            <a:srgbClr val="D96A16"/>
          </a:solidFill>
          <a:ln w="12700">
            <a:solidFill>
              <a:srgbClr val="FFFFFF"/>
            </a:solidFill>
            <a:prstDash val="solid"/>
          </a:ln>
        </p:spPr>
      </p:sp>
      <p:sp>
        <p:nvSpPr>
          <p:cNvPr id="132" name="Shape 130"/>
          <p:cNvSpPr/>
          <p:nvPr/>
        </p:nvSpPr>
        <p:spPr>
          <a:xfrm>
            <a:off x="2747772" y="3040380"/>
            <a:ext cx="210312" cy="210312"/>
          </a:xfrm>
          <a:prstGeom prst="ellipse">
            <a:avLst/>
          </a:prstGeom>
          <a:solidFill>
            <a:srgbClr val="D96A16"/>
          </a:solidFill>
          <a:ln w="12700">
            <a:solidFill>
              <a:srgbClr val="FFFFFF"/>
            </a:solidFill>
            <a:prstDash val="solid"/>
          </a:ln>
        </p:spPr>
      </p:sp>
      <p:sp>
        <p:nvSpPr>
          <p:cNvPr id="133" name="Shape 131"/>
          <p:cNvSpPr/>
          <p:nvPr/>
        </p:nvSpPr>
        <p:spPr>
          <a:xfrm>
            <a:off x="2747772" y="3406140"/>
            <a:ext cx="210312" cy="210312"/>
          </a:xfrm>
          <a:prstGeom prst="ellipse">
            <a:avLst/>
          </a:prstGeom>
          <a:solidFill>
            <a:srgbClr val="D96A16"/>
          </a:solidFill>
          <a:ln w="12700">
            <a:solidFill>
              <a:srgbClr val="FFFFFF"/>
            </a:solidFill>
            <a:prstDash val="solid"/>
          </a:ln>
        </p:spPr>
      </p:sp>
      <p:sp>
        <p:nvSpPr>
          <p:cNvPr id="134" name="Shape 132"/>
          <p:cNvSpPr/>
          <p:nvPr/>
        </p:nvSpPr>
        <p:spPr>
          <a:xfrm>
            <a:off x="2747772" y="3771900"/>
            <a:ext cx="210312" cy="210312"/>
          </a:xfrm>
          <a:prstGeom prst="ellipse">
            <a:avLst/>
          </a:prstGeom>
          <a:solidFill>
            <a:srgbClr val="D96A16"/>
          </a:solidFill>
          <a:ln w="12700">
            <a:solidFill>
              <a:srgbClr val="FFFFFF"/>
            </a:solidFill>
            <a:prstDash val="solid"/>
          </a:ln>
        </p:spPr>
      </p:sp>
      <p:sp>
        <p:nvSpPr>
          <p:cNvPr id="135" name="Shape 133"/>
          <p:cNvSpPr/>
          <p:nvPr/>
        </p:nvSpPr>
        <p:spPr>
          <a:xfrm>
            <a:off x="2747772" y="4137660"/>
            <a:ext cx="210312" cy="210312"/>
          </a:xfrm>
          <a:prstGeom prst="ellipse">
            <a:avLst/>
          </a:prstGeom>
          <a:solidFill>
            <a:srgbClr val="D96A16"/>
          </a:solidFill>
          <a:ln w="12700">
            <a:solidFill>
              <a:srgbClr val="FFFFFF"/>
            </a:solidFill>
            <a:prstDash val="solid"/>
          </a:ln>
        </p:spPr>
      </p:sp>
      <p:sp>
        <p:nvSpPr>
          <p:cNvPr id="136" name="Shape 134"/>
          <p:cNvSpPr/>
          <p:nvPr/>
        </p:nvSpPr>
        <p:spPr>
          <a:xfrm>
            <a:off x="2747772" y="4503420"/>
            <a:ext cx="210312" cy="210312"/>
          </a:xfrm>
          <a:prstGeom prst="ellipse">
            <a:avLst/>
          </a:prstGeom>
          <a:solidFill>
            <a:srgbClr val="D96A16"/>
          </a:solidFill>
          <a:ln w="12700">
            <a:solidFill>
              <a:srgbClr val="FFFFFF"/>
            </a:solidFill>
            <a:prstDash val="solid"/>
          </a:ln>
        </p:spPr>
      </p:sp>
      <p:sp>
        <p:nvSpPr>
          <p:cNvPr id="137" name="Text 135"/>
          <p:cNvSpPr/>
          <p:nvPr/>
        </p:nvSpPr>
        <p:spPr>
          <a:xfrm>
            <a:off x="1961388" y="4846320"/>
            <a:ext cx="1783080" cy="237744"/>
          </a:xfrm>
          <a:prstGeom prst="rect">
            <a:avLst/>
          </a:prstGeom>
          <a:noFill/>
          <a:ln/>
        </p:spPr>
        <p:txBody>
          <a:bodyPr wrap="square" lIns="0" tIns="0" rIns="0" bIns="0" rtlCol="0" anchor="ctr"/>
          <a:lstStyle/>
          <a:p>
            <a:pPr algn="ctr" indent="0" marL="0">
              <a:buNone/>
            </a:pPr>
            <a:r>
              <a:rPr lang="en-US" sz="1050" b="1" dirty="0">
                <a:solidFill>
                  <a:srgbClr val="1C2530"/>
                </a:solidFill>
                <a:latin typeface="Calibri" pitchFamily="34" charset="0"/>
                <a:ea typeface="Calibri" pitchFamily="34" charset="-122"/>
                <a:cs typeface="Calibri" pitchFamily="34" charset="-120"/>
              </a:rPr>
              <a:t>Hidden layer 1</a:t>
            </a:r>
            <a:endParaRPr lang="en-US" sz="1050" dirty="0"/>
          </a:p>
        </p:txBody>
      </p:sp>
      <p:sp>
        <p:nvSpPr>
          <p:cNvPr id="138" name="Text 136"/>
          <p:cNvSpPr/>
          <p:nvPr/>
        </p:nvSpPr>
        <p:spPr>
          <a:xfrm>
            <a:off x="2135124" y="5084064"/>
            <a:ext cx="1435608" cy="530352"/>
          </a:xfrm>
          <a:prstGeom prst="rect">
            <a:avLst/>
          </a:prstGeom>
          <a:noFill/>
          <a:ln/>
        </p:spPr>
        <p:txBody>
          <a:bodyPr wrap="square" lIns="0" tIns="0" rIns="0" bIns="0" rtlCol="0" anchor="t"/>
          <a:lstStyle/>
          <a:p>
            <a:pPr algn="ctr" indent="0" marL="0">
              <a:buNone/>
            </a:pPr>
            <a:r>
              <a:rPr lang="en-US" sz="780" dirty="0">
                <a:solidFill>
                  <a:srgbClr val="5C6B7A"/>
                </a:solidFill>
                <a:latin typeface="Calibri" pitchFamily="34" charset="0"/>
                <a:ea typeface="Calibri" pitchFamily="34" charset="-122"/>
                <a:cs typeface="Calibri" pitchFamily="34" charset="-120"/>
              </a:rPr>
              <a:t>Each node forms a weighted combination of the inputs, then applies a simple non-linear bend</a:t>
            </a:r>
            <a:endParaRPr lang="en-US" sz="780" dirty="0"/>
          </a:p>
        </p:txBody>
      </p:sp>
      <p:sp>
        <p:nvSpPr>
          <p:cNvPr id="139" name="Shape 137"/>
          <p:cNvSpPr/>
          <p:nvPr/>
        </p:nvSpPr>
        <p:spPr>
          <a:xfrm>
            <a:off x="4530852" y="2308860"/>
            <a:ext cx="210312" cy="210312"/>
          </a:xfrm>
          <a:prstGeom prst="ellipse">
            <a:avLst/>
          </a:prstGeom>
          <a:solidFill>
            <a:srgbClr val="D96A16"/>
          </a:solidFill>
          <a:ln w="12700">
            <a:solidFill>
              <a:srgbClr val="FFFFFF"/>
            </a:solidFill>
            <a:prstDash val="solid"/>
          </a:ln>
        </p:spPr>
      </p:sp>
      <p:sp>
        <p:nvSpPr>
          <p:cNvPr id="140" name="Shape 138"/>
          <p:cNvSpPr/>
          <p:nvPr/>
        </p:nvSpPr>
        <p:spPr>
          <a:xfrm>
            <a:off x="4530852" y="2674620"/>
            <a:ext cx="210312" cy="210312"/>
          </a:xfrm>
          <a:prstGeom prst="ellipse">
            <a:avLst/>
          </a:prstGeom>
          <a:solidFill>
            <a:srgbClr val="D96A16"/>
          </a:solidFill>
          <a:ln w="12700">
            <a:solidFill>
              <a:srgbClr val="FFFFFF"/>
            </a:solidFill>
            <a:prstDash val="solid"/>
          </a:ln>
        </p:spPr>
      </p:sp>
      <p:sp>
        <p:nvSpPr>
          <p:cNvPr id="141" name="Shape 139"/>
          <p:cNvSpPr/>
          <p:nvPr/>
        </p:nvSpPr>
        <p:spPr>
          <a:xfrm>
            <a:off x="4530852" y="3040380"/>
            <a:ext cx="210312" cy="210312"/>
          </a:xfrm>
          <a:prstGeom prst="ellipse">
            <a:avLst/>
          </a:prstGeom>
          <a:solidFill>
            <a:srgbClr val="D96A16"/>
          </a:solidFill>
          <a:ln w="12700">
            <a:solidFill>
              <a:srgbClr val="FFFFFF"/>
            </a:solidFill>
            <a:prstDash val="solid"/>
          </a:ln>
        </p:spPr>
      </p:sp>
      <p:sp>
        <p:nvSpPr>
          <p:cNvPr id="142" name="Shape 140"/>
          <p:cNvSpPr/>
          <p:nvPr/>
        </p:nvSpPr>
        <p:spPr>
          <a:xfrm>
            <a:off x="4530852" y="3406140"/>
            <a:ext cx="210312" cy="210312"/>
          </a:xfrm>
          <a:prstGeom prst="ellipse">
            <a:avLst/>
          </a:prstGeom>
          <a:solidFill>
            <a:srgbClr val="D96A16"/>
          </a:solidFill>
          <a:ln w="12700">
            <a:solidFill>
              <a:srgbClr val="FFFFFF"/>
            </a:solidFill>
            <a:prstDash val="solid"/>
          </a:ln>
        </p:spPr>
      </p:sp>
      <p:sp>
        <p:nvSpPr>
          <p:cNvPr id="143" name="Shape 141"/>
          <p:cNvSpPr/>
          <p:nvPr/>
        </p:nvSpPr>
        <p:spPr>
          <a:xfrm>
            <a:off x="4530852" y="3771900"/>
            <a:ext cx="210312" cy="210312"/>
          </a:xfrm>
          <a:prstGeom prst="ellipse">
            <a:avLst/>
          </a:prstGeom>
          <a:solidFill>
            <a:srgbClr val="D96A16"/>
          </a:solidFill>
          <a:ln w="12700">
            <a:solidFill>
              <a:srgbClr val="FFFFFF"/>
            </a:solidFill>
            <a:prstDash val="solid"/>
          </a:ln>
        </p:spPr>
      </p:sp>
      <p:sp>
        <p:nvSpPr>
          <p:cNvPr id="144" name="Shape 142"/>
          <p:cNvSpPr/>
          <p:nvPr/>
        </p:nvSpPr>
        <p:spPr>
          <a:xfrm>
            <a:off x="4530852" y="4137660"/>
            <a:ext cx="210312" cy="210312"/>
          </a:xfrm>
          <a:prstGeom prst="ellipse">
            <a:avLst/>
          </a:prstGeom>
          <a:solidFill>
            <a:srgbClr val="D96A16"/>
          </a:solidFill>
          <a:ln w="12700">
            <a:solidFill>
              <a:srgbClr val="FFFFFF"/>
            </a:solidFill>
            <a:prstDash val="solid"/>
          </a:ln>
        </p:spPr>
      </p:sp>
      <p:sp>
        <p:nvSpPr>
          <p:cNvPr id="145" name="Text 143"/>
          <p:cNvSpPr/>
          <p:nvPr/>
        </p:nvSpPr>
        <p:spPr>
          <a:xfrm>
            <a:off x="3744468" y="4846320"/>
            <a:ext cx="1783080" cy="237744"/>
          </a:xfrm>
          <a:prstGeom prst="rect">
            <a:avLst/>
          </a:prstGeom>
          <a:noFill/>
          <a:ln/>
        </p:spPr>
        <p:txBody>
          <a:bodyPr wrap="square" lIns="0" tIns="0" rIns="0" bIns="0" rtlCol="0" anchor="ctr"/>
          <a:lstStyle/>
          <a:p>
            <a:pPr algn="ctr" indent="0" marL="0">
              <a:buNone/>
            </a:pPr>
            <a:r>
              <a:rPr lang="en-US" sz="1050" b="1" dirty="0">
                <a:solidFill>
                  <a:srgbClr val="1C2530"/>
                </a:solidFill>
                <a:latin typeface="Calibri" pitchFamily="34" charset="0"/>
                <a:ea typeface="Calibri" pitchFamily="34" charset="-122"/>
                <a:cs typeface="Calibri" pitchFamily="34" charset="-120"/>
              </a:rPr>
              <a:t>Hidden layer 2</a:t>
            </a:r>
            <a:endParaRPr lang="en-US" sz="1050" dirty="0"/>
          </a:p>
        </p:txBody>
      </p:sp>
      <p:sp>
        <p:nvSpPr>
          <p:cNvPr id="146" name="Text 144"/>
          <p:cNvSpPr/>
          <p:nvPr/>
        </p:nvSpPr>
        <p:spPr>
          <a:xfrm>
            <a:off x="3918204" y="5084064"/>
            <a:ext cx="1435608" cy="530352"/>
          </a:xfrm>
          <a:prstGeom prst="rect">
            <a:avLst/>
          </a:prstGeom>
          <a:noFill/>
          <a:ln/>
        </p:spPr>
        <p:txBody>
          <a:bodyPr wrap="square" lIns="0" tIns="0" rIns="0" bIns="0" rtlCol="0" anchor="t"/>
          <a:lstStyle/>
          <a:p>
            <a:pPr algn="ctr" indent="0" marL="0">
              <a:buNone/>
            </a:pPr>
            <a:r>
              <a:rPr lang="en-US" sz="780" dirty="0">
                <a:solidFill>
                  <a:srgbClr val="5C6B7A"/>
                </a:solidFill>
                <a:latin typeface="Calibri" pitchFamily="34" charset="0"/>
                <a:ea typeface="Calibri" pitchFamily="34" charset="-122"/>
                <a:cs typeface="Calibri" pitchFamily="34" charset="-120"/>
              </a:rPr>
              <a:t>Combinations of combinations — this is where interactions between variables get represented</a:t>
            </a:r>
            <a:endParaRPr lang="en-US" sz="780" dirty="0"/>
          </a:p>
        </p:txBody>
      </p:sp>
      <p:sp>
        <p:nvSpPr>
          <p:cNvPr id="147" name="Shape 145"/>
          <p:cNvSpPr/>
          <p:nvPr/>
        </p:nvSpPr>
        <p:spPr>
          <a:xfrm>
            <a:off x="6313932" y="2857500"/>
            <a:ext cx="210312" cy="210312"/>
          </a:xfrm>
          <a:prstGeom prst="ellipse">
            <a:avLst/>
          </a:prstGeom>
          <a:solidFill>
            <a:srgbClr val="2A3644"/>
          </a:solidFill>
          <a:ln w="12700">
            <a:solidFill>
              <a:srgbClr val="FFFFFF"/>
            </a:solidFill>
            <a:prstDash val="solid"/>
          </a:ln>
        </p:spPr>
      </p:sp>
      <p:sp>
        <p:nvSpPr>
          <p:cNvPr id="148" name="Shape 146"/>
          <p:cNvSpPr/>
          <p:nvPr/>
        </p:nvSpPr>
        <p:spPr>
          <a:xfrm>
            <a:off x="6313932" y="3223260"/>
            <a:ext cx="210312" cy="210312"/>
          </a:xfrm>
          <a:prstGeom prst="ellipse">
            <a:avLst/>
          </a:prstGeom>
          <a:solidFill>
            <a:srgbClr val="2A3644"/>
          </a:solidFill>
          <a:ln w="12700">
            <a:solidFill>
              <a:srgbClr val="FFFFFF"/>
            </a:solidFill>
            <a:prstDash val="solid"/>
          </a:ln>
        </p:spPr>
      </p:sp>
      <p:sp>
        <p:nvSpPr>
          <p:cNvPr id="149" name="Shape 147"/>
          <p:cNvSpPr/>
          <p:nvPr/>
        </p:nvSpPr>
        <p:spPr>
          <a:xfrm>
            <a:off x="6313932" y="3589020"/>
            <a:ext cx="210312" cy="210312"/>
          </a:xfrm>
          <a:prstGeom prst="ellipse">
            <a:avLst/>
          </a:prstGeom>
          <a:solidFill>
            <a:srgbClr val="2A3644"/>
          </a:solidFill>
          <a:ln w="12700">
            <a:solidFill>
              <a:srgbClr val="FFFFFF"/>
            </a:solidFill>
            <a:prstDash val="solid"/>
          </a:ln>
        </p:spPr>
      </p:sp>
      <p:sp>
        <p:nvSpPr>
          <p:cNvPr id="150" name="Text 148"/>
          <p:cNvSpPr/>
          <p:nvPr/>
        </p:nvSpPr>
        <p:spPr>
          <a:xfrm>
            <a:off x="5527548" y="4846320"/>
            <a:ext cx="1783080" cy="237744"/>
          </a:xfrm>
          <a:prstGeom prst="rect">
            <a:avLst/>
          </a:prstGeom>
          <a:noFill/>
          <a:ln/>
        </p:spPr>
        <p:txBody>
          <a:bodyPr wrap="square" lIns="0" tIns="0" rIns="0" bIns="0" rtlCol="0" anchor="ctr"/>
          <a:lstStyle/>
          <a:p>
            <a:pPr algn="ctr" indent="0" marL="0">
              <a:buNone/>
            </a:pPr>
            <a:r>
              <a:rPr lang="en-US" sz="1050" b="1" dirty="0">
                <a:solidFill>
                  <a:srgbClr val="1C2530"/>
                </a:solidFill>
                <a:latin typeface="Calibri" pitchFamily="34" charset="0"/>
                <a:ea typeface="Calibri" pitchFamily="34" charset="-122"/>
                <a:cs typeface="Calibri" pitchFamily="34" charset="-120"/>
              </a:rPr>
              <a:t>Outputs</a:t>
            </a:r>
            <a:endParaRPr lang="en-US" sz="1050" dirty="0"/>
          </a:p>
        </p:txBody>
      </p:sp>
      <p:sp>
        <p:nvSpPr>
          <p:cNvPr id="151" name="Text 149"/>
          <p:cNvSpPr/>
          <p:nvPr/>
        </p:nvSpPr>
        <p:spPr>
          <a:xfrm>
            <a:off x="5701284" y="5084064"/>
            <a:ext cx="1435608" cy="530352"/>
          </a:xfrm>
          <a:prstGeom prst="rect">
            <a:avLst/>
          </a:prstGeom>
          <a:noFill/>
          <a:ln/>
        </p:spPr>
        <p:txBody>
          <a:bodyPr wrap="square" lIns="0" tIns="0" rIns="0" bIns="0" rtlCol="0" anchor="t"/>
          <a:lstStyle/>
          <a:p>
            <a:pPr algn="ctr" indent="0" marL="0">
              <a:buNone/>
            </a:pPr>
            <a:r>
              <a:rPr lang="en-US" sz="780" dirty="0">
                <a:solidFill>
                  <a:srgbClr val="5C6B7A"/>
                </a:solidFill>
                <a:latin typeface="Calibri" pitchFamily="34" charset="0"/>
                <a:ea typeface="Calibri" pitchFamily="34" charset="-122"/>
                <a:cs typeface="Calibri" pitchFamily="34" charset="-120"/>
              </a:rPr>
              <a:t>NOx, unburnt carbon, heat rate</a:t>
            </a:r>
            <a:endParaRPr lang="en-US" sz="780" dirty="0"/>
          </a:p>
        </p:txBody>
      </p:sp>
      <p:sp>
        <p:nvSpPr>
          <p:cNvPr id="152" name="Shape 150"/>
          <p:cNvSpPr/>
          <p:nvPr/>
        </p:nvSpPr>
        <p:spPr>
          <a:xfrm>
            <a:off x="7287768" y="1627632"/>
            <a:ext cx="4336999" cy="3950208"/>
          </a:xfrm>
          <a:prstGeom prst="roundRect">
            <a:avLst>
              <a:gd name="adj" fmla="val 1389"/>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53" name="Shape 151"/>
          <p:cNvSpPr/>
          <p:nvPr/>
        </p:nvSpPr>
        <p:spPr>
          <a:xfrm>
            <a:off x="7287768" y="1627632"/>
            <a:ext cx="4336999" cy="457200"/>
          </a:xfrm>
          <a:prstGeom prst="roundRect">
            <a:avLst>
              <a:gd name="adj" fmla="val 10000"/>
            </a:avLst>
          </a:prstGeom>
          <a:solidFill>
            <a:srgbClr val="2A3644"/>
          </a:solidFill>
          <a:ln/>
        </p:spPr>
      </p:sp>
      <p:sp>
        <p:nvSpPr>
          <p:cNvPr id="154" name="Text 152"/>
          <p:cNvSpPr/>
          <p:nvPr/>
        </p:nvSpPr>
        <p:spPr>
          <a:xfrm>
            <a:off x="7488936" y="1627632"/>
            <a:ext cx="3934663"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What is actually happening</a:t>
            </a:r>
            <a:endParaRPr lang="en-US" sz="1350" dirty="0"/>
          </a:p>
        </p:txBody>
      </p:sp>
      <p:sp>
        <p:nvSpPr>
          <p:cNvPr id="155" name="Text 153"/>
          <p:cNvSpPr/>
          <p:nvPr/>
        </p:nvSpPr>
        <p:spPr>
          <a:xfrm>
            <a:off x="7525512" y="2231136"/>
            <a:ext cx="3861511" cy="320040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A 'weight' is just a multiplier the machine adjusts. Training means nudging every weight, thousands of times, until the predicted outputs match history.</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The non-linear bend at each node is what lets the network represent a curve rather than a straight line. Without it the whole network collapses to simple linear regression.</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Nothing inside is a physical quantity. The hidden nodes do not correspond to anything you can point at in the boiler — which is exactly why explainability tools matter.</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For most plant process data a network this small is enough. Deep networks with millions of weights are for images, sound and language, not for forty tags.</a:t>
            </a:r>
            <a:endParaRPr lang="en-US" sz="1050" dirty="0"/>
          </a:p>
        </p:txBody>
      </p:sp>
      <p:sp>
        <p:nvSpPr>
          <p:cNvPr id="156" name="Shape 154"/>
          <p:cNvSpPr/>
          <p:nvPr/>
        </p:nvSpPr>
        <p:spPr>
          <a:xfrm>
            <a:off x="566928" y="5705856"/>
            <a:ext cx="11057839" cy="548640"/>
          </a:xfrm>
          <a:prstGeom prst="roundRect">
            <a:avLst>
              <a:gd name="adj" fmla="val 8333"/>
            </a:avLst>
          </a:prstGeom>
          <a:solidFill>
            <a:srgbClr val="FCEDE0"/>
          </a:solidFill>
          <a:ln w="12700">
            <a:solidFill>
              <a:srgbClr val="D96A16"/>
            </a:solidFill>
            <a:prstDash val="solid"/>
          </a:ln>
        </p:spPr>
      </p:sp>
      <p:sp>
        <p:nvSpPr>
          <p:cNvPr id="157" name="Text 155"/>
          <p:cNvSpPr/>
          <p:nvPr/>
        </p:nvSpPr>
        <p:spPr>
          <a:xfrm>
            <a:off x="768096" y="5705856"/>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A neural network is a very flexible curve fitted to your history. Its power and its danger are the same thing: it will fit anything you give it, including nonsense.</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Training, validation, and the cardinal sin</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How you know a model works before you ask an operator to trust it</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1. AI fundamentals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14</a:t>
            </a:r>
            <a:endParaRPr lang="en-US" sz="950" dirty="0"/>
          </a:p>
        </p:txBody>
      </p:sp>
      <p:sp>
        <p:nvSpPr>
          <p:cNvPr id="7" name="Shape 5"/>
          <p:cNvSpPr/>
          <p:nvPr/>
        </p:nvSpPr>
        <p:spPr>
          <a:xfrm>
            <a:off x="566928"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92808"/>
            <a:ext cx="137160" cy="137160"/>
          </a:xfrm>
          <a:prstGeom prst="ellipse">
            <a:avLst/>
          </a:prstGeom>
          <a:solidFill>
            <a:srgbClr val="D96A16"/>
          </a:solidFill>
          <a:ln/>
        </p:spPr>
      </p:sp>
      <p:sp>
        <p:nvSpPr>
          <p:cNvPr id="9" name="Text 7"/>
          <p:cNvSpPr/>
          <p:nvPr/>
        </p:nvSpPr>
        <p:spPr>
          <a:xfrm>
            <a:off x="969264" y="1792224"/>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Training data</a:t>
            </a:r>
            <a:endParaRPr lang="en-US" sz="1450" dirty="0"/>
          </a:p>
        </p:txBody>
      </p:sp>
      <p:sp>
        <p:nvSpPr>
          <p:cNvPr id="10" name="Text 8"/>
          <p:cNvSpPr/>
          <p:nvPr/>
        </p:nvSpPr>
        <p:spPr>
          <a:xfrm>
            <a:off x="768096" y="2203704"/>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The period the model learns from. Known-good running, wide enough to cover every load, season and fuel the unit actually sees.</a:t>
            </a:r>
            <a:endParaRPr lang="en-US" sz="1200" dirty="0"/>
          </a:p>
        </p:txBody>
      </p:sp>
      <p:sp>
        <p:nvSpPr>
          <p:cNvPr id="11" name="Shape 9"/>
          <p:cNvSpPr/>
          <p:nvPr/>
        </p:nvSpPr>
        <p:spPr>
          <a:xfrm>
            <a:off x="6205576"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388456" y="1892808"/>
            <a:ext cx="137160" cy="137160"/>
          </a:xfrm>
          <a:prstGeom prst="ellipse">
            <a:avLst/>
          </a:prstGeom>
          <a:solidFill>
            <a:srgbClr val="D96A16"/>
          </a:solidFill>
          <a:ln/>
        </p:spPr>
      </p:sp>
      <p:sp>
        <p:nvSpPr>
          <p:cNvPr id="13" name="Text 11"/>
          <p:cNvSpPr/>
          <p:nvPr/>
        </p:nvSpPr>
        <p:spPr>
          <a:xfrm>
            <a:off x="6607912" y="1792224"/>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Validation data</a:t>
            </a:r>
            <a:endParaRPr lang="en-US" sz="1450" dirty="0"/>
          </a:p>
        </p:txBody>
      </p:sp>
      <p:sp>
        <p:nvSpPr>
          <p:cNvPr id="14" name="Text 12"/>
          <p:cNvSpPr/>
          <p:nvPr/>
        </p:nvSpPr>
        <p:spPr>
          <a:xfrm>
            <a:off x="6406744" y="2203704"/>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A period the model has never seen. If it performs here it has learned the machine. If not, it has memorised the training set.</a:t>
            </a:r>
            <a:endParaRPr lang="en-US" sz="1200" dirty="0"/>
          </a:p>
        </p:txBody>
      </p:sp>
      <p:sp>
        <p:nvSpPr>
          <p:cNvPr id="15" name="Shape 13"/>
          <p:cNvSpPr/>
          <p:nvPr/>
        </p:nvSpPr>
        <p:spPr>
          <a:xfrm>
            <a:off x="566928"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749808" y="3895344"/>
            <a:ext cx="137160" cy="137160"/>
          </a:xfrm>
          <a:prstGeom prst="ellipse">
            <a:avLst/>
          </a:prstGeom>
          <a:solidFill>
            <a:srgbClr val="D96A16"/>
          </a:solidFill>
          <a:ln/>
        </p:spPr>
      </p:sp>
      <p:sp>
        <p:nvSpPr>
          <p:cNvPr id="17" name="Text 15"/>
          <p:cNvSpPr/>
          <p:nvPr/>
        </p:nvSpPr>
        <p:spPr>
          <a:xfrm>
            <a:off x="969264"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The cardinal sin</a:t>
            </a:r>
            <a:endParaRPr lang="en-US" sz="1450" dirty="0"/>
          </a:p>
        </p:txBody>
      </p:sp>
      <p:sp>
        <p:nvSpPr>
          <p:cNvPr id="18" name="Text 16"/>
          <p:cNvSpPr/>
          <p:nvPr/>
        </p:nvSpPr>
        <p:spPr>
          <a:xfrm>
            <a:off x="768096"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Judging a model on data it was trained on. It will look magnificent and fail in week one. Almost every inflated vendor claim starts here.</a:t>
            </a:r>
            <a:endParaRPr lang="en-US" sz="1200" dirty="0"/>
          </a:p>
        </p:txBody>
      </p:sp>
      <p:sp>
        <p:nvSpPr>
          <p:cNvPr id="19" name="Shape 17"/>
          <p:cNvSpPr/>
          <p:nvPr/>
        </p:nvSpPr>
        <p:spPr>
          <a:xfrm>
            <a:off x="6205576"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6388456" y="3895344"/>
            <a:ext cx="137160" cy="137160"/>
          </a:xfrm>
          <a:prstGeom prst="ellipse">
            <a:avLst/>
          </a:prstGeom>
          <a:solidFill>
            <a:srgbClr val="D96A16"/>
          </a:solidFill>
          <a:ln/>
        </p:spPr>
      </p:sp>
      <p:sp>
        <p:nvSpPr>
          <p:cNvPr id="21" name="Text 19"/>
          <p:cNvSpPr/>
          <p:nvPr/>
        </p:nvSpPr>
        <p:spPr>
          <a:xfrm>
            <a:off x="6607912"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Time-based split, never random</a:t>
            </a:r>
            <a:endParaRPr lang="en-US" sz="1450" dirty="0"/>
          </a:p>
        </p:txBody>
      </p:sp>
      <p:sp>
        <p:nvSpPr>
          <p:cNvPr id="22" name="Text 20"/>
          <p:cNvSpPr/>
          <p:nvPr/>
        </p:nvSpPr>
        <p:spPr>
          <a:xfrm>
            <a:off x="6406744"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Plant data is correlated minute to minute. A random split leaks the future into the past. Train January to September, test October onwards.</a:t>
            </a:r>
            <a:endParaRPr lang="en-US" sz="1200" dirty="0"/>
          </a:p>
        </p:txBody>
      </p:sp>
      <p:sp>
        <p:nvSpPr>
          <p:cNvPr id="23" name="Shape 21"/>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24" name="Text 22"/>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Ask any vendor one question: what period was the model tested on, and had it seen that period before?</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Overfitting, explained physically</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difference between a model that learned the machine and one that learned last year</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1. AI fundamentals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15</a:t>
            </a:r>
            <a:endParaRPr lang="en-US" sz="950" dirty="0"/>
          </a:p>
        </p:txBody>
      </p:sp>
      <p:sp>
        <p:nvSpPr>
          <p:cNvPr id="7" name="Shape 5"/>
          <p:cNvSpPr/>
          <p:nvPr/>
        </p:nvSpPr>
        <p:spPr>
          <a:xfrm>
            <a:off x="566928" y="1627632"/>
            <a:ext cx="5382616" cy="3886200"/>
          </a:xfrm>
          <a:prstGeom prst="roundRect">
            <a:avLst>
              <a:gd name="adj" fmla="val 141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841248" y="1847088"/>
            <a:ext cx="4833976" cy="292608"/>
          </a:xfrm>
          <a:prstGeom prst="rect">
            <a:avLst/>
          </a:prstGeom>
          <a:noFill/>
          <a:ln/>
        </p:spPr>
        <p:txBody>
          <a:bodyPr wrap="square" lIns="0" tIns="0" rIns="0" bIns="0" rtlCol="0" anchor="ctr"/>
          <a:lstStyle/>
          <a:p>
            <a:pPr indent="0" marL="0">
              <a:buNone/>
            </a:pPr>
            <a:r>
              <a:rPr lang="en-US" sz="1150" b="1" spc="120" kern="0" dirty="0">
                <a:solidFill>
                  <a:srgbClr val="3B4A5A"/>
                </a:solidFill>
                <a:latin typeface="Calibri" pitchFamily="34" charset="0"/>
                <a:ea typeface="Calibri" pitchFamily="34" charset="-122"/>
                <a:cs typeface="Calibri" pitchFamily="34" charset="-120"/>
              </a:rPr>
              <a:t>A MODEL THAT MEMORISED</a:t>
            </a:r>
            <a:endParaRPr lang="en-US" sz="1150" dirty="0"/>
          </a:p>
        </p:txBody>
      </p:sp>
      <p:sp>
        <p:nvSpPr>
          <p:cNvPr id="9" name="Text 7"/>
          <p:cNvSpPr/>
          <p:nvPr/>
        </p:nvSpPr>
        <p:spPr>
          <a:xfrm>
            <a:off x="841248" y="2176272"/>
            <a:ext cx="4833976" cy="1170432"/>
          </a:xfrm>
          <a:prstGeom prst="rect">
            <a:avLst/>
          </a:prstGeom>
          <a:noFill/>
          <a:ln/>
        </p:spPr>
        <p:txBody>
          <a:bodyPr wrap="square" lIns="0" tIns="0" rIns="0" bIns="0" rtlCol="0" anchor="t"/>
          <a:lstStyle/>
          <a:p>
            <a:pPr indent="0" marL="0">
              <a:buNone/>
            </a:pPr>
            <a:r>
              <a:rPr lang="en-US" sz="2700" b="1" dirty="0">
                <a:solidFill>
                  <a:srgbClr val="1C2530"/>
                </a:solidFill>
                <a:latin typeface="Cambria" pitchFamily="34" charset="0"/>
                <a:ea typeface="Cambria" pitchFamily="34" charset="-122"/>
                <a:cs typeface="Cambria" pitchFamily="34" charset="-120"/>
              </a:rPr>
              <a:t>It learned last year's noise</a:t>
            </a:r>
            <a:endParaRPr lang="en-US" sz="2700" dirty="0"/>
          </a:p>
        </p:txBody>
      </p:sp>
      <p:sp>
        <p:nvSpPr>
          <p:cNvPr id="10" name="Text 8"/>
          <p:cNvSpPr/>
          <p:nvPr/>
        </p:nvSpPr>
        <p:spPr>
          <a:xfrm>
            <a:off x="841248" y="3547872"/>
            <a:ext cx="4833976" cy="1856232"/>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It reproduces the training period almost perfectly, including the transmitter drift, the odd monsoon fortnight and the month one mill was out. Show it this year and it flags normal running as abnormal, while missing the real drift entirely.</a:t>
            </a:r>
            <a:endParaRPr lang="en-US" sz="1350" dirty="0"/>
          </a:p>
        </p:txBody>
      </p:sp>
      <p:sp>
        <p:nvSpPr>
          <p:cNvPr id="11" name="Shape 9"/>
          <p:cNvSpPr/>
          <p:nvPr/>
        </p:nvSpPr>
        <p:spPr>
          <a:xfrm>
            <a:off x="6242152" y="1627632"/>
            <a:ext cx="5382616" cy="3886200"/>
          </a:xfrm>
          <a:prstGeom prst="roundRect">
            <a:avLst>
              <a:gd name="adj" fmla="val 1412"/>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10"/>
          <p:cNvSpPr/>
          <p:nvPr/>
        </p:nvSpPr>
        <p:spPr>
          <a:xfrm>
            <a:off x="6516472" y="1847088"/>
            <a:ext cx="4833976" cy="292608"/>
          </a:xfrm>
          <a:prstGeom prst="rect">
            <a:avLst/>
          </a:prstGeom>
          <a:noFill/>
          <a:ln/>
        </p:spPr>
        <p:txBody>
          <a:bodyPr wrap="square" lIns="0" tIns="0" rIns="0" bIns="0" rtlCol="0" anchor="ctr"/>
          <a:lstStyle/>
          <a:p>
            <a:pPr indent="0" marL="0">
              <a:buNone/>
            </a:pPr>
            <a:r>
              <a:rPr lang="en-US" sz="1150" b="1" spc="120" kern="0" dirty="0">
                <a:solidFill>
                  <a:srgbClr val="D96A16"/>
                </a:solidFill>
                <a:latin typeface="Calibri" pitchFamily="34" charset="0"/>
                <a:ea typeface="Calibri" pitchFamily="34" charset="-122"/>
                <a:cs typeface="Calibri" pitchFamily="34" charset="-120"/>
              </a:rPr>
              <a:t>A MODEL THAT GENERALISED</a:t>
            </a:r>
            <a:endParaRPr lang="en-US" sz="1150" dirty="0"/>
          </a:p>
        </p:txBody>
      </p:sp>
      <p:sp>
        <p:nvSpPr>
          <p:cNvPr id="13" name="Text 11"/>
          <p:cNvSpPr/>
          <p:nvPr/>
        </p:nvSpPr>
        <p:spPr>
          <a:xfrm>
            <a:off x="6516472" y="2176272"/>
            <a:ext cx="4833976" cy="1170432"/>
          </a:xfrm>
          <a:prstGeom prst="rect">
            <a:avLst/>
          </a:prstGeom>
          <a:noFill/>
          <a:ln/>
        </p:spPr>
        <p:txBody>
          <a:bodyPr wrap="square" lIns="0" tIns="0" rIns="0" bIns="0" rtlCol="0" anchor="t"/>
          <a:lstStyle/>
          <a:p>
            <a:pPr indent="0" marL="0">
              <a:buNone/>
            </a:pPr>
            <a:r>
              <a:rPr lang="en-US" sz="2700" b="1" dirty="0">
                <a:solidFill>
                  <a:srgbClr val="1C2530"/>
                </a:solidFill>
                <a:latin typeface="Cambria" pitchFamily="34" charset="0"/>
                <a:ea typeface="Cambria" pitchFamily="34" charset="-122"/>
                <a:cs typeface="Cambria" pitchFamily="34" charset="-120"/>
              </a:rPr>
              <a:t>It learned how the machine behaves</a:t>
            </a:r>
            <a:endParaRPr lang="en-US" sz="2700" dirty="0"/>
          </a:p>
        </p:txBody>
      </p:sp>
      <p:sp>
        <p:nvSpPr>
          <p:cNvPr id="14" name="Text 12"/>
          <p:cNvSpPr/>
          <p:nvPr/>
        </p:nvSpPr>
        <p:spPr>
          <a:xfrm>
            <a:off x="6516472" y="3547872"/>
            <a:ext cx="4833976" cy="1856232"/>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Slightly worse on the training period, and far better on data it has never seen. It survives a coal change, an overhaul and a season it was not trained on, because it learned the relationship rather than the record.</a:t>
            </a:r>
            <a:endParaRPr lang="en-US" sz="1350" dirty="0"/>
          </a:p>
        </p:txBody>
      </p:sp>
      <p:sp>
        <p:nvSpPr>
          <p:cNvPr id="15" name="Shape 13"/>
          <p:cNvSpPr/>
          <p:nvPr/>
        </p:nvSpPr>
        <p:spPr>
          <a:xfrm>
            <a:off x="566928" y="56967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6967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A model that fits history perfectly has learned history, not the machine. Suspicion, not admiration, is the correct response.</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Judging a model the way an operator will</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metric on the vendor's slide is not the metric that decides whether it survives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1. AI fundamentals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16</a:t>
            </a:r>
            <a:endParaRPr lang="en-US" sz="950" dirty="0"/>
          </a:p>
        </p:txBody>
      </p:sp>
      <p:sp>
        <p:nvSpPr>
          <p:cNvPr id="7" name="Shape 5"/>
          <p:cNvSpPr/>
          <p:nvPr/>
        </p:nvSpPr>
        <p:spPr>
          <a:xfrm>
            <a:off x="566928" y="1627632"/>
            <a:ext cx="5400904" cy="512064"/>
          </a:xfrm>
          <a:prstGeom prst="roundRect">
            <a:avLst>
              <a:gd name="adj" fmla="val 8929"/>
            </a:avLst>
          </a:prstGeom>
          <a:solidFill>
            <a:srgbClr val="3B4A5A"/>
          </a:solidFill>
          <a:ln/>
        </p:spPr>
      </p:sp>
      <p:sp>
        <p:nvSpPr>
          <p:cNvPr id="8" name="Text 6"/>
          <p:cNvSpPr/>
          <p:nvPr/>
        </p:nvSpPr>
        <p:spPr>
          <a:xfrm>
            <a:off x="566928" y="1627632"/>
            <a:ext cx="540090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What the data scientist reports</a:t>
            </a:r>
            <a:endParaRPr lang="en-US" sz="1500" dirty="0"/>
          </a:p>
        </p:txBody>
      </p:sp>
      <p:sp>
        <p:nvSpPr>
          <p:cNvPr id="9" name="Shape 7"/>
          <p:cNvSpPr/>
          <p:nvPr/>
        </p:nvSpPr>
        <p:spPr>
          <a:xfrm>
            <a:off x="6223864" y="1627632"/>
            <a:ext cx="5400904" cy="512064"/>
          </a:xfrm>
          <a:prstGeom prst="roundRect">
            <a:avLst>
              <a:gd name="adj" fmla="val 8929"/>
            </a:avLst>
          </a:prstGeom>
          <a:solidFill>
            <a:srgbClr val="11707F"/>
          </a:solidFill>
          <a:ln/>
        </p:spPr>
      </p:sp>
      <p:sp>
        <p:nvSpPr>
          <p:cNvPr id="10" name="Text 8"/>
          <p:cNvSpPr/>
          <p:nvPr/>
        </p:nvSpPr>
        <p:spPr>
          <a:xfrm>
            <a:off x="6223864" y="1627632"/>
            <a:ext cx="540090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What the shift engineer actually asks</a:t>
            </a:r>
            <a:endParaRPr lang="en-US" sz="1500" dirty="0"/>
          </a:p>
        </p:txBody>
      </p:sp>
      <p:sp>
        <p:nvSpPr>
          <p:cNvPr id="11" name="Shape 9"/>
          <p:cNvSpPr/>
          <p:nvPr/>
        </p:nvSpPr>
        <p:spPr>
          <a:xfrm>
            <a:off x="566928" y="2231136"/>
            <a:ext cx="5400904" cy="467868"/>
          </a:xfrm>
          <a:prstGeom prst="roundRect">
            <a:avLst>
              <a:gd name="adj" fmla="val 1172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223864" y="2231136"/>
            <a:ext cx="5400904" cy="467868"/>
          </a:xfrm>
          <a:prstGeom prst="roundRect">
            <a:avLst>
              <a:gd name="adj" fmla="val 1172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Text 11"/>
          <p:cNvSpPr/>
          <p:nvPr/>
        </p:nvSpPr>
        <p:spPr>
          <a:xfrm>
            <a:off x="749808" y="223113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R² of 0.98 on the test set</a:t>
            </a:r>
            <a:endParaRPr lang="en-US" sz="1250" dirty="0"/>
          </a:p>
        </p:txBody>
      </p:sp>
      <p:sp>
        <p:nvSpPr>
          <p:cNvPr id="14" name="Text 12"/>
          <p:cNvSpPr/>
          <p:nvPr/>
        </p:nvSpPr>
        <p:spPr>
          <a:xfrm>
            <a:off x="6406744" y="223113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How many weeks of warning did it give?</a:t>
            </a:r>
            <a:endParaRPr lang="en-US" sz="1250" dirty="0"/>
          </a:p>
        </p:txBody>
      </p:sp>
      <p:sp>
        <p:nvSpPr>
          <p:cNvPr id="15" name="Shape 13"/>
          <p:cNvSpPr/>
          <p:nvPr/>
        </p:nvSpPr>
        <p:spPr>
          <a:xfrm>
            <a:off x="566928" y="2772156"/>
            <a:ext cx="5400904" cy="467868"/>
          </a:xfrm>
          <a:prstGeom prst="roundRect">
            <a:avLst>
              <a:gd name="adj" fmla="val 11726"/>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6223864" y="2772156"/>
            <a:ext cx="5400904" cy="467868"/>
          </a:xfrm>
          <a:prstGeom prst="roundRect">
            <a:avLst>
              <a:gd name="adj" fmla="val 11726"/>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7" name="Text 15"/>
          <p:cNvSpPr/>
          <p:nvPr/>
        </p:nvSpPr>
        <p:spPr>
          <a:xfrm>
            <a:off x="749808" y="277215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Root mean square error in degrees</a:t>
            </a:r>
            <a:endParaRPr lang="en-US" sz="1250" dirty="0"/>
          </a:p>
        </p:txBody>
      </p:sp>
      <p:sp>
        <p:nvSpPr>
          <p:cNvPr id="18" name="Text 16"/>
          <p:cNvSpPr/>
          <p:nvPr/>
        </p:nvSpPr>
        <p:spPr>
          <a:xfrm>
            <a:off x="6406744" y="277215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How many false alarms will I chase in a month?</a:t>
            </a:r>
            <a:endParaRPr lang="en-US" sz="1250" dirty="0"/>
          </a:p>
        </p:txBody>
      </p:sp>
      <p:sp>
        <p:nvSpPr>
          <p:cNvPr id="19" name="Shape 17"/>
          <p:cNvSpPr/>
          <p:nvPr/>
        </p:nvSpPr>
        <p:spPr>
          <a:xfrm>
            <a:off x="566928" y="3313176"/>
            <a:ext cx="5400904" cy="467868"/>
          </a:xfrm>
          <a:prstGeom prst="roundRect">
            <a:avLst>
              <a:gd name="adj" fmla="val 1172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6223864" y="3313176"/>
            <a:ext cx="5400904" cy="467868"/>
          </a:xfrm>
          <a:prstGeom prst="roundRect">
            <a:avLst>
              <a:gd name="adj" fmla="val 1172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1" name="Text 19"/>
          <p:cNvSpPr/>
          <p:nvPr/>
        </p:nvSpPr>
        <p:spPr>
          <a:xfrm>
            <a:off x="749808" y="331317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Model accuracy of 94 per cent</a:t>
            </a:r>
            <a:endParaRPr lang="en-US" sz="1250" dirty="0"/>
          </a:p>
        </p:txBody>
      </p:sp>
      <p:sp>
        <p:nvSpPr>
          <p:cNvPr id="22" name="Text 20"/>
          <p:cNvSpPr/>
          <p:nvPr/>
        </p:nvSpPr>
        <p:spPr>
          <a:xfrm>
            <a:off x="6406744" y="331317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When it fires, is there something to go and look at?</a:t>
            </a:r>
            <a:endParaRPr lang="en-US" sz="1250" dirty="0"/>
          </a:p>
        </p:txBody>
      </p:sp>
      <p:sp>
        <p:nvSpPr>
          <p:cNvPr id="23" name="Shape 21"/>
          <p:cNvSpPr/>
          <p:nvPr/>
        </p:nvSpPr>
        <p:spPr>
          <a:xfrm>
            <a:off x="566928" y="3854196"/>
            <a:ext cx="5400904" cy="467868"/>
          </a:xfrm>
          <a:prstGeom prst="roundRect">
            <a:avLst>
              <a:gd name="adj" fmla="val 11726"/>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4" name="Shape 22"/>
          <p:cNvSpPr/>
          <p:nvPr/>
        </p:nvSpPr>
        <p:spPr>
          <a:xfrm>
            <a:off x="6223864" y="3854196"/>
            <a:ext cx="5400904" cy="467868"/>
          </a:xfrm>
          <a:prstGeom prst="roundRect">
            <a:avLst>
              <a:gd name="adj" fmla="val 11726"/>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5" name="Text 23"/>
          <p:cNvSpPr/>
          <p:nvPr/>
        </p:nvSpPr>
        <p:spPr>
          <a:xfrm>
            <a:off x="749808" y="385419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Area under the curve</a:t>
            </a:r>
            <a:endParaRPr lang="en-US" sz="1250" dirty="0"/>
          </a:p>
        </p:txBody>
      </p:sp>
      <p:sp>
        <p:nvSpPr>
          <p:cNvPr id="26" name="Text 24"/>
          <p:cNvSpPr/>
          <p:nvPr/>
        </p:nvSpPr>
        <p:spPr>
          <a:xfrm>
            <a:off x="6406744" y="385419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Does it tell me which signal moved, and why?</a:t>
            </a:r>
            <a:endParaRPr lang="en-US" sz="1250" dirty="0"/>
          </a:p>
        </p:txBody>
      </p:sp>
      <p:sp>
        <p:nvSpPr>
          <p:cNvPr id="27" name="Shape 25"/>
          <p:cNvSpPr/>
          <p:nvPr/>
        </p:nvSpPr>
        <p:spPr>
          <a:xfrm>
            <a:off x="566928" y="4395216"/>
            <a:ext cx="5400904" cy="467868"/>
          </a:xfrm>
          <a:prstGeom prst="roundRect">
            <a:avLst>
              <a:gd name="adj" fmla="val 1172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Shape 26"/>
          <p:cNvSpPr/>
          <p:nvPr/>
        </p:nvSpPr>
        <p:spPr>
          <a:xfrm>
            <a:off x="6223864" y="4395216"/>
            <a:ext cx="5400904" cy="467868"/>
          </a:xfrm>
          <a:prstGeom prst="roundRect">
            <a:avLst>
              <a:gd name="adj" fmla="val 1172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9" name="Text 27"/>
          <p:cNvSpPr/>
          <p:nvPr/>
        </p:nvSpPr>
        <p:spPr>
          <a:xfrm>
            <a:off x="749808" y="439521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Trained on two years of data</a:t>
            </a:r>
            <a:endParaRPr lang="en-US" sz="1250" dirty="0"/>
          </a:p>
        </p:txBody>
      </p:sp>
      <p:sp>
        <p:nvSpPr>
          <p:cNvPr id="30" name="Text 28"/>
          <p:cNvSpPr/>
          <p:nvPr/>
        </p:nvSpPr>
        <p:spPr>
          <a:xfrm>
            <a:off x="6406744" y="439521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Is it still right after the overhaul?</a:t>
            </a:r>
            <a:endParaRPr lang="en-US" sz="1250" dirty="0"/>
          </a:p>
        </p:txBody>
      </p:sp>
      <p:sp>
        <p:nvSpPr>
          <p:cNvPr id="31" name="Shape 29"/>
          <p:cNvSpPr/>
          <p:nvPr/>
        </p:nvSpPr>
        <p:spPr>
          <a:xfrm>
            <a:off x="566928" y="4936236"/>
            <a:ext cx="5400904" cy="467868"/>
          </a:xfrm>
          <a:prstGeom prst="roundRect">
            <a:avLst>
              <a:gd name="adj" fmla="val 11726"/>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2" name="Shape 30"/>
          <p:cNvSpPr/>
          <p:nvPr/>
        </p:nvSpPr>
        <p:spPr>
          <a:xfrm>
            <a:off x="6223864" y="4936236"/>
            <a:ext cx="5400904" cy="467868"/>
          </a:xfrm>
          <a:prstGeom prst="roundRect">
            <a:avLst>
              <a:gd name="adj" fmla="val 11726"/>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3" name="Text 31"/>
          <p:cNvSpPr/>
          <p:nvPr/>
        </p:nvSpPr>
        <p:spPr>
          <a:xfrm>
            <a:off x="749808" y="4936236"/>
            <a:ext cx="5035144" cy="467868"/>
          </a:xfrm>
          <a:prstGeom prst="rect">
            <a:avLst/>
          </a:prstGeom>
          <a:noFill/>
          <a:ln/>
        </p:spPr>
        <p:txBody>
          <a:bodyPr wrap="square" lIns="0" tIns="0" rIns="0" bIns="0" rtlCol="0" anchor="ctr"/>
          <a:lstStyle/>
          <a:p>
            <a:pPr indent="0" marL="0">
              <a:buNone/>
            </a:pPr>
            <a:r>
              <a:rPr lang="en-US" sz="1250" b="1" dirty="0">
                <a:solidFill>
                  <a:srgbClr val="8A4310"/>
                </a:solidFill>
                <a:latin typeface="Calibri" pitchFamily="34" charset="0"/>
                <a:ea typeface="Calibri" pitchFamily="34" charset="-122"/>
                <a:cs typeface="Calibri" pitchFamily="34" charset="-120"/>
              </a:rPr>
              <a:t>A very good model nobody acts on</a:t>
            </a:r>
            <a:endParaRPr lang="en-US" sz="1250" dirty="0"/>
          </a:p>
        </p:txBody>
      </p:sp>
      <p:sp>
        <p:nvSpPr>
          <p:cNvPr id="34" name="Text 32"/>
          <p:cNvSpPr/>
          <p:nvPr/>
        </p:nvSpPr>
        <p:spPr>
          <a:xfrm>
            <a:off x="6406744" y="4936236"/>
            <a:ext cx="5035144" cy="467868"/>
          </a:xfrm>
          <a:prstGeom prst="rect">
            <a:avLst/>
          </a:prstGeom>
          <a:noFill/>
          <a:ln/>
        </p:spPr>
        <p:txBody>
          <a:bodyPr wrap="square" lIns="0" tIns="0" rIns="0" bIns="0" rtlCol="0" anchor="ctr"/>
          <a:lstStyle/>
          <a:p>
            <a:pPr indent="0" marL="0">
              <a:buNone/>
            </a:pPr>
            <a:r>
              <a:rPr lang="en-US" sz="1250" b="1" dirty="0">
                <a:solidFill>
                  <a:srgbClr val="8A4310"/>
                </a:solidFill>
                <a:latin typeface="Calibri" pitchFamily="34" charset="0"/>
                <a:ea typeface="Calibri" pitchFamily="34" charset="-122"/>
                <a:cs typeface="Calibri" pitchFamily="34" charset="-120"/>
              </a:rPr>
              <a:t>A merely adequate model that changed a decision</a:t>
            </a:r>
            <a:endParaRPr lang="en-US" sz="1250" dirty="0"/>
          </a:p>
        </p:txBody>
      </p:sp>
      <p:sp>
        <p:nvSpPr>
          <p:cNvPr id="35" name="Shape 33"/>
          <p:cNvSpPr/>
          <p:nvPr/>
        </p:nvSpPr>
        <p:spPr>
          <a:xfrm>
            <a:off x="566928" y="5678424"/>
            <a:ext cx="11057839" cy="548640"/>
          </a:xfrm>
          <a:prstGeom prst="roundRect">
            <a:avLst>
              <a:gd name="adj" fmla="val 8333"/>
            </a:avLst>
          </a:prstGeom>
          <a:solidFill>
            <a:srgbClr val="FCEDE0"/>
          </a:solidFill>
          <a:ln w="12700">
            <a:solidFill>
              <a:srgbClr val="D96A16"/>
            </a:solidFill>
            <a:prstDash val="solid"/>
          </a:ln>
        </p:spPr>
      </p:sp>
      <p:sp>
        <p:nvSpPr>
          <p:cNvPr id="36" name="Text 34"/>
          <p:cNvSpPr/>
          <p:nvPr/>
        </p:nvSpPr>
        <p:spPr>
          <a:xfrm>
            <a:off x="768096" y="5678424"/>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Lead time, false alarms per model-month, actionability. Those three decide adoption. R² decides nothing at all.</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What confidence means, and what it does not</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A number without an error bar is an opinion with a decimal point</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1. AI fundamentals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17</a:t>
            </a:r>
            <a:endParaRPr lang="en-US" sz="950" dirty="0"/>
          </a:p>
        </p:txBody>
      </p:sp>
      <p:sp>
        <p:nvSpPr>
          <p:cNvPr id="7" name="Shape 5"/>
          <p:cNvSpPr/>
          <p:nvPr/>
        </p:nvSpPr>
        <p:spPr>
          <a:xfrm>
            <a:off x="566928"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10512"/>
            <a:ext cx="137160" cy="137160"/>
          </a:xfrm>
          <a:prstGeom prst="ellipse">
            <a:avLst/>
          </a:prstGeom>
          <a:solidFill>
            <a:srgbClr val="D96A16"/>
          </a:solidFill>
          <a:ln/>
        </p:spPr>
      </p:sp>
      <p:sp>
        <p:nvSpPr>
          <p:cNvPr id="9" name="Text 7"/>
          <p:cNvSpPr/>
          <p:nvPr/>
        </p:nvSpPr>
        <p:spPr>
          <a:xfrm>
            <a:off x="969264" y="1709928"/>
            <a:ext cx="297271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Confidence is a range, not a promise</a:t>
            </a:r>
            <a:endParaRPr lang="en-US" sz="1450" dirty="0"/>
          </a:p>
        </p:txBody>
      </p:sp>
      <p:sp>
        <p:nvSpPr>
          <p:cNvPr id="10" name="Text 8"/>
          <p:cNvSpPr/>
          <p:nvPr/>
        </p:nvSpPr>
        <p:spPr>
          <a:xfrm>
            <a:off x="768096" y="2322576"/>
            <a:ext cx="3137306" cy="1042416"/>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A useful output says the bearing should be 68 °C plus or minus 1.5 °C. The range carries as much information as the number.</a:t>
            </a:r>
            <a:endParaRPr lang="en-US" sz="1200" dirty="0"/>
          </a:p>
        </p:txBody>
      </p:sp>
      <p:sp>
        <p:nvSpPr>
          <p:cNvPr id="11" name="Shape 9"/>
          <p:cNvSpPr/>
          <p:nvPr/>
        </p:nvSpPr>
        <p:spPr>
          <a:xfrm>
            <a:off x="4326026"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4508906" y="1810512"/>
            <a:ext cx="137160" cy="137160"/>
          </a:xfrm>
          <a:prstGeom prst="ellipse">
            <a:avLst/>
          </a:prstGeom>
          <a:solidFill>
            <a:srgbClr val="D96A16"/>
          </a:solidFill>
          <a:ln/>
        </p:spPr>
      </p:sp>
      <p:sp>
        <p:nvSpPr>
          <p:cNvPr id="13" name="Text 11"/>
          <p:cNvSpPr/>
          <p:nvPr/>
        </p:nvSpPr>
        <p:spPr>
          <a:xfrm>
            <a:off x="4728362" y="1709928"/>
            <a:ext cx="297271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Two very different uncertainties</a:t>
            </a:r>
            <a:endParaRPr lang="en-US" sz="1450" dirty="0"/>
          </a:p>
        </p:txBody>
      </p:sp>
      <p:sp>
        <p:nvSpPr>
          <p:cNvPr id="14" name="Text 12"/>
          <p:cNvSpPr/>
          <p:nvPr/>
        </p:nvSpPr>
        <p:spPr>
          <a:xfrm>
            <a:off x="4527194" y="2322576"/>
            <a:ext cx="3137306" cy="1042416"/>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The model is unsure because the data is noisy, or because it has never seen this operating point before. The second is far more dangerous.</a:t>
            </a:r>
            <a:endParaRPr lang="en-US" sz="1200" dirty="0"/>
          </a:p>
        </p:txBody>
      </p:sp>
      <p:sp>
        <p:nvSpPr>
          <p:cNvPr id="15" name="Shape 13"/>
          <p:cNvSpPr/>
          <p:nvPr/>
        </p:nvSpPr>
        <p:spPr>
          <a:xfrm>
            <a:off x="8085125"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8268005" y="1810512"/>
            <a:ext cx="137160" cy="137160"/>
          </a:xfrm>
          <a:prstGeom prst="ellipse">
            <a:avLst/>
          </a:prstGeom>
          <a:solidFill>
            <a:srgbClr val="D96A16"/>
          </a:solidFill>
          <a:ln/>
        </p:spPr>
      </p:sp>
      <p:sp>
        <p:nvSpPr>
          <p:cNvPr id="17" name="Text 15"/>
          <p:cNvSpPr/>
          <p:nvPr/>
        </p:nvSpPr>
        <p:spPr>
          <a:xfrm>
            <a:off x="8487461" y="1709928"/>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Calibration</a:t>
            </a:r>
            <a:endParaRPr lang="en-US" sz="1450" dirty="0"/>
          </a:p>
        </p:txBody>
      </p:sp>
      <p:sp>
        <p:nvSpPr>
          <p:cNvPr id="18" name="Text 16"/>
          <p:cNvSpPr/>
          <p:nvPr/>
        </p:nvSpPr>
        <p:spPr>
          <a:xfrm>
            <a:off x="8286293" y="2121408"/>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If a model says ninety per cent confident on a hundred occasions, roughly ninety should turn out right. Untested, that percentage means nothing.</a:t>
            </a:r>
            <a:endParaRPr lang="en-US" sz="1200" dirty="0"/>
          </a:p>
        </p:txBody>
      </p:sp>
      <p:sp>
        <p:nvSpPr>
          <p:cNvPr id="19" name="Shape 17"/>
          <p:cNvSpPr/>
          <p:nvPr/>
        </p:nvSpPr>
        <p:spPr>
          <a:xfrm>
            <a:off x="566928"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749808" y="3895344"/>
            <a:ext cx="137160" cy="137160"/>
          </a:xfrm>
          <a:prstGeom prst="ellipse">
            <a:avLst/>
          </a:prstGeom>
          <a:solidFill>
            <a:srgbClr val="D96A16"/>
          </a:solidFill>
          <a:ln/>
        </p:spPr>
      </p:sp>
      <p:sp>
        <p:nvSpPr>
          <p:cNvPr id="21" name="Text 19"/>
          <p:cNvSpPr/>
          <p:nvPr/>
        </p:nvSpPr>
        <p:spPr>
          <a:xfrm>
            <a:off x="969264" y="379476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Outside the training envelope</a:t>
            </a:r>
            <a:endParaRPr lang="en-US" sz="1450" dirty="0"/>
          </a:p>
        </p:txBody>
      </p:sp>
      <p:sp>
        <p:nvSpPr>
          <p:cNvPr id="22" name="Text 20"/>
          <p:cNvSpPr/>
          <p:nvPr/>
        </p:nvSpPr>
        <p:spPr>
          <a:xfrm>
            <a:off x="768096" y="4206240"/>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At a load, ambient or coal the model never saw, it will still produce an answer. It will be confident, and it will be wrong.</a:t>
            </a:r>
            <a:endParaRPr lang="en-US" sz="1200" dirty="0"/>
          </a:p>
        </p:txBody>
      </p:sp>
      <p:sp>
        <p:nvSpPr>
          <p:cNvPr id="23" name="Shape 21"/>
          <p:cNvSpPr/>
          <p:nvPr/>
        </p:nvSpPr>
        <p:spPr>
          <a:xfrm>
            <a:off x="4326026"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4" name="Shape 22"/>
          <p:cNvSpPr/>
          <p:nvPr/>
        </p:nvSpPr>
        <p:spPr>
          <a:xfrm>
            <a:off x="4508906" y="3895344"/>
            <a:ext cx="137160" cy="137160"/>
          </a:xfrm>
          <a:prstGeom prst="ellipse">
            <a:avLst/>
          </a:prstGeom>
          <a:solidFill>
            <a:srgbClr val="D96A16"/>
          </a:solidFill>
          <a:ln/>
        </p:spPr>
      </p:sp>
      <p:sp>
        <p:nvSpPr>
          <p:cNvPr id="25" name="Text 23"/>
          <p:cNvSpPr/>
          <p:nvPr/>
        </p:nvSpPr>
        <p:spPr>
          <a:xfrm>
            <a:off x="4728362" y="379476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Confidence is not correctness</a:t>
            </a:r>
            <a:endParaRPr lang="en-US" sz="1450" dirty="0"/>
          </a:p>
        </p:txBody>
      </p:sp>
      <p:sp>
        <p:nvSpPr>
          <p:cNvPr id="26" name="Text 24"/>
          <p:cNvSpPr/>
          <p:nvPr/>
        </p:nvSpPr>
        <p:spPr>
          <a:xfrm>
            <a:off x="4527194" y="4206240"/>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A generative model will state an invented clearance value with complete assurance. Assurance and accuracy are entirely unrelated quantities.</a:t>
            </a:r>
            <a:endParaRPr lang="en-US" sz="1200" dirty="0"/>
          </a:p>
        </p:txBody>
      </p:sp>
      <p:sp>
        <p:nvSpPr>
          <p:cNvPr id="27" name="Shape 25"/>
          <p:cNvSpPr/>
          <p:nvPr/>
        </p:nvSpPr>
        <p:spPr>
          <a:xfrm>
            <a:off x="8085125"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Shape 26"/>
          <p:cNvSpPr/>
          <p:nvPr/>
        </p:nvSpPr>
        <p:spPr>
          <a:xfrm>
            <a:off x="8268005" y="3895344"/>
            <a:ext cx="137160" cy="137160"/>
          </a:xfrm>
          <a:prstGeom prst="ellipse">
            <a:avLst/>
          </a:prstGeom>
          <a:solidFill>
            <a:srgbClr val="D96A16"/>
          </a:solidFill>
          <a:ln/>
        </p:spPr>
      </p:sp>
      <p:sp>
        <p:nvSpPr>
          <p:cNvPr id="29" name="Text 27"/>
          <p:cNvSpPr/>
          <p:nvPr/>
        </p:nvSpPr>
        <p:spPr>
          <a:xfrm>
            <a:off x="8487461" y="379476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What to demand</a:t>
            </a:r>
            <a:endParaRPr lang="en-US" sz="1450" dirty="0"/>
          </a:p>
        </p:txBody>
      </p:sp>
      <p:sp>
        <p:nvSpPr>
          <p:cNvPr id="30" name="Text 28"/>
          <p:cNvSpPr/>
          <p:nvPr/>
        </p:nvSpPr>
        <p:spPr>
          <a:xfrm>
            <a:off x="8286293" y="4206240"/>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Ask for the error band, the coverage of the training data, and the operating range where the vendor will not stand behind the output.</a:t>
            </a:r>
            <a:endParaRPr lang="en-US" sz="1200" dirty="0"/>
          </a:p>
        </p:txBody>
      </p:sp>
      <p:sp>
        <p:nvSpPr>
          <p:cNvPr id="31" name="Shape 29"/>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32" name="Text 30"/>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Any output arriving without an uncertainty attached is an opinion, however many decimal places it happens to carry.</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Explainability — an alert with its reasons attached</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No engineer acts on a number with no justification, and they are right not to</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1. AI fundamentals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18</a:t>
            </a:r>
            <a:endParaRPr lang="en-US" sz="950" dirty="0"/>
          </a:p>
        </p:txBody>
      </p:sp>
      <p:sp>
        <p:nvSpPr>
          <p:cNvPr id="7" name="Shape 5"/>
          <p:cNvSpPr/>
          <p:nvPr/>
        </p:nvSpPr>
        <p:spPr>
          <a:xfrm>
            <a:off x="1340968" y="1627632"/>
            <a:ext cx="9509760" cy="3886200"/>
          </a:xfrm>
          <a:prstGeom prst="roundRect">
            <a:avLst>
              <a:gd name="adj" fmla="val 1412"/>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1340968" y="1627632"/>
            <a:ext cx="9509760" cy="512064"/>
          </a:xfrm>
          <a:prstGeom prst="roundRect">
            <a:avLst>
              <a:gd name="adj" fmla="val 8929"/>
            </a:avLst>
          </a:prstGeom>
          <a:solidFill>
            <a:srgbClr val="1C2530"/>
          </a:solidFill>
          <a:ln/>
        </p:spPr>
      </p:sp>
      <p:sp>
        <p:nvSpPr>
          <p:cNvPr id="9" name="Text 7"/>
          <p:cNvSpPr/>
          <p:nvPr/>
        </p:nvSpPr>
        <p:spPr>
          <a:xfrm>
            <a:off x="1578712" y="1627632"/>
            <a:ext cx="9052560" cy="512064"/>
          </a:xfrm>
          <a:prstGeom prst="rect">
            <a:avLst/>
          </a:prstGeom>
          <a:noFill/>
          <a:ln/>
        </p:spPr>
        <p:txBody>
          <a:bodyPr wrap="square" lIns="0" tIns="0" rIns="0" bIns="0" rtlCol="0" anchor="ctr"/>
          <a:lstStyle/>
          <a:p>
            <a:pPr indent="0" marL="0">
              <a:buNone/>
            </a:pPr>
            <a:r>
              <a:rPr lang="en-US" sz="1300" b="1" dirty="0">
                <a:solidFill>
                  <a:srgbClr val="D96A16"/>
                </a:solidFill>
                <a:latin typeface="Courier New" pitchFamily="34" charset="0"/>
                <a:ea typeface="Courier New" pitchFamily="34" charset="-122"/>
                <a:cs typeface="Courier New" pitchFamily="34" charset="-120"/>
              </a:rPr>
              <a:t>Koradi Unit 9 · BFP 6B · Advisory · 06:40</a:t>
            </a:r>
            <a:endParaRPr lang="en-US" sz="1300" dirty="0"/>
          </a:p>
        </p:txBody>
      </p:sp>
      <p:sp>
        <p:nvSpPr>
          <p:cNvPr id="10" name="Shape 8"/>
          <p:cNvSpPr/>
          <p:nvPr/>
        </p:nvSpPr>
        <p:spPr>
          <a:xfrm>
            <a:off x="1487272" y="2231136"/>
            <a:ext cx="9217152" cy="483108"/>
          </a:xfrm>
          <a:prstGeom prst="rect">
            <a:avLst/>
          </a:prstGeom>
          <a:solidFill>
            <a:srgbClr val="E1EFF1"/>
          </a:solidFill>
          <a:ln w="12700">
            <a:solidFill>
              <a:srgbClr val="FFFFFF"/>
            </a:solidFill>
            <a:prstDash val="solid"/>
          </a:ln>
        </p:spPr>
      </p:sp>
      <p:sp>
        <p:nvSpPr>
          <p:cNvPr id="11" name="Shape 9"/>
          <p:cNvSpPr/>
          <p:nvPr/>
        </p:nvSpPr>
        <p:spPr>
          <a:xfrm>
            <a:off x="1633576" y="2408682"/>
            <a:ext cx="137160" cy="137160"/>
          </a:xfrm>
          <a:prstGeom prst="ellipse">
            <a:avLst/>
          </a:prstGeom>
          <a:solidFill>
            <a:srgbClr val="11707F"/>
          </a:solidFill>
          <a:ln/>
        </p:spPr>
      </p:sp>
      <p:sp>
        <p:nvSpPr>
          <p:cNvPr id="12" name="Text 10"/>
          <p:cNvSpPr/>
          <p:nvPr/>
        </p:nvSpPr>
        <p:spPr>
          <a:xfrm>
            <a:off x="1889608" y="2231136"/>
            <a:ext cx="2606040" cy="483108"/>
          </a:xfrm>
          <a:prstGeom prst="rect">
            <a:avLst/>
          </a:prstGeom>
          <a:noFill/>
          <a:ln/>
        </p:spPr>
        <p:txBody>
          <a:bodyPr wrap="square" lIns="0" tIns="0" rIns="0" bIns="0" rtlCol="0" anchor="ctr"/>
          <a:lstStyle/>
          <a:p>
            <a:pPr indent="0" marL="0">
              <a:buNone/>
            </a:pPr>
            <a:r>
              <a:rPr lang="en-US" sz="1250" b="1" dirty="0">
                <a:solidFill>
                  <a:srgbClr val="11707F"/>
                </a:solidFill>
                <a:latin typeface="Calibri" pitchFamily="34" charset="0"/>
                <a:ea typeface="Calibri" pitchFamily="34" charset="-122"/>
                <a:cs typeface="Calibri" pitchFamily="34" charset="-120"/>
              </a:rPr>
              <a:t>Signal</a:t>
            </a:r>
            <a:endParaRPr lang="en-US" sz="1250" dirty="0"/>
          </a:p>
        </p:txBody>
      </p:sp>
      <p:sp>
        <p:nvSpPr>
          <p:cNvPr id="13" name="Text 11"/>
          <p:cNvSpPr/>
          <p:nvPr/>
        </p:nvSpPr>
        <p:spPr>
          <a:xfrm>
            <a:off x="4541368" y="2231136"/>
            <a:ext cx="6080760" cy="48310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Bearing 2 temperature, drive end</a:t>
            </a:r>
            <a:endParaRPr lang="en-US" sz="1250" dirty="0"/>
          </a:p>
        </p:txBody>
      </p:sp>
      <p:sp>
        <p:nvSpPr>
          <p:cNvPr id="14" name="Shape 12"/>
          <p:cNvSpPr/>
          <p:nvPr/>
        </p:nvSpPr>
        <p:spPr>
          <a:xfrm>
            <a:off x="1487272" y="2769108"/>
            <a:ext cx="9217152" cy="483108"/>
          </a:xfrm>
          <a:prstGeom prst="rect">
            <a:avLst/>
          </a:prstGeom>
          <a:solidFill>
            <a:srgbClr val="FBF0DC"/>
          </a:solidFill>
          <a:ln w="12700">
            <a:solidFill>
              <a:srgbClr val="FFFFFF"/>
            </a:solidFill>
            <a:prstDash val="solid"/>
          </a:ln>
        </p:spPr>
      </p:sp>
      <p:sp>
        <p:nvSpPr>
          <p:cNvPr id="15" name="Shape 13"/>
          <p:cNvSpPr/>
          <p:nvPr/>
        </p:nvSpPr>
        <p:spPr>
          <a:xfrm>
            <a:off x="1633576" y="2946654"/>
            <a:ext cx="137160" cy="137160"/>
          </a:xfrm>
          <a:prstGeom prst="ellipse">
            <a:avLst/>
          </a:prstGeom>
          <a:solidFill>
            <a:srgbClr val="9A6408"/>
          </a:solidFill>
          <a:ln/>
        </p:spPr>
      </p:sp>
      <p:sp>
        <p:nvSpPr>
          <p:cNvPr id="16" name="Text 14"/>
          <p:cNvSpPr/>
          <p:nvPr/>
        </p:nvSpPr>
        <p:spPr>
          <a:xfrm>
            <a:off x="1889608" y="2769108"/>
            <a:ext cx="2606040" cy="483108"/>
          </a:xfrm>
          <a:prstGeom prst="rect">
            <a:avLst/>
          </a:prstGeom>
          <a:noFill/>
          <a:ln/>
        </p:spPr>
        <p:txBody>
          <a:bodyPr wrap="square" lIns="0" tIns="0" rIns="0" bIns="0" rtlCol="0" anchor="ctr"/>
          <a:lstStyle/>
          <a:p>
            <a:pPr indent="0" marL="0">
              <a:buNone/>
            </a:pPr>
            <a:r>
              <a:rPr lang="en-US" sz="1250" b="1" dirty="0">
                <a:solidFill>
                  <a:srgbClr val="9A6408"/>
                </a:solidFill>
                <a:latin typeface="Calibri" pitchFamily="34" charset="0"/>
                <a:ea typeface="Calibri" pitchFamily="34" charset="-122"/>
                <a:cs typeface="Calibri" pitchFamily="34" charset="-120"/>
              </a:rPr>
              <a:t>Deviation</a:t>
            </a:r>
            <a:endParaRPr lang="en-US" sz="1250" dirty="0"/>
          </a:p>
        </p:txBody>
      </p:sp>
      <p:sp>
        <p:nvSpPr>
          <p:cNvPr id="17" name="Text 15"/>
          <p:cNvSpPr/>
          <p:nvPr/>
        </p:nvSpPr>
        <p:spPr>
          <a:xfrm>
            <a:off x="4541368" y="2769108"/>
            <a:ext cx="6080760" cy="48310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68.4 °C measured against 64.9 °C expected — plus 3.5 °C</a:t>
            </a:r>
            <a:endParaRPr lang="en-US" sz="1250" dirty="0"/>
          </a:p>
        </p:txBody>
      </p:sp>
      <p:sp>
        <p:nvSpPr>
          <p:cNvPr id="18" name="Shape 16"/>
          <p:cNvSpPr/>
          <p:nvPr/>
        </p:nvSpPr>
        <p:spPr>
          <a:xfrm>
            <a:off x="1487272" y="3307080"/>
            <a:ext cx="9217152" cy="483108"/>
          </a:xfrm>
          <a:prstGeom prst="rect">
            <a:avLst/>
          </a:prstGeom>
          <a:solidFill>
            <a:srgbClr val="FBF0DC"/>
          </a:solidFill>
          <a:ln w="12700">
            <a:solidFill>
              <a:srgbClr val="FFFFFF"/>
            </a:solidFill>
            <a:prstDash val="solid"/>
          </a:ln>
        </p:spPr>
      </p:sp>
      <p:sp>
        <p:nvSpPr>
          <p:cNvPr id="19" name="Shape 17"/>
          <p:cNvSpPr/>
          <p:nvPr/>
        </p:nvSpPr>
        <p:spPr>
          <a:xfrm>
            <a:off x="1633576" y="3484626"/>
            <a:ext cx="137160" cy="137160"/>
          </a:xfrm>
          <a:prstGeom prst="ellipse">
            <a:avLst/>
          </a:prstGeom>
          <a:solidFill>
            <a:srgbClr val="9A6408"/>
          </a:solidFill>
          <a:ln/>
        </p:spPr>
      </p:sp>
      <p:sp>
        <p:nvSpPr>
          <p:cNvPr id="20" name="Text 18"/>
          <p:cNvSpPr/>
          <p:nvPr/>
        </p:nvSpPr>
        <p:spPr>
          <a:xfrm>
            <a:off x="1889608" y="3307080"/>
            <a:ext cx="2606040" cy="483108"/>
          </a:xfrm>
          <a:prstGeom prst="rect">
            <a:avLst/>
          </a:prstGeom>
          <a:noFill/>
          <a:ln/>
        </p:spPr>
        <p:txBody>
          <a:bodyPr wrap="square" lIns="0" tIns="0" rIns="0" bIns="0" rtlCol="0" anchor="ctr"/>
          <a:lstStyle/>
          <a:p>
            <a:pPr indent="0" marL="0">
              <a:buNone/>
            </a:pPr>
            <a:r>
              <a:rPr lang="en-US" sz="1250" b="1" dirty="0">
                <a:solidFill>
                  <a:srgbClr val="9A6408"/>
                </a:solidFill>
                <a:latin typeface="Calibri" pitchFamily="34" charset="0"/>
                <a:ea typeface="Calibri" pitchFamily="34" charset="-122"/>
                <a:cs typeface="Calibri" pitchFamily="34" charset="-120"/>
              </a:rPr>
              <a:t>Persistence</a:t>
            </a:r>
            <a:endParaRPr lang="en-US" sz="1250" dirty="0"/>
          </a:p>
        </p:txBody>
      </p:sp>
      <p:sp>
        <p:nvSpPr>
          <p:cNvPr id="21" name="Text 19"/>
          <p:cNvSpPr/>
          <p:nvPr/>
        </p:nvSpPr>
        <p:spPr>
          <a:xfrm>
            <a:off x="4541368" y="3307080"/>
            <a:ext cx="6080760" cy="48310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Above threshold continuously for 9 days</a:t>
            </a:r>
            <a:endParaRPr lang="en-US" sz="1250" dirty="0"/>
          </a:p>
        </p:txBody>
      </p:sp>
      <p:sp>
        <p:nvSpPr>
          <p:cNvPr id="22" name="Shape 20"/>
          <p:cNvSpPr/>
          <p:nvPr/>
        </p:nvSpPr>
        <p:spPr>
          <a:xfrm>
            <a:off x="1487272" y="3845052"/>
            <a:ext cx="9217152" cy="483108"/>
          </a:xfrm>
          <a:prstGeom prst="rect">
            <a:avLst/>
          </a:prstGeom>
          <a:solidFill>
            <a:srgbClr val="FBF0DC"/>
          </a:solidFill>
          <a:ln w="12700">
            <a:solidFill>
              <a:srgbClr val="FFFFFF"/>
            </a:solidFill>
            <a:prstDash val="solid"/>
          </a:ln>
        </p:spPr>
      </p:sp>
      <p:sp>
        <p:nvSpPr>
          <p:cNvPr id="23" name="Shape 21"/>
          <p:cNvSpPr/>
          <p:nvPr/>
        </p:nvSpPr>
        <p:spPr>
          <a:xfrm>
            <a:off x="1633576" y="4022598"/>
            <a:ext cx="137160" cy="137160"/>
          </a:xfrm>
          <a:prstGeom prst="ellipse">
            <a:avLst/>
          </a:prstGeom>
          <a:solidFill>
            <a:srgbClr val="9A6408"/>
          </a:solidFill>
          <a:ln/>
        </p:spPr>
      </p:sp>
      <p:sp>
        <p:nvSpPr>
          <p:cNvPr id="24" name="Text 22"/>
          <p:cNvSpPr/>
          <p:nvPr/>
        </p:nvSpPr>
        <p:spPr>
          <a:xfrm>
            <a:off x="1889608" y="3845052"/>
            <a:ext cx="2606040" cy="483108"/>
          </a:xfrm>
          <a:prstGeom prst="rect">
            <a:avLst/>
          </a:prstGeom>
          <a:noFill/>
          <a:ln/>
        </p:spPr>
        <p:txBody>
          <a:bodyPr wrap="square" lIns="0" tIns="0" rIns="0" bIns="0" rtlCol="0" anchor="ctr"/>
          <a:lstStyle/>
          <a:p>
            <a:pPr indent="0" marL="0">
              <a:buNone/>
            </a:pPr>
            <a:r>
              <a:rPr lang="en-US" sz="1250" b="1" dirty="0">
                <a:solidFill>
                  <a:srgbClr val="9A6408"/>
                </a:solidFill>
                <a:latin typeface="Calibri" pitchFamily="34" charset="0"/>
                <a:ea typeface="Calibri" pitchFamily="34" charset="-122"/>
                <a:cs typeface="Calibri" pitchFamily="34" charset="-120"/>
              </a:rPr>
              <a:t>Largest contributor</a:t>
            </a:r>
            <a:endParaRPr lang="en-US" sz="1250" dirty="0"/>
          </a:p>
        </p:txBody>
      </p:sp>
      <p:sp>
        <p:nvSpPr>
          <p:cNvPr id="25" name="Text 23"/>
          <p:cNvSpPr/>
          <p:nvPr/>
        </p:nvSpPr>
        <p:spPr>
          <a:xfrm>
            <a:off x="4541368" y="3845052"/>
            <a:ext cx="6080760" cy="48310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Thrust bearing temperature rise per unit of fan power — 61 % of the deviation</a:t>
            </a:r>
            <a:endParaRPr lang="en-US" sz="1250" dirty="0"/>
          </a:p>
        </p:txBody>
      </p:sp>
      <p:sp>
        <p:nvSpPr>
          <p:cNvPr id="26" name="Shape 24"/>
          <p:cNvSpPr/>
          <p:nvPr/>
        </p:nvSpPr>
        <p:spPr>
          <a:xfrm>
            <a:off x="1487272" y="4383024"/>
            <a:ext cx="9217152" cy="483108"/>
          </a:xfrm>
          <a:prstGeom prst="rect">
            <a:avLst/>
          </a:prstGeom>
          <a:solidFill>
            <a:srgbClr val="E1EFF1"/>
          </a:solidFill>
          <a:ln w="12700">
            <a:solidFill>
              <a:srgbClr val="FFFFFF"/>
            </a:solidFill>
            <a:prstDash val="solid"/>
          </a:ln>
        </p:spPr>
      </p:sp>
      <p:sp>
        <p:nvSpPr>
          <p:cNvPr id="27" name="Shape 25"/>
          <p:cNvSpPr/>
          <p:nvPr/>
        </p:nvSpPr>
        <p:spPr>
          <a:xfrm>
            <a:off x="1633576" y="4560570"/>
            <a:ext cx="137160" cy="137160"/>
          </a:xfrm>
          <a:prstGeom prst="ellipse">
            <a:avLst/>
          </a:prstGeom>
          <a:solidFill>
            <a:srgbClr val="11707F"/>
          </a:solidFill>
          <a:ln/>
        </p:spPr>
      </p:sp>
      <p:sp>
        <p:nvSpPr>
          <p:cNvPr id="28" name="Text 26"/>
          <p:cNvSpPr/>
          <p:nvPr/>
        </p:nvSpPr>
        <p:spPr>
          <a:xfrm>
            <a:off x="1889608" y="4383024"/>
            <a:ext cx="2606040" cy="483108"/>
          </a:xfrm>
          <a:prstGeom prst="rect">
            <a:avLst/>
          </a:prstGeom>
          <a:noFill/>
          <a:ln/>
        </p:spPr>
        <p:txBody>
          <a:bodyPr wrap="square" lIns="0" tIns="0" rIns="0" bIns="0" rtlCol="0" anchor="ctr"/>
          <a:lstStyle/>
          <a:p>
            <a:pPr indent="0" marL="0">
              <a:buNone/>
            </a:pPr>
            <a:r>
              <a:rPr lang="en-US" sz="1250" b="1" dirty="0">
                <a:solidFill>
                  <a:srgbClr val="11707F"/>
                </a:solidFill>
                <a:latin typeface="Calibri" pitchFamily="34" charset="0"/>
                <a:ea typeface="Calibri" pitchFamily="34" charset="-122"/>
                <a:cs typeface="Calibri" pitchFamily="34" charset="-120"/>
              </a:rPr>
              <a:t>Second contributor</a:t>
            </a:r>
            <a:endParaRPr lang="en-US" sz="1250" dirty="0"/>
          </a:p>
        </p:txBody>
      </p:sp>
      <p:sp>
        <p:nvSpPr>
          <p:cNvPr id="29" name="Text 27"/>
          <p:cNvSpPr/>
          <p:nvPr/>
        </p:nvSpPr>
        <p:spPr>
          <a:xfrm>
            <a:off x="4541368" y="4383024"/>
            <a:ext cx="6080760" cy="48310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Lube oil outlet temperature, rising alongside it — 22 %</a:t>
            </a:r>
            <a:endParaRPr lang="en-US" sz="1250" dirty="0"/>
          </a:p>
        </p:txBody>
      </p:sp>
      <p:sp>
        <p:nvSpPr>
          <p:cNvPr id="30" name="Shape 28"/>
          <p:cNvSpPr/>
          <p:nvPr/>
        </p:nvSpPr>
        <p:spPr>
          <a:xfrm>
            <a:off x="1487272" y="4920996"/>
            <a:ext cx="9217152" cy="483108"/>
          </a:xfrm>
          <a:prstGeom prst="rect">
            <a:avLst/>
          </a:prstGeom>
          <a:solidFill>
            <a:srgbClr val="E7ECF1"/>
          </a:solidFill>
          <a:ln w="12700">
            <a:solidFill>
              <a:srgbClr val="FFFFFF"/>
            </a:solidFill>
            <a:prstDash val="solid"/>
          </a:ln>
        </p:spPr>
      </p:sp>
      <p:sp>
        <p:nvSpPr>
          <p:cNvPr id="31" name="Shape 29"/>
          <p:cNvSpPr/>
          <p:nvPr/>
        </p:nvSpPr>
        <p:spPr>
          <a:xfrm>
            <a:off x="1633576" y="5098542"/>
            <a:ext cx="137160" cy="137160"/>
          </a:xfrm>
          <a:prstGeom prst="ellipse">
            <a:avLst/>
          </a:prstGeom>
          <a:solidFill>
            <a:srgbClr val="1C2530"/>
          </a:solidFill>
          <a:ln/>
        </p:spPr>
      </p:sp>
      <p:sp>
        <p:nvSpPr>
          <p:cNvPr id="32" name="Text 30"/>
          <p:cNvSpPr/>
          <p:nvPr/>
        </p:nvSpPr>
        <p:spPr>
          <a:xfrm>
            <a:off x="1889608" y="4920996"/>
            <a:ext cx="2606040" cy="483108"/>
          </a:xfrm>
          <a:prstGeom prst="rect">
            <a:avLst/>
          </a:prstGeom>
          <a:noFill/>
          <a:ln/>
        </p:spPr>
        <p:txBody>
          <a:bodyPr wrap="square" lIns="0" tIns="0" rIns="0" bIns="0" rtlCol="0" anchor="ctr"/>
          <a:lstStyle/>
          <a:p>
            <a:pPr indent="0" marL="0">
              <a:buNone/>
            </a:pPr>
            <a:r>
              <a:rPr lang="en-US" sz="1250" b="1" dirty="0">
                <a:solidFill>
                  <a:srgbClr val="1C2530"/>
                </a:solidFill>
                <a:latin typeface="Calibri" pitchFamily="34" charset="0"/>
                <a:ea typeface="Calibri" pitchFamily="34" charset="-122"/>
                <a:cs typeface="Calibri" pitchFamily="34" charset="-120"/>
              </a:rPr>
              <a:t>Recommended action</a:t>
            </a:r>
            <a:endParaRPr lang="en-US" sz="1250" dirty="0"/>
          </a:p>
        </p:txBody>
      </p:sp>
      <p:sp>
        <p:nvSpPr>
          <p:cNvPr id="33" name="Text 31"/>
          <p:cNvSpPr/>
          <p:nvPr/>
        </p:nvSpPr>
        <p:spPr>
          <a:xfrm>
            <a:off x="4541368" y="4920996"/>
            <a:ext cx="6080760" cy="48310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Check oil condition and cooler performance at next opportunity — not an emergency</a:t>
            </a:r>
            <a:endParaRPr lang="en-US" sz="1250" dirty="0"/>
          </a:p>
        </p:txBody>
      </p:sp>
      <p:sp>
        <p:nvSpPr>
          <p:cNvPr id="34" name="Shape 32"/>
          <p:cNvSpPr/>
          <p:nvPr/>
        </p:nvSpPr>
        <p:spPr>
          <a:xfrm>
            <a:off x="566928" y="5678424"/>
            <a:ext cx="11057839" cy="548640"/>
          </a:xfrm>
          <a:prstGeom prst="roundRect">
            <a:avLst>
              <a:gd name="adj" fmla="val 8333"/>
            </a:avLst>
          </a:prstGeom>
          <a:solidFill>
            <a:srgbClr val="FCEDE0"/>
          </a:solidFill>
          <a:ln w="12700">
            <a:solidFill>
              <a:srgbClr val="D96A16"/>
            </a:solidFill>
            <a:prstDash val="solid"/>
          </a:ln>
        </p:spPr>
      </p:sp>
      <p:sp>
        <p:nvSpPr>
          <p:cNvPr id="35" name="Text 33"/>
          <p:cNvSpPr/>
          <p:nvPr/>
        </p:nvSpPr>
        <p:spPr>
          <a:xfrm>
            <a:off x="768096" y="5678424"/>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The contribution breakdown is what converts an alert into a work order. Without it you are asking an engineer to trust a number.</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Where AI genuinely helps in a plant, ranked</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An honest view — buy the top, pilot the middle, only read about the bottom</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1. AI fundamentals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19</a:t>
            </a:r>
            <a:endParaRPr lang="en-US" sz="950" dirty="0"/>
          </a:p>
        </p:txBody>
      </p:sp>
      <p:sp>
        <p:nvSpPr>
          <p:cNvPr id="7" name="Shape 5"/>
          <p:cNvSpPr/>
          <p:nvPr/>
        </p:nvSpPr>
        <p:spPr>
          <a:xfrm>
            <a:off x="566928" y="1627632"/>
            <a:ext cx="11057839" cy="472875"/>
          </a:xfrm>
          <a:prstGeom prst="roundRect">
            <a:avLst>
              <a:gd name="adj" fmla="val 1160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786384" y="1627632"/>
            <a:ext cx="3566160" cy="472875"/>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Anomaly detection on rotating plant</a:t>
            </a:r>
            <a:endParaRPr lang="en-US" sz="1280" dirty="0"/>
          </a:p>
        </p:txBody>
      </p:sp>
      <p:sp>
        <p:nvSpPr>
          <p:cNvPr id="9" name="Text 7"/>
          <p:cNvSpPr/>
          <p:nvPr/>
        </p:nvSpPr>
        <p:spPr>
          <a:xfrm>
            <a:off x="4453128" y="1627632"/>
            <a:ext cx="3788359" cy="472875"/>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Model of healthy behaviour, residual on every signal, persistence logic before any alert is raised</a:t>
            </a:r>
            <a:endParaRPr lang="en-US" sz="1200" dirty="0"/>
          </a:p>
        </p:txBody>
      </p:sp>
      <p:sp>
        <p:nvSpPr>
          <p:cNvPr id="10" name="Shape 8"/>
          <p:cNvSpPr/>
          <p:nvPr/>
        </p:nvSpPr>
        <p:spPr>
          <a:xfrm>
            <a:off x="8470087" y="1635470"/>
            <a:ext cx="3063240" cy="457200"/>
          </a:xfrm>
          <a:prstGeom prst="roundRect">
            <a:avLst>
              <a:gd name="adj" fmla="val 50000"/>
            </a:avLst>
          </a:prstGeom>
          <a:solidFill>
            <a:srgbClr val="E4F0EA"/>
          </a:solidFill>
          <a:ln w="9525">
            <a:solidFill>
              <a:srgbClr val="256B45"/>
            </a:solidFill>
            <a:prstDash val="solid"/>
          </a:ln>
        </p:spPr>
      </p:sp>
      <p:sp>
        <p:nvSpPr>
          <p:cNvPr id="11" name="Text 9"/>
          <p:cNvSpPr/>
          <p:nvPr/>
        </p:nvSpPr>
        <p:spPr>
          <a:xfrm>
            <a:off x="8543239" y="1635470"/>
            <a:ext cx="2916936" cy="457200"/>
          </a:xfrm>
          <a:prstGeom prst="rect">
            <a:avLst/>
          </a:prstGeom>
          <a:noFill/>
          <a:ln/>
        </p:spPr>
        <p:txBody>
          <a:bodyPr wrap="square" lIns="0" tIns="0" rIns="0" bIns="0" rtlCol="0" anchor="ctr"/>
          <a:lstStyle/>
          <a:p>
            <a:pPr algn="ctr" indent="0" marL="0">
              <a:buNone/>
            </a:pPr>
            <a:r>
              <a:rPr lang="en-US" sz="900" b="1" dirty="0">
                <a:solidFill>
                  <a:srgbClr val="256B45"/>
                </a:solidFill>
                <a:latin typeface="Calibri" pitchFamily="34" charset="0"/>
                <a:ea typeface="Calibri" pitchFamily="34" charset="-122"/>
                <a:cs typeface="Calibri" pitchFamily="34" charset="-120"/>
              </a:rPr>
              <a:t>Proven — the safest place to start</a:t>
            </a:r>
            <a:endParaRPr lang="en-US" sz="900" dirty="0"/>
          </a:p>
        </p:txBody>
      </p:sp>
      <p:sp>
        <p:nvSpPr>
          <p:cNvPr id="12" name="Shape 10"/>
          <p:cNvSpPr/>
          <p:nvPr/>
        </p:nvSpPr>
        <p:spPr>
          <a:xfrm>
            <a:off x="566928" y="2182803"/>
            <a:ext cx="11057839" cy="472875"/>
          </a:xfrm>
          <a:prstGeom prst="roundRect">
            <a:avLst>
              <a:gd name="adj" fmla="val 11602"/>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Text 11"/>
          <p:cNvSpPr/>
          <p:nvPr/>
        </p:nvSpPr>
        <p:spPr>
          <a:xfrm>
            <a:off x="786384" y="2182803"/>
            <a:ext cx="3566160" cy="472875"/>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Soft sensing</a:t>
            </a:r>
            <a:endParaRPr lang="en-US" sz="1280" dirty="0"/>
          </a:p>
        </p:txBody>
      </p:sp>
      <p:sp>
        <p:nvSpPr>
          <p:cNvPr id="14" name="Text 12"/>
          <p:cNvSpPr/>
          <p:nvPr/>
        </p:nvSpPr>
        <p:spPr>
          <a:xfrm>
            <a:off x="4453128" y="2182803"/>
            <a:ext cx="3788359" cy="472875"/>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Predicts a value you cannot measure online from values you can, trained on lab results</a:t>
            </a:r>
            <a:endParaRPr lang="en-US" sz="1200" dirty="0"/>
          </a:p>
        </p:txBody>
      </p:sp>
      <p:sp>
        <p:nvSpPr>
          <p:cNvPr id="15" name="Shape 13"/>
          <p:cNvSpPr/>
          <p:nvPr/>
        </p:nvSpPr>
        <p:spPr>
          <a:xfrm>
            <a:off x="8470087" y="2190641"/>
            <a:ext cx="3063240" cy="457200"/>
          </a:xfrm>
          <a:prstGeom prst="roundRect">
            <a:avLst>
              <a:gd name="adj" fmla="val 50000"/>
            </a:avLst>
          </a:prstGeom>
          <a:solidFill>
            <a:srgbClr val="E4F0EA"/>
          </a:solidFill>
          <a:ln w="9525">
            <a:solidFill>
              <a:srgbClr val="256B45"/>
            </a:solidFill>
            <a:prstDash val="solid"/>
          </a:ln>
        </p:spPr>
      </p:sp>
      <p:sp>
        <p:nvSpPr>
          <p:cNvPr id="16" name="Text 14"/>
          <p:cNvSpPr/>
          <p:nvPr/>
        </p:nvSpPr>
        <p:spPr>
          <a:xfrm>
            <a:off x="8543239" y="2190641"/>
            <a:ext cx="2916936" cy="457200"/>
          </a:xfrm>
          <a:prstGeom prst="rect">
            <a:avLst/>
          </a:prstGeom>
          <a:noFill/>
          <a:ln/>
        </p:spPr>
        <p:txBody>
          <a:bodyPr wrap="square" lIns="0" tIns="0" rIns="0" bIns="0" rtlCol="0" anchor="ctr"/>
          <a:lstStyle/>
          <a:p>
            <a:pPr algn="ctr" indent="0" marL="0">
              <a:buNone/>
            </a:pPr>
            <a:r>
              <a:rPr lang="en-US" sz="900" b="1" dirty="0">
                <a:solidFill>
                  <a:srgbClr val="256B45"/>
                </a:solidFill>
                <a:latin typeface="Calibri" pitchFamily="34" charset="0"/>
                <a:ea typeface="Calibri" pitchFamily="34" charset="-122"/>
                <a:cs typeface="Calibri" pitchFamily="34" charset="-120"/>
              </a:rPr>
              <a:t>Proven — needs honest error reporting</a:t>
            </a:r>
            <a:endParaRPr lang="en-US" sz="900" dirty="0"/>
          </a:p>
        </p:txBody>
      </p:sp>
      <p:sp>
        <p:nvSpPr>
          <p:cNvPr id="17" name="Shape 15"/>
          <p:cNvSpPr/>
          <p:nvPr/>
        </p:nvSpPr>
        <p:spPr>
          <a:xfrm>
            <a:off x="566928" y="2737975"/>
            <a:ext cx="11057839" cy="472875"/>
          </a:xfrm>
          <a:prstGeom prst="roundRect">
            <a:avLst>
              <a:gd name="adj" fmla="val 1160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8" name="Text 16"/>
          <p:cNvSpPr/>
          <p:nvPr/>
        </p:nvSpPr>
        <p:spPr>
          <a:xfrm>
            <a:off x="786384" y="2737975"/>
            <a:ext cx="3566160" cy="472875"/>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Diagnostics</a:t>
            </a:r>
            <a:endParaRPr lang="en-US" sz="1280" dirty="0"/>
          </a:p>
        </p:txBody>
      </p:sp>
      <p:sp>
        <p:nvSpPr>
          <p:cNvPr id="19" name="Text 17"/>
          <p:cNvSpPr/>
          <p:nvPr/>
        </p:nvSpPr>
        <p:spPr>
          <a:xfrm>
            <a:off x="4453128" y="2737975"/>
            <a:ext cx="3788359" cy="472875"/>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Points at which signals drove the deviation and matches the pattern to known signatures</a:t>
            </a:r>
            <a:endParaRPr lang="en-US" sz="1200" dirty="0"/>
          </a:p>
        </p:txBody>
      </p:sp>
      <p:sp>
        <p:nvSpPr>
          <p:cNvPr id="20" name="Shape 18"/>
          <p:cNvSpPr/>
          <p:nvPr/>
        </p:nvSpPr>
        <p:spPr>
          <a:xfrm>
            <a:off x="8470087" y="2745813"/>
            <a:ext cx="3063240" cy="457200"/>
          </a:xfrm>
          <a:prstGeom prst="roundRect">
            <a:avLst>
              <a:gd name="adj" fmla="val 50000"/>
            </a:avLst>
          </a:prstGeom>
          <a:solidFill>
            <a:srgbClr val="FBF0DC"/>
          </a:solidFill>
          <a:ln w="9525">
            <a:solidFill>
              <a:srgbClr val="9A6408"/>
            </a:solidFill>
            <a:prstDash val="solid"/>
          </a:ln>
        </p:spPr>
      </p:sp>
      <p:sp>
        <p:nvSpPr>
          <p:cNvPr id="21" name="Text 19"/>
          <p:cNvSpPr/>
          <p:nvPr/>
        </p:nvSpPr>
        <p:spPr>
          <a:xfrm>
            <a:off x="8543239" y="2745813"/>
            <a:ext cx="2916936" cy="457200"/>
          </a:xfrm>
          <a:prstGeom prst="rect">
            <a:avLst/>
          </a:prstGeom>
          <a:noFill/>
          <a:ln/>
        </p:spPr>
        <p:txBody>
          <a:bodyPr wrap="square" lIns="0" tIns="0" rIns="0" bIns="0" rtlCol="0" anchor="ctr"/>
          <a:lstStyle/>
          <a:p>
            <a:pPr algn="ctr" indent="0" marL="0">
              <a:buNone/>
            </a:pPr>
            <a:r>
              <a:rPr lang="en-US" sz="900" b="1" dirty="0">
                <a:solidFill>
                  <a:srgbClr val="9A6408"/>
                </a:solidFill>
                <a:latin typeface="Calibri" pitchFamily="34" charset="0"/>
                <a:ea typeface="Calibri" pitchFamily="34" charset="-122"/>
                <a:cs typeface="Calibri" pitchFamily="34" charset="-120"/>
              </a:rPr>
              <a:t>Emerging — good at pointing, weak at naming</a:t>
            </a:r>
            <a:endParaRPr lang="en-US" sz="900" dirty="0"/>
          </a:p>
        </p:txBody>
      </p:sp>
      <p:sp>
        <p:nvSpPr>
          <p:cNvPr id="22" name="Shape 20"/>
          <p:cNvSpPr/>
          <p:nvPr/>
        </p:nvSpPr>
        <p:spPr>
          <a:xfrm>
            <a:off x="566928" y="3293146"/>
            <a:ext cx="11057839" cy="472875"/>
          </a:xfrm>
          <a:prstGeom prst="roundRect">
            <a:avLst>
              <a:gd name="adj" fmla="val 11602"/>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3" name="Text 21"/>
          <p:cNvSpPr/>
          <p:nvPr/>
        </p:nvSpPr>
        <p:spPr>
          <a:xfrm>
            <a:off x="786384" y="3293146"/>
            <a:ext cx="3566160" cy="472875"/>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Prognostics and remaining life</a:t>
            </a:r>
            <a:endParaRPr lang="en-US" sz="1280" dirty="0"/>
          </a:p>
        </p:txBody>
      </p:sp>
      <p:sp>
        <p:nvSpPr>
          <p:cNvPr id="24" name="Text 22"/>
          <p:cNvSpPr/>
          <p:nvPr/>
        </p:nvSpPr>
        <p:spPr>
          <a:xfrm>
            <a:off x="4453128" y="3293146"/>
            <a:ext cx="3788359" cy="472875"/>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Fits a degradation curve to the residual and projects a date with an uncertainty band</a:t>
            </a:r>
            <a:endParaRPr lang="en-US" sz="1200" dirty="0"/>
          </a:p>
        </p:txBody>
      </p:sp>
      <p:sp>
        <p:nvSpPr>
          <p:cNvPr id="25" name="Shape 23"/>
          <p:cNvSpPr/>
          <p:nvPr/>
        </p:nvSpPr>
        <p:spPr>
          <a:xfrm>
            <a:off x="8470087" y="3300984"/>
            <a:ext cx="3063240" cy="457200"/>
          </a:xfrm>
          <a:prstGeom prst="roundRect">
            <a:avLst>
              <a:gd name="adj" fmla="val 50000"/>
            </a:avLst>
          </a:prstGeom>
          <a:solidFill>
            <a:srgbClr val="FBF0DC"/>
          </a:solidFill>
          <a:ln w="9525">
            <a:solidFill>
              <a:srgbClr val="9A6408"/>
            </a:solidFill>
            <a:prstDash val="solid"/>
          </a:ln>
        </p:spPr>
      </p:sp>
      <p:sp>
        <p:nvSpPr>
          <p:cNvPr id="26" name="Text 24"/>
          <p:cNvSpPr/>
          <p:nvPr/>
        </p:nvSpPr>
        <p:spPr>
          <a:xfrm>
            <a:off x="8543239" y="3300984"/>
            <a:ext cx="2916936" cy="457200"/>
          </a:xfrm>
          <a:prstGeom prst="rect">
            <a:avLst/>
          </a:prstGeom>
          <a:noFill/>
          <a:ln/>
        </p:spPr>
        <p:txBody>
          <a:bodyPr wrap="square" lIns="0" tIns="0" rIns="0" bIns="0" rtlCol="0" anchor="ctr"/>
          <a:lstStyle/>
          <a:p>
            <a:pPr algn="ctr" indent="0" marL="0">
              <a:buNone/>
            </a:pPr>
            <a:r>
              <a:rPr lang="en-US" sz="900" b="1" dirty="0">
                <a:solidFill>
                  <a:srgbClr val="9A6408"/>
                </a:solidFill>
                <a:latin typeface="Calibri" pitchFamily="34" charset="0"/>
                <a:ea typeface="Calibri" pitchFamily="34" charset="-122"/>
                <a:cs typeface="Calibri" pitchFamily="34" charset="-120"/>
              </a:rPr>
              <a:t>Emerging — the band is usually wide</a:t>
            </a:r>
            <a:endParaRPr lang="en-US" sz="900" dirty="0"/>
          </a:p>
        </p:txBody>
      </p:sp>
      <p:sp>
        <p:nvSpPr>
          <p:cNvPr id="27" name="Shape 25"/>
          <p:cNvSpPr/>
          <p:nvPr/>
        </p:nvSpPr>
        <p:spPr>
          <a:xfrm>
            <a:off x="566928" y="3848318"/>
            <a:ext cx="11057839" cy="472875"/>
          </a:xfrm>
          <a:prstGeom prst="roundRect">
            <a:avLst>
              <a:gd name="adj" fmla="val 1160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Text 26"/>
          <p:cNvSpPr/>
          <p:nvPr/>
        </p:nvSpPr>
        <p:spPr>
          <a:xfrm>
            <a:off x="786384" y="3848318"/>
            <a:ext cx="3566160" cy="472875"/>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Advisory optimisation</a:t>
            </a:r>
            <a:endParaRPr lang="en-US" sz="1280" dirty="0"/>
          </a:p>
        </p:txBody>
      </p:sp>
      <p:sp>
        <p:nvSpPr>
          <p:cNvPr id="29" name="Text 27"/>
          <p:cNvSpPr/>
          <p:nvPr/>
        </p:nvSpPr>
        <p:spPr>
          <a:xfrm>
            <a:off x="4453128" y="3848318"/>
            <a:ext cx="3788359" cy="472875"/>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Searches setpoint and equipment combinations, recommends, and leaves the operator to decide</a:t>
            </a:r>
            <a:endParaRPr lang="en-US" sz="1200" dirty="0"/>
          </a:p>
        </p:txBody>
      </p:sp>
      <p:sp>
        <p:nvSpPr>
          <p:cNvPr id="30" name="Shape 28"/>
          <p:cNvSpPr/>
          <p:nvPr/>
        </p:nvSpPr>
        <p:spPr>
          <a:xfrm>
            <a:off x="8470087" y="3856155"/>
            <a:ext cx="3063240" cy="457200"/>
          </a:xfrm>
          <a:prstGeom prst="roundRect">
            <a:avLst>
              <a:gd name="adj" fmla="val 50000"/>
            </a:avLst>
          </a:prstGeom>
          <a:solidFill>
            <a:srgbClr val="E4F0EA"/>
          </a:solidFill>
          <a:ln w="9525">
            <a:solidFill>
              <a:srgbClr val="256B45"/>
            </a:solidFill>
            <a:prstDash val="solid"/>
          </a:ln>
        </p:spPr>
      </p:sp>
      <p:sp>
        <p:nvSpPr>
          <p:cNvPr id="31" name="Text 29"/>
          <p:cNvSpPr/>
          <p:nvPr/>
        </p:nvSpPr>
        <p:spPr>
          <a:xfrm>
            <a:off x="8543239" y="3856155"/>
            <a:ext cx="2916936" cy="457200"/>
          </a:xfrm>
          <a:prstGeom prst="rect">
            <a:avLst/>
          </a:prstGeom>
          <a:noFill/>
          <a:ln/>
        </p:spPr>
        <p:txBody>
          <a:bodyPr wrap="square" lIns="0" tIns="0" rIns="0" bIns="0" rtlCol="0" anchor="ctr"/>
          <a:lstStyle/>
          <a:p>
            <a:pPr algn="ctr" indent="0" marL="0">
              <a:buNone/>
            </a:pPr>
            <a:r>
              <a:rPr lang="en-US" sz="900" b="1" dirty="0">
                <a:solidFill>
                  <a:srgbClr val="256B45"/>
                </a:solidFill>
                <a:latin typeface="Calibri" pitchFamily="34" charset="0"/>
                <a:ea typeface="Calibri" pitchFamily="34" charset="-122"/>
                <a:cs typeface="Calibri" pitchFamily="34" charset="-120"/>
              </a:rPr>
              <a:t>Proven as advisory — gain depends on current tuning</a:t>
            </a:r>
            <a:endParaRPr lang="en-US" sz="900" dirty="0"/>
          </a:p>
        </p:txBody>
      </p:sp>
      <p:sp>
        <p:nvSpPr>
          <p:cNvPr id="32" name="Shape 30"/>
          <p:cNvSpPr/>
          <p:nvPr/>
        </p:nvSpPr>
        <p:spPr>
          <a:xfrm>
            <a:off x="566928" y="4403489"/>
            <a:ext cx="11057839" cy="472875"/>
          </a:xfrm>
          <a:prstGeom prst="roundRect">
            <a:avLst>
              <a:gd name="adj" fmla="val 11602"/>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3" name="Text 31"/>
          <p:cNvSpPr/>
          <p:nvPr/>
        </p:nvSpPr>
        <p:spPr>
          <a:xfrm>
            <a:off x="786384" y="4403489"/>
            <a:ext cx="3566160" cy="472875"/>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Closed-loop control</a:t>
            </a:r>
            <a:endParaRPr lang="en-US" sz="1280" dirty="0"/>
          </a:p>
        </p:txBody>
      </p:sp>
      <p:sp>
        <p:nvSpPr>
          <p:cNvPr id="34" name="Text 32"/>
          <p:cNvSpPr/>
          <p:nvPr/>
        </p:nvSpPr>
        <p:spPr>
          <a:xfrm>
            <a:off x="4453128" y="4403489"/>
            <a:ext cx="3788359" cy="472875"/>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Writes bounded bias values to the DCS under clamps, rate limits and a watchdog</a:t>
            </a:r>
            <a:endParaRPr lang="en-US" sz="1200" dirty="0"/>
          </a:p>
        </p:txBody>
      </p:sp>
      <p:sp>
        <p:nvSpPr>
          <p:cNvPr id="35" name="Shape 33"/>
          <p:cNvSpPr/>
          <p:nvPr/>
        </p:nvSpPr>
        <p:spPr>
          <a:xfrm>
            <a:off x="8470087" y="4411327"/>
            <a:ext cx="3063240" cy="457200"/>
          </a:xfrm>
          <a:prstGeom prst="roundRect">
            <a:avLst>
              <a:gd name="adj" fmla="val 50000"/>
            </a:avLst>
          </a:prstGeom>
          <a:solidFill>
            <a:srgbClr val="FBF0DC"/>
          </a:solidFill>
          <a:ln w="9525">
            <a:solidFill>
              <a:srgbClr val="9A6408"/>
            </a:solidFill>
            <a:prstDash val="solid"/>
          </a:ln>
        </p:spPr>
      </p:sp>
      <p:sp>
        <p:nvSpPr>
          <p:cNvPr id="36" name="Text 34"/>
          <p:cNvSpPr/>
          <p:nvPr/>
        </p:nvSpPr>
        <p:spPr>
          <a:xfrm>
            <a:off x="8543239" y="4411327"/>
            <a:ext cx="2916936" cy="457200"/>
          </a:xfrm>
          <a:prstGeom prst="rect">
            <a:avLst/>
          </a:prstGeom>
          <a:noFill/>
          <a:ln/>
        </p:spPr>
        <p:txBody>
          <a:bodyPr wrap="square" lIns="0" tIns="0" rIns="0" bIns="0" rtlCol="0" anchor="ctr"/>
          <a:lstStyle/>
          <a:p>
            <a:pPr algn="ctr" indent="0" marL="0">
              <a:buNone/>
            </a:pPr>
            <a:r>
              <a:rPr lang="en-US" sz="900" b="1" dirty="0">
                <a:solidFill>
                  <a:srgbClr val="9A6408"/>
                </a:solidFill>
                <a:latin typeface="Calibri" pitchFamily="34" charset="0"/>
                <a:ea typeface="Calibri" pitchFamily="34" charset="-122"/>
                <a:cs typeface="Calibri" pitchFamily="34" charset="-120"/>
              </a:rPr>
              <a:t>Emerging — only with full engineering controls</a:t>
            </a:r>
            <a:endParaRPr lang="en-US" sz="900" dirty="0"/>
          </a:p>
        </p:txBody>
      </p:sp>
      <p:sp>
        <p:nvSpPr>
          <p:cNvPr id="37" name="Shape 35"/>
          <p:cNvSpPr/>
          <p:nvPr/>
        </p:nvSpPr>
        <p:spPr>
          <a:xfrm>
            <a:off x="566928" y="4958661"/>
            <a:ext cx="11057839" cy="472875"/>
          </a:xfrm>
          <a:prstGeom prst="roundRect">
            <a:avLst>
              <a:gd name="adj" fmla="val 1160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8" name="Text 36"/>
          <p:cNvSpPr/>
          <p:nvPr/>
        </p:nvSpPr>
        <p:spPr>
          <a:xfrm>
            <a:off x="786384" y="4958661"/>
            <a:ext cx="3566160" cy="472875"/>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Vision and language</a:t>
            </a:r>
            <a:endParaRPr lang="en-US" sz="1280" dirty="0"/>
          </a:p>
        </p:txBody>
      </p:sp>
      <p:sp>
        <p:nvSpPr>
          <p:cNvPr id="39" name="Text 37"/>
          <p:cNvSpPr/>
          <p:nvPr/>
        </p:nvSpPr>
        <p:spPr>
          <a:xfrm>
            <a:off x="4453128" y="4958661"/>
            <a:ext cx="3788359" cy="472875"/>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Cameras reading leaks, gauges and safety; retrieval over manuals, SOPs and trip reports</a:t>
            </a:r>
            <a:endParaRPr lang="en-US" sz="1200" dirty="0"/>
          </a:p>
        </p:txBody>
      </p:sp>
      <p:sp>
        <p:nvSpPr>
          <p:cNvPr id="40" name="Shape 38"/>
          <p:cNvSpPr/>
          <p:nvPr/>
        </p:nvSpPr>
        <p:spPr>
          <a:xfrm>
            <a:off x="8470087" y="4966498"/>
            <a:ext cx="3063240" cy="457200"/>
          </a:xfrm>
          <a:prstGeom prst="roundRect">
            <a:avLst>
              <a:gd name="adj" fmla="val 50000"/>
            </a:avLst>
          </a:prstGeom>
          <a:solidFill>
            <a:srgbClr val="FBF0DC"/>
          </a:solidFill>
          <a:ln w="9525">
            <a:solidFill>
              <a:srgbClr val="9A6408"/>
            </a:solidFill>
            <a:prstDash val="solid"/>
          </a:ln>
        </p:spPr>
      </p:sp>
      <p:sp>
        <p:nvSpPr>
          <p:cNvPr id="41" name="Text 39"/>
          <p:cNvSpPr/>
          <p:nvPr/>
        </p:nvSpPr>
        <p:spPr>
          <a:xfrm>
            <a:off x="8543239" y="4966498"/>
            <a:ext cx="2916936" cy="457200"/>
          </a:xfrm>
          <a:prstGeom prst="rect">
            <a:avLst/>
          </a:prstGeom>
          <a:noFill/>
          <a:ln/>
        </p:spPr>
        <p:txBody>
          <a:bodyPr wrap="square" lIns="0" tIns="0" rIns="0" bIns="0" rtlCol="0" anchor="ctr"/>
          <a:lstStyle/>
          <a:p>
            <a:pPr algn="ctr" indent="0" marL="0">
              <a:buNone/>
            </a:pPr>
            <a:r>
              <a:rPr lang="en-US" sz="900" b="1" dirty="0">
                <a:solidFill>
                  <a:srgbClr val="9A6408"/>
                </a:solidFill>
                <a:latin typeface="Calibri" pitchFamily="34" charset="0"/>
                <a:ea typeface="Calibri" pitchFamily="34" charset="-122"/>
                <a:cs typeface="Calibri" pitchFamily="34" charset="-120"/>
              </a:rPr>
              <a:t>Proven for document search · Emerging for vision</a:t>
            </a:r>
            <a:endParaRPr lang="en-US" sz="900" dirty="0"/>
          </a:p>
        </p:txBody>
      </p:sp>
      <p:sp>
        <p:nvSpPr>
          <p:cNvPr id="42" name="Shape 40"/>
          <p:cNvSpPr/>
          <p:nvPr/>
        </p:nvSpPr>
        <p:spPr>
          <a:xfrm>
            <a:off x="566928" y="5660136"/>
            <a:ext cx="11057839" cy="548640"/>
          </a:xfrm>
          <a:prstGeom prst="roundRect">
            <a:avLst>
              <a:gd name="adj" fmla="val 8333"/>
            </a:avLst>
          </a:prstGeom>
          <a:solidFill>
            <a:srgbClr val="FCEDE0"/>
          </a:solidFill>
          <a:ln w="12700">
            <a:solidFill>
              <a:srgbClr val="D96A16"/>
            </a:solidFill>
            <a:prstDash val="solid"/>
          </a:ln>
        </p:spPr>
      </p:sp>
      <p:sp>
        <p:nvSpPr>
          <p:cNvPr id="43" name="Text 41"/>
          <p:cNvSpPr/>
          <p:nvPr/>
        </p:nvSpPr>
        <p:spPr>
          <a:xfrm>
            <a:off x="768096" y="5660136"/>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Start where the answer is a number an engineer can check. Anomaly detection and soft sensing repay their cost before anything else does.</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What AI is not</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Say all five of these out loud before anyone in this company buys anything</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1. AI fundamentals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20</a:t>
            </a:r>
            <a:endParaRPr lang="en-US" sz="950" dirty="0"/>
          </a:p>
        </p:txBody>
      </p:sp>
      <p:sp>
        <p:nvSpPr>
          <p:cNvPr id="7" name="Shape 5"/>
          <p:cNvSpPr/>
          <p:nvPr/>
        </p:nvSpPr>
        <p:spPr>
          <a:xfrm>
            <a:off x="566928" y="1627632"/>
            <a:ext cx="11057839" cy="649224"/>
          </a:xfrm>
          <a:prstGeom prst="roundRect">
            <a:avLst>
              <a:gd name="adj" fmla="val 845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31520" y="1760220"/>
            <a:ext cx="2331720" cy="402336"/>
          </a:xfrm>
          <a:prstGeom prst="roundRect">
            <a:avLst>
              <a:gd name="adj" fmla="val 13636"/>
            </a:avLst>
          </a:prstGeom>
          <a:solidFill>
            <a:srgbClr val="F9E7E5"/>
          </a:solidFill>
          <a:ln w="9525">
            <a:solidFill>
              <a:srgbClr val="A8261E"/>
            </a:solidFill>
            <a:prstDash val="solid"/>
          </a:ln>
        </p:spPr>
      </p:sp>
      <p:sp>
        <p:nvSpPr>
          <p:cNvPr id="9" name="Text 7"/>
          <p:cNvSpPr/>
          <p:nvPr/>
        </p:nvSpPr>
        <p:spPr>
          <a:xfrm>
            <a:off x="731520" y="1760220"/>
            <a:ext cx="2331720" cy="402336"/>
          </a:xfrm>
          <a:prstGeom prst="rect">
            <a:avLst/>
          </a:prstGeom>
          <a:noFill/>
          <a:ln/>
        </p:spPr>
        <p:txBody>
          <a:bodyPr wrap="square" lIns="0" tIns="0" rIns="0" bIns="0" rtlCol="0" anchor="ctr"/>
          <a:lstStyle/>
          <a:p>
            <a:pPr algn="ctr" indent="0" marL="0">
              <a:buNone/>
            </a:pPr>
            <a:r>
              <a:rPr lang="en-US" sz="1200" b="1" dirty="0">
                <a:solidFill>
                  <a:srgbClr val="A8261E"/>
                </a:solidFill>
                <a:latin typeface="Calibri" pitchFamily="34" charset="0"/>
                <a:ea typeface="Calibri" pitchFamily="34" charset="-122"/>
                <a:cs typeface="Calibri" pitchFamily="34" charset="-120"/>
              </a:rPr>
              <a:t>Never in protections</a:t>
            </a:r>
            <a:endParaRPr lang="en-US" sz="1200" dirty="0"/>
          </a:p>
        </p:txBody>
      </p:sp>
      <p:sp>
        <p:nvSpPr>
          <p:cNvPr id="10" name="Text 8"/>
          <p:cNvSpPr/>
          <p:nvPr/>
        </p:nvSpPr>
        <p:spPr>
          <a:xfrm>
            <a:off x="3264408" y="1627632"/>
            <a:ext cx="8177479" cy="649224"/>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Advisory and statistical, sitting above your interlocks — never inside them. No model output belongs in a trip circuit or a safety function. Not now, not in five years.</a:t>
            </a:r>
            <a:endParaRPr lang="en-US" sz="1250" dirty="0"/>
          </a:p>
        </p:txBody>
      </p:sp>
      <p:sp>
        <p:nvSpPr>
          <p:cNvPr id="11" name="Shape 9"/>
          <p:cNvSpPr/>
          <p:nvPr/>
        </p:nvSpPr>
        <p:spPr>
          <a:xfrm>
            <a:off x="566928" y="2368296"/>
            <a:ext cx="11057839" cy="649224"/>
          </a:xfrm>
          <a:prstGeom prst="roundRect">
            <a:avLst>
              <a:gd name="adj" fmla="val 845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731520" y="2500884"/>
            <a:ext cx="2331720" cy="402336"/>
          </a:xfrm>
          <a:prstGeom prst="roundRect">
            <a:avLst>
              <a:gd name="adj" fmla="val 13636"/>
            </a:avLst>
          </a:prstGeom>
          <a:solidFill>
            <a:srgbClr val="F9E7E5"/>
          </a:solidFill>
          <a:ln w="9525">
            <a:solidFill>
              <a:srgbClr val="A8261E"/>
            </a:solidFill>
            <a:prstDash val="solid"/>
          </a:ln>
        </p:spPr>
      </p:sp>
      <p:sp>
        <p:nvSpPr>
          <p:cNvPr id="13" name="Text 11"/>
          <p:cNvSpPr/>
          <p:nvPr/>
        </p:nvSpPr>
        <p:spPr>
          <a:xfrm>
            <a:off x="731520" y="2500884"/>
            <a:ext cx="2331720" cy="402336"/>
          </a:xfrm>
          <a:prstGeom prst="rect">
            <a:avLst/>
          </a:prstGeom>
          <a:noFill/>
          <a:ln/>
        </p:spPr>
        <p:txBody>
          <a:bodyPr wrap="square" lIns="0" tIns="0" rIns="0" bIns="0" rtlCol="0" anchor="ctr"/>
          <a:lstStyle/>
          <a:p>
            <a:pPr algn="ctr" indent="0" marL="0">
              <a:buNone/>
            </a:pPr>
            <a:r>
              <a:rPr lang="en-US" sz="1200" b="1" dirty="0">
                <a:solidFill>
                  <a:srgbClr val="A8261E"/>
                </a:solidFill>
                <a:latin typeface="Calibri" pitchFamily="34" charset="0"/>
                <a:ea typeface="Calibri" pitchFamily="34" charset="-122"/>
                <a:cs typeface="Calibri" pitchFamily="34" charset="-120"/>
              </a:rPr>
              <a:t>Not a judgement engine</a:t>
            </a:r>
            <a:endParaRPr lang="en-US" sz="1200" dirty="0"/>
          </a:p>
        </p:txBody>
      </p:sp>
      <p:sp>
        <p:nvSpPr>
          <p:cNvPr id="14" name="Text 12"/>
          <p:cNvSpPr/>
          <p:nvPr/>
        </p:nvSpPr>
        <p:spPr>
          <a:xfrm>
            <a:off x="3264408" y="2368296"/>
            <a:ext cx="8177479" cy="649224"/>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It produces a number and a reason. Weighing risk, reading the plant, and deciding what to do on a running unit remain entirely the engineer's work.</a:t>
            </a:r>
            <a:endParaRPr lang="en-US" sz="1250" dirty="0"/>
          </a:p>
        </p:txBody>
      </p:sp>
      <p:sp>
        <p:nvSpPr>
          <p:cNvPr id="15" name="Shape 13"/>
          <p:cNvSpPr/>
          <p:nvPr/>
        </p:nvSpPr>
        <p:spPr>
          <a:xfrm>
            <a:off x="566928" y="3108960"/>
            <a:ext cx="11057839" cy="649224"/>
          </a:xfrm>
          <a:prstGeom prst="roundRect">
            <a:avLst>
              <a:gd name="adj" fmla="val 845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731520" y="3241548"/>
            <a:ext cx="2331720" cy="402336"/>
          </a:xfrm>
          <a:prstGeom prst="roundRect">
            <a:avLst>
              <a:gd name="adj" fmla="val 13636"/>
            </a:avLst>
          </a:prstGeom>
          <a:solidFill>
            <a:srgbClr val="F9E7E5"/>
          </a:solidFill>
          <a:ln w="9525">
            <a:solidFill>
              <a:srgbClr val="A8261E"/>
            </a:solidFill>
            <a:prstDash val="solid"/>
          </a:ln>
        </p:spPr>
      </p:sp>
      <p:sp>
        <p:nvSpPr>
          <p:cNvPr id="17" name="Text 15"/>
          <p:cNvSpPr/>
          <p:nvPr/>
        </p:nvSpPr>
        <p:spPr>
          <a:xfrm>
            <a:off x="731520" y="3241548"/>
            <a:ext cx="2331720" cy="402336"/>
          </a:xfrm>
          <a:prstGeom prst="rect">
            <a:avLst/>
          </a:prstGeom>
          <a:noFill/>
          <a:ln/>
        </p:spPr>
        <p:txBody>
          <a:bodyPr wrap="square" lIns="0" tIns="0" rIns="0" bIns="0" rtlCol="0" anchor="ctr"/>
          <a:lstStyle/>
          <a:p>
            <a:pPr algn="ctr" indent="0" marL="0">
              <a:buNone/>
            </a:pPr>
            <a:r>
              <a:rPr lang="en-US" sz="1200" b="1" dirty="0">
                <a:solidFill>
                  <a:srgbClr val="A8261E"/>
                </a:solidFill>
                <a:latin typeface="Calibri" pitchFamily="34" charset="0"/>
                <a:ea typeface="Calibri" pitchFamily="34" charset="-122"/>
                <a:cs typeface="Calibri" pitchFamily="34" charset="-120"/>
              </a:rPr>
              <a:t>Not magic without data</a:t>
            </a:r>
            <a:endParaRPr lang="en-US" sz="1200" dirty="0"/>
          </a:p>
        </p:txBody>
      </p:sp>
      <p:sp>
        <p:nvSpPr>
          <p:cNvPr id="18" name="Text 16"/>
          <p:cNvSpPr/>
          <p:nvPr/>
        </p:nvSpPr>
        <p:spPr>
          <a:xfrm>
            <a:off x="3264408" y="3108960"/>
            <a:ext cx="8177479" cy="649224"/>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No historised tag, no model. A frozen transmitter, an over-compressed trend or a tag that was never recorded cannot be rescued by any algorithm.</a:t>
            </a:r>
            <a:endParaRPr lang="en-US" sz="1250" dirty="0"/>
          </a:p>
        </p:txBody>
      </p:sp>
      <p:sp>
        <p:nvSpPr>
          <p:cNvPr id="19" name="Shape 17"/>
          <p:cNvSpPr/>
          <p:nvPr/>
        </p:nvSpPr>
        <p:spPr>
          <a:xfrm>
            <a:off x="566928" y="3849624"/>
            <a:ext cx="11057839" cy="649224"/>
          </a:xfrm>
          <a:prstGeom prst="roundRect">
            <a:avLst>
              <a:gd name="adj" fmla="val 845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731520" y="3982212"/>
            <a:ext cx="2331720" cy="402336"/>
          </a:xfrm>
          <a:prstGeom prst="roundRect">
            <a:avLst>
              <a:gd name="adj" fmla="val 13636"/>
            </a:avLst>
          </a:prstGeom>
          <a:solidFill>
            <a:srgbClr val="F9E7E5"/>
          </a:solidFill>
          <a:ln w="9525">
            <a:solidFill>
              <a:srgbClr val="A8261E"/>
            </a:solidFill>
            <a:prstDash val="solid"/>
          </a:ln>
        </p:spPr>
      </p:sp>
      <p:sp>
        <p:nvSpPr>
          <p:cNvPr id="21" name="Text 19"/>
          <p:cNvSpPr/>
          <p:nvPr/>
        </p:nvSpPr>
        <p:spPr>
          <a:xfrm>
            <a:off x="731520" y="3982212"/>
            <a:ext cx="2331720" cy="402336"/>
          </a:xfrm>
          <a:prstGeom prst="rect">
            <a:avLst/>
          </a:prstGeom>
          <a:noFill/>
          <a:ln/>
        </p:spPr>
        <p:txBody>
          <a:bodyPr wrap="square" lIns="0" tIns="0" rIns="0" bIns="0" rtlCol="0" anchor="ctr"/>
          <a:lstStyle/>
          <a:p>
            <a:pPr algn="ctr" indent="0" marL="0">
              <a:buNone/>
            </a:pPr>
            <a:r>
              <a:rPr lang="en-US" sz="1200" b="1" dirty="0">
                <a:solidFill>
                  <a:srgbClr val="A8261E"/>
                </a:solidFill>
                <a:latin typeface="Calibri" pitchFamily="34" charset="0"/>
                <a:ea typeface="Calibri" pitchFamily="34" charset="-122"/>
                <a:cs typeface="Calibri" pitchFamily="34" charset="-120"/>
              </a:rPr>
              <a:t>Not a one-time project</a:t>
            </a:r>
            <a:endParaRPr lang="en-US" sz="1200" dirty="0"/>
          </a:p>
        </p:txBody>
      </p:sp>
      <p:sp>
        <p:nvSpPr>
          <p:cNvPr id="22" name="Text 20"/>
          <p:cNvSpPr/>
          <p:nvPr/>
        </p:nvSpPr>
        <p:spPr>
          <a:xfrm>
            <a:off x="3264408" y="3849624"/>
            <a:ext cx="8177479" cy="649224"/>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A model is a maintained asset. After an overhaul, a retrofit or a sustained coal change it must be retrained, or it will quietly become wrong.</a:t>
            </a:r>
            <a:endParaRPr lang="en-US" sz="1250" dirty="0"/>
          </a:p>
        </p:txBody>
      </p:sp>
      <p:sp>
        <p:nvSpPr>
          <p:cNvPr id="23" name="Shape 21"/>
          <p:cNvSpPr/>
          <p:nvPr/>
        </p:nvSpPr>
        <p:spPr>
          <a:xfrm>
            <a:off x="566928" y="4590288"/>
            <a:ext cx="11057839" cy="649224"/>
          </a:xfrm>
          <a:prstGeom prst="roundRect">
            <a:avLst>
              <a:gd name="adj" fmla="val 845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4" name="Shape 22"/>
          <p:cNvSpPr/>
          <p:nvPr/>
        </p:nvSpPr>
        <p:spPr>
          <a:xfrm>
            <a:off x="731520" y="4722876"/>
            <a:ext cx="2331720" cy="402336"/>
          </a:xfrm>
          <a:prstGeom prst="roundRect">
            <a:avLst>
              <a:gd name="adj" fmla="val 13636"/>
            </a:avLst>
          </a:prstGeom>
          <a:solidFill>
            <a:srgbClr val="F9E7E5"/>
          </a:solidFill>
          <a:ln w="9525">
            <a:solidFill>
              <a:srgbClr val="A8261E"/>
            </a:solidFill>
            <a:prstDash val="solid"/>
          </a:ln>
        </p:spPr>
      </p:sp>
      <p:sp>
        <p:nvSpPr>
          <p:cNvPr id="25" name="Text 23"/>
          <p:cNvSpPr/>
          <p:nvPr/>
        </p:nvSpPr>
        <p:spPr>
          <a:xfrm>
            <a:off x="731520" y="4722876"/>
            <a:ext cx="2331720" cy="402336"/>
          </a:xfrm>
          <a:prstGeom prst="rect">
            <a:avLst/>
          </a:prstGeom>
          <a:noFill/>
          <a:ln/>
        </p:spPr>
        <p:txBody>
          <a:bodyPr wrap="square" lIns="0" tIns="0" rIns="0" bIns="0" rtlCol="0" anchor="ctr"/>
          <a:lstStyle/>
          <a:p>
            <a:pPr algn="ctr" indent="0" marL="0">
              <a:buNone/>
            </a:pPr>
            <a:r>
              <a:rPr lang="en-US" sz="1200" b="1" dirty="0">
                <a:solidFill>
                  <a:srgbClr val="A8261E"/>
                </a:solidFill>
                <a:latin typeface="Calibri" pitchFamily="34" charset="0"/>
                <a:ea typeface="Calibri" pitchFamily="34" charset="-122"/>
                <a:cs typeface="Calibri" pitchFamily="34" charset="-120"/>
              </a:rPr>
              <a:t>Not a headcount saving</a:t>
            </a:r>
            <a:endParaRPr lang="en-US" sz="1200" dirty="0"/>
          </a:p>
        </p:txBody>
      </p:sp>
      <p:sp>
        <p:nvSpPr>
          <p:cNvPr id="26" name="Text 24"/>
          <p:cNvSpPr/>
          <p:nvPr/>
        </p:nvSpPr>
        <p:spPr>
          <a:xfrm>
            <a:off x="3264408" y="4590288"/>
            <a:ext cx="8177479" cy="649224"/>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It covers equipment nobody has time to walk round, and gives earlier warning. It does not remove the engineer who decides what that warning means.</a:t>
            </a:r>
            <a:endParaRPr lang="en-US" sz="1250" dirty="0"/>
          </a:p>
        </p:txBody>
      </p:sp>
      <p:sp>
        <p:nvSpPr>
          <p:cNvPr id="27" name="Shape 25"/>
          <p:cNvSpPr/>
          <p:nvPr/>
        </p:nvSpPr>
        <p:spPr>
          <a:xfrm>
            <a:off x="566928" y="5404104"/>
            <a:ext cx="11057839" cy="786384"/>
          </a:xfrm>
          <a:prstGeom prst="roundRect">
            <a:avLst>
              <a:gd name="adj" fmla="val 5814"/>
            </a:avLst>
          </a:prstGeom>
          <a:solidFill>
            <a:srgbClr val="A8261E"/>
          </a:solidFill>
          <a:ln w="12700">
            <a:solidFill>
              <a:srgbClr val="A8261E"/>
            </a:solidFill>
            <a:prstDash val="solid"/>
          </a:ln>
        </p:spPr>
      </p:sp>
      <p:sp>
        <p:nvSpPr>
          <p:cNvPr id="28" name="Text 26"/>
          <p:cNvSpPr/>
          <p:nvPr/>
        </p:nvSpPr>
        <p:spPr>
          <a:xfrm>
            <a:off x="804672" y="5404104"/>
            <a:ext cx="10582351" cy="78638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Never use a model for: protection settings · trip and interlock logic · permit and clearance decisions · statutory returns without verification · anything reaching the plant without an engineer's signature</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vocabulary you will hear this year</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Eleven words grouped — plain meaning, plant example, and what to watch for</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1. AI fundamentals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21</a:t>
            </a:r>
            <a:endParaRPr lang="en-US" sz="9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66928" y="1828800"/>
          <a:ext cx="11057839" cy="914400"/>
        </p:xfrm>
        <a:graphic>
          <a:graphicData uri="http://schemas.openxmlformats.org/drawingml/2006/table">
            <a:tbl>
              <a:tblPr/>
              <a:tblGrid>
                <a:gridCol w="1624724"/>
                <a:gridCol w="3045895"/>
                <a:gridCol w="3619632"/>
                <a:gridCol w="2767589"/>
              </a:tblGrid>
              <a:tr h="7315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Terms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Plain meaning</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Plant example</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Watch out for</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Model · Training</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A rule learned from history, and the act of learning it</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One model per ID fan, trained on a year of healthy running</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A model trained on a faulty period learns the fault as normal</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Feature · Label · Residual</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The input you build · the answer you teach · actual minus expected</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Load-normalised bearing rise · lab GCV · six unexplained degrees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No label means no supervised model — establish that on day one</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Drift · Inference · Edge</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The plant moves away from the model · running it · running it near the machine</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Model stale after overhaul · a residual every minute · a box in the LT room</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Nobody owns retraining after an overhaul</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LLM · RAG · Agent</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Language model · the same model grounded in your documents · one that calls tools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Draft a trip report · answer from the O&amp;M manual with a citation · assemble a work order</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Ungrounded answers invent numbers; an agent needs an approval gate</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bl>
          </a:graphicData>
        </a:graphic>
      </p:graphicFrame>
      <p:sp>
        <p:nvSpPr>
          <p:cNvPr id="8" name="Shape 5"/>
          <p:cNvSpPr/>
          <p:nvPr/>
        </p:nvSpPr>
        <p:spPr>
          <a:xfrm>
            <a:off x="566928" y="5650992"/>
            <a:ext cx="11057839" cy="548640"/>
          </a:xfrm>
          <a:prstGeom prst="roundRect">
            <a:avLst>
              <a:gd name="adj" fmla="val 8333"/>
            </a:avLst>
          </a:prstGeom>
          <a:solidFill>
            <a:srgbClr val="FCEDE0"/>
          </a:solidFill>
          <a:ln w="12700">
            <a:solidFill>
              <a:srgbClr val="D96A16"/>
            </a:solidFill>
            <a:prstDash val="solid"/>
          </a:ln>
        </p:spPr>
      </p:sp>
      <p:sp>
        <p:nvSpPr>
          <p:cNvPr id="9" name="Text 6"/>
          <p:cNvSpPr/>
          <p:nvPr/>
        </p:nvSpPr>
        <p:spPr>
          <a:xfrm>
            <a:off x="768096" y="565099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If a vendor uses a word you cannot map onto this table, ask them to map it. The good ones manage it in one sentence.</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data pathologies that quietly destroy models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None of these show up on an operator screen. Every one shows up in the model.</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1. AI fundamentals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22</a:t>
            </a:r>
            <a:endParaRPr lang="en-US" sz="950" dirty="0"/>
          </a:p>
        </p:txBody>
      </p:sp>
      <p:sp>
        <p:nvSpPr>
          <p:cNvPr id="7" name="Shape 5"/>
          <p:cNvSpPr/>
          <p:nvPr/>
        </p:nvSpPr>
        <p:spPr>
          <a:xfrm>
            <a:off x="566928" y="1627632"/>
            <a:ext cx="5391760" cy="3429000"/>
          </a:xfrm>
          <a:prstGeom prst="roundRect">
            <a:avLst>
              <a:gd name="adj" fmla="val 1600"/>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5391760" cy="493776"/>
          </a:xfrm>
          <a:prstGeom prst="roundRect">
            <a:avLst>
              <a:gd name="adj" fmla="val 9259"/>
            </a:avLst>
          </a:prstGeom>
          <a:solidFill>
            <a:srgbClr val="2A3644"/>
          </a:solidFill>
          <a:ln/>
        </p:spPr>
      </p:sp>
      <p:sp>
        <p:nvSpPr>
          <p:cNvPr id="9" name="Text 7"/>
          <p:cNvSpPr/>
          <p:nvPr/>
        </p:nvSpPr>
        <p:spPr>
          <a:xfrm>
            <a:off x="786384" y="1627632"/>
            <a:ext cx="4980280" cy="49377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What is wrong with the data</a:t>
            </a:r>
            <a:endParaRPr lang="en-US" sz="1400" dirty="0"/>
          </a:p>
        </p:txBody>
      </p:sp>
      <p:sp>
        <p:nvSpPr>
          <p:cNvPr id="10" name="Text 8"/>
          <p:cNvSpPr/>
          <p:nvPr/>
        </p:nvSpPr>
        <p:spPr>
          <a:xfrm>
            <a:off x="804672" y="2267712"/>
            <a:ext cx="4916272" cy="265176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Historian compression and exception deviation set for screen trends, not analysis</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A frozen transmitter reading a perfectly plausible constant value</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Tags on the DCS graphic that were never configured to historise at all</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DCS tag name, historian point and SAP equipment number that do not agree</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Timestamps from clocks never synchronised across DCS, historian and lab</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Coal and chemistry results living in spreadsheets outside any system</a:t>
            </a:r>
            <a:endParaRPr lang="en-US" sz="1050" dirty="0"/>
          </a:p>
        </p:txBody>
      </p:sp>
      <p:sp>
        <p:nvSpPr>
          <p:cNvPr id="11" name="Shape 9"/>
          <p:cNvSpPr/>
          <p:nvPr/>
        </p:nvSpPr>
        <p:spPr>
          <a:xfrm>
            <a:off x="6233008" y="1627632"/>
            <a:ext cx="5391760" cy="3429000"/>
          </a:xfrm>
          <a:prstGeom prst="roundRect">
            <a:avLst>
              <a:gd name="adj" fmla="val 1600"/>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233008" y="1627632"/>
            <a:ext cx="5391760" cy="493776"/>
          </a:xfrm>
          <a:prstGeom prst="roundRect">
            <a:avLst>
              <a:gd name="adj" fmla="val 9259"/>
            </a:avLst>
          </a:prstGeom>
          <a:solidFill>
            <a:srgbClr val="11707F"/>
          </a:solidFill>
          <a:ln/>
        </p:spPr>
      </p:sp>
      <p:sp>
        <p:nvSpPr>
          <p:cNvPr id="13" name="Text 11"/>
          <p:cNvSpPr/>
          <p:nvPr/>
        </p:nvSpPr>
        <p:spPr>
          <a:xfrm>
            <a:off x="6452464" y="1627632"/>
            <a:ext cx="4980280" cy="49377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What it does to the model</a:t>
            </a:r>
            <a:endParaRPr lang="en-US" sz="1400" dirty="0"/>
          </a:p>
        </p:txBody>
      </p:sp>
      <p:sp>
        <p:nvSpPr>
          <p:cNvPr id="14" name="Text 12"/>
          <p:cNvSpPr/>
          <p:nvPr/>
        </p:nvSpPr>
        <p:spPr>
          <a:xfrm>
            <a:off x="6470752" y="2267712"/>
            <a:ext cx="4916272" cy="265176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The slow drift the model exists to catch is discarded before it is ever stored</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The residual goes to zero, and the model reports perfect health on a sick machine</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The signal that would have explained the fault simply does not exist</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Alerts cannot be joined to work orders, so nothing is ever validated</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Cause and effect swap order, and the model learns the relationship backwards</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The answer key for every soft sensor is unavailable to the model that needs it</a:t>
            </a:r>
            <a:endParaRPr lang="en-US" sz="1050" dirty="0"/>
          </a:p>
        </p:txBody>
      </p:sp>
      <p:sp>
        <p:nvSpPr>
          <p:cNvPr id="15" name="Shape 13"/>
          <p:cNvSpPr/>
          <p:nvPr/>
        </p:nvSpPr>
        <p:spPr>
          <a:xfrm>
            <a:off x="566928" y="52395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2395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Not one of these is visible on an operator screen. Every one is fatal to a model. Fix the data before buying the algorithm.</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What changed in your head this hour</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Block one close</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1. AI fundamentals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23</a:t>
            </a:r>
            <a:endParaRPr lang="en-US" sz="950" dirty="0"/>
          </a:p>
        </p:txBody>
      </p:sp>
      <p:sp>
        <p:nvSpPr>
          <p:cNvPr id="7" name="Shape 5"/>
          <p:cNvSpPr/>
          <p:nvPr/>
        </p:nvSpPr>
        <p:spPr>
          <a:xfrm>
            <a:off x="566928"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92808"/>
            <a:ext cx="137160" cy="137160"/>
          </a:xfrm>
          <a:prstGeom prst="ellipse">
            <a:avLst/>
          </a:prstGeom>
          <a:solidFill>
            <a:srgbClr val="D96A16"/>
          </a:solidFill>
          <a:ln/>
        </p:spPr>
      </p:sp>
      <p:sp>
        <p:nvSpPr>
          <p:cNvPr id="9" name="Text 7"/>
          <p:cNvSpPr/>
          <p:nvPr/>
        </p:nvSpPr>
        <p:spPr>
          <a:xfrm>
            <a:off x="969264" y="1792224"/>
            <a:ext cx="485226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A threshold asks the wrong question</a:t>
            </a:r>
            <a:endParaRPr lang="en-US" sz="1450" dirty="0"/>
          </a:p>
        </p:txBody>
      </p:sp>
      <p:sp>
        <p:nvSpPr>
          <p:cNvPr id="10" name="Text 8"/>
          <p:cNvSpPr/>
          <p:nvPr/>
        </p:nvSpPr>
        <p:spPr>
          <a:xfrm>
            <a:off x="768096" y="2404872"/>
            <a:ext cx="5016856" cy="960120"/>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'Is it above 90 °C' has no context. 'Is it above what it should be at this load and ambient' is the question a model asks.</a:t>
            </a:r>
            <a:endParaRPr lang="en-US" sz="1200" dirty="0"/>
          </a:p>
        </p:txBody>
      </p:sp>
      <p:sp>
        <p:nvSpPr>
          <p:cNvPr id="11" name="Shape 9"/>
          <p:cNvSpPr/>
          <p:nvPr/>
        </p:nvSpPr>
        <p:spPr>
          <a:xfrm>
            <a:off x="6205576"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388456" y="1892808"/>
            <a:ext cx="137160" cy="137160"/>
          </a:xfrm>
          <a:prstGeom prst="ellipse">
            <a:avLst/>
          </a:prstGeom>
          <a:solidFill>
            <a:srgbClr val="D96A16"/>
          </a:solidFill>
          <a:ln/>
        </p:spPr>
      </p:sp>
      <p:sp>
        <p:nvSpPr>
          <p:cNvPr id="13" name="Text 11"/>
          <p:cNvSpPr/>
          <p:nvPr/>
        </p:nvSpPr>
        <p:spPr>
          <a:xfrm>
            <a:off x="6607912" y="1792224"/>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The residual is the whole idea</a:t>
            </a:r>
            <a:endParaRPr lang="en-US" sz="1450" dirty="0"/>
          </a:p>
        </p:txBody>
      </p:sp>
      <p:sp>
        <p:nvSpPr>
          <p:cNvPr id="14" name="Text 12"/>
          <p:cNvSpPr/>
          <p:nvPr/>
        </p:nvSpPr>
        <p:spPr>
          <a:xfrm>
            <a:off x="6406744" y="2203704"/>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Actual minus expected. Anomaly detection, soft sensing and loss attribution are three uses of one arithmetic operation.</a:t>
            </a:r>
            <a:endParaRPr lang="en-US" sz="1200" dirty="0"/>
          </a:p>
        </p:txBody>
      </p:sp>
      <p:sp>
        <p:nvSpPr>
          <p:cNvPr id="15" name="Shape 13"/>
          <p:cNvSpPr/>
          <p:nvPr/>
        </p:nvSpPr>
        <p:spPr>
          <a:xfrm>
            <a:off x="566928"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749808" y="3895344"/>
            <a:ext cx="137160" cy="137160"/>
          </a:xfrm>
          <a:prstGeom prst="ellipse">
            <a:avLst/>
          </a:prstGeom>
          <a:solidFill>
            <a:srgbClr val="D96A16"/>
          </a:solidFill>
          <a:ln/>
        </p:spPr>
      </p:sp>
      <p:sp>
        <p:nvSpPr>
          <p:cNvPr id="17" name="Text 15"/>
          <p:cNvSpPr/>
          <p:nvPr/>
        </p:nvSpPr>
        <p:spPr>
          <a:xfrm>
            <a:off x="969264"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Trust is earned on unseen data</a:t>
            </a:r>
            <a:endParaRPr lang="en-US" sz="1450" dirty="0"/>
          </a:p>
        </p:txBody>
      </p:sp>
      <p:sp>
        <p:nvSpPr>
          <p:cNvPr id="18" name="Text 16"/>
          <p:cNvSpPr/>
          <p:nvPr/>
        </p:nvSpPr>
        <p:spPr>
          <a:xfrm>
            <a:off x="768096"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A model judged on data it has already seen is a sales figure, not an engineering result. Ask what period it was tested on.</a:t>
            </a:r>
            <a:endParaRPr lang="en-US" sz="1200" dirty="0"/>
          </a:p>
        </p:txBody>
      </p:sp>
      <p:sp>
        <p:nvSpPr>
          <p:cNvPr id="19" name="Shape 17"/>
          <p:cNvSpPr/>
          <p:nvPr/>
        </p:nvSpPr>
        <p:spPr>
          <a:xfrm>
            <a:off x="6205576"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6388456" y="3895344"/>
            <a:ext cx="137160" cy="137160"/>
          </a:xfrm>
          <a:prstGeom prst="ellipse">
            <a:avLst/>
          </a:prstGeom>
          <a:solidFill>
            <a:srgbClr val="D96A16"/>
          </a:solidFill>
          <a:ln/>
        </p:spPr>
      </p:sp>
      <p:sp>
        <p:nvSpPr>
          <p:cNvPr id="21" name="Text 19"/>
          <p:cNvSpPr/>
          <p:nvPr/>
        </p:nvSpPr>
        <p:spPr>
          <a:xfrm>
            <a:off x="6607912"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Your data decides the ceiling</a:t>
            </a:r>
            <a:endParaRPr lang="en-US" sz="1450" dirty="0"/>
          </a:p>
        </p:txBody>
      </p:sp>
      <p:sp>
        <p:nvSpPr>
          <p:cNvPr id="22" name="Text 20"/>
          <p:cNvSpPr/>
          <p:nvPr/>
        </p:nvSpPr>
        <p:spPr>
          <a:xfrm>
            <a:off x="6406744"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Compression settings, frozen transmitters and unhistorised tags cap what any algorithm can do. That work is yours, and it starts before procurement.</a:t>
            </a:r>
            <a:endParaRPr lang="en-US" sz="1200" dirty="0"/>
          </a:p>
        </p:txBody>
      </p:sp>
      <p:sp>
        <p:nvSpPr>
          <p:cNvPr id="23" name="Shape 21"/>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24" name="Text 22"/>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Nothing in the next four hours contradicts this hour. It only adds equipment, rupees, and your own hands on the keyboard.</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C2530"/>
        </a:solidFill>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D96A16"/>
          </a:solidFill>
          <a:ln/>
        </p:spPr>
      </p:sp>
      <p:sp>
        <p:nvSpPr>
          <p:cNvPr id="3" name="Text 1"/>
          <p:cNvSpPr/>
          <p:nvPr/>
        </p:nvSpPr>
        <p:spPr>
          <a:xfrm>
            <a:off x="9052560" y="822960"/>
            <a:ext cx="2377440" cy="2011680"/>
          </a:xfrm>
          <a:prstGeom prst="rect">
            <a:avLst/>
          </a:prstGeom>
          <a:noFill/>
          <a:ln/>
        </p:spPr>
        <p:txBody>
          <a:bodyPr wrap="square" lIns="0" tIns="0" rIns="0" bIns="0" rtlCol="0" anchor="ctr"/>
          <a:lstStyle/>
          <a:p>
            <a:pPr algn="r" indent="0" marL="0">
              <a:buNone/>
            </a:pPr>
            <a:r>
              <a:rPr lang="en-US" sz="13200" b="1" dirty="0">
                <a:solidFill>
                  <a:srgbClr val="2C3B4B"/>
                </a:solidFill>
                <a:latin typeface="Cambria" pitchFamily="34" charset="0"/>
                <a:ea typeface="Cambria" pitchFamily="34" charset="-122"/>
                <a:cs typeface="Cambria" pitchFamily="34" charset="-120"/>
              </a:rPr>
              <a:t>2</a:t>
            </a:r>
            <a:endParaRPr lang="en-US" sz="13200" dirty="0"/>
          </a:p>
        </p:txBody>
      </p:sp>
      <p:sp>
        <p:nvSpPr>
          <p:cNvPr id="4" name="Text 2"/>
          <p:cNvSpPr/>
          <p:nvPr/>
        </p:nvSpPr>
        <p:spPr>
          <a:xfrm>
            <a:off x="1051560" y="1920240"/>
            <a:ext cx="9601200" cy="310896"/>
          </a:xfrm>
          <a:prstGeom prst="rect">
            <a:avLst/>
          </a:prstGeom>
          <a:noFill/>
          <a:ln/>
        </p:spPr>
        <p:txBody>
          <a:bodyPr wrap="square" lIns="0" tIns="0" rIns="0" bIns="0" rtlCol="0" anchor="ctr"/>
          <a:lstStyle/>
          <a:p>
            <a:pPr indent="0" marL="0">
              <a:buNone/>
            </a:pPr>
            <a:r>
              <a:rPr lang="en-US" sz="1250" b="1" spc="220" kern="0" dirty="0">
                <a:solidFill>
                  <a:srgbClr val="D96A16"/>
                </a:solidFill>
                <a:latin typeface="Calibri" pitchFamily="34" charset="0"/>
                <a:ea typeface="Calibri" pitchFamily="34" charset="-122"/>
                <a:cs typeface="Calibri" pitchFamily="34" charset="-120"/>
              </a:rPr>
              <a:t>SESSION</a:t>
            </a:r>
            <a:endParaRPr lang="en-US" sz="1250" dirty="0"/>
          </a:p>
        </p:txBody>
      </p:sp>
      <p:sp>
        <p:nvSpPr>
          <p:cNvPr id="5" name="Text 3"/>
          <p:cNvSpPr/>
          <p:nvPr/>
        </p:nvSpPr>
        <p:spPr>
          <a:xfrm>
            <a:off x="1051560" y="2212848"/>
            <a:ext cx="8046720" cy="11887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From conventional to intelligent monitoring</a:t>
            </a:r>
            <a:endParaRPr lang="en-US" sz="3400" dirty="0"/>
          </a:p>
        </p:txBody>
      </p:sp>
      <p:sp>
        <p:nvSpPr>
          <p:cNvPr id="6" name="Text 4"/>
          <p:cNvSpPr/>
          <p:nvPr/>
        </p:nvSpPr>
        <p:spPr>
          <a:xfrm>
            <a:off x="1051560" y="3529584"/>
            <a:ext cx="8778240" cy="603504"/>
          </a:xfrm>
          <a:prstGeom prst="rect">
            <a:avLst/>
          </a:prstGeom>
          <a:noFill/>
          <a:ln/>
        </p:spPr>
        <p:txBody>
          <a:bodyPr wrap="square" lIns="0" tIns="0" rIns="0" bIns="0" rtlCol="0" anchor="t"/>
          <a:lstStyle/>
          <a:p>
            <a:pPr indent="0" marL="0">
              <a:buNone/>
            </a:pPr>
            <a:r>
              <a:rPr lang="en-US" sz="1500" dirty="0">
                <a:solidFill>
                  <a:srgbClr val="A9B8C6"/>
                </a:solidFill>
                <a:latin typeface="Calibri" pitchFamily="34" charset="0"/>
                <a:ea typeface="Calibri" pitchFamily="34" charset="-122"/>
                <a:cs typeface="Calibri" pitchFamily="34" charset="-120"/>
              </a:rPr>
              <a:t>Why a fixed alarm arrives last, and what a residual sees weeks earlier</a:t>
            </a:r>
            <a:endParaRPr lang="en-US" sz="1500" dirty="0"/>
          </a:p>
        </p:txBody>
      </p:sp>
      <p:sp>
        <p:nvSpPr>
          <p:cNvPr id="7" name="Shape 5"/>
          <p:cNvSpPr/>
          <p:nvPr/>
        </p:nvSpPr>
        <p:spPr>
          <a:xfrm>
            <a:off x="1078992" y="4315968"/>
            <a:ext cx="118872" cy="118872"/>
          </a:xfrm>
          <a:prstGeom prst="ellipse">
            <a:avLst/>
          </a:prstGeom>
          <a:solidFill>
            <a:srgbClr val="D96A16"/>
          </a:solidFill>
          <a:ln/>
        </p:spPr>
      </p:sp>
      <p:sp>
        <p:nvSpPr>
          <p:cNvPr id="8" name="Text 6"/>
          <p:cNvSpPr/>
          <p:nvPr/>
        </p:nvSpPr>
        <p:spPr>
          <a:xfrm>
            <a:off x="1389888" y="4224528"/>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The P–F curve and where each technique sits on it</a:t>
            </a:r>
            <a:endParaRPr lang="en-US" sz="1250" dirty="0"/>
          </a:p>
        </p:txBody>
      </p:sp>
      <p:sp>
        <p:nvSpPr>
          <p:cNvPr id="9" name="Shape 7"/>
          <p:cNvSpPr/>
          <p:nvPr/>
        </p:nvSpPr>
        <p:spPr>
          <a:xfrm>
            <a:off x="1078992" y="4718304"/>
            <a:ext cx="118872" cy="118872"/>
          </a:xfrm>
          <a:prstGeom prst="ellipse">
            <a:avLst/>
          </a:prstGeom>
          <a:solidFill>
            <a:srgbClr val="D96A16"/>
          </a:solidFill>
          <a:ln/>
        </p:spPr>
      </p:sp>
      <p:sp>
        <p:nvSpPr>
          <p:cNvPr id="10" name="Text 8"/>
          <p:cNvSpPr/>
          <p:nvPr/>
        </p:nvSpPr>
        <p:spPr>
          <a:xfrm>
            <a:off x="1389888" y="4626864"/>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Anomaly detection without the mathematics</a:t>
            </a:r>
            <a:endParaRPr lang="en-US" sz="1250" dirty="0"/>
          </a:p>
        </p:txBody>
      </p:sp>
      <p:sp>
        <p:nvSpPr>
          <p:cNvPr id="11" name="Shape 9"/>
          <p:cNvSpPr/>
          <p:nvPr/>
        </p:nvSpPr>
        <p:spPr>
          <a:xfrm>
            <a:off x="1078992" y="5120640"/>
            <a:ext cx="118872" cy="118872"/>
          </a:xfrm>
          <a:prstGeom prst="ellipse">
            <a:avLst/>
          </a:prstGeom>
          <a:solidFill>
            <a:srgbClr val="D96A16"/>
          </a:solidFill>
          <a:ln/>
        </p:spPr>
      </p:sp>
      <p:sp>
        <p:nvSpPr>
          <p:cNvPr id="12" name="Text 10"/>
          <p:cNvSpPr/>
          <p:nvPr/>
        </p:nvSpPr>
        <p:spPr>
          <a:xfrm>
            <a:off x="1389888" y="5029200"/>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The residual pipeline, end to end</a:t>
            </a:r>
            <a:endParaRPr lang="en-US" sz="1250" dirty="0"/>
          </a:p>
        </p:txBody>
      </p:sp>
      <p:sp>
        <p:nvSpPr>
          <p:cNvPr id="13" name="Shape 11"/>
          <p:cNvSpPr/>
          <p:nvPr/>
        </p:nvSpPr>
        <p:spPr>
          <a:xfrm>
            <a:off x="1078992" y="5522976"/>
            <a:ext cx="118872" cy="118872"/>
          </a:xfrm>
          <a:prstGeom prst="ellipse">
            <a:avLst/>
          </a:prstGeom>
          <a:solidFill>
            <a:srgbClr val="D96A16"/>
          </a:solidFill>
          <a:ln/>
        </p:spPr>
      </p:sp>
      <p:sp>
        <p:nvSpPr>
          <p:cNvPr id="14" name="Text 12"/>
          <p:cNvSpPr/>
          <p:nvPr/>
        </p:nvSpPr>
        <p:spPr>
          <a:xfrm>
            <a:off x="1389888" y="5431536"/>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Alert quality, and the alert-to-work-order loop</a:t>
            </a:r>
            <a:endParaRPr lang="en-US" sz="1250" dirty="0"/>
          </a:p>
        </p:txBody>
      </p:sp>
      <p:sp>
        <p:nvSpPr>
          <p:cNvPr id="15" name="Shape 13"/>
          <p:cNvSpPr/>
          <p:nvPr/>
        </p:nvSpPr>
        <p:spPr>
          <a:xfrm>
            <a:off x="9281160" y="4224528"/>
            <a:ext cx="1965960" cy="859536"/>
          </a:xfrm>
          <a:prstGeom prst="roundRect">
            <a:avLst>
              <a:gd name="adj" fmla="val 6383"/>
            </a:avLst>
          </a:prstGeom>
          <a:solidFill>
            <a:srgbClr val="2A3644"/>
          </a:solidFill>
          <a:ln w="12700">
            <a:solidFill>
              <a:srgbClr val="D96A16"/>
            </a:solidFill>
            <a:prstDash val="solid"/>
          </a:ln>
        </p:spPr>
      </p:sp>
      <p:sp>
        <p:nvSpPr>
          <p:cNvPr id="16" name="Text 14"/>
          <p:cNvSpPr/>
          <p:nvPr/>
        </p:nvSpPr>
        <p:spPr>
          <a:xfrm>
            <a:off x="9281160" y="4334256"/>
            <a:ext cx="1965960" cy="384048"/>
          </a:xfrm>
          <a:prstGeom prst="rect">
            <a:avLst/>
          </a:prstGeom>
          <a:noFill/>
          <a:ln/>
        </p:spPr>
        <p:txBody>
          <a:bodyPr wrap="square" lIns="0" tIns="0" rIns="0" bIns="0" rtlCol="0" anchor="ctr"/>
          <a:lstStyle/>
          <a:p>
            <a:pPr algn="ctr" indent="0" marL="0">
              <a:buNone/>
            </a:pPr>
            <a:r>
              <a:rPr lang="en-US" sz="1600" b="1" dirty="0">
                <a:solidFill>
                  <a:srgbClr val="D96A16"/>
                </a:solidFill>
                <a:latin typeface="Cambria" pitchFamily="34" charset="0"/>
                <a:ea typeface="Cambria" pitchFamily="34" charset="-122"/>
                <a:cs typeface="Cambria" pitchFamily="34" charset="-120"/>
              </a:rPr>
              <a:t>11:25 – 12:10</a:t>
            </a:r>
            <a:endParaRPr lang="en-US" sz="1600" dirty="0"/>
          </a:p>
        </p:txBody>
      </p:sp>
      <p:sp>
        <p:nvSpPr>
          <p:cNvPr id="17" name="Text 15"/>
          <p:cNvSpPr/>
          <p:nvPr/>
        </p:nvSpPr>
        <p:spPr>
          <a:xfrm>
            <a:off x="9281160" y="4700016"/>
            <a:ext cx="1965960" cy="310896"/>
          </a:xfrm>
          <a:prstGeom prst="rect">
            <a:avLst/>
          </a:prstGeom>
          <a:noFill/>
          <a:ln/>
        </p:spPr>
        <p:txBody>
          <a:bodyPr wrap="square" lIns="0" tIns="0" rIns="0" bIns="0" rtlCol="0" anchor="ctr"/>
          <a:lstStyle/>
          <a:p>
            <a:pPr algn="ctr" indent="0" marL="0">
              <a:buNone/>
            </a:pPr>
            <a:r>
              <a:rPr lang="en-US" sz="1100" dirty="0">
                <a:solidFill>
                  <a:srgbClr val="9BAAB8"/>
                </a:solidFill>
                <a:latin typeface="Calibri" pitchFamily="34" charset="0"/>
                <a:ea typeface="Calibri" pitchFamily="34" charset="-122"/>
                <a:cs typeface="Calibri" pitchFamily="34" charset="-120"/>
              </a:rPr>
              <a:t>45 minutes</a:t>
            </a:r>
            <a:endParaRPr lang="en-US" sz="1100" dirty="0"/>
          </a:p>
        </p:txBody>
      </p:sp>
      <p:sp>
        <p:nvSpPr>
          <p:cNvPr id="18" name="Text 16"/>
          <p:cNvSpPr/>
          <p:nvPr/>
        </p:nvSpPr>
        <p:spPr>
          <a:xfrm>
            <a:off x="1051560" y="5797296"/>
            <a:ext cx="9601200" cy="329184"/>
          </a:xfrm>
          <a:prstGeom prst="rect">
            <a:avLst/>
          </a:prstGeom>
          <a:noFill/>
          <a:ln/>
        </p:spPr>
        <p:txBody>
          <a:bodyPr wrap="square" lIns="0" tIns="0" rIns="0" bIns="0" rtlCol="0" anchor="ctr"/>
          <a:lstStyle/>
          <a:p>
            <a:pPr indent="0" marL="0">
              <a:buNone/>
            </a:pPr>
            <a:r>
              <a:rPr lang="en-US" sz="1200" i="1" dirty="0">
                <a:solidFill>
                  <a:srgbClr val="86C0C9"/>
                </a:solidFill>
                <a:latin typeface="Calibri" pitchFamily="34" charset="0"/>
                <a:ea typeface="Calibri" pitchFamily="34" charset="-122"/>
                <a:cs typeface="Calibri" pitchFamily="34" charset="-120"/>
              </a:rPr>
              <a:t>Hands-on: SIM-1 — residual anomaly detection</a:t>
            </a:r>
            <a:endParaRPr lang="en-US" sz="1200" dirty="0"/>
          </a:p>
        </p:txBody>
      </p:sp>
      <p:sp>
        <p:nvSpPr>
          <p:cNvPr id="19" name="Text 17"/>
          <p:cNvSpPr/>
          <p:nvPr/>
        </p:nvSpPr>
        <p:spPr>
          <a:xfrm>
            <a:off x="11140135" y="6419088"/>
            <a:ext cx="502920" cy="274320"/>
          </a:xfrm>
          <a:prstGeom prst="rect">
            <a:avLst/>
          </a:prstGeom>
          <a:noFill/>
          <a:ln/>
        </p:spPr>
        <p:txBody>
          <a:bodyPr wrap="square" lIns="0" tIns="0" rIns="0" bIns="0" rtlCol="0" anchor="ctr"/>
          <a:lstStyle/>
          <a:p>
            <a:pPr algn="r" indent="0" marL="0">
              <a:buNone/>
            </a:pPr>
            <a:r>
              <a:rPr lang="en-US" sz="950" dirty="0">
                <a:solidFill>
                  <a:srgbClr val="5E6E7C"/>
                </a:solidFill>
                <a:latin typeface="Calibri" pitchFamily="34" charset="0"/>
                <a:ea typeface="Calibri" pitchFamily="34" charset="-122"/>
                <a:cs typeface="Calibri" pitchFamily="34" charset="-120"/>
              </a:rPr>
              <a:t>24</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P–F curve, and where each technique sits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From first detectable symptom to functional failure — who notices, and when</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2. Intelligent monitoring</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25</a:t>
            </a:r>
            <a:endParaRPr lang="en-US" sz="950" dirty="0"/>
          </a:p>
        </p:txBody>
      </p:sp>
      <p:sp>
        <p:nvSpPr>
          <p:cNvPr id="7" name="Shape 5"/>
          <p:cNvSpPr/>
          <p:nvPr/>
        </p:nvSpPr>
        <p:spPr>
          <a:xfrm>
            <a:off x="566928" y="1627632"/>
            <a:ext cx="11057839" cy="509778"/>
          </a:xfrm>
          <a:prstGeom prst="roundRect">
            <a:avLst>
              <a:gd name="adj" fmla="val 1076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13232" y="1827657"/>
            <a:ext cx="146304" cy="146304"/>
          </a:xfrm>
          <a:prstGeom prst="ellipse">
            <a:avLst/>
          </a:prstGeom>
          <a:solidFill>
            <a:srgbClr val="3B4A5A"/>
          </a:solidFill>
          <a:ln/>
        </p:spPr>
      </p:sp>
      <p:sp>
        <p:nvSpPr>
          <p:cNvPr id="9" name="Text 7"/>
          <p:cNvSpPr/>
          <p:nvPr/>
        </p:nvSpPr>
        <p:spPr>
          <a:xfrm>
            <a:off x="969264" y="1627632"/>
            <a:ext cx="3794760" cy="50977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Material or clearance change begins</a:t>
            </a:r>
            <a:endParaRPr lang="en-US" sz="1250" dirty="0"/>
          </a:p>
        </p:txBody>
      </p:sp>
      <p:sp>
        <p:nvSpPr>
          <p:cNvPr id="10" name="Text 8"/>
          <p:cNvSpPr/>
          <p:nvPr/>
        </p:nvSpPr>
        <p:spPr>
          <a:xfrm>
            <a:off x="4791456" y="1627632"/>
            <a:ext cx="5297119" cy="509778"/>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Nothing detectable by any instrument</a:t>
            </a:r>
            <a:endParaRPr lang="en-US" sz="1200" dirty="0"/>
          </a:p>
        </p:txBody>
      </p:sp>
      <p:sp>
        <p:nvSpPr>
          <p:cNvPr id="11" name="Text 9"/>
          <p:cNvSpPr/>
          <p:nvPr/>
        </p:nvSpPr>
        <p:spPr>
          <a:xfrm>
            <a:off x="10207447" y="1627632"/>
            <a:ext cx="1325880" cy="509778"/>
          </a:xfrm>
          <a:prstGeom prst="rect">
            <a:avLst/>
          </a:prstGeom>
          <a:noFill/>
          <a:ln/>
        </p:spPr>
        <p:txBody>
          <a:bodyPr wrap="square" lIns="0" tIns="0" rIns="0" bIns="0" rtlCol="0" anchor="ctr"/>
          <a:lstStyle/>
          <a:p>
            <a:pPr algn="r" indent="0" marL="0">
              <a:buNone/>
            </a:pPr>
            <a:r>
              <a:rPr lang="en-US" sz="1200" b="1" dirty="0">
                <a:solidFill>
                  <a:srgbClr val="D96A16"/>
                </a:solidFill>
                <a:latin typeface="Calibri" pitchFamily="34" charset="0"/>
                <a:ea typeface="Calibri" pitchFamily="34" charset="-122"/>
                <a:cs typeface="Calibri" pitchFamily="34" charset="-120"/>
              </a:rPr>
              <a:t>—</a:t>
            </a:r>
            <a:endParaRPr lang="en-US" sz="1200" dirty="0"/>
          </a:p>
        </p:txBody>
      </p:sp>
      <p:sp>
        <p:nvSpPr>
          <p:cNvPr id="12" name="Shape 10"/>
          <p:cNvSpPr/>
          <p:nvPr/>
        </p:nvSpPr>
        <p:spPr>
          <a:xfrm>
            <a:off x="769402" y="2210562"/>
            <a:ext cx="10855365" cy="509778"/>
          </a:xfrm>
          <a:prstGeom prst="roundRect">
            <a:avLst>
              <a:gd name="adj" fmla="val 10762"/>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Shape 11"/>
          <p:cNvSpPr/>
          <p:nvPr/>
        </p:nvSpPr>
        <p:spPr>
          <a:xfrm>
            <a:off x="915706" y="2410587"/>
            <a:ext cx="146304" cy="146304"/>
          </a:xfrm>
          <a:prstGeom prst="ellipse">
            <a:avLst/>
          </a:prstGeom>
          <a:solidFill>
            <a:srgbClr val="3B4A5A"/>
          </a:solidFill>
          <a:ln/>
        </p:spPr>
      </p:sp>
      <p:sp>
        <p:nvSpPr>
          <p:cNvPr id="14" name="Text 12"/>
          <p:cNvSpPr/>
          <p:nvPr/>
        </p:nvSpPr>
        <p:spPr>
          <a:xfrm>
            <a:off x="1171738" y="2210562"/>
            <a:ext cx="3794760" cy="50977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Ultrasonic and acoustic emission</a:t>
            </a:r>
            <a:endParaRPr lang="en-US" sz="1250" dirty="0"/>
          </a:p>
        </p:txBody>
      </p:sp>
      <p:sp>
        <p:nvSpPr>
          <p:cNvPr id="15" name="Text 13"/>
          <p:cNvSpPr/>
          <p:nvPr/>
        </p:nvSpPr>
        <p:spPr>
          <a:xfrm>
            <a:off x="4993930" y="2210562"/>
            <a:ext cx="5094645" cy="509778"/>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The earliest detectable change in the metal</a:t>
            </a:r>
            <a:endParaRPr lang="en-US" sz="1200" dirty="0"/>
          </a:p>
        </p:txBody>
      </p:sp>
      <p:sp>
        <p:nvSpPr>
          <p:cNvPr id="16" name="Text 14"/>
          <p:cNvSpPr/>
          <p:nvPr/>
        </p:nvSpPr>
        <p:spPr>
          <a:xfrm>
            <a:off x="10207447" y="2210562"/>
            <a:ext cx="1325880" cy="509778"/>
          </a:xfrm>
          <a:prstGeom prst="rect">
            <a:avLst/>
          </a:prstGeom>
          <a:noFill/>
          <a:ln/>
        </p:spPr>
        <p:txBody>
          <a:bodyPr wrap="square" lIns="0" tIns="0" rIns="0" bIns="0" rtlCol="0" anchor="ctr"/>
          <a:lstStyle/>
          <a:p>
            <a:pPr algn="r" indent="0" marL="0">
              <a:buNone/>
            </a:pPr>
            <a:r>
              <a:rPr lang="en-US" sz="1200" b="1" dirty="0">
                <a:solidFill>
                  <a:srgbClr val="D96A16"/>
                </a:solidFill>
                <a:latin typeface="Calibri" pitchFamily="34" charset="0"/>
                <a:ea typeface="Calibri" pitchFamily="34" charset="-122"/>
                <a:cs typeface="Calibri" pitchFamily="34" charset="-120"/>
              </a:rPr>
              <a:t>Months</a:t>
            </a:r>
            <a:endParaRPr lang="en-US" sz="1200" dirty="0"/>
          </a:p>
        </p:txBody>
      </p:sp>
      <p:sp>
        <p:nvSpPr>
          <p:cNvPr id="17" name="Shape 15"/>
          <p:cNvSpPr/>
          <p:nvPr/>
        </p:nvSpPr>
        <p:spPr>
          <a:xfrm>
            <a:off x="971877" y="2793492"/>
            <a:ext cx="10652891" cy="509778"/>
          </a:xfrm>
          <a:prstGeom prst="roundRect">
            <a:avLst>
              <a:gd name="adj" fmla="val 1076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8" name="Shape 16"/>
          <p:cNvSpPr/>
          <p:nvPr/>
        </p:nvSpPr>
        <p:spPr>
          <a:xfrm>
            <a:off x="1118181" y="2993517"/>
            <a:ext cx="146304" cy="146304"/>
          </a:xfrm>
          <a:prstGeom prst="ellipse">
            <a:avLst/>
          </a:prstGeom>
          <a:solidFill>
            <a:srgbClr val="3B4A5A"/>
          </a:solidFill>
          <a:ln/>
        </p:spPr>
      </p:sp>
      <p:sp>
        <p:nvSpPr>
          <p:cNvPr id="19" name="Text 17"/>
          <p:cNvSpPr/>
          <p:nvPr/>
        </p:nvSpPr>
        <p:spPr>
          <a:xfrm>
            <a:off x="1374213" y="2793492"/>
            <a:ext cx="3794760" cy="50977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Vibration analysis</a:t>
            </a:r>
            <a:endParaRPr lang="en-US" sz="1250" dirty="0"/>
          </a:p>
        </p:txBody>
      </p:sp>
      <p:sp>
        <p:nvSpPr>
          <p:cNvPr id="20" name="Text 18"/>
          <p:cNvSpPr/>
          <p:nvPr/>
        </p:nvSpPr>
        <p:spPr>
          <a:xfrm>
            <a:off x="5196405" y="2793492"/>
            <a:ext cx="4892171" cy="509778"/>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Bearing and rotor defect frequencies appear in the spectrum</a:t>
            </a:r>
            <a:endParaRPr lang="en-US" sz="1200" dirty="0"/>
          </a:p>
        </p:txBody>
      </p:sp>
      <p:sp>
        <p:nvSpPr>
          <p:cNvPr id="21" name="Text 19"/>
          <p:cNvSpPr/>
          <p:nvPr/>
        </p:nvSpPr>
        <p:spPr>
          <a:xfrm>
            <a:off x="10207447" y="2793492"/>
            <a:ext cx="1325880" cy="509778"/>
          </a:xfrm>
          <a:prstGeom prst="rect">
            <a:avLst/>
          </a:prstGeom>
          <a:noFill/>
          <a:ln/>
        </p:spPr>
        <p:txBody>
          <a:bodyPr wrap="square" lIns="0" tIns="0" rIns="0" bIns="0" rtlCol="0" anchor="ctr"/>
          <a:lstStyle/>
          <a:p>
            <a:pPr algn="r" indent="0" marL="0">
              <a:buNone/>
            </a:pPr>
            <a:r>
              <a:rPr lang="en-US" sz="1200" b="1" dirty="0">
                <a:solidFill>
                  <a:srgbClr val="D96A16"/>
                </a:solidFill>
                <a:latin typeface="Calibri" pitchFamily="34" charset="0"/>
                <a:ea typeface="Calibri" pitchFamily="34" charset="-122"/>
                <a:cs typeface="Calibri" pitchFamily="34" charset="-120"/>
              </a:rPr>
              <a:t>Weeks to months</a:t>
            </a:r>
            <a:endParaRPr lang="en-US" sz="1200" dirty="0"/>
          </a:p>
        </p:txBody>
      </p:sp>
      <p:sp>
        <p:nvSpPr>
          <p:cNvPr id="22" name="Shape 20"/>
          <p:cNvSpPr/>
          <p:nvPr/>
        </p:nvSpPr>
        <p:spPr>
          <a:xfrm>
            <a:off x="1174351" y="3376422"/>
            <a:ext cx="10450416" cy="509778"/>
          </a:xfrm>
          <a:prstGeom prst="roundRect">
            <a:avLst>
              <a:gd name="adj" fmla="val 10762"/>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3" name="Shape 21"/>
          <p:cNvSpPr/>
          <p:nvPr/>
        </p:nvSpPr>
        <p:spPr>
          <a:xfrm>
            <a:off x="1320655" y="3576447"/>
            <a:ext cx="146304" cy="146304"/>
          </a:xfrm>
          <a:prstGeom prst="ellipse">
            <a:avLst/>
          </a:prstGeom>
          <a:solidFill>
            <a:srgbClr val="D96A16"/>
          </a:solidFill>
          <a:ln/>
        </p:spPr>
      </p:sp>
      <p:sp>
        <p:nvSpPr>
          <p:cNvPr id="24" name="Text 22"/>
          <p:cNvSpPr/>
          <p:nvPr/>
        </p:nvSpPr>
        <p:spPr>
          <a:xfrm>
            <a:off x="1576687" y="3376422"/>
            <a:ext cx="3794760" cy="509778"/>
          </a:xfrm>
          <a:prstGeom prst="rect">
            <a:avLst/>
          </a:prstGeom>
          <a:noFill/>
          <a:ln/>
        </p:spPr>
        <p:txBody>
          <a:bodyPr wrap="square" lIns="0" tIns="0" rIns="0" bIns="0" rtlCol="0" anchor="ctr"/>
          <a:lstStyle/>
          <a:p>
            <a:pPr indent="0" marL="0">
              <a:buNone/>
            </a:pPr>
            <a:r>
              <a:rPr lang="en-US" sz="1250" b="1" dirty="0">
                <a:solidFill>
                  <a:srgbClr val="1C2530"/>
                </a:solidFill>
                <a:latin typeface="Calibri" pitchFamily="34" charset="0"/>
                <a:ea typeface="Calibri" pitchFamily="34" charset="-122"/>
                <a:cs typeface="Calibri" pitchFamily="34" charset="-120"/>
              </a:rPr>
              <a:t>Model-based residual monitoring</a:t>
            </a:r>
            <a:endParaRPr lang="en-US" sz="1250" dirty="0"/>
          </a:p>
        </p:txBody>
      </p:sp>
      <p:sp>
        <p:nvSpPr>
          <p:cNvPr id="25" name="Text 23"/>
          <p:cNvSpPr/>
          <p:nvPr/>
        </p:nvSpPr>
        <p:spPr>
          <a:xfrm>
            <a:off x="5398879" y="3376422"/>
            <a:ext cx="4689696" cy="509778"/>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Several historised signals deviate together from expected</a:t>
            </a:r>
            <a:endParaRPr lang="en-US" sz="1200" dirty="0"/>
          </a:p>
        </p:txBody>
      </p:sp>
      <p:sp>
        <p:nvSpPr>
          <p:cNvPr id="26" name="Text 24"/>
          <p:cNvSpPr/>
          <p:nvPr/>
        </p:nvSpPr>
        <p:spPr>
          <a:xfrm>
            <a:off x="10207447" y="3376422"/>
            <a:ext cx="1325880" cy="509778"/>
          </a:xfrm>
          <a:prstGeom prst="rect">
            <a:avLst/>
          </a:prstGeom>
          <a:noFill/>
          <a:ln/>
        </p:spPr>
        <p:txBody>
          <a:bodyPr wrap="square" lIns="0" tIns="0" rIns="0" bIns="0" rtlCol="0" anchor="ctr"/>
          <a:lstStyle/>
          <a:p>
            <a:pPr algn="r" indent="0" marL="0">
              <a:buNone/>
            </a:pPr>
            <a:r>
              <a:rPr lang="en-US" sz="1200" b="1" dirty="0">
                <a:solidFill>
                  <a:srgbClr val="D96A16"/>
                </a:solidFill>
                <a:latin typeface="Calibri" pitchFamily="34" charset="0"/>
                <a:ea typeface="Calibri" pitchFamily="34" charset="-122"/>
                <a:cs typeface="Calibri" pitchFamily="34" charset="-120"/>
              </a:rPr>
              <a:t>Weeks to months</a:t>
            </a:r>
            <a:endParaRPr lang="en-US" sz="1200" dirty="0"/>
          </a:p>
        </p:txBody>
      </p:sp>
      <p:sp>
        <p:nvSpPr>
          <p:cNvPr id="27" name="Shape 25"/>
          <p:cNvSpPr/>
          <p:nvPr/>
        </p:nvSpPr>
        <p:spPr>
          <a:xfrm>
            <a:off x="1376825" y="3959352"/>
            <a:ext cx="10247942" cy="509778"/>
          </a:xfrm>
          <a:prstGeom prst="roundRect">
            <a:avLst>
              <a:gd name="adj" fmla="val 1076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Shape 26"/>
          <p:cNvSpPr/>
          <p:nvPr/>
        </p:nvSpPr>
        <p:spPr>
          <a:xfrm>
            <a:off x="1523129" y="4159377"/>
            <a:ext cx="146304" cy="146304"/>
          </a:xfrm>
          <a:prstGeom prst="ellipse">
            <a:avLst/>
          </a:prstGeom>
          <a:solidFill>
            <a:srgbClr val="3B4A5A"/>
          </a:solidFill>
          <a:ln/>
        </p:spPr>
      </p:sp>
      <p:sp>
        <p:nvSpPr>
          <p:cNvPr id="29" name="Text 27"/>
          <p:cNvSpPr/>
          <p:nvPr/>
        </p:nvSpPr>
        <p:spPr>
          <a:xfrm>
            <a:off x="1779161" y="3959352"/>
            <a:ext cx="3794760" cy="50977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Oil analysis and thermography</a:t>
            </a:r>
            <a:endParaRPr lang="en-US" sz="1250" dirty="0"/>
          </a:p>
        </p:txBody>
      </p:sp>
      <p:sp>
        <p:nvSpPr>
          <p:cNvPr id="30" name="Text 28"/>
          <p:cNvSpPr/>
          <p:nvPr/>
        </p:nvSpPr>
        <p:spPr>
          <a:xfrm>
            <a:off x="5601353" y="3959352"/>
            <a:ext cx="4487222" cy="509778"/>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Wear debris in the oil, temperature rise on the surface</a:t>
            </a:r>
            <a:endParaRPr lang="en-US" sz="1200" dirty="0"/>
          </a:p>
        </p:txBody>
      </p:sp>
      <p:sp>
        <p:nvSpPr>
          <p:cNvPr id="31" name="Text 29"/>
          <p:cNvSpPr/>
          <p:nvPr/>
        </p:nvSpPr>
        <p:spPr>
          <a:xfrm>
            <a:off x="10207447" y="3959352"/>
            <a:ext cx="1325880" cy="509778"/>
          </a:xfrm>
          <a:prstGeom prst="rect">
            <a:avLst/>
          </a:prstGeom>
          <a:noFill/>
          <a:ln/>
        </p:spPr>
        <p:txBody>
          <a:bodyPr wrap="square" lIns="0" tIns="0" rIns="0" bIns="0" rtlCol="0" anchor="ctr"/>
          <a:lstStyle/>
          <a:p>
            <a:pPr algn="r" indent="0" marL="0">
              <a:buNone/>
            </a:pPr>
            <a:r>
              <a:rPr lang="en-US" sz="1200" b="1" dirty="0">
                <a:solidFill>
                  <a:srgbClr val="D96A16"/>
                </a:solidFill>
                <a:latin typeface="Calibri" pitchFamily="34" charset="0"/>
                <a:ea typeface="Calibri" pitchFamily="34" charset="-122"/>
                <a:cs typeface="Calibri" pitchFamily="34" charset="-120"/>
              </a:rPr>
              <a:t>Weeks</a:t>
            </a:r>
            <a:endParaRPr lang="en-US" sz="1200" dirty="0"/>
          </a:p>
        </p:txBody>
      </p:sp>
      <p:sp>
        <p:nvSpPr>
          <p:cNvPr id="32" name="Shape 30"/>
          <p:cNvSpPr/>
          <p:nvPr/>
        </p:nvSpPr>
        <p:spPr>
          <a:xfrm>
            <a:off x="1579299" y="4542282"/>
            <a:ext cx="10045468" cy="509778"/>
          </a:xfrm>
          <a:prstGeom prst="roundRect">
            <a:avLst>
              <a:gd name="adj" fmla="val 10762"/>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3" name="Shape 31"/>
          <p:cNvSpPr/>
          <p:nvPr/>
        </p:nvSpPr>
        <p:spPr>
          <a:xfrm>
            <a:off x="1725603" y="4742307"/>
            <a:ext cx="146304" cy="146304"/>
          </a:xfrm>
          <a:prstGeom prst="ellipse">
            <a:avLst/>
          </a:prstGeom>
          <a:solidFill>
            <a:srgbClr val="3B4A5A"/>
          </a:solidFill>
          <a:ln/>
        </p:spPr>
      </p:sp>
      <p:sp>
        <p:nvSpPr>
          <p:cNvPr id="34" name="Text 32"/>
          <p:cNvSpPr/>
          <p:nvPr/>
        </p:nvSpPr>
        <p:spPr>
          <a:xfrm>
            <a:off x="1981635" y="4542282"/>
            <a:ext cx="3794760" cy="50977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Audible noise and heat</a:t>
            </a:r>
            <a:endParaRPr lang="en-US" sz="1250" dirty="0"/>
          </a:p>
        </p:txBody>
      </p:sp>
      <p:sp>
        <p:nvSpPr>
          <p:cNvPr id="35" name="Text 33"/>
          <p:cNvSpPr/>
          <p:nvPr/>
        </p:nvSpPr>
        <p:spPr>
          <a:xfrm>
            <a:off x="5803827" y="4542282"/>
            <a:ext cx="4284748" cy="509778"/>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The operator on rounds notices something has changed</a:t>
            </a:r>
            <a:endParaRPr lang="en-US" sz="1200" dirty="0"/>
          </a:p>
        </p:txBody>
      </p:sp>
      <p:sp>
        <p:nvSpPr>
          <p:cNvPr id="36" name="Text 34"/>
          <p:cNvSpPr/>
          <p:nvPr/>
        </p:nvSpPr>
        <p:spPr>
          <a:xfrm>
            <a:off x="10207447" y="4542282"/>
            <a:ext cx="1325880" cy="509778"/>
          </a:xfrm>
          <a:prstGeom prst="rect">
            <a:avLst/>
          </a:prstGeom>
          <a:noFill/>
          <a:ln/>
        </p:spPr>
        <p:txBody>
          <a:bodyPr wrap="square" lIns="0" tIns="0" rIns="0" bIns="0" rtlCol="0" anchor="ctr"/>
          <a:lstStyle/>
          <a:p>
            <a:pPr algn="r" indent="0" marL="0">
              <a:buNone/>
            </a:pPr>
            <a:r>
              <a:rPr lang="en-US" sz="1200" b="1" dirty="0">
                <a:solidFill>
                  <a:srgbClr val="D96A16"/>
                </a:solidFill>
                <a:latin typeface="Calibri" pitchFamily="34" charset="0"/>
                <a:ea typeface="Calibri" pitchFamily="34" charset="-122"/>
                <a:cs typeface="Calibri" pitchFamily="34" charset="-120"/>
              </a:rPr>
              <a:t>Days</a:t>
            </a:r>
            <a:endParaRPr lang="en-US" sz="1200" dirty="0"/>
          </a:p>
        </p:txBody>
      </p:sp>
      <p:sp>
        <p:nvSpPr>
          <p:cNvPr id="37" name="Shape 35"/>
          <p:cNvSpPr/>
          <p:nvPr/>
        </p:nvSpPr>
        <p:spPr>
          <a:xfrm>
            <a:off x="1781774" y="5125212"/>
            <a:ext cx="9842993" cy="509778"/>
          </a:xfrm>
          <a:prstGeom prst="roundRect">
            <a:avLst>
              <a:gd name="adj" fmla="val 1076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8" name="Shape 36"/>
          <p:cNvSpPr/>
          <p:nvPr/>
        </p:nvSpPr>
        <p:spPr>
          <a:xfrm>
            <a:off x="1928078" y="5325237"/>
            <a:ext cx="146304" cy="146304"/>
          </a:xfrm>
          <a:prstGeom prst="ellipse">
            <a:avLst/>
          </a:prstGeom>
          <a:solidFill>
            <a:srgbClr val="3B4A5A"/>
          </a:solidFill>
          <a:ln/>
        </p:spPr>
      </p:sp>
      <p:sp>
        <p:nvSpPr>
          <p:cNvPr id="39" name="Text 37"/>
          <p:cNvSpPr/>
          <p:nvPr/>
        </p:nvSpPr>
        <p:spPr>
          <a:xfrm>
            <a:off x="2184110" y="5125212"/>
            <a:ext cx="3794760" cy="50977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DCS alarm on a fixed threshold</a:t>
            </a:r>
            <a:endParaRPr lang="en-US" sz="1250" dirty="0"/>
          </a:p>
        </p:txBody>
      </p:sp>
      <p:sp>
        <p:nvSpPr>
          <p:cNvPr id="40" name="Text 38"/>
          <p:cNvSpPr/>
          <p:nvPr/>
        </p:nvSpPr>
        <p:spPr>
          <a:xfrm>
            <a:off x="6006302" y="5125212"/>
            <a:ext cx="4082273" cy="509778"/>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One number finally crosses its setpoint</a:t>
            </a:r>
            <a:endParaRPr lang="en-US" sz="1200" dirty="0"/>
          </a:p>
        </p:txBody>
      </p:sp>
      <p:sp>
        <p:nvSpPr>
          <p:cNvPr id="41" name="Text 39"/>
          <p:cNvSpPr/>
          <p:nvPr/>
        </p:nvSpPr>
        <p:spPr>
          <a:xfrm>
            <a:off x="10207447" y="5125212"/>
            <a:ext cx="1325880" cy="509778"/>
          </a:xfrm>
          <a:prstGeom prst="rect">
            <a:avLst/>
          </a:prstGeom>
          <a:noFill/>
          <a:ln/>
        </p:spPr>
        <p:txBody>
          <a:bodyPr wrap="square" lIns="0" tIns="0" rIns="0" bIns="0" rtlCol="0" anchor="ctr"/>
          <a:lstStyle/>
          <a:p>
            <a:pPr algn="r" indent="0" marL="0">
              <a:buNone/>
            </a:pPr>
            <a:r>
              <a:rPr lang="en-US" sz="1200" b="1" dirty="0">
                <a:solidFill>
                  <a:srgbClr val="D96A16"/>
                </a:solidFill>
                <a:latin typeface="Calibri" pitchFamily="34" charset="0"/>
                <a:ea typeface="Calibri" pitchFamily="34" charset="-122"/>
                <a:cs typeface="Calibri" pitchFamily="34" charset="-120"/>
              </a:rPr>
              <a:t>Hours to days</a:t>
            </a:r>
            <a:endParaRPr lang="en-US" sz="1200" dirty="0"/>
          </a:p>
        </p:txBody>
      </p:sp>
      <p:sp>
        <p:nvSpPr>
          <p:cNvPr id="42" name="Shape 40"/>
          <p:cNvSpPr/>
          <p:nvPr/>
        </p:nvSpPr>
        <p:spPr>
          <a:xfrm>
            <a:off x="1984248" y="5708142"/>
            <a:ext cx="9640519" cy="509778"/>
          </a:xfrm>
          <a:prstGeom prst="roundRect">
            <a:avLst>
              <a:gd name="adj" fmla="val 10762"/>
            </a:avLst>
          </a:prstGeom>
          <a:solidFill>
            <a:srgbClr val="F9E7E5"/>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43" name="Shape 41"/>
          <p:cNvSpPr/>
          <p:nvPr/>
        </p:nvSpPr>
        <p:spPr>
          <a:xfrm>
            <a:off x="2130552" y="5908167"/>
            <a:ext cx="146304" cy="146304"/>
          </a:xfrm>
          <a:prstGeom prst="ellipse">
            <a:avLst/>
          </a:prstGeom>
          <a:solidFill>
            <a:srgbClr val="A8261E"/>
          </a:solidFill>
          <a:ln/>
        </p:spPr>
      </p:sp>
      <p:sp>
        <p:nvSpPr>
          <p:cNvPr id="44" name="Text 42"/>
          <p:cNvSpPr/>
          <p:nvPr/>
        </p:nvSpPr>
        <p:spPr>
          <a:xfrm>
            <a:off x="2386584" y="5708142"/>
            <a:ext cx="3794760" cy="509778"/>
          </a:xfrm>
          <a:prstGeom prst="rect">
            <a:avLst/>
          </a:prstGeom>
          <a:noFill/>
          <a:ln/>
        </p:spPr>
        <p:txBody>
          <a:bodyPr wrap="square" lIns="0" tIns="0" rIns="0" bIns="0" rtlCol="0" anchor="ctr"/>
          <a:lstStyle/>
          <a:p>
            <a:pPr indent="0" marL="0">
              <a:buNone/>
            </a:pPr>
            <a:r>
              <a:rPr lang="en-US" sz="1250" b="1" dirty="0">
                <a:solidFill>
                  <a:srgbClr val="A8261E"/>
                </a:solidFill>
                <a:latin typeface="Calibri" pitchFamily="34" charset="0"/>
                <a:ea typeface="Calibri" pitchFamily="34" charset="-122"/>
                <a:cs typeface="Calibri" pitchFamily="34" charset="-120"/>
              </a:rPr>
              <a:t>Functional failure</a:t>
            </a:r>
            <a:endParaRPr lang="en-US" sz="1250" dirty="0"/>
          </a:p>
        </p:txBody>
      </p:sp>
      <p:sp>
        <p:nvSpPr>
          <p:cNvPr id="45" name="Text 43"/>
          <p:cNvSpPr/>
          <p:nvPr/>
        </p:nvSpPr>
        <p:spPr>
          <a:xfrm>
            <a:off x="6208776" y="5708142"/>
            <a:ext cx="3879799" cy="509778"/>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Trip, or forced outage, on the machine's terms</a:t>
            </a:r>
            <a:endParaRPr lang="en-US" sz="1200" dirty="0"/>
          </a:p>
        </p:txBody>
      </p:sp>
      <p:sp>
        <p:nvSpPr>
          <p:cNvPr id="46" name="Text 44"/>
          <p:cNvSpPr/>
          <p:nvPr/>
        </p:nvSpPr>
        <p:spPr>
          <a:xfrm>
            <a:off x="10207447" y="5708142"/>
            <a:ext cx="1325880" cy="509778"/>
          </a:xfrm>
          <a:prstGeom prst="rect">
            <a:avLst/>
          </a:prstGeom>
          <a:noFill/>
          <a:ln/>
        </p:spPr>
        <p:txBody>
          <a:bodyPr wrap="square" lIns="0" tIns="0" rIns="0" bIns="0" rtlCol="0" anchor="ctr"/>
          <a:lstStyle/>
          <a:p>
            <a:pPr algn="r" indent="0" marL="0">
              <a:buNone/>
            </a:pPr>
            <a:r>
              <a:rPr lang="en-US" sz="1200" b="1" dirty="0">
                <a:solidFill>
                  <a:srgbClr val="A8261E"/>
                </a:solidFill>
                <a:latin typeface="Calibri" pitchFamily="34" charset="0"/>
                <a:ea typeface="Calibri" pitchFamily="34" charset="-122"/>
                <a:cs typeface="Calibri" pitchFamily="34" charset="-120"/>
              </a:rPr>
              <a:t>Zero</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Why a fixed threshold is structurally late</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ID fan drive-end bearing — an illustrative reconstruction, not a MAHAGENCO case study. Same machine and the same numbers as handout 2.2.</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2. Intelligent monitoring</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26</a:t>
            </a:r>
            <a:endParaRPr lang="en-US" sz="950" dirty="0"/>
          </a:p>
        </p:txBody>
      </p:sp>
      <p:sp>
        <p:nvSpPr>
          <p:cNvPr id="7" name="Shape 5"/>
          <p:cNvSpPr/>
          <p:nvPr/>
        </p:nvSpPr>
        <p:spPr>
          <a:xfrm>
            <a:off x="566928" y="1627632"/>
            <a:ext cx="6355080" cy="3886200"/>
          </a:xfrm>
          <a:prstGeom prst="roundRect">
            <a:avLst>
              <a:gd name="adj" fmla="val 1412"/>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graphicFrame>
        <p:nvGraphicFramePr>
          <p:cNvPr id="8" name="Chart 0" descr=""/>
          <p:cNvGraphicFramePr/>
          <p:nvPr/>
        </p:nvGraphicFramePr>
        <p:xfrm>
          <a:off x="676656" y="1737360"/>
          <a:ext cx="6135624" cy="3666744"/>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7196328" y="1627632"/>
            <a:ext cx="4428439" cy="861822"/>
          </a:xfrm>
          <a:prstGeom prst="roundRect">
            <a:avLst>
              <a:gd name="adj" fmla="val 636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0" name="Text 7"/>
          <p:cNvSpPr/>
          <p:nvPr/>
        </p:nvSpPr>
        <p:spPr>
          <a:xfrm>
            <a:off x="7379208" y="1627632"/>
            <a:ext cx="4062679" cy="861822"/>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Week 3 — residual +2 °C. Load and ambient are already removed, so this is the machine and not the weather. Nothing on any screen in the control room has changed.</a:t>
            </a:r>
            <a:endParaRPr lang="en-US" sz="1250" dirty="0"/>
          </a:p>
        </p:txBody>
      </p:sp>
      <p:sp>
        <p:nvSpPr>
          <p:cNvPr id="11" name="Shape 8"/>
          <p:cNvSpPr/>
          <p:nvPr/>
        </p:nvSpPr>
        <p:spPr>
          <a:xfrm>
            <a:off x="7196328" y="2599182"/>
            <a:ext cx="4428439" cy="861822"/>
          </a:xfrm>
          <a:prstGeom prst="roundRect">
            <a:avLst>
              <a:gd name="adj" fmla="val 636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9"/>
          <p:cNvSpPr/>
          <p:nvPr/>
        </p:nvSpPr>
        <p:spPr>
          <a:xfrm>
            <a:off x="7379208" y="2599182"/>
            <a:ext cx="4062679" cy="861822"/>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Week 5 — residual +4 °C, sustained across several load points. The system alerts. The bearing reads 78 °C, which is 12 °C BELOW the alarm and has happened normally hundreds of times.</a:t>
            </a:r>
            <a:endParaRPr lang="en-US" sz="1250" dirty="0"/>
          </a:p>
        </p:txBody>
      </p:sp>
      <p:sp>
        <p:nvSpPr>
          <p:cNvPr id="13" name="Shape 10"/>
          <p:cNvSpPr/>
          <p:nvPr/>
        </p:nvSpPr>
        <p:spPr>
          <a:xfrm>
            <a:off x="7196328" y="3570732"/>
            <a:ext cx="4428439" cy="861822"/>
          </a:xfrm>
          <a:prstGeom prst="roundRect">
            <a:avLst>
              <a:gd name="adj" fmla="val 636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4" name="Text 11"/>
          <p:cNvSpPr/>
          <p:nvPr/>
        </p:nvSpPr>
        <p:spPr>
          <a:xfrm>
            <a:off x="7379208" y="3570732"/>
            <a:ext cx="4062679" cy="861822"/>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Week 10 — 86 °C on a warm day at full load. An operator finally notices, because now the absolute number looks wrong.</a:t>
            </a:r>
            <a:endParaRPr lang="en-US" sz="1250" dirty="0"/>
          </a:p>
        </p:txBody>
      </p:sp>
      <p:sp>
        <p:nvSpPr>
          <p:cNvPr id="15" name="Shape 12"/>
          <p:cNvSpPr/>
          <p:nvPr/>
        </p:nvSpPr>
        <p:spPr>
          <a:xfrm>
            <a:off x="7196328" y="4542282"/>
            <a:ext cx="4428439" cy="861822"/>
          </a:xfrm>
          <a:prstGeom prst="roundRect">
            <a:avLst>
              <a:gd name="adj" fmla="val 6366"/>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Text 13"/>
          <p:cNvSpPr/>
          <p:nvPr/>
        </p:nvSpPr>
        <p:spPr>
          <a:xfrm>
            <a:off x="7379208" y="4542282"/>
            <a:ext cx="4062679" cy="861822"/>
          </a:xfrm>
          <a:prstGeom prst="rect">
            <a:avLst/>
          </a:prstGeom>
          <a:noFill/>
          <a:ln/>
        </p:spPr>
        <p:txBody>
          <a:bodyPr wrap="square" lIns="0" tIns="0" rIns="0" bIns="0" rtlCol="0" anchor="ctr"/>
          <a:lstStyle/>
          <a:p>
            <a:pPr indent="0" marL="0">
              <a:buNone/>
            </a:pPr>
            <a:r>
              <a:rPr lang="en-US" sz="1250" b="1" dirty="0">
                <a:solidFill>
                  <a:srgbClr val="8A4310"/>
                </a:solidFill>
                <a:latin typeface="Calibri" pitchFamily="34" charset="0"/>
                <a:ea typeface="Calibri" pitchFamily="34" charset="-122"/>
                <a:cs typeface="Calibri" pitchFamily="34" charset="-120"/>
              </a:rPr>
              <a:t>Week 10+ — the DCS alarm at 90 °C. The fan comes out on the fan's terms rather than yours. The alarm was not wrong; a fixed threshold is simply the last thing in the plant to know.</a:t>
            </a:r>
            <a:endParaRPr lang="en-US" sz="1250" dirty="0"/>
          </a:p>
        </p:txBody>
      </p:sp>
      <p:sp>
        <p:nvSpPr>
          <p:cNvPr id="17" name="Shape 14"/>
          <p:cNvSpPr/>
          <p:nvPr/>
        </p:nvSpPr>
        <p:spPr>
          <a:xfrm>
            <a:off x="566928" y="5678424"/>
            <a:ext cx="11057839" cy="548640"/>
          </a:xfrm>
          <a:prstGeom prst="roundRect">
            <a:avLst>
              <a:gd name="adj" fmla="val 8333"/>
            </a:avLst>
          </a:prstGeom>
          <a:solidFill>
            <a:srgbClr val="FCEDE0"/>
          </a:solidFill>
          <a:ln w="12700">
            <a:solidFill>
              <a:srgbClr val="D96A16"/>
            </a:solidFill>
            <a:prstDash val="solid"/>
          </a:ln>
        </p:spPr>
      </p:sp>
      <p:sp>
        <p:nvSpPr>
          <p:cNvPr id="18" name="Text 15"/>
          <p:cNvSpPr/>
          <p:nvPr/>
        </p:nvSpPr>
        <p:spPr>
          <a:xfrm>
            <a:off x="768096" y="5678424"/>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Five weeks of notice against a few days. Why not just lower the alarm to 78? Because 78 is normal at full load in May — you would create a nuisance alarm that is inhibited within a fortnight.</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Anomaly detection without the mathematics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What a similarity model actually does, described in plant language</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2. Intelligent monitoring</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27</a:t>
            </a:r>
            <a:endParaRPr lang="en-US" sz="950" dirty="0"/>
          </a:p>
        </p:txBody>
      </p:sp>
      <p:sp>
        <p:nvSpPr>
          <p:cNvPr id="7" name="Shape 5"/>
          <p:cNvSpPr/>
          <p:nvPr/>
        </p:nvSpPr>
        <p:spPr>
          <a:xfrm>
            <a:off x="566928"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2586152" cy="566928"/>
          </a:xfrm>
          <a:prstGeom prst="roundRect">
            <a:avLst>
              <a:gd name="adj" fmla="val 9677"/>
            </a:avLst>
          </a:prstGeom>
          <a:solidFill>
            <a:srgbClr val="2A3644"/>
          </a:solidFill>
          <a:ln/>
        </p:spPr>
      </p:sp>
      <p:sp>
        <p:nvSpPr>
          <p:cNvPr id="9" name="Shape 7"/>
          <p:cNvSpPr/>
          <p:nvPr/>
        </p:nvSpPr>
        <p:spPr>
          <a:xfrm>
            <a:off x="768096" y="1746504"/>
            <a:ext cx="329184" cy="329184"/>
          </a:xfrm>
          <a:prstGeom prst="ellipse">
            <a:avLst/>
          </a:prstGeom>
          <a:solidFill>
            <a:srgbClr val="D96A16"/>
          </a:solidFill>
          <a:ln/>
        </p:spPr>
      </p:sp>
      <p:sp>
        <p:nvSpPr>
          <p:cNvPr id="10" name="Text 8"/>
          <p:cNvSpPr/>
          <p:nvPr/>
        </p:nvSpPr>
        <p:spPr>
          <a:xfrm>
            <a:off x="768096"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p:nvPr/>
        </p:nvSpPr>
        <p:spPr>
          <a:xfrm>
            <a:off x="1188720"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Build a memory of healthy states</a:t>
            </a:r>
            <a:endParaRPr lang="en-US" sz="1400" dirty="0"/>
          </a:p>
        </p:txBody>
      </p:sp>
      <p:sp>
        <p:nvSpPr>
          <p:cNvPr id="12" name="Text 10"/>
          <p:cNvSpPr/>
          <p:nvPr/>
        </p:nvSpPr>
        <p:spPr>
          <a:xfrm>
            <a:off x="786384"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Take a year of known-good operation and keep a library of the operating states the machine actually visited — every load, every season, every fuel.</a:t>
            </a:r>
            <a:endParaRPr lang="en-US" sz="1250" dirty="0"/>
          </a:p>
        </p:txBody>
      </p:sp>
      <p:sp>
        <p:nvSpPr>
          <p:cNvPr id="13" name="Shape 11"/>
          <p:cNvSpPr/>
          <p:nvPr/>
        </p:nvSpPr>
        <p:spPr>
          <a:xfrm rot="5400000">
            <a:off x="3194228" y="1810512"/>
            <a:ext cx="155448" cy="219456"/>
          </a:xfrm>
          <a:prstGeom prst="triangle">
            <a:avLst/>
          </a:prstGeom>
          <a:solidFill>
            <a:srgbClr val="D96A16"/>
          </a:solidFill>
          <a:ln/>
        </p:spPr>
      </p:sp>
      <p:sp>
        <p:nvSpPr>
          <p:cNvPr id="14" name="Shape 12"/>
          <p:cNvSpPr/>
          <p:nvPr/>
        </p:nvSpPr>
        <p:spPr>
          <a:xfrm>
            <a:off x="3390824"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5" name="Shape 13"/>
          <p:cNvSpPr/>
          <p:nvPr/>
        </p:nvSpPr>
        <p:spPr>
          <a:xfrm>
            <a:off x="3390824" y="1627632"/>
            <a:ext cx="2586152" cy="566928"/>
          </a:xfrm>
          <a:prstGeom prst="roundRect">
            <a:avLst>
              <a:gd name="adj" fmla="val 9677"/>
            </a:avLst>
          </a:prstGeom>
          <a:solidFill>
            <a:srgbClr val="2A3644"/>
          </a:solidFill>
          <a:ln/>
        </p:spPr>
      </p:sp>
      <p:sp>
        <p:nvSpPr>
          <p:cNvPr id="16" name="Shape 14"/>
          <p:cNvSpPr/>
          <p:nvPr/>
        </p:nvSpPr>
        <p:spPr>
          <a:xfrm>
            <a:off x="3591992" y="1746504"/>
            <a:ext cx="329184" cy="329184"/>
          </a:xfrm>
          <a:prstGeom prst="ellipse">
            <a:avLst/>
          </a:prstGeom>
          <a:solidFill>
            <a:srgbClr val="D96A16"/>
          </a:solidFill>
          <a:ln/>
        </p:spPr>
      </p:sp>
      <p:sp>
        <p:nvSpPr>
          <p:cNvPr id="17" name="Text 15"/>
          <p:cNvSpPr/>
          <p:nvPr/>
        </p:nvSpPr>
        <p:spPr>
          <a:xfrm>
            <a:off x="3591992"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6"/>
          <p:cNvSpPr/>
          <p:nvPr/>
        </p:nvSpPr>
        <p:spPr>
          <a:xfrm>
            <a:off x="4012616"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Find the closest matches</a:t>
            </a:r>
            <a:endParaRPr lang="en-US" sz="1400" dirty="0"/>
          </a:p>
        </p:txBody>
      </p:sp>
      <p:sp>
        <p:nvSpPr>
          <p:cNvPr id="19" name="Text 17"/>
          <p:cNvSpPr/>
          <p:nvPr/>
        </p:nvSpPr>
        <p:spPr>
          <a:xfrm>
            <a:off x="3610280"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For the state the machine is in right now, look up the handful of remembered states that most closely resemble it.</a:t>
            </a:r>
            <a:endParaRPr lang="en-US" sz="1250" dirty="0"/>
          </a:p>
        </p:txBody>
      </p:sp>
      <p:sp>
        <p:nvSpPr>
          <p:cNvPr id="20" name="Shape 18"/>
          <p:cNvSpPr/>
          <p:nvPr/>
        </p:nvSpPr>
        <p:spPr>
          <a:xfrm rot="5400000">
            <a:off x="6018124" y="1810512"/>
            <a:ext cx="155448" cy="219456"/>
          </a:xfrm>
          <a:prstGeom prst="triangle">
            <a:avLst/>
          </a:prstGeom>
          <a:solidFill>
            <a:srgbClr val="D96A16"/>
          </a:solidFill>
          <a:ln/>
        </p:spPr>
      </p:sp>
      <p:sp>
        <p:nvSpPr>
          <p:cNvPr id="21" name="Shape 19"/>
          <p:cNvSpPr/>
          <p:nvPr/>
        </p:nvSpPr>
        <p:spPr>
          <a:xfrm>
            <a:off x="6214720"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2" name="Shape 20"/>
          <p:cNvSpPr/>
          <p:nvPr/>
        </p:nvSpPr>
        <p:spPr>
          <a:xfrm>
            <a:off x="6214720" y="1627632"/>
            <a:ext cx="2586152" cy="566928"/>
          </a:xfrm>
          <a:prstGeom prst="roundRect">
            <a:avLst>
              <a:gd name="adj" fmla="val 9677"/>
            </a:avLst>
          </a:prstGeom>
          <a:solidFill>
            <a:srgbClr val="2A3644"/>
          </a:solidFill>
          <a:ln/>
        </p:spPr>
      </p:sp>
      <p:sp>
        <p:nvSpPr>
          <p:cNvPr id="23" name="Shape 21"/>
          <p:cNvSpPr/>
          <p:nvPr/>
        </p:nvSpPr>
        <p:spPr>
          <a:xfrm>
            <a:off x="6415888" y="1746504"/>
            <a:ext cx="329184" cy="329184"/>
          </a:xfrm>
          <a:prstGeom prst="ellipse">
            <a:avLst/>
          </a:prstGeom>
          <a:solidFill>
            <a:srgbClr val="D96A16"/>
          </a:solidFill>
          <a:ln/>
        </p:spPr>
      </p:sp>
      <p:sp>
        <p:nvSpPr>
          <p:cNvPr id="24" name="Text 22"/>
          <p:cNvSpPr/>
          <p:nvPr/>
        </p:nvSpPr>
        <p:spPr>
          <a:xfrm>
            <a:off x="6415888"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5" name="Text 23"/>
          <p:cNvSpPr/>
          <p:nvPr/>
        </p:nvSpPr>
        <p:spPr>
          <a:xfrm>
            <a:off x="6836512"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Estimate every signal</a:t>
            </a:r>
            <a:endParaRPr lang="en-US" sz="1400" dirty="0"/>
          </a:p>
        </p:txBody>
      </p:sp>
      <p:sp>
        <p:nvSpPr>
          <p:cNvPr id="26" name="Text 24"/>
          <p:cNvSpPr/>
          <p:nvPr/>
        </p:nvSpPr>
        <p:spPr>
          <a:xfrm>
            <a:off x="6434176"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From those matches, reconstruct what each signal should read now. That is the expected value, and no physics equation was ever written.</a:t>
            </a:r>
            <a:endParaRPr lang="en-US" sz="1250" dirty="0"/>
          </a:p>
        </p:txBody>
      </p:sp>
      <p:sp>
        <p:nvSpPr>
          <p:cNvPr id="27" name="Shape 25"/>
          <p:cNvSpPr/>
          <p:nvPr/>
        </p:nvSpPr>
        <p:spPr>
          <a:xfrm rot="5400000">
            <a:off x="8842019" y="1810512"/>
            <a:ext cx="155448" cy="219456"/>
          </a:xfrm>
          <a:prstGeom prst="triangle">
            <a:avLst/>
          </a:prstGeom>
          <a:solidFill>
            <a:srgbClr val="D96A16"/>
          </a:solidFill>
          <a:ln/>
        </p:spPr>
      </p:sp>
      <p:sp>
        <p:nvSpPr>
          <p:cNvPr id="28" name="Shape 26"/>
          <p:cNvSpPr/>
          <p:nvPr/>
        </p:nvSpPr>
        <p:spPr>
          <a:xfrm>
            <a:off x="9038615"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9" name="Shape 27"/>
          <p:cNvSpPr/>
          <p:nvPr/>
        </p:nvSpPr>
        <p:spPr>
          <a:xfrm>
            <a:off x="9038615" y="1627632"/>
            <a:ext cx="2586152" cy="566928"/>
          </a:xfrm>
          <a:prstGeom prst="roundRect">
            <a:avLst>
              <a:gd name="adj" fmla="val 9677"/>
            </a:avLst>
          </a:prstGeom>
          <a:solidFill>
            <a:srgbClr val="2A3644"/>
          </a:solidFill>
          <a:ln/>
        </p:spPr>
      </p:sp>
      <p:sp>
        <p:nvSpPr>
          <p:cNvPr id="30" name="Shape 28"/>
          <p:cNvSpPr/>
          <p:nvPr/>
        </p:nvSpPr>
        <p:spPr>
          <a:xfrm>
            <a:off x="9239783" y="1746504"/>
            <a:ext cx="329184" cy="329184"/>
          </a:xfrm>
          <a:prstGeom prst="ellipse">
            <a:avLst/>
          </a:prstGeom>
          <a:solidFill>
            <a:srgbClr val="D96A16"/>
          </a:solidFill>
          <a:ln/>
        </p:spPr>
      </p:sp>
      <p:sp>
        <p:nvSpPr>
          <p:cNvPr id="31" name="Text 29"/>
          <p:cNvSpPr/>
          <p:nvPr/>
        </p:nvSpPr>
        <p:spPr>
          <a:xfrm>
            <a:off x="9239783"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2" name="Text 30"/>
          <p:cNvSpPr/>
          <p:nvPr/>
        </p:nvSpPr>
        <p:spPr>
          <a:xfrm>
            <a:off x="9660407"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Watch the gaps</a:t>
            </a:r>
            <a:endParaRPr lang="en-US" sz="1400" dirty="0"/>
          </a:p>
        </p:txBody>
      </p:sp>
      <p:sp>
        <p:nvSpPr>
          <p:cNvPr id="33" name="Text 31"/>
          <p:cNvSpPr/>
          <p:nvPr/>
        </p:nvSpPr>
        <p:spPr>
          <a:xfrm>
            <a:off x="9258071"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Compare estimate against measurement, signal by signal. Alert only when a gap is both large enough and persistent enough to mean something.</a:t>
            </a:r>
            <a:endParaRPr lang="en-US" sz="1250" dirty="0"/>
          </a:p>
        </p:txBody>
      </p:sp>
      <p:sp>
        <p:nvSpPr>
          <p:cNvPr id="34" name="Shape 32"/>
          <p:cNvSpPr/>
          <p:nvPr/>
        </p:nvSpPr>
        <p:spPr>
          <a:xfrm>
            <a:off x="566928" y="5074920"/>
            <a:ext cx="11057839" cy="548640"/>
          </a:xfrm>
          <a:prstGeom prst="roundRect">
            <a:avLst>
              <a:gd name="adj" fmla="val 8333"/>
            </a:avLst>
          </a:prstGeom>
          <a:solidFill>
            <a:srgbClr val="FCEDE0"/>
          </a:solidFill>
          <a:ln w="12700">
            <a:solidFill>
              <a:srgbClr val="D96A16"/>
            </a:solidFill>
            <a:prstDash val="solid"/>
          </a:ln>
        </p:spPr>
      </p:sp>
      <p:sp>
        <p:nvSpPr>
          <p:cNvPr id="35" name="Text 33"/>
          <p:cNvSpPr/>
          <p:nvPr/>
        </p:nvSpPr>
        <p:spPr>
          <a:xfrm>
            <a:off x="768096" y="5074920"/>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No failure history is required. The model only needs to know what healthy looks like, in every condition the machine actually runs in.</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One signal moving, or the machine moving</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single most useful discrimination a multi-signal model hands you</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2. Intelligent monitoring</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28</a:t>
            </a:r>
            <a:endParaRPr lang="en-US" sz="950" dirty="0"/>
          </a:p>
        </p:txBody>
      </p:sp>
      <p:sp>
        <p:nvSpPr>
          <p:cNvPr id="7" name="Shape 5"/>
          <p:cNvSpPr/>
          <p:nvPr/>
        </p:nvSpPr>
        <p:spPr>
          <a:xfrm>
            <a:off x="566928" y="1627632"/>
            <a:ext cx="5382616" cy="3886200"/>
          </a:xfrm>
          <a:prstGeom prst="roundRect">
            <a:avLst>
              <a:gd name="adj" fmla="val 141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841248" y="1847088"/>
            <a:ext cx="4833976" cy="292608"/>
          </a:xfrm>
          <a:prstGeom prst="rect">
            <a:avLst/>
          </a:prstGeom>
          <a:noFill/>
          <a:ln/>
        </p:spPr>
        <p:txBody>
          <a:bodyPr wrap="square" lIns="0" tIns="0" rIns="0" bIns="0" rtlCol="0" anchor="ctr"/>
          <a:lstStyle/>
          <a:p>
            <a:pPr indent="0" marL="0">
              <a:buNone/>
            </a:pPr>
            <a:r>
              <a:rPr lang="en-US" sz="1150" b="1" spc="120" kern="0" dirty="0">
                <a:solidFill>
                  <a:srgbClr val="3B4A5A"/>
                </a:solidFill>
                <a:latin typeface="Calibri" pitchFamily="34" charset="0"/>
                <a:ea typeface="Calibri" pitchFamily="34" charset="-122"/>
                <a:cs typeface="Calibri" pitchFamily="34" charset="-120"/>
              </a:rPr>
              <a:t>ONE TAG DEVIATES ALONE</a:t>
            </a:r>
            <a:endParaRPr lang="en-US" sz="1150" dirty="0"/>
          </a:p>
        </p:txBody>
      </p:sp>
      <p:sp>
        <p:nvSpPr>
          <p:cNvPr id="9" name="Text 7"/>
          <p:cNvSpPr/>
          <p:nvPr/>
        </p:nvSpPr>
        <p:spPr>
          <a:xfrm>
            <a:off x="841248" y="2176272"/>
            <a:ext cx="4833976" cy="1170432"/>
          </a:xfrm>
          <a:prstGeom prst="rect">
            <a:avLst/>
          </a:prstGeom>
          <a:noFill/>
          <a:ln/>
        </p:spPr>
        <p:txBody>
          <a:bodyPr wrap="square" lIns="0" tIns="0" rIns="0" bIns="0" rtlCol="0" anchor="t"/>
          <a:lstStyle/>
          <a:p>
            <a:pPr indent="0" marL="0">
              <a:buNone/>
            </a:pPr>
            <a:r>
              <a:rPr lang="en-US" sz="2700" b="1" dirty="0">
                <a:solidFill>
                  <a:srgbClr val="1C2530"/>
                </a:solidFill>
                <a:latin typeface="Cambria" pitchFamily="34" charset="0"/>
                <a:ea typeface="Cambria" pitchFamily="34" charset="-122"/>
                <a:cs typeface="Cambria" pitchFamily="34" charset="-120"/>
              </a:rPr>
              <a:t>That is instrumentation</a:t>
            </a:r>
            <a:endParaRPr lang="en-US" sz="2700" dirty="0"/>
          </a:p>
        </p:txBody>
      </p:sp>
      <p:sp>
        <p:nvSpPr>
          <p:cNvPr id="10" name="Text 8"/>
          <p:cNvSpPr/>
          <p:nvPr/>
        </p:nvSpPr>
        <p:spPr>
          <a:xfrm>
            <a:off x="841248" y="3547872"/>
            <a:ext cx="4833976" cy="1856232"/>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Bearing temperature rises, but fan power, lube oil outlet, vibration and discharge pressure all read exactly as expected. Nothing physical can raise one and leave the rest untouched. Check the transmitter and the thermocouple before you touch the machine.</a:t>
            </a:r>
            <a:endParaRPr lang="en-US" sz="1350" dirty="0"/>
          </a:p>
        </p:txBody>
      </p:sp>
      <p:sp>
        <p:nvSpPr>
          <p:cNvPr id="11" name="Shape 9"/>
          <p:cNvSpPr/>
          <p:nvPr/>
        </p:nvSpPr>
        <p:spPr>
          <a:xfrm>
            <a:off x="6242152" y="1627632"/>
            <a:ext cx="5382616" cy="3886200"/>
          </a:xfrm>
          <a:prstGeom prst="roundRect">
            <a:avLst>
              <a:gd name="adj" fmla="val 1412"/>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10"/>
          <p:cNvSpPr/>
          <p:nvPr/>
        </p:nvSpPr>
        <p:spPr>
          <a:xfrm>
            <a:off x="6516472" y="1847088"/>
            <a:ext cx="4833976" cy="292608"/>
          </a:xfrm>
          <a:prstGeom prst="rect">
            <a:avLst/>
          </a:prstGeom>
          <a:noFill/>
          <a:ln/>
        </p:spPr>
        <p:txBody>
          <a:bodyPr wrap="square" lIns="0" tIns="0" rIns="0" bIns="0" rtlCol="0" anchor="ctr"/>
          <a:lstStyle/>
          <a:p>
            <a:pPr indent="0" marL="0">
              <a:buNone/>
            </a:pPr>
            <a:r>
              <a:rPr lang="en-US" sz="1150" b="1" spc="120" kern="0" dirty="0">
                <a:solidFill>
                  <a:srgbClr val="D96A16"/>
                </a:solidFill>
                <a:latin typeface="Calibri" pitchFamily="34" charset="0"/>
                <a:ea typeface="Calibri" pitchFamily="34" charset="-122"/>
                <a:cs typeface="Calibri" pitchFamily="34" charset="-120"/>
              </a:rPr>
              <a:t>A COHERENT GROUP DEVIATES</a:t>
            </a:r>
            <a:endParaRPr lang="en-US" sz="1150" dirty="0"/>
          </a:p>
        </p:txBody>
      </p:sp>
      <p:sp>
        <p:nvSpPr>
          <p:cNvPr id="13" name="Text 11"/>
          <p:cNvSpPr/>
          <p:nvPr/>
        </p:nvSpPr>
        <p:spPr>
          <a:xfrm>
            <a:off x="6516472"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That is the machine</a:t>
            </a:r>
            <a:endParaRPr lang="en-US" sz="3300" dirty="0"/>
          </a:p>
        </p:txBody>
      </p:sp>
      <p:sp>
        <p:nvSpPr>
          <p:cNvPr id="14" name="Text 12"/>
          <p:cNvSpPr/>
          <p:nvPr/>
        </p:nvSpPr>
        <p:spPr>
          <a:xfrm>
            <a:off x="6516472"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Bearing temperature, lube oil outlet, vibration and motor current all move together in the direction physics predicts. Not one has crossed an alarm limit. The pattern is the evidence, and it appears weeks before any individual number does.</a:t>
            </a:r>
            <a:endParaRPr lang="en-US" sz="1350" dirty="0"/>
          </a:p>
        </p:txBody>
      </p:sp>
      <p:sp>
        <p:nvSpPr>
          <p:cNvPr id="15" name="Shape 13"/>
          <p:cNvSpPr/>
          <p:nvPr/>
        </p:nvSpPr>
        <p:spPr>
          <a:xfrm>
            <a:off x="566928" y="56967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6967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Which of the two it is decides who you send: the instrument technician, or the mechanical engineer with a spare bearing. No single-tag alarm can tell you that.</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residual pipeline, end to end</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Everything between a tag in the historian and an engineer picking up the telephone</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2. Intelligent monitoring</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29</a:t>
            </a:r>
            <a:endParaRPr lang="en-US" sz="950" dirty="0"/>
          </a:p>
        </p:txBody>
      </p:sp>
      <p:sp>
        <p:nvSpPr>
          <p:cNvPr id="7" name="Text 5"/>
          <p:cNvSpPr/>
          <p:nvPr/>
        </p:nvSpPr>
        <p:spPr>
          <a:xfrm>
            <a:off x="566928" y="1627632"/>
            <a:ext cx="11057839" cy="201168"/>
          </a:xfrm>
          <a:prstGeom prst="rect">
            <a:avLst/>
          </a:prstGeom>
          <a:noFill/>
          <a:ln/>
        </p:spPr>
        <p:txBody>
          <a:bodyPr wrap="square" lIns="0" tIns="0" rIns="0" bIns="0" rtlCol="0" anchor="ctr"/>
          <a:lstStyle/>
          <a:p>
            <a:pPr indent="0" marL="0">
              <a:buNone/>
            </a:pPr>
            <a:r>
              <a:rPr lang="en-US" sz="1000" b="1" dirty="0">
                <a:solidFill>
                  <a:srgbClr val="5C6B7A"/>
                </a:solidFill>
                <a:latin typeface="Calibri" pitchFamily="34" charset="0"/>
                <a:ea typeface="Calibri" pitchFamily="34" charset="-122"/>
                <a:cs typeface="Calibri" pitchFamily="34" charset="-120"/>
              </a:rPr>
              <a:t>SIGNAL CONDITIONING</a:t>
            </a:r>
            <a:endParaRPr lang="en-US" sz="1000" dirty="0"/>
          </a:p>
        </p:txBody>
      </p:sp>
      <p:sp>
        <p:nvSpPr>
          <p:cNvPr id="8" name="Shape 6"/>
          <p:cNvSpPr/>
          <p:nvPr/>
        </p:nvSpPr>
        <p:spPr>
          <a:xfrm>
            <a:off x="566928" y="1828800"/>
            <a:ext cx="2558720" cy="688848"/>
          </a:xfrm>
          <a:prstGeom prst="roundRect">
            <a:avLst>
              <a:gd name="adj" fmla="val 7965"/>
            </a:avLst>
          </a:prstGeom>
          <a:solidFill>
            <a:srgbClr val="E1EFF1"/>
          </a:solidFill>
          <a:ln w="13970">
            <a:solidFill>
              <a:srgbClr val="11707F"/>
            </a:solidFill>
            <a:prstDash val="solid"/>
          </a:ln>
        </p:spPr>
      </p:sp>
      <p:sp>
        <p:nvSpPr>
          <p:cNvPr id="9" name="Text 7"/>
          <p:cNvSpPr/>
          <p:nvPr/>
        </p:nvSpPr>
        <p:spPr>
          <a:xfrm>
            <a:off x="658368" y="1883664"/>
            <a:ext cx="2375840" cy="303093"/>
          </a:xfrm>
          <a:prstGeom prst="rect">
            <a:avLst/>
          </a:prstGeom>
          <a:noFill/>
          <a:ln/>
        </p:spPr>
        <p:txBody>
          <a:bodyPr wrap="square" lIns="0" tIns="0" rIns="0" bIns="0" rtlCol="0" anchor="ctr"/>
          <a:lstStyle/>
          <a:p>
            <a:pPr algn="ctr" indent="0" marL="0">
              <a:buNone/>
            </a:pPr>
            <a:r>
              <a:rPr lang="en-US" sz="1150" b="1" dirty="0">
                <a:solidFill>
                  <a:srgbClr val="14555F"/>
                </a:solidFill>
                <a:latin typeface="Calibri" pitchFamily="34" charset="0"/>
                <a:ea typeface="Calibri" pitchFamily="34" charset="-122"/>
                <a:cs typeface="Calibri" pitchFamily="34" charset="-120"/>
              </a:rPr>
              <a:t>Tag values</a:t>
            </a:r>
            <a:endParaRPr lang="en-US" sz="1150" dirty="0"/>
          </a:p>
        </p:txBody>
      </p:sp>
      <p:sp>
        <p:nvSpPr>
          <p:cNvPr id="10" name="Text 8"/>
          <p:cNvSpPr/>
          <p:nvPr/>
        </p:nvSpPr>
        <p:spPr>
          <a:xfrm>
            <a:off x="649224" y="2145670"/>
            <a:ext cx="2394128" cy="344424"/>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bearing, load, ambient, oil, power</a:t>
            </a:r>
            <a:endParaRPr lang="en-US" sz="940" dirty="0"/>
          </a:p>
        </p:txBody>
      </p:sp>
      <p:sp>
        <p:nvSpPr>
          <p:cNvPr id="11" name="Shape 9"/>
          <p:cNvSpPr/>
          <p:nvPr/>
        </p:nvSpPr>
        <p:spPr>
          <a:xfrm rot="5400000">
            <a:off x="3175940" y="2072640"/>
            <a:ext cx="155448" cy="201168"/>
          </a:xfrm>
          <a:prstGeom prst="triangle">
            <a:avLst/>
          </a:prstGeom>
          <a:solidFill>
            <a:srgbClr val="9AA9B6"/>
          </a:solidFill>
          <a:ln/>
        </p:spPr>
      </p:sp>
      <p:sp>
        <p:nvSpPr>
          <p:cNvPr id="12" name="Shape 10"/>
          <p:cNvSpPr/>
          <p:nvPr/>
        </p:nvSpPr>
        <p:spPr>
          <a:xfrm>
            <a:off x="3399968" y="1828800"/>
            <a:ext cx="2558720" cy="688848"/>
          </a:xfrm>
          <a:prstGeom prst="roundRect">
            <a:avLst>
              <a:gd name="adj" fmla="val 7965"/>
            </a:avLst>
          </a:prstGeom>
          <a:solidFill>
            <a:srgbClr val="E1EFF1"/>
          </a:solidFill>
          <a:ln w="13970">
            <a:solidFill>
              <a:srgbClr val="11707F"/>
            </a:solidFill>
            <a:prstDash val="solid"/>
          </a:ln>
        </p:spPr>
      </p:sp>
      <p:sp>
        <p:nvSpPr>
          <p:cNvPr id="13" name="Text 11"/>
          <p:cNvSpPr/>
          <p:nvPr/>
        </p:nvSpPr>
        <p:spPr>
          <a:xfrm>
            <a:off x="3491408" y="1883664"/>
            <a:ext cx="2375840" cy="303093"/>
          </a:xfrm>
          <a:prstGeom prst="rect">
            <a:avLst/>
          </a:prstGeom>
          <a:noFill/>
          <a:ln/>
        </p:spPr>
        <p:txBody>
          <a:bodyPr wrap="square" lIns="0" tIns="0" rIns="0" bIns="0" rtlCol="0" anchor="ctr"/>
          <a:lstStyle/>
          <a:p>
            <a:pPr algn="ctr" indent="0" marL="0">
              <a:buNone/>
            </a:pPr>
            <a:r>
              <a:rPr lang="en-US" sz="1150" b="1" dirty="0">
                <a:solidFill>
                  <a:srgbClr val="14555F"/>
                </a:solidFill>
                <a:latin typeface="Calibri" pitchFamily="34" charset="0"/>
                <a:ea typeface="Calibri" pitchFamily="34" charset="-122"/>
                <a:cs typeface="Calibri" pitchFamily="34" charset="-120"/>
              </a:rPr>
              <a:t>Validate</a:t>
            </a:r>
            <a:endParaRPr lang="en-US" sz="1150" dirty="0"/>
          </a:p>
        </p:txBody>
      </p:sp>
      <p:sp>
        <p:nvSpPr>
          <p:cNvPr id="14" name="Text 12"/>
          <p:cNvSpPr/>
          <p:nvPr/>
        </p:nvSpPr>
        <p:spPr>
          <a:xfrm>
            <a:off x="3482264" y="2145670"/>
            <a:ext cx="2394128" cy="344424"/>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range, freeze, rate-of-change checks</a:t>
            </a:r>
            <a:endParaRPr lang="en-US" sz="940" dirty="0"/>
          </a:p>
        </p:txBody>
      </p:sp>
      <p:sp>
        <p:nvSpPr>
          <p:cNvPr id="15" name="Shape 13"/>
          <p:cNvSpPr/>
          <p:nvPr/>
        </p:nvSpPr>
        <p:spPr>
          <a:xfrm rot="5400000">
            <a:off x="6008980" y="2072640"/>
            <a:ext cx="155448" cy="201168"/>
          </a:xfrm>
          <a:prstGeom prst="triangle">
            <a:avLst/>
          </a:prstGeom>
          <a:solidFill>
            <a:srgbClr val="9AA9B6"/>
          </a:solidFill>
          <a:ln/>
        </p:spPr>
      </p:sp>
      <p:sp>
        <p:nvSpPr>
          <p:cNvPr id="16" name="Shape 14"/>
          <p:cNvSpPr/>
          <p:nvPr/>
        </p:nvSpPr>
        <p:spPr>
          <a:xfrm>
            <a:off x="6233008" y="1828800"/>
            <a:ext cx="2558720" cy="688848"/>
          </a:xfrm>
          <a:prstGeom prst="roundRect">
            <a:avLst>
              <a:gd name="adj" fmla="val 7965"/>
            </a:avLst>
          </a:prstGeom>
          <a:solidFill>
            <a:srgbClr val="E1EFF1"/>
          </a:solidFill>
          <a:ln w="13970">
            <a:solidFill>
              <a:srgbClr val="11707F"/>
            </a:solidFill>
            <a:prstDash val="solid"/>
          </a:ln>
        </p:spPr>
      </p:sp>
      <p:sp>
        <p:nvSpPr>
          <p:cNvPr id="17" name="Text 15"/>
          <p:cNvSpPr/>
          <p:nvPr/>
        </p:nvSpPr>
        <p:spPr>
          <a:xfrm>
            <a:off x="6324448" y="1883664"/>
            <a:ext cx="2375840" cy="303093"/>
          </a:xfrm>
          <a:prstGeom prst="rect">
            <a:avLst/>
          </a:prstGeom>
          <a:noFill/>
          <a:ln/>
        </p:spPr>
        <p:txBody>
          <a:bodyPr wrap="square" lIns="0" tIns="0" rIns="0" bIns="0" rtlCol="0" anchor="ctr"/>
          <a:lstStyle/>
          <a:p>
            <a:pPr algn="ctr" indent="0" marL="0">
              <a:buNone/>
            </a:pPr>
            <a:r>
              <a:rPr lang="en-US" sz="1150" b="1" dirty="0">
                <a:solidFill>
                  <a:srgbClr val="14555F"/>
                </a:solidFill>
                <a:latin typeface="Calibri" pitchFamily="34" charset="0"/>
                <a:ea typeface="Calibri" pitchFamily="34" charset="-122"/>
                <a:cs typeface="Calibri" pitchFamily="34" charset="-120"/>
              </a:rPr>
              <a:t>Operating mode</a:t>
            </a:r>
            <a:endParaRPr lang="en-US" sz="1150" dirty="0"/>
          </a:p>
        </p:txBody>
      </p:sp>
      <p:sp>
        <p:nvSpPr>
          <p:cNvPr id="18" name="Text 16"/>
          <p:cNvSpPr/>
          <p:nvPr/>
        </p:nvSpPr>
        <p:spPr>
          <a:xfrm>
            <a:off x="6315304" y="2145670"/>
            <a:ext cx="2394128" cy="344424"/>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start-up, low load, normal, shutdown</a:t>
            </a:r>
            <a:endParaRPr lang="en-US" sz="940" dirty="0"/>
          </a:p>
        </p:txBody>
      </p:sp>
      <p:sp>
        <p:nvSpPr>
          <p:cNvPr id="19" name="Shape 17"/>
          <p:cNvSpPr/>
          <p:nvPr/>
        </p:nvSpPr>
        <p:spPr>
          <a:xfrm rot="5400000">
            <a:off x="8842019" y="2072640"/>
            <a:ext cx="155448" cy="201168"/>
          </a:xfrm>
          <a:prstGeom prst="triangle">
            <a:avLst/>
          </a:prstGeom>
          <a:solidFill>
            <a:srgbClr val="9AA9B6"/>
          </a:solidFill>
          <a:ln/>
        </p:spPr>
      </p:sp>
      <p:sp>
        <p:nvSpPr>
          <p:cNvPr id="20" name="Shape 18"/>
          <p:cNvSpPr/>
          <p:nvPr/>
        </p:nvSpPr>
        <p:spPr>
          <a:xfrm>
            <a:off x="9066047" y="1828800"/>
            <a:ext cx="2558720" cy="688848"/>
          </a:xfrm>
          <a:prstGeom prst="roundRect">
            <a:avLst>
              <a:gd name="adj" fmla="val 7965"/>
            </a:avLst>
          </a:prstGeom>
          <a:solidFill>
            <a:srgbClr val="FCEDE0"/>
          </a:solidFill>
          <a:ln w="13970">
            <a:solidFill>
              <a:srgbClr val="D96A16"/>
            </a:solidFill>
            <a:prstDash val="solid"/>
          </a:ln>
        </p:spPr>
      </p:sp>
      <p:sp>
        <p:nvSpPr>
          <p:cNvPr id="21" name="Text 19"/>
          <p:cNvSpPr/>
          <p:nvPr/>
        </p:nvSpPr>
        <p:spPr>
          <a:xfrm>
            <a:off x="9157487" y="1883664"/>
            <a:ext cx="2375840" cy="303093"/>
          </a:xfrm>
          <a:prstGeom prst="rect">
            <a:avLst/>
          </a:prstGeom>
          <a:noFill/>
          <a:ln/>
        </p:spPr>
        <p:txBody>
          <a:bodyPr wrap="square" lIns="0" tIns="0" rIns="0" bIns="0" rtlCol="0" anchor="ctr"/>
          <a:lstStyle/>
          <a:p>
            <a:pPr algn="ctr" indent="0" marL="0">
              <a:buNone/>
            </a:pPr>
            <a:r>
              <a:rPr lang="en-US" sz="1150" b="1" dirty="0">
                <a:solidFill>
                  <a:srgbClr val="8A4310"/>
                </a:solidFill>
                <a:latin typeface="Calibri" pitchFamily="34" charset="0"/>
                <a:ea typeface="Calibri" pitchFamily="34" charset="-122"/>
                <a:cs typeface="Calibri" pitchFamily="34" charset="-120"/>
              </a:rPr>
              <a:t>Similarity model</a:t>
            </a:r>
            <a:endParaRPr lang="en-US" sz="1150" dirty="0"/>
          </a:p>
        </p:txBody>
      </p:sp>
      <p:sp>
        <p:nvSpPr>
          <p:cNvPr id="22" name="Text 20"/>
          <p:cNvSpPr/>
          <p:nvPr/>
        </p:nvSpPr>
        <p:spPr>
          <a:xfrm>
            <a:off x="9148343" y="2145670"/>
            <a:ext cx="2394128" cy="344424"/>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find the closest healthy states</a:t>
            </a:r>
            <a:endParaRPr lang="en-US" sz="940" dirty="0"/>
          </a:p>
        </p:txBody>
      </p:sp>
      <p:sp>
        <p:nvSpPr>
          <p:cNvPr id="23" name="Shape 21"/>
          <p:cNvSpPr/>
          <p:nvPr/>
        </p:nvSpPr>
        <p:spPr>
          <a:xfrm>
            <a:off x="10345407" y="2517648"/>
            <a:ext cx="0" cy="142646"/>
          </a:xfrm>
          <a:prstGeom prst="line">
            <a:avLst/>
          </a:prstGeom>
          <a:noFill/>
          <a:ln w="15240">
            <a:solidFill>
              <a:srgbClr val="9AA9B6"/>
            </a:solidFill>
            <a:prstDash val="solid"/>
          </a:ln>
        </p:spPr>
      </p:sp>
      <p:sp>
        <p:nvSpPr>
          <p:cNvPr id="24" name="Shape 22"/>
          <p:cNvSpPr/>
          <p:nvPr/>
        </p:nvSpPr>
        <p:spPr>
          <a:xfrm>
            <a:off x="1846288" y="2660294"/>
            <a:ext cx="8499119" cy="0"/>
          </a:xfrm>
          <a:prstGeom prst="line">
            <a:avLst/>
          </a:prstGeom>
          <a:noFill/>
          <a:ln w="15240">
            <a:solidFill>
              <a:srgbClr val="9AA9B6"/>
            </a:solidFill>
            <a:prstDash val="solid"/>
          </a:ln>
        </p:spPr>
      </p:sp>
      <p:sp>
        <p:nvSpPr>
          <p:cNvPr id="25" name="Shape 23"/>
          <p:cNvSpPr/>
          <p:nvPr/>
        </p:nvSpPr>
        <p:spPr>
          <a:xfrm>
            <a:off x="1846288" y="2660294"/>
            <a:ext cx="0" cy="76810"/>
          </a:xfrm>
          <a:prstGeom prst="line">
            <a:avLst/>
          </a:prstGeom>
          <a:noFill/>
          <a:ln w="15240">
            <a:solidFill>
              <a:srgbClr val="9AA9B6"/>
            </a:solidFill>
            <a:prstDash val="solid"/>
          </a:ln>
        </p:spPr>
      </p:sp>
      <p:sp>
        <p:nvSpPr>
          <p:cNvPr id="26" name="Shape 24"/>
          <p:cNvSpPr/>
          <p:nvPr/>
        </p:nvSpPr>
        <p:spPr>
          <a:xfrm rot="10800000">
            <a:off x="1754848" y="2731618"/>
            <a:ext cx="182880" cy="118872"/>
          </a:xfrm>
          <a:prstGeom prst="triangle">
            <a:avLst/>
          </a:prstGeom>
          <a:solidFill>
            <a:srgbClr val="9AA9B6"/>
          </a:solidFill>
          <a:ln/>
        </p:spPr>
      </p:sp>
      <p:sp>
        <p:nvSpPr>
          <p:cNvPr id="27" name="Text 25"/>
          <p:cNvSpPr/>
          <p:nvPr/>
        </p:nvSpPr>
        <p:spPr>
          <a:xfrm>
            <a:off x="566928" y="2791968"/>
            <a:ext cx="11057839" cy="201168"/>
          </a:xfrm>
          <a:prstGeom prst="rect">
            <a:avLst/>
          </a:prstGeom>
          <a:noFill/>
          <a:ln/>
        </p:spPr>
        <p:txBody>
          <a:bodyPr wrap="square" lIns="0" tIns="0" rIns="0" bIns="0" rtlCol="0" anchor="ctr"/>
          <a:lstStyle/>
          <a:p>
            <a:pPr indent="0" marL="0">
              <a:buNone/>
            </a:pPr>
            <a:r>
              <a:rPr lang="en-US" sz="1000" b="1" dirty="0">
                <a:solidFill>
                  <a:srgbClr val="5C6B7A"/>
                </a:solidFill>
                <a:latin typeface="Calibri" pitchFamily="34" charset="0"/>
                <a:ea typeface="Calibri" pitchFamily="34" charset="-122"/>
                <a:cs typeface="Calibri" pitchFamily="34" charset="-120"/>
              </a:rPr>
              <a:t>DETECTION</a:t>
            </a:r>
            <a:endParaRPr lang="en-US" sz="1000" dirty="0"/>
          </a:p>
        </p:txBody>
      </p:sp>
      <p:sp>
        <p:nvSpPr>
          <p:cNvPr id="28" name="Shape 26"/>
          <p:cNvSpPr/>
          <p:nvPr/>
        </p:nvSpPr>
        <p:spPr>
          <a:xfrm>
            <a:off x="566928" y="2993136"/>
            <a:ext cx="2558720" cy="688848"/>
          </a:xfrm>
          <a:prstGeom prst="roundRect">
            <a:avLst>
              <a:gd name="adj" fmla="val 7965"/>
            </a:avLst>
          </a:prstGeom>
          <a:solidFill>
            <a:srgbClr val="FCEDE0"/>
          </a:solidFill>
          <a:ln w="13970">
            <a:solidFill>
              <a:srgbClr val="D96A16"/>
            </a:solidFill>
            <a:prstDash val="solid"/>
          </a:ln>
        </p:spPr>
      </p:sp>
      <p:sp>
        <p:nvSpPr>
          <p:cNvPr id="29" name="Text 27"/>
          <p:cNvSpPr/>
          <p:nvPr/>
        </p:nvSpPr>
        <p:spPr>
          <a:xfrm>
            <a:off x="658368" y="3048000"/>
            <a:ext cx="2375840" cy="303093"/>
          </a:xfrm>
          <a:prstGeom prst="rect">
            <a:avLst/>
          </a:prstGeom>
          <a:noFill/>
          <a:ln/>
        </p:spPr>
        <p:txBody>
          <a:bodyPr wrap="square" lIns="0" tIns="0" rIns="0" bIns="0" rtlCol="0" anchor="ctr"/>
          <a:lstStyle/>
          <a:p>
            <a:pPr algn="ctr" indent="0" marL="0">
              <a:buNone/>
            </a:pPr>
            <a:r>
              <a:rPr lang="en-US" sz="1150" b="1" dirty="0">
                <a:solidFill>
                  <a:srgbClr val="8A4310"/>
                </a:solidFill>
                <a:latin typeface="Calibri" pitchFamily="34" charset="0"/>
                <a:ea typeface="Calibri" pitchFamily="34" charset="-122"/>
                <a:cs typeface="Calibri" pitchFamily="34" charset="-120"/>
              </a:rPr>
              <a:t>Expected value</a:t>
            </a:r>
            <a:endParaRPr lang="en-US" sz="1150" dirty="0"/>
          </a:p>
        </p:txBody>
      </p:sp>
      <p:sp>
        <p:nvSpPr>
          <p:cNvPr id="30" name="Text 28"/>
          <p:cNvSpPr/>
          <p:nvPr/>
        </p:nvSpPr>
        <p:spPr>
          <a:xfrm>
            <a:off x="649224" y="3310006"/>
            <a:ext cx="2394128" cy="344424"/>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per signal, right now</a:t>
            </a:r>
            <a:endParaRPr lang="en-US" sz="940" dirty="0"/>
          </a:p>
        </p:txBody>
      </p:sp>
      <p:sp>
        <p:nvSpPr>
          <p:cNvPr id="31" name="Shape 29"/>
          <p:cNvSpPr/>
          <p:nvPr/>
        </p:nvSpPr>
        <p:spPr>
          <a:xfrm rot="5400000">
            <a:off x="3175940" y="3236976"/>
            <a:ext cx="155448" cy="201168"/>
          </a:xfrm>
          <a:prstGeom prst="triangle">
            <a:avLst/>
          </a:prstGeom>
          <a:solidFill>
            <a:srgbClr val="9AA9B6"/>
          </a:solidFill>
          <a:ln/>
        </p:spPr>
      </p:sp>
      <p:sp>
        <p:nvSpPr>
          <p:cNvPr id="32" name="Shape 30"/>
          <p:cNvSpPr/>
          <p:nvPr/>
        </p:nvSpPr>
        <p:spPr>
          <a:xfrm>
            <a:off x="3399968" y="2993136"/>
            <a:ext cx="2558720" cy="688848"/>
          </a:xfrm>
          <a:prstGeom prst="roundRect">
            <a:avLst>
              <a:gd name="adj" fmla="val 7965"/>
            </a:avLst>
          </a:prstGeom>
          <a:solidFill>
            <a:srgbClr val="F1F4F7"/>
          </a:solidFill>
          <a:ln w="13970">
            <a:solidFill>
              <a:srgbClr val="3B4A5A"/>
            </a:solidFill>
            <a:prstDash val="solid"/>
          </a:ln>
        </p:spPr>
      </p:sp>
      <p:sp>
        <p:nvSpPr>
          <p:cNvPr id="33" name="Text 31"/>
          <p:cNvSpPr/>
          <p:nvPr/>
        </p:nvSpPr>
        <p:spPr>
          <a:xfrm>
            <a:off x="3491408" y="3048000"/>
            <a:ext cx="2375840" cy="303093"/>
          </a:xfrm>
          <a:prstGeom prst="rect">
            <a:avLst/>
          </a:prstGeom>
          <a:noFill/>
          <a:ln/>
        </p:spPr>
        <p:txBody>
          <a:bodyPr wrap="square" lIns="0" tIns="0" rIns="0" bIns="0" rtlCol="0" anchor="ctr"/>
          <a:lstStyle/>
          <a:p>
            <a:pPr algn="ctr" indent="0" marL="0">
              <a:buNone/>
            </a:pPr>
            <a:r>
              <a:rPr lang="en-US" sz="1150" b="1" dirty="0">
                <a:solidFill>
                  <a:srgbClr val="1C2530"/>
                </a:solidFill>
                <a:latin typeface="Calibri" pitchFamily="34" charset="0"/>
                <a:ea typeface="Calibri" pitchFamily="34" charset="-122"/>
                <a:cs typeface="Calibri" pitchFamily="34" charset="-120"/>
              </a:rPr>
              <a:t>Residual</a:t>
            </a:r>
            <a:endParaRPr lang="en-US" sz="1150" dirty="0"/>
          </a:p>
        </p:txBody>
      </p:sp>
      <p:sp>
        <p:nvSpPr>
          <p:cNvPr id="34" name="Text 32"/>
          <p:cNvSpPr/>
          <p:nvPr/>
        </p:nvSpPr>
        <p:spPr>
          <a:xfrm>
            <a:off x="3482264" y="3310006"/>
            <a:ext cx="2394128" cy="344424"/>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actual minus expected</a:t>
            </a:r>
            <a:endParaRPr lang="en-US" sz="940" dirty="0"/>
          </a:p>
        </p:txBody>
      </p:sp>
      <p:sp>
        <p:nvSpPr>
          <p:cNvPr id="35" name="Shape 33"/>
          <p:cNvSpPr/>
          <p:nvPr/>
        </p:nvSpPr>
        <p:spPr>
          <a:xfrm rot="5400000">
            <a:off x="6008980" y="3236976"/>
            <a:ext cx="155448" cy="201168"/>
          </a:xfrm>
          <a:prstGeom prst="triangle">
            <a:avLst/>
          </a:prstGeom>
          <a:solidFill>
            <a:srgbClr val="9AA9B6"/>
          </a:solidFill>
          <a:ln/>
        </p:spPr>
      </p:sp>
      <p:sp>
        <p:nvSpPr>
          <p:cNvPr id="36" name="Shape 34"/>
          <p:cNvSpPr/>
          <p:nvPr/>
        </p:nvSpPr>
        <p:spPr>
          <a:xfrm>
            <a:off x="6233008" y="2993136"/>
            <a:ext cx="2558720" cy="688848"/>
          </a:xfrm>
          <a:prstGeom prst="roundRect">
            <a:avLst>
              <a:gd name="adj" fmla="val 7965"/>
            </a:avLst>
          </a:prstGeom>
          <a:solidFill>
            <a:srgbClr val="F1F4F7"/>
          </a:solidFill>
          <a:ln w="13970">
            <a:solidFill>
              <a:srgbClr val="3B4A5A"/>
            </a:solidFill>
            <a:prstDash val="solid"/>
          </a:ln>
        </p:spPr>
      </p:sp>
      <p:sp>
        <p:nvSpPr>
          <p:cNvPr id="37" name="Text 35"/>
          <p:cNvSpPr/>
          <p:nvPr/>
        </p:nvSpPr>
        <p:spPr>
          <a:xfrm>
            <a:off x="6324448" y="3048000"/>
            <a:ext cx="2375840" cy="303093"/>
          </a:xfrm>
          <a:prstGeom prst="rect">
            <a:avLst/>
          </a:prstGeom>
          <a:noFill/>
          <a:ln/>
        </p:spPr>
        <p:txBody>
          <a:bodyPr wrap="square" lIns="0" tIns="0" rIns="0" bIns="0" rtlCol="0" anchor="ctr"/>
          <a:lstStyle/>
          <a:p>
            <a:pPr algn="ctr" indent="0" marL="0">
              <a:buNone/>
            </a:pPr>
            <a:r>
              <a:rPr lang="en-US" sz="1150" b="1" dirty="0">
                <a:solidFill>
                  <a:srgbClr val="1C2530"/>
                </a:solidFill>
                <a:latin typeface="Calibri" pitchFamily="34" charset="0"/>
                <a:ea typeface="Calibri" pitchFamily="34" charset="-122"/>
                <a:cs typeface="Calibri" pitchFamily="34" charset="-120"/>
              </a:rPr>
              <a:t>Smooth and persist</a:t>
            </a:r>
            <a:endParaRPr lang="en-US" sz="1150" dirty="0"/>
          </a:p>
        </p:txBody>
      </p:sp>
      <p:sp>
        <p:nvSpPr>
          <p:cNvPr id="38" name="Text 36"/>
          <p:cNvSpPr/>
          <p:nvPr/>
        </p:nvSpPr>
        <p:spPr>
          <a:xfrm>
            <a:off x="6315304" y="3310006"/>
            <a:ext cx="2394128" cy="344424"/>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EWMA, then N days above threshold</a:t>
            </a:r>
            <a:endParaRPr lang="en-US" sz="940" dirty="0"/>
          </a:p>
        </p:txBody>
      </p:sp>
      <p:sp>
        <p:nvSpPr>
          <p:cNvPr id="39" name="Shape 37"/>
          <p:cNvSpPr/>
          <p:nvPr/>
        </p:nvSpPr>
        <p:spPr>
          <a:xfrm rot="5400000">
            <a:off x="8842019" y="3236976"/>
            <a:ext cx="155448" cy="201168"/>
          </a:xfrm>
          <a:prstGeom prst="triangle">
            <a:avLst/>
          </a:prstGeom>
          <a:solidFill>
            <a:srgbClr val="9AA9B6"/>
          </a:solidFill>
          <a:ln/>
        </p:spPr>
      </p:sp>
      <p:sp>
        <p:nvSpPr>
          <p:cNvPr id="40" name="Shape 38"/>
          <p:cNvSpPr/>
          <p:nvPr/>
        </p:nvSpPr>
        <p:spPr>
          <a:xfrm>
            <a:off x="9066047" y="2993136"/>
            <a:ext cx="2558720" cy="688848"/>
          </a:xfrm>
          <a:prstGeom prst="roundRect">
            <a:avLst>
              <a:gd name="adj" fmla="val 7965"/>
            </a:avLst>
          </a:prstGeom>
          <a:solidFill>
            <a:srgbClr val="F1F4F7"/>
          </a:solidFill>
          <a:ln w="13970">
            <a:solidFill>
              <a:srgbClr val="3B4A5A"/>
            </a:solidFill>
            <a:prstDash val="solid"/>
          </a:ln>
        </p:spPr>
      </p:sp>
      <p:sp>
        <p:nvSpPr>
          <p:cNvPr id="41" name="Text 39"/>
          <p:cNvSpPr/>
          <p:nvPr/>
        </p:nvSpPr>
        <p:spPr>
          <a:xfrm>
            <a:off x="9157487" y="3048000"/>
            <a:ext cx="2375840" cy="303093"/>
          </a:xfrm>
          <a:prstGeom prst="rect">
            <a:avLst/>
          </a:prstGeom>
          <a:noFill/>
          <a:ln/>
        </p:spPr>
        <p:txBody>
          <a:bodyPr wrap="square" lIns="0" tIns="0" rIns="0" bIns="0" rtlCol="0" anchor="ctr"/>
          <a:lstStyle/>
          <a:p>
            <a:pPr algn="ctr" indent="0" marL="0">
              <a:buNone/>
            </a:pPr>
            <a:r>
              <a:rPr lang="en-US" sz="1150" b="1" dirty="0">
                <a:solidFill>
                  <a:srgbClr val="1C2530"/>
                </a:solidFill>
                <a:latin typeface="Calibri" pitchFamily="34" charset="0"/>
                <a:ea typeface="Calibri" pitchFamily="34" charset="-122"/>
                <a:cs typeface="Calibri" pitchFamily="34" charset="-120"/>
              </a:rPr>
              <a:t>Rank and group</a:t>
            </a:r>
            <a:endParaRPr lang="en-US" sz="1150" dirty="0"/>
          </a:p>
        </p:txBody>
      </p:sp>
      <p:sp>
        <p:nvSpPr>
          <p:cNvPr id="42" name="Text 40"/>
          <p:cNvSpPr/>
          <p:nvPr/>
        </p:nvSpPr>
        <p:spPr>
          <a:xfrm>
            <a:off x="9148343" y="3310006"/>
            <a:ext cx="2394128" cy="344424"/>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one alert per machine, not per tag</a:t>
            </a:r>
            <a:endParaRPr lang="en-US" sz="940" dirty="0"/>
          </a:p>
        </p:txBody>
      </p:sp>
      <p:sp>
        <p:nvSpPr>
          <p:cNvPr id="43" name="Shape 41"/>
          <p:cNvSpPr/>
          <p:nvPr/>
        </p:nvSpPr>
        <p:spPr>
          <a:xfrm>
            <a:off x="10345407" y="3681984"/>
            <a:ext cx="0" cy="142646"/>
          </a:xfrm>
          <a:prstGeom prst="line">
            <a:avLst/>
          </a:prstGeom>
          <a:noFill/>
          <a:ln w="15240">
            <a:solidFill>
              <a:srgbClr val="9AA9B6"/>
            </a:solidFill>
            <a:prstDash val="solid"/>
          </a:ln>
        </p:spPr>
      </p:sp>
      <p:sp>
        <p:nvSpPr>
          <p:cNvPr id="44" name="Shape 42"/>
          <p:cNvSpPr/>
          <p:nvPr/>
        </p:nvSpPr>
        <p:spPr>
          <a:xfrm>
            <a:off x="1846288" y="3824630"/>
            <a:ext cx="8499119" cy="0"/>
          </a:xfrm>
          <a:prstGeom prst="line">
            <a:avLst/>
          </a:prstGeom>
          <a:noFill/>
          <a:ln w="15240">
            <a:solidFill>
              <a:srgbClr val="9AA9B6"/>
            </a:solidFill>
            <a:prstDash val="solid"/>
          </a:ln>
        </p:spPr>
      </p:sp>
      <p:sp>
        <p:nvSpPr>
          <p:cNvPr id="45" name="Shape 43"/>
          <p:cNvSpPr/>
          <p:nvPr/>
        </p:nvSpPr>
        <p:spPr>
          <a:xfrm>
            <a:off x="1846288" y="3824630"/>
            <a:ext cx="0" cy="76810"/>
          </a:xfrm>
          <a:prstGeom prst="line">
            <a:avLst/>
          </a:prstGeom>
          <a:noFill/>
          <a:ln w="15240">
            <a:solidFill>
              <a:srgbClr val="9AA9B6"/>
            </a:solidFill>
            <a:prstDash val="solid"/>
          </a:ln>
        </p:spPr>
      </p:sp>
      <p:sp>
        <p:nvSpPr>
          <p:cNvPr id="46" name="Shape 44"/>
          <p:cNvSpPr/>
          <p:nvPr/>
        </p:nvSpPr>
        <p:spPr>
          <a:xfrm rot="10800000">
            <a:off x="1754848" y="3895954"/>
            <a:ext cx="182880" cy="118872"/>
          </a:xfrm>
          <a:prstGeom prst="triangle">
            <a:avLst/>
          </a:prstGeom>
          <a:solidFill>
            <a:srgbClr val="9AA9B6"/>
          </a:solidFill>
          <a:ln/>
        </p:spPr>
      </p:sp>
      <p:sp>
        <p:nvSpPr>
          <p:cNvPr id="47" name="Text 45"/>
          <p:cNvSpPr/>
          <p:nvPr/>
        </p:nvSpPr>
        <p:spPr>
          <a:xfrm>
            <a:off x="566928" y="3956304"/>
            <a:ext cx="11057839" cy="201168"/>
          </a:xfrm>
          <a:prstGeom prst="rect">
            <a:avLst/>
          </a:prstGeom>
          <a:noFill/>
          <a:ln/>
        </p:spPr>
        <p:txBody>
          <a:bodyPr wrap="square" lIns="0" tIns="0" rIns="0" bIns="0" rtlCol="0" anchor="ctr"/>
          <a:lstStyle/>
          <a:p>
            <a:pPr indent="0" marL="0">
              <a:buNone/>
            </a:pPr>
            <a:r>
              <a:rPr lang="en-US" sz="1000" b="1" dirty="0">
                <a:solidFill>
                  <a:srgbClr val="5C6B7A"/>
                </a:solidFill>
                <a:latin typeface="Calibri" pitchFamily="34" charset="0"/>
                <a:ea typeface="Calibri" pitchFamily="34" charset="-122"/>
                <a:cs typeface="Calibri" pitchFamily="34" charset="-120"/>
              </a:rPr>
              <a:t>THE HUMAN LOOP</a:t>
            </a:r>
            <a:endParaRPr lang="en-US" sz="1000" dirty="0"/>
          </a:p>
        </p:txBody>
      </p:sp>
      <p:sp>
        <p:nvSpPr>
          <p:cNvPr id="48" name="Shape 46"/>
          <p:cNvSpPr/>
          <p:nvPr/>
        </p:nvSpPr>
        <p:spPr>
          <a:xfrm>
            <a:off x="566928" y="4157472"/>
            <a:ext cx="2558720" cy="688848"/>
          </a:xfrm>
          <a:prstGeom prst="roundRect">
            <a:avLst>
              <a:gd name="adj" fmla="val 7965"/>
            </a:avLst>
          </a:prstGeom>
          <a:solidFill>
            <a:srgbClr val="F1F4F7"/>
          </a:solidFill>
          <a:ln w="13970">
            <a:solidFill>
              <a:srgbClr val="3B4A5A"/>
            </a:solidFill>
            <a:prstDash val="solid"/>
          </a:ln>
        </p:spPr>
      </p:sp>
      <p:sp>
        <p:nvSpPr>
          <p:cNvPr id="49" name="Text 47"/>
          <p:cNvSpPr/>
          <p:nvPr/>
        </p:nvSpPr>
        <p:spPr>
          <a:xfrm>
            <a:off x="658368" y="4212336"/>
            <a:ext cx="2375840" cy="303093"/>
          </a:xfrm>
          <a:prstGeom prst="rect">
            <a:avLst/>
          </a:prstGeom>
          <a:noFill/>
          <a:ln/>
        </p:spPr>
        <p:txBody>
          <a:bodyPr wrap="square" lIns="0" tIns="0" rIns="0" bIns="0" rtlCol="0" anchor="ctr"/>
          <a:lstStyle/>
          <a:p>
            <a:pPr algn="ctr" indent="0" marL="0">
              <a:buNone/>
            </a:pPr>
            <a:r>
              <a:rPr lang="en-US" sz="1150" b="1" dirty="0">
                <a:solidFill>
                  <a:srgbClr val="1C2530"/>
                </a:solidFill>
                <a:latin typeface="Calibri" pitchFamily="34" charset="0"/>
                <a:ea typeface="Calibri" pitchFamily="34" charset="-122"/>
                <a:cs typeface="Calibri" pitchFamily="34" charset="-120"/>
              </a:rPr>
              <a:t>Alert with evidence</a:t>
            </a:r>
            <a:endParaRPr lang="en-US" sz="1150" dirty="0"/>
          </a:p>
        </p:txBody>
      </p:sp>
      <p:sp>
        <p:nvSpPr>
          <p:cNvPr id="50" name="Text 48"/>
          <p:cNvSpPr/>
          <p:nvPr/>
        </p:nvSpPr>
        <p:spPr>
          <a:xfrm>
            <a:off x="649224" y="4474342"/>
            <a:ext cx="2394128" cy="344424"/>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which signals, how far, since when</a:t>
            </a:r>
            <a:endParaRPr lang="en-US" sz="940" dirty="0"/>
          </a:p>
        </p:txBody>
      </p:sp>
      <p:sp>
        <p:nvSpPr>
          <p:cNvPr id="51" name="Shape 49"/>
          <p:cNvSpPr/>
          <p:nvPr/>
        </p:nvSpPr>
        <p:spPr>
          <a:xfrm rot="5400000">
            <a:off x="3175940" y="4401312"/>
            <a:ext cx="155448" cy="201168"/>
          </a:xfrm>
          <a:prstGeom prst="triangle">
            <a:avLst/>
          </a:prstGeom>
          <a:solidFill>
            <a:srgbClr val="9AA9B6"/>
          </a:solidFill>
          <a:ln/>
        </p:spPr>
      </p:sp>
      <p:sp>
        <p:nvSpPr>
          <p:cNvPr id="52" name="Shape 50"/>
          <p:cNvSpPr/>
          <p:nvPr/>
        </p:nvSpPr>
        <p:spPr>
          <a:xfrm>
            <a:off x="3399968" y="4157472"/>
            <a:ext cx="2558720" cy="688848"/>
          </a:xfrm>
          <a:prstGeom prst="roundRect">
            <a:avLst>
              <a:gd name="adj" fmla="val 7965"/>
            </a:avLst>
          </a:prstGeom>
          <a:solidFill>
            <a:srgbClr val="E4F0EA"/>
          </a:solidFill>
          <a:ln w="13970">
            <a:solidFill>
              <a:srgbClr val="256B45"/>
            </a:solidFill>
            <a:prstDash val="solid"/>
          </a:ln>
        </p:spPr>
      </p:sp>
      <p:sp>
        <p:nvSpPr>
          <p:cNvPr id="53" name="Text 51"/>
          <p:cNvSpPr/>
          <p:nvPr/>
        </p:nvSpPr>
        <p:spPr>
          <a:xfrm>
            <a:off x="3491408" y="4212336"/>
            <a:ext cx="2375840" cy="303093"/>
          </a:xfrm>
          <a:prstGeom prst="rect">
            <a:avLst/>
          </a:prstGeom>
          <a:noFill/>
          <a:ln/>
        </p:spPr>
        <p:txBody>
          <a:bodyPr wrap="square" lIns="0" tIns="0" rIns="0" bIns="0" rtlCol="0" anchor="ctr"/>
          <a:lstStyle/>
          <a:p>
            <a:pPr algn="ctr" indent="0" marL="0">
              <a:buNone/>
            </a:pPr>
            <a:r>
              <a:rPr lang="en-US" sz="1150" b="1" dirty="0">
                <a:solidFill>
                  <a:srgbClr val="1B4E32"/>
                </a:solidFill>
                <a:latin typeface="Calibri" pitchFamily="34" charset="0"/>
                <a:ea typeface="Calibri" pitchFamily="34" charset="-122"/>
                <a:cs typeface="Calibri" pitchFamily="34" charset="-120"/>
              </a:rPr>
              <a:t>Engineer triages</a:t>
            </a:r>
            <a:endParaRPr lang="en-US" sz="1150" dirty="0"/>
          </a:p>
        </p:txBody>
      </p:sp>
      <p:sp>
        <p:nvSpPr>
          <p:cNvPr id="54" name="Text 52"/>
          <p:cNvSpPr/>
          <p:nvPr/>
        </p:nvSpPr>
        <p:spPr>
          <a:xfrm>
            <a:off x="3482264" y="4474342"/>
            <a:ext cx="2394128" cy="344424"/>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fault, sensor, or operating condition</a:t>
            </a:r>
            <a:endParaRPr lang="en-US" sz="940" dirty="0"/>
          </a:p>
        </p:txBody>
      </p:sp>
      <p:sp>
        <p:nvSpPr>
          <p:cNvPr id="55" name="Shape 53"/>
          <p:cNvSpPr/>
          <p:nvPr/>
        </p:nvSpPr>
        <p:spPr>
          <a:xfrm rot="5400000">
            <a:off x="6008980" y="4401312"/>
            <a:ext cx="155448" cy="201168"/>
          </a:xfrm>
          <a:prstGeom prst="triangle">
            <a:avLst/>
          </a:prstGeom>
          <a:solidFill>
            <a:srgbClr val="9AA9B6"/>
          </a:solidFill>
          <a:ln/>
        </p:spPr>
      </p:sp>
      <p:sp>
        <p:nvSpPr>
          <p:cNvPr id="56" name="Shape 54"/>
          <p:cNvSpPr/>
          <p:nvPr/>
        </p:nvSpPr>
        <p:spPr>
          <a:xfrm>
            <a:off x="6233008" y="4157472"/>
            <a:ext cx="2558720" cy="688848"/>
          </a:xfrm>
          <a:prstGeom prst="roundRect">
            <a:avLst>
              <a:gd name="adj" fmla="val 7965"/>
            </a:avLst>
          </a:prstGeom>
          <a:solidFill>
            <a:srgbClr val="E4F0EA"/>
          </a:solidFill>
          <a:ln w="13970">
            <a:solidFill>
              <a:srgbClr val="256B45"/>
            </a:solidFill>
            <a:prstDash val="solid"/>
          </a:ln>
        </p:spPr>
      </p:sp>
      <p:sp>
        <p:nvSpPr>
          <p:cNvPr id="57" name="Text 55"/>
          <p:cNvSpPr/>
          <p:nvPr/>
        </p:nvSpPr>
        <p:spPr>
          <a:xfrm>
            <a:off x="6324448" y="4212336"/>
            <a:ext cx="2375840" cy="303093"/>
          </a:xfrm>
          <a:prstGeom prst="rect">
            <a:avLst/>
          </a:prstGeom>
          <a:noFill/>
          <a:ln/>
        </p:spPr>
        <p:txBody>
          <a:bodyPr wrap="square" lIns="0" tIns="0" rIns="0" bIns="0" rtlCol="0" anchor="ctr"/>
          <a:lstStyle/>
          <a:p>
            <a:pPr algn="ctr" indent="0" marL="0">
              <a:buNone/>
            </a:pPr>
            <a:r>
              <a:rPr lang="en-US" sz="1150" b="1" dirty="0">
                <a:solidFill>
                  <a:srgbClr val="1B4E32"/>
                </a:solidFill>
                <a:latin typeface="Calibri" pitchFamily="34" charset="0"/>
                <a:ea typeface="Calibri" pitchFamily="34" charset="-122"/>
                <a:cs typeface="Calibri" pitchFamily="34" charset="-120"/>
              </a:rPr>
              <a:t>Action raised</a:t>
            </a:r>
            <a:endParaRPr lang="en-US" sz="1150" dirty="0"/>
          </a:p>
        </p:txBody>
      </p:sp>
      <p:sp>
        <p:nvSpPr>
          <p:cNvPr id="58" name="Text 56"/>
          <p:cNvSpPr/>
          <p:nvPr/>
        </p:nvSpPr>
        <p:spPr>
          <a:xfrm>
            <a:off x="6315304" y="4474342"/>
            <a:ext cx="2394128" cy="344424"/>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inspection or work order</a:t>
            </a:r>
            <a:endParaRPr lang="en-US" sz="940" dirty="0"/>
          </a:p>
        </p:txBody>
      </p:sp>
      <p:sp>
        <p:nvSpPr>
          <p:cNvPr id="59" name="Shape 57"/>
          <p:cNvSpPr/>
          <p:nvPr/>
        </p:nvSpPr>
        <p:spPr>
          <a:xfrm rot="5400000">
            <a:off x="8842019" y="4401312"/>
            <a:ext cx="155448" cy="201168"/>
          </a:xfrm>
          <a:prstGeom prst="triangle">
            <a:avLst/>
          </a:prstGeom>
          <a:solidFill>
            <a:srgbClr val="9AA9B6"/>
          </a:solidFill>
          <a:ln/>
        </p:spPr>
      </p:sp>
      <p:sp>
        <p:nvSpPr>
          <p:cNvPr id="60" name="Shape 58"/>
          <p:cNvSpPr/>
          <p:nvPr/>
        </p:nvSpPr>
        <p:spPr>
          <a:xfrm>
            <a:off x="9066047" y="4157472"/>
            <a:ext cx="2558720" cy="688848"/>
          </a:xfrm>
          <a:prstGeom prst="roundRect">
            <a:avLst>
              <a:gd name="adj" fmla="val 7965"/>
            </a:avLst>
          </a:prstGeom>
          <a:solidFill>
            <a:srgbClr val="E4F0EA"/>
          </a:solidFill>
          <a:ln w="13970">
            <a:solidFill>
              <a:srgbClr val="256B45"/>
            </a:solidFill>
            <a:prstDash val="solid"/>
          </a:ln>
        </p:spPr>
      </p:sp>
      <p:sp>
        <p:nvSpPr>
          <p:cNvPr id="61" name="Text 59"/>
          <p:cNvSpPr/>
          <p:nvPr/>
        </p:nvSpPr>
        <p:spPr>
          <a:xfrm>
            <a:off x="9157487" y="4212336"/>
            <a:ext cx="2375840" cy="303093"/>
          </a:xfrm>
          <a:prstGeom prst="rect">
            <a:avLst/>
          </a:prstGeom>
          <a:noFill/>
          <a:ln/>
        </p:spPr>
        <p:txBody>
          <a:bodyPr wrap="square" lIns="0" tIns="0" rIns="0" bIns="0" rtlCol="0" anchor="ctr"/>
          <a:lstStyle/>
          <a:p>
            <a:pPr algn="ctr" indent="0" marL="0">
              <a:buNone/>
            </a:pPr>
            <a:r>
              <a:rPr lang="en-US" sz="1150" b="1" dirty="0">
                <a:solidFill>
                  <a:srgbClr val="1B4E32"/>
                </a:solidFill>
                <a:latin typeface="Calibri" pitchFamily="34" charset="0"/>
                <a:ea typeface="Calibri" pitchFamily="34" charset="-122"/>
                <a:cs typeface="Calibri" pitchFamily="34" charset="-120"/>
              </a:rPr>
              <a:t>Finding recorded</a:t>
            </a:r>
            <a:endParaRPr lang="en-US" sz="1150" dirty="0"/>
          </a:p>
        </p:txBody>
      </p:sp>
      <p:sp>
        <p:nvSpPr>
          <p:cNvPr id="62" name="Text 60"/>
          <p:cNvSpPr/>
          <p:nvPr/>
        </p:nvSpPr>
        <p:spPr>
          <a:xfrm>
            <a:off x="9148343" y="4474342"/>
            <a:ext cx="2394128" cy="344424"/>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what was actually found</a:t>
            </a:r>
            <a:endParaRPr lang="en-US" sz="940" dirty="0"/>
          </a:p>
        </p:txBody>
      </p:sp>
      <p:sp>
        <p:nvSpPr>
          <p:cNvPr id="63" name="Shape 61"/>
          <p:cNvSpPr/>
          <p:nvPr/>
        </p:nvSpPr>
        <p:spPr>
          <a:xfrm>
            <a:off x="566928" y="5138928"/>
            <a:ext cx="11057839" cy="420624"/>
          </a:xfrm>
          <a:prstGeom prst="roundRect">
            <a:avLst>
              <a:gd name="adj" fmla="val 10870"/>
            </a:avLst>
          </a:prstGeom>
          <a:solidFill>
            <a:srgbClr val="F4F1FA"/>
          </a:solidFill>
          <a:ln w="12700">
            <a:solidFill>
              <a:srgbClr val="8B77B8"/>
            </a:solidFill>
            <a:prstDash val="dash"/>
          </a:ln>
        </p:spPr>
      </p:sp>
      <p:sp>
        <p:nvSpPr>
          <p:cNvPr id="64" name="Text 62"/>
          <p:cNvSpPr/>
          <p:nvPr/>
        </p:nvSpPr>
        <p:spPr>
          <a:xfrm>
            <a:off x="749808" y="5138928"/>
            <a:ext cx="10692079" cy="420624"/>
          </a:xfrm>
          <a:prstGeom prst="rect">
            <a:avLst/>
          </a:prstGeom>
          <a:noFill/>
          <a:ln/>
        </p:spPr>
        <p:txBody>
          <a:bodyPr wrap="square" lIns="0" tIns="0" rIns="0" bIns="0" rtlCol="0" anchor="ctr"/>
          <a:lstStyle/>
          <a:p>
            <a:pPr indent="0" marL="0">
              <a:buNone/>
            </a:pPr>
            <a:r>
              <a:rPr lang="en-US" sz="1150" b="1" dirty="0">
                <a:solidFill>
                  <a:srgbClr val="5B4A85"/>
                </a:solidFill>
                <a:latin typeface="Calibri" pitchFamily="34" charset="0"/>
                <a:ea typeface="Calibri" pitchFamily="34" charset="-122"/>
                <a:cs typeface="Calibri" pitchFamily="34" charset="-120"/>
              </a:rPr>
              <a:t>Feedback:  </a:t>
            </a:r>
            <a:pPr indent="0" marL="0">
              <a:buNone/>
            </a:pPr>
            <a:r>
              <a:rPr lang="en-US" sz="1150" dirty="0">
                <a:solidFill>
                  <a:srgbClr val="5B4A85"/>
                </a:solidFill>
                <a:latin typeface="Calibri" pitchFamily="34" charset="0"/>
                <a:ea typeface="Calibri" pitchFamily="34" charset="-122"/>
                <a:cs typeface="Calibri" pitchFamily="34" charset="-120"/>
              </a:rPr>
              <a:t>Findings return to tune thresholds, remove false-alarm sources and curate the next training window</a:t>
            </a:r>
            <a:endParaRPr lang="en-US" sz="1150" dirty="0"/>
          </a:p>
        </p:txBody>
      </p:sp>
      <p:sp>
        <p:nvSpPr>
          <p:cNvPr id="65" name="Shape 63"/>
          <p:cNvSpPr/>
          <p:nvPr/>
        </p:nvSpPr>
        <p:spPr>
          <a:xfrm>
            <a:off x="566928" y="5632704"/>
            <a:ext cx="11057839" cy="548640"/>
          </a:xfrm>
          <a:prstGeom prst="roundRect">
            <a:avLst>
              <a:gd name="adj" fmla="val 8333"/>
            </a:avLst>
          </a:prstGeom>
          <a:solidFill>
            <a:srgbClr val="FCEDE0"/>
          </a:solidFill>
          <a:ln w="12700">
            <a:solidFill>
              <a:srgbClr val="D96A16"/>
            </a:solidFill>
            <a:prstDash val="solid"/>
          </a:ln>
        </p:spPr>
      </p:sp>
      <p:sp>
        <p:nvSpPr>
          <p:cNvPr id="66" name="Text 64"/>
          <p:cNvSpPr/>
          <p:nvPr/>
        </p:nvSpPr>
        <p:spPr>
          <a:xfrm>
            <a:off x="768096" y="5632704"/>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12 steps. Exactly one of them is the machine learning. The other 11 decide whether it works.</a:t>
            </a:r>
            <a:endParaRPr lang="en-US"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Operating modes — why one model is never enough</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A model trained only on full load will scream through every single start-up</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2. Intelligent monitoring</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30</a:t>
            </a:r>
            <a:endParaRPr lang="en-US" sz="950" dirty="0"/>
          </a:p>
        </p:txBody>
      </p:sp>
      <p:sp>
        <p:nvSpPr>
          <p:cNvPr id="7" name="Shape 5"/>
          <p:cNvSpPr/>
          <p:nvPr/>
        </p:nvSpPr>
        <p:spPr>
          <a:xfrm>
            <a:off x="566928"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92808"/>
            <a:ext cx="137160" cy="137160"/>
          </a:xfrm>
          <a:prstGeom prst="ellipse">
            <a:avLst/>
          </a:prstGeom>
          <a:solidFill>
            <a:srgbClr val="D96A16"/>
          </a:solidFill>
          <a:ln/>
        </p:spPr>
      </p:sp>
      <p:sp>
        <p:nvSpPr>
          <p:cNvPr id="9" name="Text 7"/>
          <p:cNvSpPr/>
          <p:nvPr/>
        </p:nvSpPr>
        <p:spPr>
          <a:xfrm>
            <a:off x="969264" y="1792224"/>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The problem</a:t>
            </a:r>
            <a:endParaRPr lang="en-US" sz="1450" dirty="0"/>
          </a:p>
        </p:txBody>
      </p:sp>
      <p:sp>
        <p:nvSpPr>
          <p:cNvPr id="10" name="Text 8"/>
          <p:cNvSpPr/>
          <p:nvPr/>
        </p:nvSpPr>
        <p:spPr>
          <a:xfrm>
            <a:off x="768096" y="2203704"/>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Start-up, low load, full load and shutdown are physically different machines. A residual computed against full-load behaviour is meaningless during a ramp.</a:t>
            </a:r>
            <a:endParaRPr lang="en-US" sz="1200" dirty="0"/>
          </a:p>
        </p:txBody>
      </p:sp>
      <p:sp>
        <p:nvSpPr>
          <p:cNvPr id="11" name="Shape 9"/>
          <p:cNvSpPr/>
          <p:nvPr/>
        </p:nvSpPr>
        <p:spPr>
          <a:xfrm>
            <a:off x="6205576"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388456" y="1892808"/>
            <a:ext cx="137160" cy="137160"/>
          </a:xfrm>
          <a:prstGeom prst="ellipse">
            <a:avLst/>
          </a:prstGeom>
          <a:solidFill>
            <a:srgbClr val="D96A16"/>
          </a:solidFill>
          <a:ln/>
        </p:spPr>
      </p:sp>
      <p:sp>
        <p:nvSpPr>
          <p:cNvPr id="13" name="Text 11"/>
          <p:cNvSpPr/>
          <p:nvPr/>
        </p:nvSpPr>
        <p:spPr>
          <a:xfrm>
            <a:off x="6607912" y="1792224"/>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Segmentation</a:t>
            </a:r>
            <a:endParaRPr lang="en-US" sz="1450" dirty="0"/>
          </a:p>
        </p:txBody>
      </p:sp>
      <p:sp>
        <p:nvSpPr>
          <p:cNvPr id="14" name="Text 12"/>
          <p:cNvSpPr/>
          <p:nvPr/>
        </p:nvSpPr>
        <p:spPr>
          <a:xfrm>
            <a:off x="6406744" y="2203704"/>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Detect the mode first — from load, mill combination and firing state — then apply the model built for that mode. Suppress alerts during transitions you have not modelled.</a:t>
            </a:r>
            <a:endParaRPr lang="en-US" sz="1200" dirty="0"/>
          </a:p>
        </p:txBody>
      </p:sp>
      <p:sp>
        <p:nvSpPr>
          <p:cNvPr id="15" name="Shape 13"/>
          <p:cNvSpPr/>
          <p:nvPr/>
        </p:nvSpPr>
        <p:spPr>
          <a:xfrm>
            <a:off x="566928"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749808" y="3895344"/>
            <a:ext cx="137160" cy="137160"/>
          </a:xfrm>
          <a:prstGeom prst="ellipse">
            <a:avLst/>
          </a:prstGeom>
          <a:solidFill>
            <a:srgbClr val="D96A16"/>
          </a:solidFill>
          <a:ln/>
        </p:spPr>
      </p:sp>
      <p:sp>
        <p:nvSpPr>
          <p:cNvPr id="17" name="Text 15"/>
          <p:cNvSpPr/>
          <p:nvPr/>
        </p:nvSpPr>
        <p:spPr>
          <a:xfrm>
            <a:off x="969264"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Why it is first-order here</a:t>
            </a:r>
            <a:endParaRPr lang="en-US" sz="1450" dirty="0"/>
          </a:p>
        </p:txBody>
      </p:sp>
      <p:sp>
        <p:nvSpPr>
          <p:cNvPr id="18" name="Text 16"/>
          <p:cNvSpPr/>
          <p:nvPr/>
        </p:nvSpPr>
        <p:spPr>
          <a:xfrm>
            <a:off x="768096"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Units designed for baseload now two-shift and run at technical minimum. Transitions are no longer rare events; they are a large part of the month.</a:t>
            </a:r>
            <a:endParaRPr lang="en-US" sz="1200" dirty="0"/>
          </a:p>
        </p:txBody>
      </p:sp>
      <p:sp>
        <p:nvSpPr>
          <p:cNvPr id="19" name="Shape 17"/>
          <p:cNvSpPr/>
          <p:nvPr/>
        </p:nvSpPr>
        <p:spPr>
          <a:xfrm>
            <a:off x="6205576"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6388456" y="3895344"/>
            <a:ext cx="137160" cy="137160"/>
          </a:xfrm>
          <a:prstGeom prst="ellipse">
            <a:avLst/>
          </a:prstGeom>
          <a:solidFill>
            <a:srgbClr val="D96A16"/>
          </a:solidFill>
          <a:ln/>
        </p:spPr>
      </p:sp>
      <p:sp>
        <p:nvSpPr>
          <p:cNvPr id="21" name="Text 19"/>
          <p:cNvSpPr/>
          <p:nvPr/>
        </p:nvSpPr>
        <p:spPr>
          <a:xfrm>
            <a:off x="6607912"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The design consequence</a:t>
            </a:r>
            <a:endParaRPr lang="en-US" sz="1450" dirty="0"/>
          </a:p>
        </p:txBody>
      </p:sp>
      <p:sp>
        <p:nvSpPr>
          <p:cNvPr id="22" name="Text 20"/>
          <p:cNvSpPr/>
          <p:nvPr/>
        </p:nvSpPr>
        <p:spPr>
          <a:xfrm>
            <a:off x="6406744"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Budget for several models per machine and a written rule for which one is live. That is engineering work, not a configuration screen.</a:t>
            </a:r>
            <a:endParaRPr lang="en-US" sz="1200" dirty="0"/>
          </a:p>
        </p:txBody>
      </p:sp>
      <p:sp>
        <p:nvSpPr>
          <p:cNvPr id="23" name="Shape 21"/>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24" name="Text 22"/>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If a vendor demonstration only ever shows steady full load, ask to see a start-up. The answer tells you how much work is left.</a:t>
            </a:r>
            <a:endParaRPr lang="en-US" sz="13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Lab — SIM-1 · Residual anomaly detection</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Twelve minutes at the keyboard, on the ID fan bearing case we have just walked through</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2. Intelligent monitoring</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31</a:t>
            </a:r>
            <a:endParaRPr lang="en-US" sz="950" dirty="0"/>
          </a:p>
        </p:txBody>
      </p:sp>
      <p:sp>
        <p:nvSpPr>
          <p:cNvPr id="7" name="Shape 5"/>
          <p:cNvSpPr/>
          <p:nvPr/>
        </p:nvSpPr>
        <p:spPr>
          <a:xfrm>
            <a:off x="566928" y="1627632"/>
            <a:ext cx="11057839" cy="786384"/>
          </a:xfrm>
          <a:prstGeom prst="roundRect">
            <a:avLst>
              <a:gd name="adj" fmla="val 6977"/>
            </a:avLst>
          </a:prstGeom>
          <a:solidFill>
            <a:srgbClr val="1C2530"/>
          </a:solidFill>
          <a:ln/>
        </p:spPr>
      </p:sp>
      <p:sp>
        <p:nvSpPr>
          <p:cNvPr id="8" name="Shape 6"/>
          <p:cNvSpPr/>
          <p:nvPr/>
        </p:nvSpPr>
        <p:spPr>
          <a:xfrm>
            <a:off x="768096" y="1801368"/>
            <a:ext cx="1188720" cy="438912"/>
          </a:xfrm>
          <a:prstGeom prst="roundRect">
            <a:avLst>
              <a:gd name="adj" fmla="val 50000"/>
            </a:avLst>
          </a:prstGeom>
          <a:solidFill>
            <a:srgbClr val="D96A16"/>
          </a:solidFill>
          <a:ln/>
        </p:spPr>
      </p:sp>
      <p:sp>
        <p:nvSpPr>
          <p:cNvPr id="9" name="Text 7"/>
          <p:cNvSpPr/>
          <p:nvPr/>
        </p:nvSpPr>
        <p:spPr>
          <a:xfrm>
            <a:off x="768096" y="1801368"/>
            <a:ext cx="118872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SIM-1</a:t>
            </a:r>
            <a:endParaRPr lang="en-US" sz="1400" dirty="0"/>
          </a:p>
        </p:txBody>
      </p:sp>
      <p:sp>
        <p:nvSpPr>
          <p:cNvPr id="10" name="Text 8"/>
          <p:cNvSpPr/>
          <p:nvPr/>
        </p:nvSpPr>
        <p:spPr>
          <a:xfrm>
            <a:off x="2139696" y="1627632"/>
            <a:ext cx="7217359" cy="786384"/>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Residual anomaly detection — ID fan bearing</a:t>
            </a:r>
            <a:endParaRPr lang="en-US" sz="2000" dirty="0"/>
          </a:p>
        </p:txBody>
      </p:sp>
      <p:sp>
        <p:nvSpPr>
          <p:cNvPr id="11" name="Text 9"/>
          <p:cNvSpPr/>
          <p:nvPr/>
        </p:nvSpPr>
        <p:spPr>
          <a:xfrm>
            <a:off x="8881567" y="1627632"/>
            <a:ext cx="2542032" cy="786384"/>
          </a:xfrm>
          <a:prstGeom prst="rect">
            <a:avLst/>
          </a:prstGeom>
          <a:noFill/>
          <a:ln/>
        </p:spPr>
        <p:txBody>
          <a:bodyPr wrap="square" lIns="0" tIns="0" rIns="0" bIns="0" rtlCol="0" anchor="ctr"/>
          <a:lstStyle/>
          <a:p>
            <a:pPr algn="r" indent="0" marL="0">
              <a:buNone/>
            </a:pPr>
            <a:r>
              <a:rPr lang="en-US" sz="1300" b="1" dirty="0">
                <a:solidFill>
                  <a:srgbClr val="D96A16"/>
                </a:solidFill>
                <a:latin typeface="Calibri" pitchFamily="34" charset="0"/>
                <a:ea typeface="Calibri" pitchFamily="34" charset="-122"/>
                <a:cs typeface="Calibri" pitchFamily="34" charset="-120"/>
              </a:rPr>
              <a:t>12 minutes at your laptop</a:t>
            </a:r>
            <a:endParaRPr lang="en-US" sz="1300" dirty="0"/>
          </a:p>
        </p:txBody>
      </p:sp>
      <p:sp>
        <p:nvSpPr>
          <p:cNvPr id="12" name="Shape 10"/>
          <p:cNvSpPr/>
          <p:nvPr/>
        </p:nvSpPr>
        <p:spPr>
          <a:xfrm>
            <a:off x="566928" y="2578608"/>
            <a:ext cx="6038771" cy="2907792"/>
          </a:xfrm>
          <a:prstGeom prst="roundRect">
            <a:avLst>
              <a:gd name="adj" fmla="val 188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Shape 11"/>
          <p:cNvSpPr/>
          <p:nvPr/>
        </p:nvSpPr>
        <p:spPr>
          <a:xfrm>
            <a:off x="566928" y="2578608"/>
            <a:ext cx="6038771" cy="457200"/>
          </a:xfrm>
          <a:prstGeom prst="roundRect">
            <a:avLst>
              <a:gd name="adj" fmla="val 10000"/>
            </a:avLst>
          </a:prstGeom>
          <a:solidFill>
            <a:srgbClr val="2A3644"/>
          </a:solidFill>
          <a:ln/>
        </p:spPr>
      </p:sp>
      <p:sp>
        <p:nvSpPr>
          <p:cNvPr id="14" name="Text 12"/>
          <p:cNvSpPr/>
          <p:nvPr/>
        </p:nvSpPr>
        <p:spPr>
          <a:xfrm>
            <a:off x="786384" y="2578608"/>
            <a:ext cx="5627291"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Do this</a:t>
            </a:r>
            <a:endParaRPr lang="en-US" sz="1400" dirty="0"/>
          </a:p>
        </p:txBody>
      </p:sp>
      <p:sp>
        <p:nvSpPr>
          <p:cNvPr id="15" name="Text 13"/>
          <p:cNvSpPr/>
          <p:nvPr/>
        </p:nvSpPr>
        <p:spPr>
          <a:xfrm>
            <a:off x="841248" y="3163824"/>
            <a:ext cx="5508419" cy="219456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Open SIM-1 and run the default case. Write down the lead time the residual gives you against the 90 °C fixed alarm.</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Drag the residual threshold down, step by step. Watch the lead time improve and the false alarm count climb with it.</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Set persistence to 1 day and re-run. Count how many single-sample spikes now raise an alert.</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Put persistence back to 3 days and settle on a threshold you would be willing to defend in a morning meeting.</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Tick 'train on contaminated history' and run again. Watch what happens to the detection.</a:t>
            </a:r>
            <a:endParaRPr lang="en-US" sz="1100" dirty="0"/>
          </a:p>
        </p:txBody>
      </p:sp>
      <p:sp>
        <p:nvSpPr>
          <p:cNvPr id="16" name="Shape 14"/>
          <p:cNvSpPr/>
          <p:nvPr/>
        </p:nvSpPr>
        <p:spPr>
          <a:xfrm>
            <a:off x="6880019" y="2578608"/>
            <a:ext cx="4744748" cy="2907792"/>
          </a:xfrm>
          <a:prstGeom prst="roundRect">
            <a:avLst>
              <a:gd name="adj" fmla="val 188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7" name="Shape 15"/>
          <p:cNvSpPr/>
          <p:nvPr/>
        </p:nvSpPr>
        <p:spPr>
          <a:xfrm>
            <a:off x="6880019" y="2578608"/>
            <a:ext cx="4744748" cy="457200"/>
          </a:xfrm>
          <a:prstGeom prst="roundRect">
            <a:avLst>
              <a:gd name="adj" fmla="val 10000"/>
            </a:avLst>
          </a:prstGeom>
          <a:solidFill>
            <a:srgbClr val="11707F"/>
          </a:solidFill>
          <a:ln/>
        </p:spPr>
      </p:sp>
      <p:sp>
        <p:nvSpPr>
          <p:cNvPr id="18" name="Text 16"/>
          <p:cNvSpPr/>
          <p:nvPr/>
        </p:nvSpPr>
        <p:spPr>
          <a:xfrm>
            <a:off x="7099475" y="2578608"/>
            <a:ext cx="4333268"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Watch for</a:t>
            </a:r>
            <a:endParaRPr lang="en-US" sz="1400" dirty="0"/>
          </a:p>
        </p:txBody>
      </p:sp>
      <p:sp>
        <p:nvSpPr>
          <p:cNvPr id="19" name="Text 17"/>
          <p:cNvSpPr/>
          <p:nvPr/>
        </p:nvSpPr>
        <p:spPr>
          <a:xfrm>
            <a:off x="7136051" y="3163824"/>
            <a:ext cx="4232684" cy="219456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1C2530"/>
                </a:solidFill>
                <a:latin typeface="Calibri" pitchFamily="34" charset="0"/>
                <a:ea typeface="Calibri" pitchFamily="34" charset="-122"/>
                <a:cs typeface="Calibri" pitchFamily="34" charset="-120"/>
              </a:rPr>
              <a:t>The residual crosses its threshold weeks before the measured temperature reaches 90 °C.</a:t>
            </a:r>
            <a:endParaRPr lang="en-US" sz="1100" dirty="0"/>
          </a:p>
          <a:p>
            <a:pPr marL="342900" indent="-342900">
              <a:spcAft>
                <a:spcPts val="500"/>
              </a:spcAft>
              <a:buSzPct val="100000"/>
              <a:buChar char="▪"/>
            </a:pPr>
            <a:r>
              <a:rPr lang="en-US" sz="1100" dirty="0">
                <a:solidFill>
                  <a:srgbClr val="1C2530"/>
                </a:solidFill>
                <a:latin typeface="Calibri" pitchFamily="34" charset="0"/>
                <a:ea typeface="Calibri" pitchFamily="34" charset="-122"/>
                <a:cs typeface="Calibri" pitchFamily="34" charset="-120"/>
              </a:rPr>
              <a:t>Every reduction in threshold buys lead time and costs false alarms. There is no setting that gives you both.</a:t>
            </a:r>
            <a:endParaRPr lang="en-US" sz="1100" dirty="0"/>
          </a:p>
          <a:p>
            <a:pPr marL="342900" indent="-342900">
              <a:spcAft>
                <a:spcPts val="500"/>
              </a:spcAft>
              <a:buSzPct val="100000"/>
              <a:buChar char="▪"/>
            </a:pPr>
            <a:r>
              <a:rPr lang="en-US" sz="1100" dirty="0">
                <a:solidFill>
                  <a:srgbClr val="1C2530"/>
                </a:solidFill>
                <a:latin typeface="Calibri" pitchFamily="34" charset="0"/>
                <a:ea typeface="Calibri" pitchFamily="34" charset="-122"/>
                <a:cs typeface="Calibri" pitchFamily="34" charset="-120"/>
              </a:rPr>
              <a:t>At one day of persistence, sensor spikes become alerts; at three days, they do not.</a:t>
            </a:r>
            <a:endParaRPr lang="en-US" sz="1100" dirty="0"/>
          </a:p>
          <a:p>
            <a:pPr marL="342900" indent="-342900">
              <a:spcAft>
                <a:spcPts val="500"/>
              </a:spcAft>
              <a:buSzPct val="100000"/>
              <a:buChar char="▪"/>
            </a:pPr>
            <a:r>
              <a:rPr lang="en-US" sz="1100" dirty="0">
                <a:solidFill>
                  <a:srgbClr val="1C2530"/>
                </a:solidFill>
                <a:latin typeface="Calibri" pitchFamily="34" charset="0"/>
                <a:ea typeface="Calibri" pitchFamily="34" charset="-122"/>
                <a:cs typeface="Calibri" pitchFamily="34" charset="-120"/>
              </a:rPr>
              <a:t>Trained on contaminated history, the model treats the fault as normal and raises nothing at all.</a:t>
            </a:r>
            <a:endParaRPr lang="en-US" sz="1100" dirty="0"/>
          </a:p>
        </p:txBody>
      </p:sp>
      <p:sp>
        <p:nvSpPr>
          <p:cNvPr id="20" name="Shape 18"/>
          <p:cNvSpPr/>
          <p:nvPr/>
        </p:nvSpPr>
        <p:spPr>
          <a:xfrm>
            <a:off x="566928" y="5669280"/>
            <a:ext cx="11057839" cy="548640"/>
          </a:xfrm>
          <a:prstGeom prst="roundRect">
            <a:avLst>
              <a:gd name="adj" fmla="val 8333"/>
            </a:avLst>
          </a:prstGeom>
          <a:solidFill>
            <a:srgbClr val="FCEDE0"/>
          </a:solidFill>
          <a:ln w="12700">
            <a:solidFill>
              <a:srgbClr val="D96A16"/>
            </a:solidFill>
            <a:prstDash val="solid"/>
          </a:ln>
        </p:spPr>
      </p:sp>
      <p:sp>
        <p:nvSpPr>
          <p:cNvPr id="21" name="Text 19"/>
          <p:cNvSpPr/>
          <p:nvPr/>
        </p:nvSpPr>
        <p:spPr>
          <a:xfrm>
            <a:off x="768096" y="5669280"/>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Two lessons, proven rather than asserted: a residual sees the fault weeks before a fixed threshold, and a model trained on history that already contained the fault will never detect it. Both were claims this morning. Now they are yours.</a:t>
            </a:r>
            <a:endParaRPr lang="en-US" sz="13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Alert quality — the numbers that decide adoption</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Measure the programme the way the shift engineer actually experiences it</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2. Intelligent monitoring</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32</a:t>
            </a:r>
            <a:endParaRPr lang="en-US" sz="95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8275320" cy="914400"/>
        </p:xfrm>
        <a:graphic>
          <a:graphicData uri="http://schemas.openxmlformats.org/drawingml/2006/table">
            <a:tbl>
              <a:tblPr/>
              <a:tblGrid>
                <a:gridCol w="1840884"/>
                <a:gridCol w="2469811"/>
                <a:gridCol w="1053842"/>
                <a:gridCol w="1206854"/>
                <a:gridCol w="1703929"/>
              </a:tblGrid>
              <a:tr h="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Measure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What it means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Healthy</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Failing</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Who judges it</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Lead time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Warning before the conventional alarm or the failure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Weeks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Hours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Maintenance planning</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False alarms per model-month</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Alerts raised with nothing to find</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Below one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Several a week</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The engineer who chases them</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Precision on actioned alerts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Share of investigated alerts that found something</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Most of them</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A small minority</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Station leadership</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Actionability</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Does the alert name a signal, a reason and a next step</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Always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A number only</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The shift engineer</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Time to triage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How long an alert sits before somebody looks at it</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Same day</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Weeks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The named owner</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Feedback closure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Findings written back against the alert</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Every one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Almost none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The programme owner</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bl>
          </a:graphicData>
        </a:graphic>
      </p:graphicFrame>
      <p:sp>
        <p:nvSpPr>
          <p:cNvPr id="8" name="Shape 5"/>
          <p:cNvSpPr/>
          <p:nvPr/>
        </p:nvSpPr>
        <p:spPr>
          <a:xfrm>
            <a:off x="9116568" y="1627632"/>
            <a:ext cx="2508199" cy="2331720"/>
          </a:xfrm>
          <a:prstGeom prst="roundRect">
            <a:avLst>
              <a:gd name="adj" fmla="val 2353"/>
            </a:avLst>
          </a:prstGeom>
          <a:solidFill>
            <a:srgbClr val="1C253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9" name="Text 6"/>
          <p:cNvSpPr/>
          <p:nvPr/>
        </p:nvSpPr>
        <p:spPr>
          <a:xfrm>
            <a:off x="9226296" y="2011680"/>
            <a:ext cx="2288743" cy="822960"/>
          </a:xfrm>
          <a:prstGeom prst="rect">
            <a:avLst/>
          </a:prstGeom>
          <a:noFill/>
          <a:ln/>
        </p:spPr>
        <p:txBody>
          <a:bodyPr wrap="square" lIns="0" tIns="0" rIns="0" bIns="0" rtlCol="0" anchor="ctr"/>
          <a:lstStyle/>
          <a:p>
            <a:pPr algn="ctr" indent="0" marL="0">
              <a:buNone/>
            </a:pPr>
            <a:r>
              <a:rPr lang="en-US" sz="3600" b="1" dirty="0">
                <a:solidFill>
                  <a:srgbClr val="D96A16"/>
                </a:solidFill>
                <a:latin typeface="Cambria" pitchFamily="34" charset="0"/>
                <a:ea typeface="Cambria" pitchFamily="34" charset="-122"/>
                <a:cs typeface="Cambria" pitchFamily="34" charset="-120"/>
              </a:rPr>
              <a:t>₹100.87 crore</a:t>
            </a:r>
            <a:endParaRPr lang="en-US" sz="3600" dirty="0"/>
          </a:p>
        </p:txBody>
      </p:sp>
      <p:sp>
        <p:nvSpPr>
          <p:cNvPr id="10" name="Text 7"/>
          <p:cNvSpPr/>
          <p:nvPr/>
        </p:nvSpPr>
        <p:spPr>
          <a:xfrm>
            <a:off x="9317736" y="2852928"/>
            <a:ext cx="2105863" cy="1005840"/>
          </a:xfrm>
          <a:prstGeom prst="rect">
            <a:avLst/>
          </a:prstGeom>
          <a:noFill/>
          <a:ln/>
        </p:spPr>
        <p:txBody>
          <a:bodyPr wrap="square" lIns="0" tIns="0" rIns="0" bIns="0" rtlCol="0" anchor="ctr"/>
          <a:lstStyle/>
          <a:p>
            <a:pPr algn="ctr" indent="0" marL="0">
              <a:buNone/>
            </a:pPr>
            <a:r>
              <a:rPr lang="en-US" sz="1200" dirty="0">
                <a:solidFill>
                  <a:srgbClr val="C3CFDA"/>
                </a:solidFill>
                <a:latin typeface="Calibri" pitchFamily="34" charset="0"/>
                <a:ea typeface="Calibri" pitchFamily="34" charset="-122"/>
                <a:cs typeface="Calibri" pitchFamily="34" charset="-120"/>
              </a:rPr>
              <a:t>cumulative fixed-charge disallowance for availability shortfall across the fleet — what late detection actually costs us</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What intelligent monitoring can and cannot detect</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Be as precise about the right column as the left, or the first miss ends the programme</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2. Intelligent monitoring</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33</a:t>
            </a:r>
            <a:endParaRPr lang="en-US" sz="950" dirty="0"/>
          </a:p>
        </p:txBody>
      </p:sp>
      <p:sp>
        <p:nvSpPr>
          <p:cNvPr id="7" name="Shape 5"/>
          <p:cNvSpPr/>
          <p:nvPr/>
        </p:nvSpPr>
        <p:spPr>
          <a:xfrm>
            <a:off x="566928" y="1627632"/>
            <a:ext cx="5400904" cy="512064"/>
          </a:xfrm>
          <a:prstGeom prst="roundRect">
            <a:avLst>
              <a:gd name="adj" fmla="val 8929"/>
            </a:avLst>
          </a:prstGeom>
          <a:solidFill>
            <a:srgbClr val="3B4A5A"/>
          </a:solidFill>
          <a:ln/>
        </p:spPr>
      </p:sp>
      <p:sp>
        <p:nvSpPr>
          <p:cNvPr id="8" name="Text 6"/>
          <p:cNvSpPr/>
          <p:nvPr/>
        </p:nvSpPr>
        <p:spPr>
          <a:xfrm>
            <a:off x="566928" y="1627632"/>
            <a:ext cx="540090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It will catch this</a:t>
            </a:r>
            <a:endParaRPr lang="en-US" sz="1500" dirty="0"/>
          </a:p>
        </p:txBody>
      </p:sp>
      <p:sp>
        <p:nvSpPr>
          <p:cNvPr id="9" name="Shape 7"/>
          <p:cNvSpPr/>
          <p:nvPr/>
        </p:nvSpPr>
        <p:spPr>
          <a:xfrm>
            <a:off x="6223864" y="1627632"/>
            <a:ext cx="5400904" cy="512064"/>
          </a:xfrm>
          <a:prstGeom prst="roundRect">
            <a:avLst>
              <a:gd name="adj" fmla="val 8929"/>
            </a:avLst>
          </a:prstGeom>
          <a:solidFill>
            <a:srgbClr val="11707F"/>
          </a:solidFill>
          <a:ln/>
        </p:spPr>
      </p:sp>
      <p:sp>
        <p:nvSpPr>
          <p:cNvPr id="10" name="Text 8"/>
          <p:cNvSpPr/>
          <p:nvPr/>
        </p:nvSpPr>
        <p:spPr>
          <a:xfrm>
            <a:off x="6223864" y="1627632"/>
            <a:ext cx="540090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It will not catch this</a:t>
            </a:r>
            <a:endParaRPr lang="en-US" sz="1500" dirty="0"/>
          </a:p>
        </p:txBody>
      </p:sp>
      <p:sp>
        <p:nvSpPr>
          <p:cNvPr id="11" name="Shape 9"/>
          <p:cNvSpPr/>
          <p:nvPr/>
        </p:nvSpPr>
        <p:spPr>
          <a:xfrm>
            <a:off x="566928" y="2231136"/>
            <a:ext cx="5400904" cy="467868"/>
          </a:xfrm>
          <a:prstGeom prst="roundRect">
            <a:avLst>
              <a:gd name="adj" fmla="val 1172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223864" y="2231136"/>
            <a:ext cx="5400904" cy="467868"/>
          </a:xfrm>
          <a:prstGeom prst="roundRect">
            <a:avLst>
              <a:gd name="adj" fmla="val 1172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Text 11"/>
          <p:cNvSpPr/>
          <p:nvPr/>
        </p:nvSpPr>
        <p:spPr>
          <a:xfrm>
            <a:off x="749808" y="223113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Slow degradation with a signature in historised tags</a:t>
            </a:r>
            <a:endParaRPr lang="en-US" sz="1250" dirty="0"/>
          </a:p>
        </p:txBody>
      </p:sp>
      <p:sp>
        <p:nvSpPr>
          <p:cNvPr id="14" name="Text 12"/>
          <p:cNvSpPr/>
          <p:nvPr/>
        </p:nvSpPr>
        <p:spPr>
          <a:xfrm>
            <a:off x="6406744" y="223113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A failure with no measured signal anywhere near it</a:t>
            </a:r>
            <a:endParaRPr lang="en-US" sz="1250" dirty="0"/>
          </a:p>
        </p:txBody>
      </p:sp>
      <p:sp>
        <p:nvSpPr>
          <p:cNvPr id="15" name="Shape 13"/>
          <p:cNvSpPr/>
          <p:nvPr/>
        </p:nvSpPr>
        <p:spPr>
          <a:xfrm>
            <a:off x="566928" y="2772156"/>
            <a:ext cx="5400904" cy="467868"/>
          </a:xfrm>
          <a:prstGeom prst="roundRect">
            <a:avLst>
              <a:gd name="adj" fmla="val 11726"/>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6223864" y="2772156"/>
            <a:ext cx="5400904" cy="467868"/>
          </a:xfrm>
          <a:prstGeom prst="roundRect">
            <a:avLst>
              <a:gd name="adj" fmla="val 11726"/>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7" name="Text 15"/>
          <p:cNvSpPr/>
          <p:nvPr/>
        </p:nvSpPr>
        <p:spPr>
          <a:xfrm>
            <a:off x="749808" y="277215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Fouling, wear, leakage, blockage, loss of cooling</a:t>
            </a:r>
            <a:endParaRPr lang="en-US" sz="1250" dirty="0"/>
          </a:p>
        </p:txBody>
      </p:sp>
      <p:sp>
        <p:nvSpPr>
          <p:cNvPr id="18" name="Text 16"/>
          <p:cNvSpPr/>
          <p:nvPr/>
        </p:nvSpPr>
        <p:spPr>
          <a:xfrm>
            <a:off x="6406744" y="277215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A sudden mechanical break with no precursor at all</a:t>
            </a:r>
            <a:endParaRPr lang="en-US" sz="1250" dirty="0"/>
          </a:p>
        </p:txBody>
      </p:sp>
      <p:sp>
        <p:nvSpPr>
          <p:cNvPr id="19" name="Shape 17"/>
          <p:cNvSpPr/>
          <p:nvPr/>
        </p:nvSpPr>
        <p:spPr>
          <a:xfrm>
            <a:off x="566928" y="3313176"/>
            <a:ext cx="5400904" cy="467868"/>
          </a:xfrm>
          <a:prstGeom prst="roundRect">
            <a:avLst>
              <a:gd name="adj" fmla="val 1172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6223864" y="3313176"/>
            <a:ext cx="5400904" cy="467868"/>
          </a:xfrm>
          <a:prstGeom prst="roundRect">
            <a:avLst>
              <a:gd name="adj" fmla="val 1172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1" name="Text 19"/>
          <p:cNvSpPr/>
          <p:nvPr/>
        </p:nvSpPr>
        <p:spPr>
          <a:xfrm>
            <a:off x="749808" y="331317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A group of signals drifting quietly together</a:t>
            </a:r>
            <a:endParaRPr lang="en-US" sz="1250" dirty="0"/>
          </a:p>
        </p:txBody>
      </p:sp>
      <p:sp>
        <p:nvSpPr>
          <p:cNvPr id="22" name="Text 20"/>
          <p:cNvSpPr/>
          <p:nvPr/>
        </p:nvSpPr>
        <p:spPr>
          <a:xfrm>
            <a:off x="6406744" y="331317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A fault the model was trained through and learned as normal</a:t>
            </a:r>
            <a:endParaRPr lang="en-US" sz="1250" dirty="0"/>
          </a:p>
        </p:txBody>
      </p:sp>
      <p:sp>
        <p:nvSpPr>
          <p:cNvPr id="23" name="Shape 21"/>
          <p:cNvSpPr/>
          <p:nvPr/>
        </p:nvSpPr>
        <p:spPr>
          <a:xfrm>
            <a:off x="566928" y="3854196"/>
            <a:ext cx="5400904" cy="467868"/>
          </a:xfrm>
          <a:prstGeom prst="roundRect">
            <a:avLst>
              <a:gd name="adj" fmla="val 11726"/>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4" name="Shape 22"/>
          <p:cNvSpPr/>
          <p:nvPr/>
        </p:nvSpPr>
        <p:spPr>
          <a:xfrm>
            <a:off x="6223864" y="3854196"/>
            <a:ext cx="5400904" cy="467868"/>
          </a:xfrm>
          <a:prstGeom prst="roundRect">
            <a:avLst>
              <a:gd name="adj" fmla="val 11726"/>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5" name="Text 23"/>
          <p:cNvSpPr/>
          <p:nvPr/>
        </p:nvSpPr>
        <p:spPr>
          <a:xfrm>
            <a:off x="749808" y="385419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A transmitter that has stopped responding</a:t>
            </a:r>
            <a:endParaRPr lang="en-US" sz="1250" dirty="0"/>
          </a:p>
        </p:txBody>
      </p:sp>
      <p:sp>
        <p:nvSpPr>
          <p:cNvPr id="26" name="Text 24"/>
          <p:cNvSpPr/>
          <p:nvPr/>
        </p:nvSpPr>
        <p:spPr>
          <a:xfrm>
            <a:off x="6406744" y="385419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A transmitter wrong in a physically plausible way since day one</a:t>
            </a:r>
            <a:endParaRPr lang="en-US" sz="1250" dirty="0"/>
          </a:p>
        </p:txBody>
      </p:sp>
      <p:sp>
        <p:nvSpPr>
          <p:cNvPr id="27" name="Shape 25"/>
          <p:cNvSpPr/>
          <p:nvPr/>
        </p:nvSpPr>
        <p:spPr>
          <a:xfrm>
            <a:off x="566928" y="4395216"/>
            <a:ext cx="5400904" cy="467868"/>
          </a:xfrm>
          <a:prstGeom prst="roundRect">
            <a:avLst>
              <a:gd name="adj" fmla="val 1172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Shape 26"/>
          <p:cNvSpPr/>
          <p:nvPr/>
        </p:nvSpPr>
        <p:spPr>
          <a:xfrm>
            <a:off x="6223864" y="4395216"/>
            <a:ext cx="5400904" cy="467868"/>
          </a:xfrm>
          <a:prstGeom prst="roundRect">
            <a:avLst>
              <a:gd name="adj" fmla="val 1172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9" name="Text 27"/>
          <p:cNvSpPr/>
          <p:nvPr/>
        </p:nvSpPr>
        <p:spPr>
          <a:xfrm>
            <a:off x="749808" y="439521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Behaviour unlike anything in the healthy history</a:t>
            </a:r>
            <a:endParaRPr lang="en-US" sz="1250" dirty="0"/>
          </a:p>
        </p:txBody>
      </p:sp>
      <p:sp>
        <p:nvSpPr>
          <p:cNvPr id="30" name="Text 28"/>
          <p:cNvSpPr/>
          <p:nvPr/>
        </p:nvSpPr>
        <p:spPr>
          <a:xfrm>
            <a:off x="6406744" y="439521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Any operating condition the training year never contained</a:t>
            </a:r>
            <a:endParaRPr lang="en-US" sz="1250" dirty="0"/>
          </a:p>
        </p:txBody>
      </p:sp>
      <p:sp>
        <p:nvSpPr>
          <p:cNvPr id="31" name="Shape 29"/>
          <p:cNvSpPr/>
          <p:nvPr/>
        </p:nvSpPr>
        <p:spPr>
          <a:xfrm>
            <a:off x="566928" y="4936236"/>
            <a:ext cx="5400904" cy="467868"/>
          </a:xfrm>
          <a:prstGeom prst="roundRect">
            <a:avLst>
              <a:gd name="adj" fmla="val 11726"/>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2" name="Shape 30"/>
          <p:cNvSpPr/>
          <p:nvPr/>
        </p:nvSpPr>
        <p:spPr>
          <a:xfrm>
            <a:off x="6223864" y="4936236"/>
            <a:ext cx="5400904" cy="467868"/>
          </a:xfrm>
          <a:prstGeom prst="roundRect">
            <a:avLst>
              <a:gd name="adj" fmla="val 11726"/>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3" name="Text 31"/>
          <p:cNvSpPr/>
          <p:nvPr/>
        </p:nvSpPr>
        <p:spPr>
          <a:xfrm>
            <a:off x="749808" y="4936236"/>
            <a:ext cx="5035144" cy="467868"/>
          </a:xfrm>
          <a:prstGeom prst="rect">
            <a:avLst/>
          </a:prstGeom>
          <a:noFill/>
          <a:ln/>
        </p:spPr>
        <p:txBody>
          <a:bodyPr wrap="square" lIns="0" tIns="0" rIns="0" bIns="0" rtlCol="0" anchor="ctr"/>
          <a:lstStyle/>
          <a:p>
            <a:pPr indent="0" marL="0">
              <a:buNone/>
            </a:pPr>
            <a:r>
              <a:rPr lang="en-US" sz="1250" b="1" dirty="0">
                <a:solidFill>
                  <a:srgbClr val="8A4310"/>
                </a:solidFill>
                <a:latin typeface="Calibri" pitchFamily="34" charset="0"/>
                <a:ea typeface="Calibri" pitchFamily="34" charset="-122"/>
                <a:cs typeface="Calibri" pitchFamily="34" charset="-120"/>
              </a:rPr>
              <a:t>A machine degrading over weeks</a:t>
            </a:r>
            <a:endParaRPr lang="en-US" sz="1250" dirty="0"/>
          </a:p>
        </p:txBody>
      </p:sp>
      <p:sp>
        <p:nvSpPr>
          <p:cNvPr id="34" name="Text 32"/>
          <p:cNvSpPr/>
          <p:nvPr/>
        </p:nvSpPr>
        <p:spPr>
          <a:xfrm>
            <a:off x="6406744" y="4936236"/>
            <a:ext cx="5035144" cy="467868"/>
          </a:xfrm>
          <a:prstGeom prst="rect">
            <a:avLst/>
          </a:prstGeom>
          <a:noFill/>
          <a:ln/>
        </p:spPr>
        <p:txBody>
          <a:bodyPr wrap="square" lIns="0" tIns="0" rIns="0" bIns="0" rtlCol="0" anchor="ctr"/>
          <a:lstStyle/>
          <a:p>
            <a:pPr indent="0" marL="0">
              <a:buNone/>
            </a:pPr>
            <a:r>
              <a:rPr lang="en-US" sz="1250" b="1" dirty="0">
                <a:solidFill>
                  <a:srgbClr val="8A4310"/>
                </a:solidFill>
                <a:latin typeface="Calibri" pitchFamily="34" charset="0"/>
                <a:ea typeface="Calibri" pitchFamily="34" charset="-122"/>
                <a:cs typeface="Calibri" pitchFamily="34" charset="-120"/>
              </a:rPr>
              <a:t>A machine failing in the next ten seconds — that is the protection system's job</a:t>
            </a:r>
            <a:endParaRPr lang="en-US" sz="1250" dirty="0"/>
          </a:p>
        </p:txBody>
      </p:sp>
      <p:sp>
        <p:nvSpPr>
          <p:cNvPr id="35" name="Shape 33"/>
          <p:cNvSpPr/>
          <p:nvPr/>
        </p:nvSpPr>
        <p:spPr>
          <a:xfrm>
            <a:off x="566928" y="5678424"/>
            <a:ext cx="11057839" cy="548640"/>
          </a:xfrm>
          <a:prstGeom prst="roundRect">
            <a:avLst>
              <a:gd name="adj" fmla="val 8333"/>
            </a:avLst>
          </a:prstGeom>
          <a:solidFill>
            <a:srgbClr val="FCEDE0"/>
          </a:solidFill>
          <a:ln w="12700">
            <a:solidFill>
              <a:srgbClr val="D96A16"/>
            </a:solidFill>
            <a:prstDash val="solid"/>
          </a:ln>
        </p:spPr>
      </p:sp>
      <p:sp>
        <p:nvSpPr>
          <p:cNvPr id="36" name="Text 34"/>
          <p:cNvSpPr/>
          <p:nvPr/>
        </p:nvSpPr>
        <p:spPr>
          <a:xfrm>
            <a:off x="768096" y="5678424"/>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It buys weeks on degradation. It buys nothing on sudden failure, and claiming otherwise is how programmes lose their credibility.</a:t>
            </a:r>
            <a:endParaRPr lang="en-US" sz="13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five ways monitoring quietly stops working</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Every one of these leaves the dashboard looking perfectly healthy</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2. Intelligent monitoring</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34</a:t>
            </a:r>
            <a:endParaRPr lang="en-US" sz="950" dirty="0"/>
          </a:p>
        </p:txBody>
      </p:sp>
      <p:sp>
        <p:nvSpPr>
          <p:cNvPr id="7" name="Shape 5"/>
          <p:cNvSpPr/>
          <p:nvPr/>
        </p:nvSpPr>
        <p:spPr>
          <a:xfrm>
            <a:off x="566928" y="1627632"/>
            <a:ext cx="11057839" cy="649224"/>
          </a:xfrm>
          <a:prstGeom prst="roundRect">
            <a:avLst>
              <a:gd name="adj" fmla="val 845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31520" y="1760220"/>
            <a:ext cx="2331720" cy="402336"/>
          </a:xfrm>
          <a:prstGeom prst="roundRect">
            <a:avLst>
              <a:gd name="adj" fmla="val 13636"/>
            </a:avLst>
          </a:prstGeom>
          <a:solidFill>
            <a:srgbClr val="F9E7E5"/>
          </a:solidFill>
          <a:ln w="9525">
            <a:solidFill>
              <a:srgbClr val="A8261E"/>
            </a:solidFill>
            <a:prstDash val="solid"/>
          </a:ln>
        </p:spPr>
      </p:sp>
      <p:sp>
        <p:nvSpPr>
          <p:cNvPr id="9" name="Text 7"/>
          <p:cNvSpPr/>
          <p:nvPr/>
        </p:nvSpPr>
        <p:spPr>
          <a:xfrm>
            <a:off x="731520" y="1760220"/>
            <a:ext cx="2331720" cy="402336"/>
          </a:xfrm>
          <a:prstGeom prst="rect">
            <a:avLst/>
          </a:prstGeom>
          <a:noFill/>
          <a:ln/>
        </p:spPr>
        <p:txBody>
          <a:bodyPr wrap="square" lIns="0" tIns="0" rIns="0" bIns="0" rtlCol="0" anchor="ctr"/>
          <a:lstStyle/>
          <a:p>
            <a:pPr algn="ctr" indent="0" marL="0">
              <a:buNone/>
            </a:pPr>
            <a:r>
              <a:rPr lang="en-US" sz="1200" b="1" dirty="0">
                <a:solidFill>
                  <a:srgbClr val="A8261E"/>
                </a:solidFill>
                <a:latin typeface="Calibri" pitchFamily="34" charset="0"/>
                <a:ea typeface="Calibri" pitchFamily="34" charset="-122"/>
                <a:cs typeface="Calibri" pitchFamily="34" charset="-120"/>
              </a:rPr>
              <a:t>Compression</a:t>
            </a:r>
            <a:endParaRPr lang="en-US" sz="1200" dirty="0"/>
          </a:p>
        </p:txBody>
      </p:sp>
      <p:sp>
        <p:nvSpPr>
          <p:cNvPr id="10" name="Text 8"/>
          <p:cNvSpPr/>
          <p:nvPr/>
        </p:nvSpPr>
        <p:spPr>
          <a:xfrm>
            <a:off x="3264408" y="1627632"/>
            <a:ext cx="8177479" cy="649224"/>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Historian compression and exception deviation tuned for clean screen trends discard exactly the slow drift the model exists to find. The trend still looks fine; the evidence has been thrown away.</a:t>
            </a:r>
            <a:endParaRPr lang="en-US" sz="1250" dirty="0"/>
          </a:p>
        </p:txBody>
      </p:sp>
      <p:sp>
        <p:nvSpPr>
          <p:cNvPr id="11" name="Shape 9"/>
          <p:cNvSpPr/>
          <p:nvPr/>
        </p:nvSpPr>
        <p:spPr>
          <a:xfrm>
            <a:off x="566928" y="2368296"/>
            <a:ext cx="11057839" cy="649224"/>
          </a:xfrm>
          <a:prstGeom prst="roundRect">
            <a:avLst>
              <a:gd name="adj" fmla="val 845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731520" y="2500884"/>
            <a:ext cx="2331720" cy="402336"/>
          </a:xfrm>
          <a:prstGeom prst="roundRect">
            <a:avLst>
              <a:gd name="adj" fmla="val 13636"/>
            </a:avLst>
          </a:prstGeom>
          <a:solidFill>
            <a:srgbClr val="F9E7E5"/>
          </a:solidFill>
          <a:ln w="9525">
            <a:solidFill>
              <a:srgbClr val="A8261E"/>
            </a:solidFill>
            <a:prstDash val="solid"/>
          </a:ln>
        </p:spPr>
      </p:sp>
      <p:sp>
        <p:nvSpPr>
          <p:cNvPr id="13" name="Text 11"/>
          <p:cNvSpPr/>
          <p:nvPr/>
        </p:nvSpPr>
        <p:spPr>
          <a:xfrm>
            <a:off x="731520" y="2500884"/>
            <a:ext cx="2331720" cy="402336"/>
          </a:xfrm>
          <a:prstGeom prst="rect">
            <a:avLst/>
          </a:prstGeom>
          <a:noFill/>
          <a:ln/>
        </p:spPr>
        <p:txBody>
          <a:bodyPr wrap="square" lIns="0" tIns="0" rIns="0" bIns="0" rtlCol="0" anchor="ctr"/>
          <a:lstStyle/>
          <a:p>
            <a:pPr algn="ctr" indent="0" marL="0">
              <a:buNone/>
            </a:pPr>
            <a:r>
              <a:rPr lang="en-US" sz="1200" b="1" dirty="0">
                <a:solidFill>
                  <a:srgbClr val="A8261E"/>
                </a:solidFill>
                <a:latin typeface="Calibri" pitchFamily="34" charset="0"/>
                <a:ea typeface="Calibri" pitchFamily="34" charset="-122"/>
                <a:cs typeface="Calibri" pitchFamily="34" charset="-120"/>
              </a:rPr>
              <a:t>Frozen transmitter</a:t>
            </a:r>
            <a:endParaRPr lang="en-US" sz="1200" dirty="0"/>
          </a:p>
        </p:txBody>
      </p:sp>
      <p:sp>
        <p:nvSpPr>
          <p:cNvPr id="14" name="Text 12"/>
          <p:cNvSpPr/>
          <p:nvPr/>
        </p:nvSpPr>
        <p:spPr>
          <a:xfrm>
            <a:off x="3264408" y="2368296"/>
            <a:ext cx="8177479" cy="649224"/>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A stuck input reads a plausible constant. The residual falls to zero, the model reports perfect health, and the machine degrades unwatched behind it.</a:t>
            </a:r>
            <a:endParaRPr lang="en-US" sz="1250" dirty="0"/>
          </a:p>
        </p:txBody>
      </p:sp>
      <p:sp>
        <p:nvSpPr>
          <p:cNvPr id="15" name="Shape 13"/>
          <p:cNvSpPr/>
          <p:nvPr/>
        </p:nvSpPr>
        <p:spPr>
          <a:xfrm>
            <a:off x="566928" y="3108960"/>
            <a:ext cx="11057839" cy="649224"/>
          </a:xfrm>
          <a:prstGeom prst="roundRect">
            <a:avLst>
              <a:gd name="adj" fmla="val 845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731520" y="3241548"/>
            <a:ext cx="2331720" cy="402336"/>
          </a:xfrm>
          <a:prstGeom prst="roundRect">
            <a:avLst>
              <a:gd name="adj" fmla="val 13636"/>
            </a:avLst>
          </a:prstGeom>
          <a:solidFill>
            <a:srgbClr val="F9E7E5"/>
          </a:solidFill>
          <a:ln w="9525">
            <a:solidFill>
              <a:srgbClr val="A8261E"/>
            </a:solidFill>
            <a:prstDash val="solid"/>
          </a:ln>
        </p:spPr>
      </p:sp>
      <p:sp>
        <p:nvSpPr>
          <p:cNvPr id="17" name="Text 15"/>
          <p:cNvSpPr/>
          <p:nvPr/>
        </p:nvSpPr>
        <p:spPr>
          <a:xfrm>
            <a:off x="731520" y="3241548"/>
            <a:ext cx="2331720" cy="402336"/>
          </a:xfrm>
          <a:prstGeom prst="rect">
            <a:avLst/>
          </a:prstGeom>
          <a:noFill/>
          <a:ln/>
        </p:spPr>
        <p:txBody>
          <a:bodyPr wrap="square" lIns="0" tIns="0" rIns="0" bIns="0" rtlCol="0" anchor="ctr"/>
          <a:lstStyle/>
          <a:p>
            <a:pPr algn="ctr" indent="0" marL="0">
              <a:buNone/>
            </a:pPr>
            <a:r>
              <a:rPr lang="en-US" sz="1200" b="1" dirty="0">
                <a:solidFill>
                  <a:srgbClr val="A8261E"/>
                </a:solidFill>
                <a:latin typeface="Calibri" pitchFamily="34" charset="0"/>
                <a:ea typeface="Calibri" pitchFamily="34" charset="-122"/>
                <a:cs typeface="Calibri" pitchFamily="34" charset="-120"/>
              </a:rPr>
              <a:t>Timestamp misalignment</a:t>
            </a:r>
            <a:endParaRPr lang="en-US" sz="1200" dirty="0"/>
          </a:p>
        </p:txBody>
      </p:sp>
      <p:sp>
        <p:nvSpPr>
          <p:cNvPr id="18" name="Text 16"/>
          <p:cNvSpPr/>
          <p:nvPr/>
        </p:nvSpPr>
        <p:spPr>
          <a:xfrm>
            <a:off x="3264408" y="3108960"/>
            <a:ext cx="8177479" cy="649224"/>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Unsynchronised clocks across DCS, historian and lab shift signals against one another. The model learns cause and effect in the wrong order and its estimates decay.</a:t>
            </a:r>
            <a:endParaRPr lang="en-US" sz="1250" dirty="0"/>
          </a:p>
        </p:txBody>
      </p:sp>
      <p:sp>
        <p:nvSpPr>
          <p:cNvPr id="19" name="Shape 17"/>
          <p:cNvSpPr/>
          <p:nvPr/>
        </p:nvSpPr>
        <p:spPr>
          <a:xfrm>
            <a:off x="566928" y="3849624"/>
            <a:ext cx="11057839" cy="649224"/>
          </a:xfrm>
          <a:prstGeom prst="roundRect">
            <a:avLst>
              <a:gd name="adj" fmla="val 845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731520" y="3982212"/>
            <a:ext cx="2331720" cy="402336"/>
          </a:xfrm>
          <a:prstGeom prst="roundRect">
            <a:avLst>
              <a:gd name="adj" fmla="val 13636"/>
            </a:avLst>
          </a:prstGeom>
          <a:solidFill>
            <a:srgbClr val="F9E7E5"/>
          </a:solidFill>
          <a:ln w="9525">
            <a:solidFill>
              <a:srgbClr val="A8261E"/>
            </a:solidFill>
            <a:prstDash val="solid"/>
          </a:ln>
        </p:spPr>
      </p:sp>
      <p:sp>
        <p:nvSpPr>
          <p:cNvPr id="21" name="Text 19"/>
          <p:cNvSpPr/>
          <p:nvPr/>
        </p:nvSpPr>
        <p:spPr>
          <a:xfrm>
            <a:off x="731520" y="3982212"/>
            <a:ext cx="2331720" cy="402336"/>
          </a:xfrm>
          <a:prstGeom prst="rect">
            <a:avLst/>
          </a:prstGeom>
          <a:noFill/>
          <a:ln/>
        </p:spPr>
        <p:txBody>
          <a:bodyPr wrap="square" lIns="0" tIns="0" rIns="0" bIns="0" rtlCol="0" anchor="ctr"/>
          <a:lstStyle/>
          <a:p>
            <a:pPr algn="ctr" indent="0" marL="0">
              <a:buNone/>
            </a:pPr>
            <a:r>
              <a:rPr lang="en-US" sz="1200" b="1" dirty="0">
                <a:solidFill>
                  <a:srgbClr val="A8261E"/>
                </a:solidFill>
                <a:latin typeface="Calibri" pitchFamily="34" charset="0"/>
                <a:ea typeface="Calibri" pitchFamily="34" charset="-122"/>
                <a:cs typeface="Calibri" pitchFamily="34" charset="-120"/>
              </a:rPr>
              <a:t>Post-overhaul drift</a:t>
            </a:r>
            <a:endParaRPr lang="en-US" sz="1200" dirty="0"/>
          </a:p>
        </p:txBody>
      </p:sp>
      <p:sp>
        <p:nvSpPr>
          <p:cNvPr id="22" name="Text 20"/>
          <p:cNvSpPr/>
          <p:nvPr/>
        </p:nvSpPr>
        <p:spPr>
          <a:xfrm>
            <a:off x="3264408" y="3849624"/>
            <a:ext cx="8177479" cy="649224"/>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After an overhaul the machine is genuinely different. An un-retrained model alarms continuously, is disbelieved, and is switched off inside a month.</a:t>
            </a:r>
            <a:endParaRPr lang="en-US" sz="1250" dirty="0"/>
          </a:p>
        </p:txBody>
      </p:sp>
      <p:sp>
        <p:nvSpPr>
          <p:cNvPr id="23" name="Shape 21"/>
          <p:cNvSpPr/>
          <p:nvPr/>
        </p:nvSpPr>
        <p:spPr>
          <a:xfrm>
            <a:off x="566928" y="4590288"/>
            <a:ext cx="11057839" cy="649224"/>
          </a:xfrm>
          <a:prstGeom prst="roundRect">
            <a:avLst>
              <a:gd name="adj" fmla="val 845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4" name="Shape 22"/>
          <p:cNvSpPr/>
          <p:nvPr/>
        </p:nvSpPr>
        <p:spPr>
          <a:xfrm>
            <a:off x="731520" y="4722876"/>
            <a:ext cx="2331720" cy="402336"/>
          </a:xfrm>
          <a:prstGeom prst="roundRect">
            <a:avLst>
              <a:gd name="adj" fmla="val 13636"/>
            </a:avLst>
          </a:prstGeom>
          <a:solidFill>
            <a:srgbClr val="F9E7E5"/>
          </a:solidFill>
          <a:ln w="9525">
            <a:solidFill>
              <a:srgbClr val="A8261E"/>
            </a:solidFill>
            <a:prstDash val="solid"/>
          </a:ln>
        </p:spPr>
      </p:sp>
      <p:sp>
        <p:nvSpPr>
          <p:cNvPr id="25" name="Text 23"/>
          <p:cNvSpPr/>
          <p:nvPr/>
        </p:nvSpPr>
        <p:spPr>
          <a:xfrm>
            <a:off x="731520" y="4722876"/>
            <a:ext cx="2331720" cy="402336"/>
          </a:xfrm>
          <a:prstGeom prst="rect">
            <a:avLst/>
          </a:prstGeom>
          <a:noFill/>
          <a:ln/>
        </p:spPr>
        <p:txBody>
          <a:bodyPr wrap="square" lIns="0" tIns="0" rIns="0" bIns="0" rtlCol="0" anchor="ctr"/>
          <a:lstStyle/>
          <a:p>
            <a:pPr algn="ctr" indent="0" marL="0">
              <a:buNone/>
            </a:pPr>
            <a:r>
              <a:rPr lang="en-US" sz="1200" b="1" dirty="0">
                <a:solidFill>
                  <a:srgbClr val="A8261E"/>
                </a:solidFill>
                <a:latin typeface="Calibri" pitchFamily="34" charset="0"/>
                <a:ea typeface="Calibri" pitchFamily="34" charset="-122"/>
                <a:cs typeface="Calibri" pitchFamily="34" charset="-120"/>
              </a:rPr>
              <a:t>Silent tag loss</a:t>
            </a:r>
            <a:endParaRPr lang="en-US" sz="1200" dirty="0"/>
          </a:p>
        </p:txBody>
      </p:sp>
      <p:sp>
        <p:nvSpPr>
          <p:cNvPr id="26" name="Text 24"/>
          <p:cNvSpPr/>
          <p:nvPr/>
        </p:nvSpPr>
        <p:spPr>
          <a:xfrm>
            <a:off x="3264408" y="4590288"/>
            <a:ext cx="8177479" cy="649224"/>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A point stops updating after a system change and nobody notices, because no alarm exists anywhere for a tag that has simply gone quiet.</a:t>
            </a:r>
            <a:endParaRPr lang="en-US" sz="1250" dirty="0"/>
          </a:p>
        </p:txBody>
      </p:sp>
      <p:sp>
        <p:nvSpPr>
          <p:cNvPr id="27" name="Shape 25"/>
          <p:cNvSpPr/>
          <p:nvPr/>
        </p:nvSpPr>
        <p:spPr>
          <a:xfrm>
            <a:off x="566928" y="5404104"/>
            <a:ext cx="11057839" cy="786384"/>
          </a:xfrm>
          <a:prstGeom prst="roundRect">
            <a:avLst>
              <a:gd name="adj" fmla="val 5814"/>
            </a:avLst>
          </a:prstGeom>
          <a:solidFill>
            <a:srgbClr val="A8261E"/>
          </a:solidFill>
          <a:ln w="12700">
            <a:solidFill>
              <a:srgbClr val="A8261E"/>
            </a:solidFill>
            <a:prstDash val="solid"/>
          </a:ln>
        </p:spPr>
      </p:sp>
      <p:sp>
        <p:nvSpPr>
          <p:cNvPr id="28" name="Text 26"/>
          <p:cNvSpPr/>
          <p:nvPr/>
        </p:nvSpPr>
        <p:spPr>
          <a:xfrm>
            <a:off x="804672" y="5404104"/>
            <a:ext cx="10582351" cy="78638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Never assume a quiet model means a healthy machine. Check for: frozen inputs · dead tags · unchanging residuals · models not retrained since the last overhaul</a:t>
            </a:r>
            <a:endParaRPr lang="en-US" sz="12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alert-to-work-order loop</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technology is the easy part. This loop decides whether the programme is alive in a year.</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2. Intelligent monitoring</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35</a:t>
            </a:r>
            <a:endParaRPr lang="en-US" sz="950" dirty="0"/>
          </a:p>
        </p:txBody>
      </p:sp>
      <p:sp>
        <p:nvSpPr>
          <p:cNvPr id="7" name="Shape 5"/>
          <p:cNvSpPr/>
          <p:nvPr/>
        </p:nvSpPr>
        <p:spPr>
          <a:xfrm>
            <a:off x="566928" y="1627632"/>
            <a:ext cx="2065264" cy="3127248"/>
          </a:xfrm>
          <a:prstGeom prst="roundRect">
            <a:avLst>
              <a:gd name="adj" fmla="val 265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1343528" y="1865376"/>
            <a:ext cx="512064" cy="512064"/>
          </a:xfrm>
          <a:prstGeom prst="ellipse">
            <a:avLst/>
          </a:prstGeom>
          <a:solidFill>
            <a:srgbClr val="2A3644"/>
          </a:solidFill>
          <a:ln/>
        </p:spPr>
      </p:sp>
      <p:sp>
        <p:nvSpPr>
          <p:cNvPr id="9" name="Text 7"/>
          <p:cNvSpPr/>
          <p:nvPr/>
        </p:nvSpPr>
        <p:spPr>
          <a:xfrm>
            <a:off x="1343528" y="1865376"/>
            <a:ext cx="512064"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10" name="Text 8"/>
          <p:cNvSpPr/>
          <p:nvPr/>
        </p:nvSpPr>
        <p:spPr>
          <a:xfrm>
            <a:off x="713232" y="2505456"/>
            <a:ext cx="1772656" cy="658368"/>
          </a:xfrm>
          <a:prstGeom prst="rect">
            <a:avLst/>
          </a:prstGeom>
          <a:noFill/>
          <a:ln/>
        </p:spPr>
        <p:txBody>
          <a:bodyPr wrap="square" lIns="0" tIns="0" rIns="0" bIns="0" rtlCol="0" anchor="t"/>
          <a:lstStyle/>
          <a:p>
            <a:pPr algn="ctr" indent="0" marL="0">
              <a:buNone/>
            </a:pPr>
            <a:r>
              <a:rPr lang="en-US" sz="1350" b="1" dirty="0">
                <a:solidFill>
                  <a:srgbClr val="1C2530"/>
                </a:solidFill>
                <a:latin typeface="Calibri" pitchFamily="34" charset="0"/>
                <a:ea typeface="Calibri" pitchFamily="34" charset="-122"/>
                <a:cs typeface="Calibri" pitchFamily="34" charset="-120"/>
              </a:rPr>
              <a:t>Model raises an alert</a:t>
            </a:r>
            <a:endParaRPr lang="en-US" sz="1350" dirty="0"/>
          </a:p>
        </p:txBody>
      </p:sp>
      <p:sp>
        <p:nvSpPr>
          <p:cNvPr id="11" name="Text 9"/>
          <p:cNvSpPr/>
          <p:nvPr/>
        </p:nvSpPr>
        <p:spPr>
          <a:xfrm>
            <a:off x="713232" y="3200400"/>
            <a:ext cx="1772656" cy="1389888"/>
          </a:xfrm>
          <a:prstGeom prst="rect">
            <a:avLst/>
          </a:prstGeom>
          <a:noFill/>
          <a:ln/>
        </p:spPr>
        <p:txBody>
          <a:bodyPr wrap="square" lIns="0" tIns="0" rIns="0" bIns="0" rtlCol="0" anchor="t"/>
          <a:lstStyle/>
          <a:p>
            <a:pPr algn="ctr" indent="0" marL="0">
              <a:buNone/>
            </a:pPr>
            <a:r>
              <a:rPr lang="en-US" sz="1180" dirty="0">
                <a:solidFill>
                  <a:srgbClr val="5C6B7A"/>
                </a:solidFill>
                <a:latin typeface="Calibri" pitchFamily="34" charset="0"/>
                <a:ea typeface="Calibri" pitchFamily="34" charset="-122"/>
                <a:cs typeface="Calibri" pitchFamily="34" charset="-120"/>
              </a:rPr>
              <a:t>With the evidence attached: which signals moved, how far from expected, since when, and what share of the deviation each one explains.</a:t>
            </a:r>
            <a:endParaRPr lang="en-US" sz="1180" dirty="0"/>
          </a:p>
        </p:txBody>
      </p:sp>
      <p:sp>
        <p:nvSpPr>
          <p:cNvPr id="12" name="Shape 10"/>
          <p:cNvSpPr/>
          <p:nvPr/>
        </p:nvSpPr>
        <p:spPr>
          <a:xfrm rot="5400000">
            <a:off x="2650480" y="1993392"/>
            <a:ext cx="137160" cy="256032"/>
          </a:xfrm>
          <a:prstGeom prst="triangle">
            <a:avLst/>
          </a:prstGeom>
          <a:solidFill>
            <a:srgbClr val="D96A16"/>
          </a:solidFill>
          <a:ln/>
        </p:spPr>
      </p:sp>
      <p:sp>
        <p:nvSpPr>
          <p:cNvPr id="13" name="Shape 11"/>
          <p:cNvSpPr/>
          <p:nvPr/>
        </p:nvSpPr>
        <p:spPr>
          <a:xfrm>
            <a:off x="2815072" y="1627632"/>
            <a:ext cx="2065264" cy="3127248"/>
          </a:xfrm>
          <a:prstGeom prst="roundRect">
            <a:avLst>
              <a:gd name="adj" fmla="val 265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4" name="Shape 12"/>
          <p:cNvSpPr/>
          <p:nvPr/>
        </p:nvSpPr>
        <p:spPr>
          <a:xfrm>
            <a:off x="3591672" y="1865376"/>
            <a:ext cx="512064" cy="512064"/>
          </a:xfrm>
          <a:prstGeom prst="ellipse">
            <a:avLst/>
          </a:prstGeom>
          <a:solidFill>
            <a:srgbClr val="2A3644"/>
          </a:solidFill>
          <a:ln/>
        </p:spPr>
      </p:sp>
      <p:sp>
        <p:nvSpPr>
          <p:cNvPr id="15" name="Text 13"/>
          <p:cNvSpPr/>
          <p:nvPr/>
        </p:nvSpPr>
        <p:spPr>
          <a:xfrm>
            <a:off x="3591672" y="1865376"/>
            <a:ext cx="512064"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6" name="Text 14"/>
          <p:cNvSpPr/>
          <p:nvPr/>
        </p:nvSpPr>
        <p:spPr>
          <a:xfrm>
            <a:off x="2961376" y="2505456"/>
            <a:ext cx="1772656" cy="658368"/>
          </a:xfrm>
          <a:prstGeom prst="rect">
            <a:avLst/>
          </a:prstGeom>
          <a:noFill/>
          <a:ln/>
        </p:spPr>
        <p:txBody>
          <a:bodyPr wrap="square" lIns="0" tIns="0" rIns="0" bIns="0" rtlCol="0" anchor="t"/>
          <a:lstStyle/>
          <a:p>
            <a:pPr algn="ctr" indent="0" marL="0">
              <a:buNone/>
            </a:pPr>
            <a:r>
              <a:rPr lang="en-US" sz="1350" b="1" dirty="0">
                <a:solidFill>
                  <a:srgbClr val="1C2530"/>
                </a:solidFill>
                <a:latin typeface="Calibri" pitchFamily="34" charset="0"/>
                <a:ea typeface="Calibri" pitchFamily="34" charset="-122"/>
                <a:cs typeface="Calibri" pitchFamily="34" charset="-120"/>
              </a:rPr>
              <a:t>An engineer triages it</a:t>
            </a:r>
            <a:endParaRPr lang="en-US" sz="1350" dirty="0"/>
          </a:p>
        </p:txBody>
      </p:sp>
      <p:sp>
        <p:nvSpPr>
          <p:cNvPr id="17" name="Text 15"/>
          <p:cNvSpPr/>
          <p:nvPr/>
        </p:nvSpPr>
        <p:spPr>
          <a:xfrm>
            <a:off x="2961376" y="3200400"/>
            <a:ext cx="1772656" cy="1389888"/>
          </a:xfrm>
          <a:prstGeom prst="rect">
            <a:avLst/>
          </a:prstGeom>
          <a:noFill/>
          <a:ln/>
        </p:spPr>
        <p:txBody>
          <a:bodyPr wrap="square" lIns="0" tIns="0" rIns="0" bIns="0" rtlCol="0" anchor="t"/>
          <a:lstStyle/>
          <a:p>
            <a:pPr algn="ctr" indent="0" marL="0">
              <a:buNone/>
            </a:pPr>
            <a:r>
              <a:rPr lang="en-US" sz="1180" dirty="0">
                <a:solidFill>
                  <a:srgbClr val="5C6B7A"/>
                </a:solidFill>
                <a:latin typeface="Calibri" pitchFamily="34" charset="0"/>
                <a:ea typeface="Calibri" pitchFamily="34" charset="-122"/>
                <a:cs typeface="Calibri" pitchFamily="34" charset="-120"/>
              </a:rPr>
              <a:t>Real fault, sensor problem, or an operating condition the model has never seen? A named engineer, daily, with time allocated. Not a committee.</a:t>
            </a:r>
            <a:endParaRPr lang="en-US" sz="1180" dirty="0"/>
          </a:p>
        </p:txBody>
      </p:sp>
      <p:sp>
        <p:nvSpPr>
          <p:cNvPr id="18" name="Shape 16"/>
          <p:cNvSpPr/>
          <p:nvPr/>
        </p:nvSpPr>
        <p:spPr>
          <a:xfrm rot="5400000">
            <a:off x="4898624" y="1993392"/>
            <a:ext cx="137160" cy="256032"/>
          </a:xfrm>
          <a:prstGeom prst="triangle">
            <a:avLst/>
          </a:prstGeom>
          <a:solidFill>
            <a:srgbClr val="D96A16"/>
          </a:solidFill>
          <a:ln/>
        </p:spPr>
      </p:sp>
      <p:sp>
        <p:nvSpPr>
          <p:cNvPr id="19" name="Shape 17"/>
          <p:cNvSpPr/>
          <p:nvPr/>
        </p:nvSpPr>
        <p:spPr>
          <a:xfrm>
            <a:off x="5063216" y="1627632"/>
            <a:ext cx="2065264" cy="3127248"/>
          </a:xfrm>
          <a:prstGeom prst="roundRect">
            <a:avLst>
              <a:gd name="adj" fmla="val 265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5839816" y="1865376"/>
            <a:ext cx="512064" cy="512064"/>
          </a:xfrm>
          <a:prstGeom prst="ellipse">
            <a:avLst/>
          </a:prstGeom>
          <a:solidFill>
            <a:srgbClr val="2A3644"/>
          </a:solidFill>
          <a:ln/>
        </p:spPr>
      </p:sp>
      <p:sp>
        <p:nvSpPr>
          <p:cNvPr id="21" name="Text 19"/>
          <p:cNvSpPr/>
          <p:nvPr/>
        </p:nvSpPr>
        <p:spPr>
          <a:xfrm>
            <a:off x="5839816" y="1865376"/>
            <a:ext cx="512064"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22" name="Text 20"/>
          <p:cNvSpPr/>
          <p:nvPr/>
        </p:nvSpPr>
        <p:spPr>
          <a:xfrm>
            <a:off x="5209520" y="2505456"/>
            <a:ext cx="1772656" cy="658368"/>
          </a:xfrm>
          <a:prstGeom prst="rect">
            <a:avLst/>
          </a:prstGeom>
          <a:noFill/>
          <a:ln/>
        </p:spPr>
        <p:txBody>
          <a:bodyPr wrap="square" lIns="0" tIns="0" rIns="0" bIns="0" rtlCol="0" anchor="t"/>
          <a:lstStyle/>
          <a:p>
            <a:pPr algn="ctr" indent="0" marL="0">
              <a:buNone/>
            </a:pPr>
            <a:r>
              <a:rPr lang="en-US" sz="1350" b="1" dirty="0">
                <a:solidFill>
                  <a:srgbClr val="1C2530"/>
                </a:solidFill>
                <a:latin typeface="Calibri" pitchFamily="34" charset="0"/>
                <a:ea typeface="Calibri" pitchFamily="34" charset="-122"/>
                <a:cs typeface="Calibri" pitchFamily="34" charset="-120"/>
              </a:rPr>
              <a:t>Action is raised</a:t>
            </a:r>
            <a:endParaRPr lang="en-US" sz="1350" dirty="0"/>
          </a:p>
        </p:txBody>
      </p:sp>
      <p:sp>
        <p:nvSpPr>
          <p:cNvPr id="23" name="Text 21"/>
          <p:cNvSpPr/>
          <p:nvPr/>
        </p:nvSpPr>
        <p:spPr>
          <a:xfrm>
            <a:off x="5209520" y="3200400"/>
            <a:ext cx="1772656" cy="1389888"/>
          </a:xfrm>
          <a:prstGeom prst="rect">
            <a:avLst/>
          </a:prstGeom>
          <a:noFill/>
          <a:ln/>
        </p:spPr>
        <p:txBody>
          <a:bodyPr wrap="square" lIns="0" tIns="0" rIns="0" bIns="0" rtlCol="0" anchor="t"/>
          <a:lstStyle/>
          <a:p>
            <a:pPr algn="ctr" indent="0" marL="0">
              <a:buNone/>
            </a:pPr>
            <a:r>
              <a:rPr lang="en-US" sz="1180" dirty="0">
                <a:solidFill>
                  <a:srgbClr val="5C6B7A"/>
                </a:solidFill>
                <a:latin typeface="Calibri" pitchFamily="34" charset="0"/>
                <a:ea typeface="Calibri" pitchFamily="34" charset="-122"/>
                <a:cs typeface="Calibri" pitchFamily="34" charset="-120"/>
              </a:rPr>
              <a:t>An inspection, a condition check, or a work order in SAP — with the alert reference carried into the notification so the two can be joined later.</a:t>
            </a:r>
            <a:endParaRPr lang="en-US" sz="1180" dirty="0"/>
          </a:p>
        </p:txBody>
      </p:sp>
      <p:sp>
        <p:nvSpPr>
          <p:cNvPr id="24" name="Shape 22"/>
          <p:cNvSpPr/>
          <p:nvPr/>
        </p:nvSpPr>
        <p:spPr>
          <a:xfrm rot="5400000">
            <a:off x="7146768" y="1993392"/>
            <a:ext cx="137160" cy="256032"/>
          </a:xfrm>
          <a:prstGeom prst="triangle">
            <a:avLst/>
          </a:prstGeom>
          <a:solidFill>
            <a:srgbClr val="D96A16"/>
          </a:solidFill>
          <a:ln/>
        </p:spPr>
      </p:sp>
      <p:sp>
        <p:nvSpPr>
          <p:cNvPr id="25" name="Shape 23"/>
          <p:cNvSpPr/>
          <p:nvPr/>
        </p:nvSpPr>
        <p:spPr>
          <a:xfrm>
            <a:off x="7311360" y="1627632"/>
            <a:ext cx="2065264" cy="3127248"/>
          </a:xfrm>
          <a:prstGeom prst="roundRect">
            <a:avLst>
              <a:gd name="adj" fmla="val 2657"/>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6" name="Shape 24"/>
          <p:cNvSpPr/>
          <p:nvPr/>
        </p:nvSpPr>
        <p:spPr>
          <a:xfrm>
            <a:off x="8087959" y="1865376"/>
            <a:ext cx="512064" cy="512064"/>
          </a:xfrm>
          <a:prstGeom prst="ellipse">
            <a:avLst/>
          </a:prstGeom>
          <a:solidFill>
            <a:srgbClr val="D96A16"/>
          </a:solidFill>
          <a:ln/>
        </p:spPr>
      </p:sp>
      <p:sp>
        <p:nvSpPr>
          <p:cNvPr id="27" name="Text 25"/>
          <p:cNvSpPr/>
          <p:nvPr/>
        </p:nvSpPr>
        <p:spPr>
          <a:xfrm>
            <a:off x="8087959" y="1865376"/>
            <a:ext cx="512064"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28" name="Text 26"/>
          <p:cNvSpPr/>
          <p:nvPr/>
        </p:nvSpPr>
        <p:spPr>
          <a:xfrm>
            <a:off x="7457664" y="2505456"/>
            <a:ext cx="1772656" cy="658368"/>
          </a:xfrm>
          <a:prstGeom prst="rect">
            <a:avLst/>
          </a:prstGeom>
          <a:noFill/>
          <a:ln/>
        </p:spPr>
        <p:txBody>
          <a:bodyPr wrap="square" lIns="0" tIns="0" rIns="0" bIns="0" rtlCol="0" anchor="t"/>
          <a:lstStyle/>
          <a:p>
            <a:pPr algn="ctr" indent="0" marL="0">
              <a:buNone/>
            </a:pPr>
            <a:r>
              <a:rPr lang="en-US" sz="1350" b="1" dirty="0">
                <a:solidFill>
                  <a:srgbClr val="1C2530"/>
                </a:solidFill>
                <a:latin typeface="Calibri" pitchFamily="34" charset="0"/>
                <a:ea typeface="Calibri" pitchFamily="34" charset="-122"/>
                <a:cs typeface="Calibri" pitchFamily="34" charset="-120"/>
              </a:rPr>
              <a:t>The finding is written back</a:t>
            </a:r>
            <a:endParaRPr lang="en-US" sz="1350" dirty="0"/>
          </a:p>
        </p:txBody>
      </p:sp>
      <p:sp>
        <p:nvSpPr>
          <p:cNvPr id="29" name="Text 27"/>
          <p:cNvSpPr/>
          <p:nvPr/>
        </p:nvSpPr>
        <p:spPr>
          <a:xfrm>
            <a:off x="7457664" y="3200400"/>
            <a:ext cx="1772656" cy="1389888"/>
          </a:xfrm>
          <a:prstGeom prst="rect">
            <a:avLst/>
          </a:prstGeom>
          <a:noFill/>
          <a:ln/>
        </p:spPr>
        <p:txBody>
          <a:bodyPr wrap="square" lIns="0" tIns="0" rIns="0" bIns="0" rtlCol="0" anchor="t"/>
          <a:lstStyle/>
          <a:p>
            <a:pPr algn="ctr" indent="0" marL="0">
              <a:buNone/>
            </a:pPr>
            <a:r>
              <a:rPr lang="en-US" sz="1180" dirty="0">
                <a:solidFill>
                  <a:srgbClr val="5C6B7A"/>
                </a:solidFill>
                <a:latin typeface="Calibri" pitchFamily="34" charset="0"/>
                <a:ea typeface="Calibri" pitchFamily="34" charset="-122"/>
                <a:cs typeface="Calibri" pitchFamily="34" charset="-120"/>
              </a:rPr>
              <a:t>What was actually found, and when — including 'nothing found'. This is the step every programme skips and the only one that makes the model better.</a:t>
            </a:r>
            <a:endParaRPr lang="en-US" sz="1180" dirty="0"/>
          </a:p>
        </p:txBody>
      </p:sp>
      <p:sp>
        <p:nvSpPr>
          <p:cNvPr id="30" name="Shape 28"/>
          <p:cNvSpPr/>
          <p:nvPr/>
        </p:nvSpPr>
        <p:spPr>
          <a:xfrm rot="5400000">
            <a:off x="9394911" y="1993392"/>
            <a:ext cx="137160" cy="256032"/>
          </a:xfrm>
          <a:prstGeom prst="triangle">
            <a:avLst/>
          </a:prstGeom>
          <a:solidFill>
            <a:srgbClr val="D96A16"/>
          </a:solidFill>
          <a:ln/>
        </p:spPr>
      </p:sp>
      <p:sp>
        <p:nvSpPr>
          <p:cNvPr id="31" name="Shape 29"/>
          <p:cNvSpPr/>
          <p:nvPr/>
        </p:nvSpPr>
        <p:spPr>
          <a:xfrm>
            <a:off x="9559503" y="1627632"/>
            <a:ext cx="2065264" cy="3127248"/>
          </a:xfrm>
          <a:prstGeom prst="roundRect">
            <a:avLst>
              <a:gd name="adj" fmla="val 265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2" name="Shape 30"/>
          <p:cNvSpPr/>
          <p:nvPr/>
        </p:nvSpPr>
        <p:spPr>
          <a:xfrm>
            <a:off x="10336103" y="1865376"/>
            <a:ext cx="512064" cy="512064"/>
          </a:xfrm>
          <a:prstGeom prst="ellipse">
            <a:avLst/>
          </a:prstGeom>
          <a:solidFill>
            <a:srgbClr val="2A3644"/>
          </a:solidFill>
          <a:ln/>
        </p:spPr>
      </p:sp>
      <p:sp>
        <p:nvSpPr>
          <p:cNvPr id="33" name="Text 31"/>
          <p:cNvSpPr/>
          <p:nvPr/>
        </p:nvSpPr>
        <p:spPr>
          <a:xfrm>
            <a:off x="10336103" y="1865376"/>
            <a:ext cx="512064"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5</a:t>
            </a:r>
            <a:endParaRPr lang="en-US" sz="1700" dirty="0"/>
          </a:p>
        </p:txBody>
      </p:sp>
      <p:sp>
        <p:nvSpPr>
          <p:cNvPr id="34" name="Text 32"/>
          <p:cNvSpPr/>
          <p:nvPr/>
        </p:nvSpPr>
        <p:spPr>
          <a:xfrm>
            <a:off x="9705807" y="2505456"/>
            <a:ext cx="1772656" cy="658368"/>
          </a:xfrm>
          <a:prstGeom prst="rect">
            <a:avLst/>
          </a:prstGeom>
          <a:noFill/>
          <a:ln/>
        </p:spPr>
        <p:txBody>
          <a:bodyPr wrap="square" lIns="0" tIns="0" rIns="0" bIns="0" rtlCol="0" anchor="t"/>
          <a:lstStyle/>
          <a:p>
            <a:pPr algn="ctr" indent="0" marL="0">
              <a:buNone/>
            </a:pPr>
            <a:r>
              <a:rPr lang="en-US" sz="1350" b="1" dirty="0">
                <a:solidFill>
                  <a:srgbClr val="1C2530"/>
                </a:solidFill>
                <a:latin typeface="Calibri" pitchFamily="34" charset="0"/>
                <a:ea typeface="Calibri" pitchFamily="34" charset="-122"/>
                <a:cs typeface="Calibri" pitchFamily="34" charset="-120"/>
              </a:rPr>
              <a:t>The model improves</a:t>
            </a:r>
            <a:endParaRPr lang="en-US" sz="1350" dirty="0"/>
          </a:p>
        </p:txBody>
      </p:sp>
      <p:sp>
        <p:nvSpPr>
          <p:cNvPr id="35" name="Text 33"/>
          <p:cNvSpPr/>
          <p:nvPr/>
        </p:nvSpPr>
        <p:spPr>
          <a:xfrm>
            <a:off x="9705807" y="3200400"/>
            <a:ext cx="1772656" cy="1389888"/>
          </a:xfrm>
          <a:prstGeom prst="rect">
            <a:avLst/>
          </a:prstGeom>
          <a:noFill/>
          <a:ln/>
        </p:spPr>
        <p:txBody>
          <a:bodyPr wrap="square" lIns="0" tIns="0" rIns="0" bIns="0" rtlCol="0" anchor="t"/>
          <a:lstStyle/>
          <a:p>
            <a:pPr algn="ctr" indent="0" marL="0">
              <a:buNone/>
            </a:pPr>
            <a:r>
              <a:rPr lang="en-US" sz="1180" dirty="0">
                <a:solidFill>
                  <a:srgbClr val="5C6B7A"/>
                </a:solidFill>
                <a:latin typeface="Calibri" pitchFamily="34" charset="0"/>
                <a:ea typeface="Calibri" pitchFamily="34" charset="-122"/>
                <a:cs typeface="Calibri" pitchFamily="34" charset="-120"/>
              </a:rPr>
              <a:t>Thresholds are tuned to this particular machine, known false-alarm sources are removed, and real fault signatures are learned so they are recognised faster the next time round.</a:t>
            </a:r>
            <a:endParaRPr lang="en-US" sz="1180" dirty="0"/>
          </a:p>
        </p:txBody>
      </p:sp>
      <p:sp>
        <p:nvSpPr>
          <p:cNvPr id="36" name="Text 34"/>
          <p:cNvSpPr/>
          <p:nvPr/>
        </p:nvSpPr>
        <p:spPr>
          <a:xfrm>
            <a:off x="566928" y="4809744"/>
            <a:ext cx="11057839" cy="292608"/>
          </a:xfrm>
          <a:prstGeom prst="rect">
            <a:avLst/>
          </a:prstGeom>
          <a:noFill/>
          <a:ln/>
        </p:spPr>
        <p:txBody>
          <a:bodyPr wrap="square" lIns="0" tIns="0" rIns="0" bIns="0" rtlCol="0" anchor="ctr"/>
          <a:lstStyle/>
          <a:p>
            <a:pPr algn="ctr" indent="0" marL="0">
              <a:buNone/>
            </a:pPr>
            <a:r>
              <a:rPr lang="en-US" sz="1150" i="1" dirty="0">
                <a:solidFill>
                  <a:srgbClr val="11707F"/>
                </a:solidFill>
                <a:latin typeface="Calibri" pitchFamily="34" charset="0"/>
                <a:ea typeface="Calibri" pitchFamily="34" charset="-122"/>
                <a:cs typeface="Calibri" pitchFamily="34" charset="-120"/>
              </a:rPr>
              <a:t>↺  findings return to the model</a:t>
            </a:r>
            <a:endParaRPr lang="en-US" sz="1150" dirty="0"/>
          </a:p>
        </p:txBody>
      </p:sp>
      <p:sp>
        <p:nvSpPr>
          <p:cNvPr id="37" name="Shape 35"/>
          <p:cNvSpPr/>
          <p:nvPr/>
        </p:nvSpPr>
        <p:spPr>
          <a:xfrm>
            <a:off x="566928" y="5212080"/>
            <a:ext cx="11057839" cy="548640"/>
          </a:xfrm>
          <a:prstGeom prst="roundRect">
            <a:avLst>
              <a:gd name="adj" fmla="val 8333"/>
            </a:avLst>
          </a:prstGeom>
          <a:solidFill>
            <a:srgbClr val="F9E7E5"/>
          </a:solidFill>
          <a:ln w="12700">
            <a:solidFill>
              <a:srgbClr val="A8261E"/>
            </a:solidFill>
            <a:prstDash val="solid"/>
          </a:ln>
        </p:spPr>
      </p:sp>
      <p:sp>
        <p:nvSpPr>
          <p:cNvPr id="38" name="Text 36"/>
          <p:cNvSpPr/>
          <p:nvPr/>
        </p:nvSpPr>
        <p:spPr>
          <a:xfrm>
            <a:off x="768096" y="5212080"/>
            <a:ext cx="10655503" cy="548640"/>
          </a:xfrm>
          <a:prstGeom prst="rect">
            <a:avLst/>
          </a:prstGeom>
          <a:noFill/>
          <a:ln/>
        </p:spPr>
        <p:txBody>
          <a:bodyPr wrap="square" lIns="0" tIns="0" rIns="0" bIns="0" rtlCol="0" anchor="ctr"/>
          <a:lstStyle/>
          <a:p>
            <a:pPr indent="0" marL="0">
              <a:buNone/>
            </a:pPr>
            <a:r>
              <a:rPr lang="en-US" sz="1350" b="1" dirty="0">
                <a:solidFill>
                  <a:srgbClr val="A8261E"/>
                </a:solidFill>
                <a:latin typeface="Calibri" pitchFamily="34" charset="0"/>
                <a:ea typeface="Calibri" pitchFamily="34" charset="-122"/>
                <a:cs typeface="Calibri" pitchFamily="34" charset="-120"/>
              </a:rPr>
              <a:t>A monitoring programme without step four dies within a year. Every time, at every station, without exception.</a:t>
            </a:r>
            <a:endParaRPr lang="en-US" sz="13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Fleet-scale monitoring</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One model per machine becomes hundreds of models across five stations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2. Intelligent monitoring</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36</a:t>
            </a:r>
            <a:endParaRPr lang="en-US" sz="950" dirty="0"/>
          </a:p>
        </p:txBody>
      </p:sp>
      <p:sp>
        <p:nvSpPr>
          <p:cNvPr id="7" name="Shape 5"/>
          <p:cNvSpPr/>
          <p:nvPr/>
        </p:nvSpPr>
        <p:spPr>
          <a:xfrm>
            <a:off x="566928"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10512"/>
            <a:ext cx="137160" cy="137160"/>
          </a:xfrm>
          <a:prstGeom prst="ellipse">
            <a:avLst/>
          </a:prstGeom>
          <a:solidFill>
            <a:srgbClr val="D96A16"/>
          </a:solidFill>
          <a:ln/>
        </p:spPr>
      </p:sp>
      <p:sp>
        <p:nvSpPr>
          <p:cNvPr id="9" name="Text 7"/>
          <p:cNvSpPr/>
          <p:nvPr/>
        </p:nvSpPr>
        <p:spPr>
          <a:xfrm>
            <a:off x="969264" y="1709928"/>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The arithmetic</a:t>
            </a:r>
            <a:endParaRPr lang="en-US" sz="1450" dirty="0"/>
          </a:p>
        </p:txBody>
      </p:sp>
      <p:sp>
        <p:nvSpPr>
          <p:cNvPr id="10" name="Text 8"/>
          <p:cNvSpPr/>
          <p:nvPr/>
        </p:nvSpPr>
        <p:spPr>
          <a:xfrm>
            <a:off x="768096" y="2121408"/>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One model per fan, mill, pump, motor and heat exchanger. A single unit reaches dozens. Five stations reach several hundred. Indicative — but the order is right.</a:t>
            </a:r>
            <a:endParaRPr lang="en-US" sz="1200" dirty="0"/>
          </a:p>
        </p:txBody>
      </p:sp>
      <p:sp>
        <p:nvSpPr>
          <p:cNvPr id="11" name="Shape 9"/>
          <p:cNvSpPr/>
          <p:nvPr/>
        </p:nvSpPr>
        <p:spPr>
          <a:xfrm>
            <a:off x="4326026"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4508906" y="1810512"/>
            <a:ext cx="137160" cy="137160"/>
          </a:xfrm>
          <a:prstGeom prst="ellipse">
            <a:avLst/>
          </a:prstGeom>
          <a:solidFill>
            <a:srgbClr val="D96A16"/>
          </a:solidFill>
          <a:ln/>
        </p:spPr>
      </p:sp>
      <p:sp>
        <p:nvSpPr>
          <p:cNvPr id="13" name="Text 11"/>
          <p:cNvSpPr/>
          <p:nvPr/>
        </p:nvSpPr>
        <p:spPr>
          <a:xfrm>
            <a:off x="4728362" y="1709928"/>
            <a:ext cx="297271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Nobody watches hundreds of screens</a:t>
            </a:r>
            <a:endParaRPr lang="en-US" sz="1450" dirty="0"/>
          </a:p>
        </p:txBody>
      </p:sp>
      <p:sp>
        <p:nvSpPr>
          <p:cNvPr id="14" name="Text 12"/>
          <p:cNvSpPr/>
          <p:nvPr/>
        </p:nvSpPr>
        <p:spPr>
          <a:xfrm>
            <a:off x="4527194" y="2322576"/>
            <a:ext cx="3137306" cy="1042416"/>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At fleet scale the output must be one ranked daily list, worst deviation first with the evidence attached — not a dashboard per machine.</a:t>
            </a:r>
            <a:endParaRPr lang="en-US" sz="1200" dirty="0"/>
          </a:p>
        </p:txBody>
      </p:sp>
      <p:sp>
        <p:nvSpPr>
          <p:cNvPr id="15" name="Shape 13"/>
          <p:cNvSpPr/>
          <p:nvPr/>
        </p:nvSpPr>
        <p:spPr>
          <a:xfrm>
            <a:off x="8085125"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8268005" y="1810512"/>
            <a:ext cx="137160" cy="137160"/>
          </a:xfrm>
          <a:prstGeom prst="ellipse">
            <a:avLst/>
          </a:prstGeom>
          <a:solidFill>
            <a:srgbClr val="D96A16"/>
          </a:solidFill>
          <a:ln/>
        </p:spPr>
      </p:sp>
      <p:sp>
        <p:nvSpPr>
          <p:cNvPr id="17" name="Text 15"/>
          <p:cNvSpPr/>
          <p:nvPr/>
        </p:nvSpPr>
        <p:spPr>
          <a:xfrm>
            <a:off x="8487461" y="1709928"/>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Ownership must be named</a:t>
            </a:r>
            <a:endParaRPr lang="en-US" sz="1450" dirty="0"/>
          </a:p>
        </p:txBody>
      </p:sp>
      <p:sp>
        <p:nvSpPr>
          <p:cNvPr id="18" name="Text 16"/>
          <p:cNvSpPr/>
          <p:nvPr/>
        </p:nvSpPr>
        <p:spPr>
          <a:xfrm>
            <a:off x="8286293" y="2121408"/>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Each model needs an owner at the station, and the fleet needs one owner of the method. Unowned models get switched off quietly, within months.</a:t>
            </a:r>
            <a:endParaRPr lang="en-US" sz="1200" dirty="0"/>
          </a:p>
        </p:txBody>
      </p:sp>
      <p:sp>
        <p:nvSpPr>
          <p:cNvPr id="19" name="Shape 17"/>
          <p:cNvSpPr/>
          <p:nvPr/>
        </p:nvSpPr>
        <p:spPr>
          <a:xfrm>
            <a:off x="566928"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749808" y="3895344"/>
            <a:ext cx="137160" cy="137160"/>
          </a:xfrm>
          <a:prstGeom prst="ellipse">
            <a:avLst/>
          </a:prstGeom>
          <a:solidFill>
            <a:srgbClr val="D96A16"/>
          </a:solidFill>
          <a:ln/>
        </p:spPr>
      </p:sp>
      <p:sp>
        <p:nvSpPr>
          <p:cNvPr id="21" name="Text 19"/>
          <p:cNvSpPr/>
          <p:nvPr/>
        </p:nvSpPr>
        <p:spPr>
          <a:xfrm>
            <a:off x="969264" y="379476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A model is a configured asset</a:t>
            </a:r>
            <a:endParaRPr lang="en-US" sz="1450" dirty="0"/>
          </a:p>
        </p:txBody>
      </p:sp>
      <p:sp>
        <p:nvSpPr>
          <p:cNvPr id="22" name="Text 20"/>
          <p:cNvSpPr/>
          <p:nvPr/>
        </p:nvSpPr>
        <p:spPr>
          <a:xfrm>
            <a:off x="768096" y="4206240"/>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It needs a register, a version, its training period on record, a retraining trigger and a review date — the same discipline as a protection setting.</a:t>
            </a:r>
            <a:endParaRPr lang="en-US" sz="1200" dirty="0"/>
          </a:p>
        </p:txBody>
      </p:sp>
      <p:sp>
        <p:nvSpPr>
          <p:cNvPr id="23" name="Shape 21"/>
          <p:cNvSpPr/>
          <p:nvPr/>
        </p:nvSpPr>
        <p:spPr>
          <a:xfrm>
            <a:off x="4326026"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4" name="Shape 22"/>
          <p:cNvSpPr/>
          <p:nvPr/>
        </p:nvSpPr>
        <p:spPr>
          <a:xfrm>
            <a:off x="4508906" y="3895344"/>
            <a:ext cx="137160" cy="137160"/>
          </a:xfrm>
          <a:prstGeom prst="ellipse">
            <a:avLst/>
          </a:prstGeom>
          <a:solidFill>
            <a:srgbClr val="D96A16"/>
          </a:solidFill>
          <a:ln/>
        </p:spPr>
      </p:sp>
      <p:sp>
        <p:nvSpPr>
          <p:cNvPr id="25" name="Text 23"/>
          <p:cNvSpPr/>
          <p:nvPr/>
        </p:nvSpPr>
        <p:spPr>
          <a:xfrm>
            <a:off x="4728362" y="3794760"/>
            <a:ext cx="297271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Stations are not interchangeable</a:t>
            </a:r>
            <a:endParaRPr lang="en-US" sz="1450" dirty="0"/>
          </a:p>
        </p:txBody>
      </p:sp>
      <p:sp>
        <p:nvSpPr>
          <p:cNvPr id="26" name="Text 24"/>
          <p:cNvSpPr/>
          <p:nvPr/>
        </p:nvSpPr>
        <p:spPr>
          <a:xfrm>
            <a:off x="4527194" y="4407408"/>
            <a:ext cx="3137306" cy="1042416"/>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Khaperkheda Units 1-4 ran at 57.85 % availability in June 2026, Parli Unit 8 at 97.40 %. The same model does not transfer between them.</a:t>
            </a:r>
            <a:endParaRPr lang="en-US" sz="1200" dirty="0"/>
          </a:p>
        </p:txBody>
      </p:sp>
      <p:sp>
        <p:nvSpPr>
          <p:cNvPr id="27" name="Shape 25"/>
          <p:cNvSpPr/>
          <p:nvPr/>
        </p:nvSpPr>
        <p:spPr>
          <a:xfrm>
            <a:off x="8085125"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Shape 26"/>
          <p:cNvSpPr/>
          <p:nvPr/>
        </p:nvSpPr>
        <p:spPr>
          <a:xfrm>
            <a:off x="8268005" y="3895344"/>
            <a:ext cx="137160" cy="137160"/>
          </a:xfrm>
          <a:prstGeom prst="ellipse">
            <a:avLst/>
          </a:prstGeom>
          <a:solidFill>
            <a:srgbClr val="D96A16"/>
          </a:solidFill>
          <a:ln/>
        </p:spPr>
      </p:sp>
      <p:sp>
        <p:nvSpPr>
          <p:cNvPr id="29" name="Text 27"/>
          <p:cNvSpPr/>
          <p:nvPr/>
        </p:nvSpPr>
        <p:spPr>
          <a:xfrm>
            <a:off x="8487461" y="379476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Governance beats algorithms</a:t>
            </a:r>
            <a:endParaRPr lang="en-US" sz="1450" dirty="0"/>
          </a:p>
        </p:txBody>
      </p:sp>
      <p:sp>
        <p:nvSpPr>
          <p:cNvPr id="30" name="Text 28"/>
          <p:cNvSpPr/>
          <p:nvPr/>
        </p:nvSpPr>
        <p:spPr>
          <a:xfrm>
            <a:off x="8286293" y="4206240"/>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Fleet programmes fail on registers, ownership and retraining — not on mathematics. Budget for the administration, or do not start.</a:t>
            </a:r>
            <a:endParaRPr lang="en-US" sz="1200" dirty="0"/>
          </a:p>
        </p:txBody>
      </p:sp>
      <p:sp>
        <p:nvSpPr>
          <p:cNvPr id="31" name="Shape 29"/>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32" name="Text 30"/>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Hundreds of models is a governance problem wearing an engineering costume. Decide who owns them before you buy them.</a:t>
            </a:r>
            <a:endParaRPr lang="en-US" sz="13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Three things to take to lunch</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Block two close</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2. Intelligent monitoring</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37</a:t>
            </a:r>
            <a:endParaRPr lang="en-US" sz="950" dirty="0"/>
          </a:p>
        </p:txBody>
      </p:sp>
      <p:sp>
        <p:nvSpPr>
          <p:cNvPr id="7" name="Shape 5"/>
          <p:cNvSpPr/>
          <p:nvPr/>
        </p:nvSpPr>
        <p:spPr>
          <a:xfrm>
            <a:off x="566928"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92808"/>
            <a:ext cx="137160" cy="137160"/>
          </a:xfrm>
          <a:prstGeom prst="ellipse">
            <a:avLst/>
          </a:prstGeom>
          <a:solidFill>
            <a:srgbClr val="D96A16"/>
          </a:solidFill>
          <a:ln/>
        </p:spPr>
      </p:sp>
      <p:sp>
        <p:nvSpPr>
          <p:cNvPr id="9" name="Text 7"/>
          <p:cNvSpPr/>
          <p:nvPr/>
        </p:nvSpPr>
        <p:spPr>
          <a:xfrm>
            <a:off x="969264" y="1792224"/>
            <a:ext cx="485226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A residual sees weeks; a threshold sees days</a:t>
            </a:r>
            <a:endParaRPr lang="en-US" sz="1450" dirty="0"/>
          </a:p>
        </p:txBody>
      </p:sp>
      <p:sp>
        <p:nvSpPr>
          <p:cNvPr id="10" name="Text 8"/>
          <p:cNvSpPr/>
          <p:nvPr/>
        </p:nvSpPr>
        <p:spPr>
          <a:xfrm>
            <a:off x="768096" y="2404872"/>
            <a:ext cx="5016856" cy="960120"/>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You proved it at the keyboard in SIM-1. The gap between the two is the entire business case for intelligent monitoring.</a:t>
            </a:r>
            <a:endParaRPr lang="en-US" sz="1200" dirty="0"/>
          </a:p>
        </p:txBody>
      </p:sp>
      <p:sp>
        <p:nvSpPr>
          <p:cNvPr id="11" name="Shape 9"/>
          <p:cNvSpPr/>
          <p:nvPr/>
        </p:nvSpPr>
        <p:spPr>
          <a:xfrm>
            <a:off x="6205576"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388456" y="1892808"/>
            <a:ext cx="137160" cy="137160"/>
          </a:xfrm>
          <a:prstGeom prst="ellipse">
            <a:avLst/>
          </a:prstGeom>
          <a:solidFill>
            <a:srgbClr val="D96A16"/>
          </a:solidFill>
          <a:ln/>
        </p:spPr>
      </p:sp>
      <p:sp>
        <p:nvSpPr>
          <p:cNvPr id="13" name="Text 11"/>
          <p:cNvSpPr/>
          <p:nvPr/>
        </p:nvSpPr>
        <p:spPr>
          <a:xfrm>
            <a:off x="6607912" y="1792224"/>
            <a:ext cx="485226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A model is only as honest as its training period</a:t>
            </a:r>
            <a:endParaRPr lang="en-US" sz="1450" dirty="0"/>
          </a:p>
        </p:txBody>
      </p:sp>
      <p:sp>
        <p:nvSpPr>
          <p:cNvPr id="14" name="Text 12"/>
          <p:cNvSpPr/>
          <p:nvPr/>
        </p:nvSpPr>
        <p:spPr>
          <a:xfrm>
            <a:off x="6406744" y="2404872"/>
            <a:ext cx="5016856" cy="960120"/>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Contaminate the healthy history and detection collapses completely. You did not take that on trust — you watched it happen.</a:t>
            </a:r>
            <a:endParaRPr lang="en-US" sz="1200" dirty="0"/>
          </a:p>
        </p:txBody>
      </p:sp>
      <p:sp>
        <p:nvSpPr>
          <p:cNvPr id="15" name="Shape 13"/>
          <p:cNvSpPr/>
          <p:nvPr/>
        </p:nvSpPr>
        <p:spPr>
          <a:xfrm>
            <a:off x="566928"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749808" y="3895344"/>
            <a:ext cx="137160" cy="137160"/>
          </a:xfrm>
          <a:prstGeom prst="ellipse">
            <a:avLst/>
          </a:prstGeom>
          <a:solidFill>
            <a:srgbClr val="D96A16"/>
          </a:solidFill>
          <a:ln/>
        </p:spPr>
      </p:sp>
      <p:sp>
        <p:nvSpPr>
          <p:cNvPr id="17" name="Text 15"/>
          <p:cNvSpPr/>
          <p:nvPr/>
        </p:nvSpPr>
        <p:spPr>
          <a:xfrm>
            <a:off x="969264" y="3794760"/>
            <a:ext cx="485226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Without the feedback step, the programme dies</a:t>
            </a:r>
            <a:endParaRPr lang="en-US" sz="1450" dirty="0"/>
          </a:p>
        </p:txBody>
      </p:sp>
      <p:sp>
        <p:nvSpPr>
          <p:cNvPr id="18" name="Text 16"/>
          <p:cNvSpPr/>
          <p:nvPr/>
        </p:nvSpPr>
        <p:spPr>
          <a:xfrm>
            <a:off x="768096" y="4407408"/>
            <a:ext cx="5016856" cy="960120"/>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Alerts that are never closed out teach the model nothing, and teach the engineer to stop opening them.</a:t>
            </a:r>
            <a:endParaRPr lang="en-US" sz="1200" dirty="0"/>
          </a:p>
        </p:txBody>
      </p:sp>
      <p:sp>
        <p:nvSpPr>
          <p:cNvPr id="19" name="Shape 17"/>
          <p:cNvSpPr/>
          <p:nvPr/>
        </p:nvSpPr>
        <p:spPr>
          <a:xfrm>
            <a:off x="6205576"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6388456" y="3895344"/>
            <a:ext cx="137160" cy="137160"/>
          </a:xfrm>
          <a:prstGeom prst="ellipse">
            <a:avLst/>
          </a:prstGeom>
          <a:solidFill>
            <a:srgbClr val="D96A16"/>
          </a:solidFill>
          <a:ln/>
        </p:spPr>
      </p:sp>
      <p:sp>
        <p:nvSpPr>
          <p:cNvPr id="21" name="Text 19"/>
          <p:cNvSpPr/>
          <p:nvPr/>
        </p:nvSpPr>
        <p:spPr>
          <a:xfrm>
            <a:off x="6607912"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After lunch</a:t>
            </a:r>
            <a:endParaRPr lang="en-US" sz="1450" dirty="0"/>
          </a:p>
        </p:txBody>
      </p:sp>
      <p:sp>
        <p:nvSpPr>
          <p:cNvPr id="22" name="Text 20"/>
          <p:cNvSpPr/>
          <p:nvPr/>
        </p:nvSpPr>
        <p:spPr>
          <a:xfrm>
            <a:off x="6406744"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We put rupees on it — heat-rate loss attribution and auxiliary power, worked on MAHAGENCO's own June 2026 numbers.</a:t>
            </a:r>
            <a:endParaRPr lang="en-US" sz="1200" dirty="0"/>
          </a:p>
        </p:txBody>
      </p:sp>
      <p:sp>
        <p:nvSpPr>
          <p:cNvPr id="23" name="Shape 21"/>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24" name="Text 22"/>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₹100.87 crore of fixed-charge disallowance and ₹56 crore of heat-rate gap in a single month are waiting on the other side of lunch.</a:t>
            </a:r>
            <a:endParaRPr lang="en-US" sz="13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C2530"/>
        </a:solidFill>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D96A16"/>
          </a:solidFill>
          <a:ln/>
        </p:spPr>
      </p:sp>
      <p:sp>
        <p:nvSpPr>
          <p:cNvPr id="3" name="Text 1"/>
          <p:cNvSpPr/>
          <p:nvPr/>
        </p:nvSpPr>
        <p:spPr>
          <a:xfrm>
            <a:off x="9052560" y="822960"/>
            <a:ext cx="2377440" cy="2011680"/>
          </a:xfrm>
          <a:prstGeom prst="rect">
            <a:avLst/>
          </a:prstGeom>
          <a:noFill/>
          <a:ln/>
        </p:spPr>
        <p:txBody>
          <a:bodyPr wrap="square" lIns="0" tIns="0" rIns="0" bIns="0" rtlCol="0" anchor="ctr"/>
          <a:lstStyle/>
          <a:p>
            <a:pPr algn="r" indent="0" marL="0">
              <a:buNone/>
            </a:pPr>
            <a:r>
              <a:rPr lang="en-US" sz="13200" b="1" dirty="0">
                <a:solidFill>
                  <a:srgbClr val="2C3B4B"/>
                </a:solidFill>
                <a:latin typeface="Cambria" pitchFamily="34" charset="0"/>
                <a:ea typeface="Cambria" pitchFamily="34" charset="-122"/>
                <a:cs typeface="Cambria" pitchFamily="34" charset="-120"/>
              </a:rPr>
              <a:t>3</a:t>
            </a:r>
            <a:endParaRPr lang="en-US" sz="13200" dirty="0"/>
          </a:p>
        </p:txBody>
      </p:sp>
      <p:sp>
        <p:nvSpPr>
          <p:cNvPr id="4" name="Text 2"/>
          <p:cNvSpPr/>
          <p:nvPr/>
        </p:nvSpPr>
        <p:spPr>
          <a:xfrm>
            <a:off x="1051560" y="1920240"/>
            <a:ext cx="9601200" cy="310896"/>
          </a:xfrm>
          <a:prstGeom prst="rect">
            <a:avLst/>
          </a:prstGeom>
          <a:noFill/>
          <a:ln/>
        </p:spPr>
        <p:txBody>
          <a:bodyPr wrap="square" lIns="0" tIns="0" rIns="0" bIns="0" rtlCol="0" anchor="ctr"/>
          <a:lstStyle/>
          <a:p>
            <a:pPr indent="0" marL="0">
              <a:buNone/>
            </a:pPr>
            <a:r>
              <a:rPr lang="en-US" sz="1250" b="1" spc="220" kern="0" dirty="0">
                <a:solidFill>
                  <a:srgbClr val="D96A16"/>
                </a:solidFill>
                <a:latin typeface="Calibri" pitchFamily="34" charset="0"/>
                <a:ea typeface="Calibri" pitchFamily="34" charset="-122"/>
                <a:cs typeface="Calibri" pitchFamily="34" charset="-120"/>
              </a:rPr>
              <a:t>SESSION</a:t>
            </a:r>
            <a:endParaRPr lang="en-US" sz="1250" dirty="0"/>
          </a:p>
        </p:txBody>
      </p:sp>
      <p:sp>
        <p:nvSpPr>
          <p:cNvPr id="5" name="Text 3"/>
          <p:cNvSpPr/>
          <p:nvPr/>
        </p:nvSpPr>
        <p:spPr>
          <a:xfrm>
            <a:off x="1051560" y="2212848"/>
            <a:ext cx="804672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AI for predictive maintenance</a:t>
            </a:r>
            <a:endParaRPr lang="en-US" sz="4000" dirty="0"/>
          </a:p>
        </p:txBody>
      </p:sp>
      <p:sp>
        <p:nvSpPr>
          <p:cNvPr id="6" name="Text 4"/>
          <p:cNvSpPr/>
          <p:nvPr/>
        </p:nvSpPr>
        <p:spPr>
          <a:xfrm>
            <a:off x="1051560" y="3529584"/>
            <a:ext cx="8778240" cy="603504"/>
          </a:xfrm>
          <a:prstGeom prst="rect">
            <a:avLst/>
          </a:prstGeom>
          <a:noFill/>
          <a:ln/>
        </p:spPr>
        <p:txBody>
          <a:bodyPr wrap="square" lIns="0" tIns="0" rIns="0" bIns="0" rtlCol="0" anchor="t"/>
          <a:lstStyle/>
          <a:p>
            <a:pPr indent="0" marL="0">
              <a:buNone/>
            </a:pPr>
            <a:r>
              <a:rPr lang="en-US" sz="1500" dirty="0">
                <a:solidFill>
                  <a:srgbClr val="A9B8C6"/>
                </a:solidFill>
                <a:latin typeface="Calibri" pitchFamily="34" charset="0"/>
                <a:ea typeface="Calibri" pitchFamily="34" charset="-122"/>
                <a:cs typeface="Calibri" pitchFamily="34" charset="-120"/>
              </a:rPr>
              <a:t>Boiler feed pumps, mills, fans, transformers and motors — and the availability money behind them</a:t>
            </a:r>
            <a:endParaRPr lang="en-US" sz="1500" dirty="0"/>
          </a:p>
        </p:txBody>
      </p:sp>
      <p:sp>
        <p:nvSpPr>
          <p:cNvPr id="7" name="Shape 5"/>
          <p:cNvSpPr/>
          <p:nvPr/>
        </p:nvSpPr>
        <p:spPr>
          <a:xfrm>
            <a:off x="1078992" y="4315968"/>
            <a:ext cx="118872" cy="118872"/>
          </a:xfrm>
          <a:prstGeom prst="ellipse">
            <a:avLst/>
          </a:prstGeom>
          <a:solidFill>
            <a:srgbClr val="D96A16"/>
          </a:solidFill>
          <a:ln/>
        </p:spPr>
      </p:sp>
      <p:sp>
        <p:nvSpPr>
          <p:cNvPr id="8" name="Text 6"/>
          <p:cNvSpPr/>
          <p:nvPr/>
        </p:nvSpPr>
        <p:spPr>
          <a:xfrm>
            <a:off x="1389888" y="4224528"/>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Equipment by equipment: what is detectable and how early</a:t>
            </a:r>
            <a:endParaRPr lang="en-US" sz="1250" dirty="0"/>
          </a:p>
        </p:txBody>
      </p:sp>
      <p:sp>
        <p:nvSpPr>
          <p:cNvPr id="9" name="Shape 7"/>
          <p:cNvSpPr/>
          <p:nvPr/>
        </p:nvSpPr>
        <p:spPr>
          <a:xfrm>
            <a:off x="1078992" y="4718304"/>
            <a:ext cx="118872" cy="118872"/>
          </a:xfrm>
          <a:prstGeom prst="ellipse">
            <a:avLst/>
          </a:prstGeom>
          <a:solidFill>
            <a:srgbClr val="D96A16"/>
          </a:solidFill>
          <a:ln/>
        </p:spPr>
      </p:sp>
      <p:sp>
        <p:nvSpPr>
          <p:cNvPr id="10" name="Text 8"/>
          <p:cNvSpPr/>
          <p:nvPr/>
        </p:nvSpPr>
        <p:spPr>
          <a:xfrm>
            <a:off x="1389888" y="4626864"/>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Remaining useful life, and the question a planner actually asks</a:t>
            </a:r>
            <a:endParaRPr lang="en-US" sz="1250" dirty="0"/>
          </a:p>
        </p:txBody>
      </p:sp>
      <p:sp>
        <p:nvSpPr>
          <p:cNvPr id="11" name="Shape 9"/>
          <p:cNvSpPr/>
          <p:nvPr/>
        </p:nvSpPr>
        <p:spPr>
          <a:xfrm>
            <a:off x="1078992" y="5120640"/>
            <a:ext cx="118872" cy="118872"/>
          </a:xfrm>
          <a:prstGeom prst="ellipse">
            <a:avLst/>
          </a:prstGeom>
          <a:solidFill>
            <a:srgbClr val="D96A16"/>
          </a:solidFill>
          <a:ln/>
        </p:spPr>
      </p:sp>
      <p:sp>
        <p:nvSpPr>
          <p:cNvPr id="12" name="Text 10"/>
          <p:cNvSpPr/>
          <p:nvPr/>
        </p:nvSpPr>
        <p:spPr>
          <a:xfrm>
            <a:off x="1389888" y="5029200"/>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What predictive maintenance needs from the organisation</a:t>
            </a:r>
            <a:endParaRPr lang="en-US" sz="1250" dirty="0"/>
          </a:p>
        </p:txBody>
      </p:sp>
      <p:sp>
        <p:nvSpPr>
          <p:cNvPr id="13" name="Shape 11"/>
          <p:cNvSpPr/>
          <p:nvPr/>
        </p:nvSpPr>
        <p:spPr>
          <a:xfrm>
            <a:off x="1078992" y="5522976"/>
            <a:ext cx="118872" cy="118872"/>
          </a:xfrm>
          <a:prstGeom prst="ellipse">
            <a:avLst/>
          </a:prstGeom>
          <a:solidFill>
            <a:srgbClr val="D96A16"/>
          </a:solidFill>
          <a:ln/>
        </p:spPr>
      </p:sp>
      <p:sp>
        <p:nvSpPr>
          <p:cNvPr id="14" name="Text 12"/>
          <p:cNvSpPr/>
          <p:nvPr/>
        </p:nvSpPr>
        <p:spPr>
          <a:xfrm>
            <a:off x="1389888" y="5431536"/>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₹100.87 crore of availability disallowance, and where it came from</a:t>
            </a:r>
            <a:endParaRPr lang="en-US" sz="1250" dirty="0"/>
          </a:p>
        </p:txBody>
      </p:sp>
      <p:sp>
        <p:nvSpPr>
          <p:cNvPr id="15" name="Shape 13"/>
          <p:cNvSpPr/>
          <p:nvPr/>
        </p:nvSpPr>
        <p:spPr>
          <a:xfrm>
            <a:off x="9281160" y="4224528"/>
            <a:ext cx="1965960" cy="859536"/>
          </a:xfrm>
          <a:prstGeom prst="roundRect">
            <a:avLst>
              <a:gd name="adj" fmla="val 6383"/>
            </a:avLst>
          </a:prstGeom>
          <a:solidFill>
            <a:srgbClr val="2A3644"/>
          </a:solidFill>
          <a:ln w="12700">
            <a:solidFill>
              <a:srgbClr val="D96A16"/>
            </a:solidFill>
            <a:prstDash val="solid"/>
          </a:ln>
        </p:spPr>
      </p:sp>
      <p:sp>
        <p:nvSpPr>
          <p:cNvPr id="16" name="Text 14"/>
          <p:cNvSpPr/>
          <p:nvPr/>
        </p:nvSpPr>
        <p:spPr>
          <a:xfrm>
            <a:off x="9281160" y="4334256"/>
            <a:ext cx="1965960" cy="384048"/>
          </a:xfrm>
          <a:prstGeom prst="rect">
            <a:avLst/>
          </a:prstGeom>
          <a:noFill/>
          <a:ln/>
        </p:spPr>
        <p:txBody>
          <a:bodyPr wrap="square" lIns="0" tIns="0" rIns="0" bIns="0" rtlCol="0" anchor="ctr"/>
          <a:lstStyle/>
          <a:p>
            <a:pPr algn="ctr" indent="0" marL="0">
              <a:buNone/>
            </a:pPr>
            <a:r>
              <a:rPr lang="en-US" sz="1600" b="1" dirty="0">
                <a:solidFill>
                  <a:srgbClr val="D96A16"/>
                </a:solidFill>
                <a:latin typeface="Cambria" pitchFamily="34" charset="0"/>
                <a:ea typeface="Cambria" pitchFamily="34" charset="-122"/>
                <a:cs typeface="Cambria" pitchFamily="34" charset="-120"/>
              </a:rPr>
              <a:t>12:10 – 13:00</a:t>
            </a:r>
            <a:endParaRPr lang="en-US" sz="1600" dirty="0"/>
          </a:p>
        </p:txBody>
      </p:sp>
      <p:sp>
        <p:nvSpPr>
          <p:cNvPr id="17" name="Text 15"/>
          <p:cNvSpPr/>
          <p:nvPr/>
        </p:nvSpPr>
        <p:spPr>
          <a:xfrm>
            <a:off x="9281160" y="4700016"/>
            <a:ext cx="1965960" cy="310896"/>
          </a:xfrm>
          <a:prstGeom prst="rect">
            <a:avLst/>
          </a:prstGeom>
          <a:noFill/>
          <a:ln/>
        </p:spPr>
        <p:txBody>
          <a:bodyPr wrap="square" lIns="0" tIns="0" rIns="0" bIns="0" rtlCol="0" anchor="ctr"/>
          <a:lstStyle/>
          <a:p>
            <a:pPr algn="ctr" indent="0" marL="0">
              <a:buNone/>
            </a:pPr>
            <a:r>
              <a:rPr lang="en-US" sz="1100" dirty="0">
                <a:solidFill>
                  <a:srgbClr val="9BAAB8"/>
                </a:solidFill>
                <a:latin typeface="Calibri" pitchFamily="34" charset="0"/>
                <a:ea typeface="Calibri" pitchFamily="34" charset="-122"/>
                <a:cs typeface="Calibri" pitchFamily="34" charset="-120"/>
              </a:rPr>
              <a:t>50 minutes</a:t>
            </a:r>
            <a:endParaRPr lang="en-US" sz="1100" dirty="0"/>
          </a:p>
        </p:txBody>
      </p:sp>
      <p:sp>
        <p:nvSpPr>
          <p:cNvPr id="18" name="Text 16"/>
          <p:cNvSpPr/>
          <p:nvPr/>
        </p:nvSpPr>
        <p:spPr>
          <a:xfrm>
            <a:off x="1051560" y="5797296"/>
            <a:ext cx="9601200" cy="329184"/>
          </a:xfrm>
          <a:prstGeom prst="rect">
            <a:avLst/>
          </a:prstGeom>
          <a:noFill/>
          <a:ln/>
        </p:spPr>
        <p:txBody>
          <a:bodyPr wrap="square" lIns="0" tIns="0" rIns="0" bIns="0" rtlCol="0" anchor="ctr"/>
          <a:lstStyle/>
          <a:p>
            <a:pPr indent="0" marL="0">
              <a:buNone/>
            </a:pPr>
            <a:r>
              <a:rPr lang="en-US" sz="1200" i="1" dirty="0">
                <a:solidFill>
                  <a:srgbClr val="86C0C9"/>
                </a:solidFill>
                <a:latin typeface="Calibri" pitchFamily="34" charset="0"/>
                <a:ea typeface="Calibri" pitchFamily="34" charset="-122"/>
                <a:cs typeface="Calibri" pitchFamily="34" charset="-120"/>
              </a:rPr>
              <a:t>Hands-on: SIM-5 — predictive maintenance and RUL</a:t>
            </a:r>
            <a:endParaRPr lang="en-US" sz="1200" dirty="0"/>
          </a:p>
        </p:txBody>
      </p:sp>
      <p:sp>
        <p:nvSpPr>
          <p:cNvPr id="19" name="Text 17"/>
          <p:cNvSpPr/>
          <p:nvPr/>
        </p:nvSpPr>
        <p:spPr>
          <a:xfrm>
            <a:off x="11140135" y="6419088"/>
            <a:ext cx="502920" cy="274320"/>
          </a:xfrm>
          <a:prstGeom prst="rect">
            <a:avLst/>
          </a:prstGeom>
          <a:noFill/>
          <a:ln/>
        </p:spPr>
        <p:txBody>
          <a:bodyPr wrap="square" lIns="0" tIns="0" rIns="0" bIns="0" rtlCol="0" anchor="ctr"/>
          <a:lstStyle/>
          <a:p>
            <a:pPr algn="r" indent="0" marL="0">
              <a:buNone/>
            </a:pPr>
            <a:r>
              <a:rPr lang="en-US" sz="950" dirty="0">
                <a:solidFill>
                  <a:srgbClr val="5E6E7C"/>
                </a:solidFill>
                <a:latin typeface="Calibri" pitchFamily="34" charset="0"/>
                <a:ea typeface="Calibri" pitchFamily="34" charset="-122"/>
                <a:cs typeface="Calibri" pitchFamily="34" charset="-120"/>
              </a:rPr>
              <a:t>38</a:t>
            </a:r>
            <a:endParaRPr lang="en-US"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Maintenance strategies compared</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Four positions on one ladder — and most stations are two rungs lower than they believe</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3. Predictive maintenance</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39</a:t>
            </a:r>
            <a:endParaRPr lang="en-US" sz="95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66928" y="1828800"/>
          <a:ext cx="11057839" cy="914400"/>
        </p:xfrm>
        <a:graphic>
          <a:graphicData uri="http://schemas.openxmlformats.org/drawingml/2006/table">
            <a:tbl>
              <a:tblPr/>
              <a:tblGrid>
                <a:gridCol w="2886266"/>
                <a:gridCol w="2126475"/>
                <a:gridCol w="3124771"/>
                <a:gridCol w="2920327"/>
              </a:tblGrid>
              <a:tr h="7315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Strategy</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What triggers the work</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What it costs you</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Where it fits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Breakdown — run to failure</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The machine stops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Collateral damage, long outage, no spare staged</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Cheap, duplicated, non-critical items only</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Time-based — calendar or running hours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The date arrives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Good machines opened; bad ones fail before the date</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Statutory items and known wear-out parts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Condition-based — measure, then decide</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A measured parameter crosses a limit</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Route data monthly; the fault can start the day after</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Vibration routes, oil analysis, thermography</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Predictive, then prescriptive</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A model projects a limit will be crossed</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Data plumbing, a triage engineer, and discipline</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Rotating plant with continuous data</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bl>
          </a:graphicData>
        </a:graphic>
      </p:graphicFrame>
      <p:sp>
        <p:nvSpPr>
          <p:cNvPr id="8" name="Shape 5"/>
          <p:cNvSpPr/>
          <p:nvPr/>
        </p:nvSpPr>
        <p:spPr>
          <a:xfrm>
            <a:off x="566928" y="5650992"/>
            <a:ext cx="11057839" cy="548640"/>
          </a:xfrm>
          <a:prstGeom prst="roundRect">
            <a:avLst>
              <a:gd name="adj" fmla="val 8333"/>
            </a:avLst>
          </a:prstGeom>
          <a:solidFill>
            <a:srgbClr val="FCEDE0"/>
          </a:solidFill>
          <a:ln w="12700">
            <a:solidFill>
              <a:srgbClr val="D96A16"/>
            </a:solidFill>
            <a:prstDash val="solid"/>
          </a:ln>
        </p:spPr>
      </p:sp>
      <p:sp>
        <p:nvSpPr>
          <p:cNvPr id="9" name="Text 6"/>
          <p:cNvSpPr/>
          <p:nvPr/>
        </p:nvSpPr>
        <p:spPr>
          <a:xfrm>
            <a:off x="768096" y="565099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Prescriptive is the next rung: not only when it will fail, but which action costs least. Nobody reaches it from row one.</a:t>
            </a:r>
            <a:endParaRPr lang="en-US" sz="13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Case — boiler feed pumps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Motor-driven on the 210 and 250 MW units, turbine-driven on the 500 and 660 MW machines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3. Predictive maintenance</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40</a:t>
            </a:r>
            <a:endParaRPr lang="en-US" sz="950" dirty="0"/>
          </a:p>
        </p:txBody>
      </p:sp>
      <p:sp>
        <p:nvSpPr>
          <p:cNvPr id="7" name="Shape 5"/>
          <p:cNvSpPr/>
          <p:nvPr/>
        </p:nvSpPr>
        <p:spPr>
          <a:xfrm>
            <a:off x="566928" y="1627632"/>
            <a:ext cx="5400904" cy="2926080"/>
          </a:xfrm>
          <a:prstGeom prst="roundRect">
            <a:avLst>
              <a:gd name="adj" fmla="val 187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5400904" cy="457200"/>
          </a:xfrm>
          <a:prstGeom prst="roundRect">
            <a:avLst>
              <a:gd name="adj" fmla="val 10000"/>
            </a:avLst>
          </a:prstGeom>
          <a:solidFill>
            <a:srgbClr val="2A3644"/>
          </a:solidFill>
          <a:ln/>
        </p:spPr>
      </p:sp>
      <p:sp>
        <p:nvSpPr>
          <p:cNvPr id="9" name="Text 7"/>
          <p:cNvSpPr/>
          <p:nvPr/>
        </p:nvSpPr>
        <p:spPr>
          <a:xfrm>
            <a:off x="768096" y="1627632"/>
            <a:ext cx="5035144"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What the model detects</a:t>
            </a:r>
            <a:endParaRPr lang="en-US" sz="1350" dirty="0"/>
          </a:p>
        </p:txBody>
      </p:sp>
      <p:sp>
        <p:nvSpPr>
          <p:cNvPr id="10" name="Text 8"/>
          <p:cNvSpPr/>
          <p:nvPr/>
        </p:nvSpPr>
        <p:spPr>
          <a:xfrm>
            <a:off x="786384" y="2194560"/>
            <a:ext cx="4961992" cy="2240280"/>
          </a:xfrm>
          <a:prstGeom prst="rect">
            <a:avLst/>
          </a:prstGeom>
          <a:noFill/>
          <a:ln/>
        </p:spPr>
        <p:txBody>
          <a:bodyPr wrap="square" lIns="0" tIns="0" rIns="0" bIns="0" rtlCol="0" anchor="t"/>
          <a:lstStyle/>
          <a:p>
            <a:pPr marL="342900" indent="-342900">
              <a:spcAft>
                <a:spcPts val="500"/>
              </a:spcAft>
              <a:buSzPct val="100000"/>
              <a:buChar char="▪"/>
            </a:pPr>
            <a:r>
              <a:rPr lang="en-US" sz="970" dirty="0">
                <a:solidFill>
                  <a:srgbClr val="1C2530"/>
                </a:solidFill>
                <a:latin typeface="Calibri" pitchFamily="34" charset="0"/>
                <a:ea typeface="Calibri" pitchFamily="34" charset="-122"/>
                <a:cs typeface="Calibri" pitchFamily="34" charset="-120"/>
              </a:rPr>
              <a:t>Bearing degradation — thrust and journal, weeks ahead of temperature alarm</a:t>
            </a:r>
            <a:endParaRPr lang="en-US" sz="970" dirty="0"/>
          </a:p>
          <a:p>
            <a:pPr marL="342900" indent="-342900">
              <a:spcAft>
                <a:spcPts val="500"/>
              </a:spcAft>
              <a:buSzPct val="100000"/>
              <a:buChar char="▪"/>
            </a:pPr>
            <a:r>
              <a:rPr lang="en-US" sz="970" dirty="0">
                <a:solidFill>
                  <a:srgbClr val="1C2530"/>
                </a:solidFill>
                <a:latin typeface="Calibri" pitchFamily="34" charset="0"/>
                <a:ea typeface="Calibri" pitchFamily="34" charset="-122"/>
                <a:cs typeface="Calibri" pitchFamily="34" charset="-120"/>
              </a:rPr>
              <a:t>Mechanical seal wear, seen in leak-off flow and temperature</a:t>
            </a:r>
            <a:endParaRPr lang="en-US" sz="970" dirty="0"/>
          </a:p>
          <a:p>
            <a:pPr marL="342900" indent="-342900">
              <a:spcAft>
                <a:spcPts val="500"/>
              </a:spcAft>
              <a:buSzPct val="100000"/>
              <a:buChar char="▪"/>
            </a:pPr>
            <a:r>
              <a:rPr lang="en-US" sz="970" dirty="0">
                <a:solidFill>
                  <a:srgbClr val="1C2530"/>
                </a:solidFill>
                <a:latin typeface="Calibri" pitchFamily="34" charset="0"/>
                <a:ea typeface="Calibri" pitchFamily="34" charset="-122"/>
                <a:cs typeface="Calibri" pitchFamily="34" charset="-120"/>
              </a:rPr>
              <a:t>Cavitation and loss of NPSH margin at low suction pressure</a:t>
            </a:r>
            <a:endParaRPr lang="en-US" sz="970" dirty="0"/>
          </a:p>
          <a:p>
            <a:pPr marL="342900" indent="-342900">
              <a:spcAft>
                <a:spcPts val="500"/>
              </a:spcAft>
              <a:buSzPct val="100000"/>
              <a:buChar char="▪"/>
            </a:pPr>
            <a:r>
              <a:rPr lang="en-US" sz="970" dirty="0">
                <a:solidFill>
                  <a:srgbClr val="1C2530"/>
                </a:solidFill>
                <a:latin typeface="Calibri" pitchFamily="34" charset="0"/>
                <a:ea typeface="Calibri" pitchFamily="34" charset="-122"/>
                <a:cs typeface="Calibri" pitchFamily="34" charset="-120"/>
              </a:rPr>
              <a:t>Recirculation valve passing, sticking or opening late</a:t>
            </a:r>
            <a:endParaRPr lang="en-US" sz="970" dirty="0"/>
          </a:p>
          <a:p>
            <a:pPr marL="342900" indent="-342900">
              <a:spcAft>
                <a:spcPts val="500"/>
              </a:spcAft>
              <a:buSzPct val="100000"/>
              <a:buChar char="▪"/>
            </a:pPr>
            <a:r>
              <a:rPr lang="en-US" sz="970" dirty="0">
                <a:solidFill>
                  <a:srgbClr val="1C2530"/>
                </a:solidFill>
                <a:latin typeface="Calibri" pitchFamily="34" charset="0"/>
                <a:ea typeface="Calibri" pitchFamily="34" charset="-122"/>
                <a:cs typeface="Calibri" pitchFamily="34" charset="-120"/>
              </a:rPr>
              <a:t>Hydraulic performance drift — head developed falling at the same speed and flow</a:t>
            </a:r>
            <a:endParaRPr lang="en-US" sz="970" dirty="0"/>
          </a:p>
          <a:p>
            <a:pPr marL="342900" indent="-342900">
              <a:spcAft>
                <a:spcPts val="500"/>
              </a:spcAft>
              <a:buSzPct val="100000"/>
              <a:buChar char="▪"/>
            </a:pPr>
            <a:r>
              <a:rPr lang="en-US" sz="970" dirty="0">
                <a:solidFill>
                  <a:srgbClr val="1C2530"/>
                </a:solidFill>
                <a:latin typeface="Calibri" pitchFamily="34" charset="0"/>
                <a:ea typeface="Calibri" pitchFamily="34" charset="-122"/>
                <a:cs typeface="Calibri" pitchFamily="34" charset="-120"/>
              </a:rPr>
              <a:t>Coupling wear and shaft alignment deterioration</a:t>
            </a:r>
            <a:endParaRPr lang="en-US" sz="970" dirty="0"/>
          </a:p>
          <a:p>
            <a:pPr marL="342900" indent="-342900">
              <a:spcAft>
                <a:spcPts val="500"/>
              </a:spcAft>
              <a:buSzPct val="100000"/>
              <a:buChar char="▪"/>
            </a:pPr>
            <a:r>
              <a:rPr lang="en-US" sz="970" dirty="0">
                <a:solidFill>
                  <a:srgbClr val="1C2530"/>
                </a:solidFill>
                <a:latin typeface="Calibri" pitchFamily="34" charset="0"/>
                <a:ea typeface="Calibri" pitchFamily="34" charset="-122"/>
                <a:cs typeface="Calibri" pitchFamily="34" charset="-120"/>
              </a:rPr>
              <a:t>Balance drum and balancing disc wear, seen in axial position and leak-off</a:t>
            </a:r>
            <a:endParaRPr lang="en-US" sz="970" dirty="0"/>
          </a:p>
        </p:txBody>
      </p:sp>
      <p:sp>
        <p:nvSpPr>
          <p:cNvPr id="11" name="Shape 9"/>
          <p:cNvSpPr/>
          <p:nvPr/>
        </p:nvSpPr>
        <p:spPr>
          <a:xfrm>
            <a:off x="6223864" y="1627632"/>
            <a:ext cx="5400904" cy="2926080"/>
          </a:xfrm>
          <a:prstGeom prst="roundRect">
            <a:avLst>
              <a:gd name="adj" fmla="val 187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223864" y="1627632"/>
            <a:ext cx="5400904" cy="457200"/>
          </a:xfrm>
          <a:prstGeom prst="roundRect">
            <a:avLst>
              <a:gd name="adj" fmla="val 10000"/>
            </a:avLst>
          </a:prstGeom>
          <a:solidFill>
            <a:srgbClr val="11707F"/>
          </a:solidFill>
          <a:ln/>
        </p:spPr>
      </p:sp>
      <p:sp>
        <p:nvSpPr>
          <p:cNvPr id="13" name="Text 11"/>
          <p:cNvSpPr/>
          <p:nvPr/>
        </p:nvSpPr>
        <p:spPr>
          <a:xfrm>
            <a:off x="6425032" y="1627632"/>
            <a:ext cx="5035144"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Signals it uses</a:t>
            </a:r>
            <a:endParaRPr lang="en-US" sz="1350" dirty="0"/>
          </a:p>
        </p:txBody>
      </p:sp>
      <p:sp>
        <p:nvSpPr>
          <p:cNvPr id="14" name="Text 12"/>
          <p:cNvSpPr/>
          <p:nvPr/>
        </p:nvSpPr>
        <p:spPr>
          <a:xfrm>
            <a:off x="6443320" y="2194560"/>
            <a:ext cx="4961992" cy="2240280"/>
          </a:xfrm>
          <a:prstGeom prst="rect">
            <a:avLst/>
          </a:prstGeom>
          <a:noFill/>
          <a:ln/>
        </p:spPr>
        <p:txBody>
          <a:bodyPr wrap="square" lIns="0" tIns="0" rIns="0" bIns="0" rtlCol="0" anchor="t"/>
          <a:lstStyle/>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Suction and discharge pressure, differential head, feed flow</a:t>
            </a:r>
            <a:endParaRPr lang="en-US" sz="920" dirty="0"/>
          </a:p>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Motor current and power, or turbine steam flow and speed on a TDBFP</a:t>
            </a:r>
            <a:endParaRPr lang="en-US" sz="920" dirty="0"/>
          </a:p>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Bearing metal and oil temperatures, shaft vibration and axial position</a:t>
            </a:r>
            <a:endParaRPr lang="en-US" sz="920" dirty="0"/>
          </a:p>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Seal leak-off flow, temperature and seal water differential pressure</a:t>
            </a:r>
            <a:endParaRPr lang="en-US" sz="920" dirty="0"/>
          </a:p>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Recirculation valve position and demand, and its response time</a:t>
            </a:r>
            <a:endParaRPr lang="en-US" sz="920" dirty="0"/>
          </a:p>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Deaerator level, suction temperature and calculated NPSH available</a:t>
            </a:r>
            <a:endParaRPr lang="en-US" sz="920" dirty="0"/>
          </a:p>
        </p:txBody>
      </p:sp>
      <p:sp>
        <p:nvSpPr>
          <p:cNvPr id="15" name="Shape 13"/>
          <p:cNvSpPr/>
          <p:nvPr/>
        </p:nvSpPr>
        <p:spPr>
          <a:xfrm>
            <a:off x="566928" y="4754880"/>
            <a:ext cx="7223760" cy="640080"/>
          </a:xfrm>
          <a:prstGeom prst="roundRect">
            <a:avLst>
              <a:gd name="adj" fmla="val 8571"/>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Text 14"/>
          <p:cNvSpPr/>
          <p:nvPr/>
        </p:nvSpPr>
        <p:spPr>
          <a:xfrm>
            <a:off x="768096" y="4754880"/>
            <a:ext cx="1691640" cy="640080"/>
          </a:xfrm>
          <a:prstGeom prst="rect">
            <a:avLst/>
          </a:prstGeom>
          <a:noFill/>
          <a:ln/>
        </p:spPr>
        <p:txBody>
          <a:bodyPr wrap="square" lIns="0" tIns="0" rIns="0" bIns="0" rtlCol="0" anchor="ctr"/>
          <a:lstStyle/>
          <a:p>
            <a:pPr indent="0" marL="0">
              <a:buNone/>
            </a:pPr>
            <a:r>
              <a:rPr lang="en-US" sz="1100" b="1" dirty="0">
                <a:solidFill>
                  <a:srgbClr val="5C6B7A"/>
                </a:solidFill>
                <a:latin typeface="Calibri" pitchFamily="34" charset="0"/>
                <a:ea typeface="Calibri" pitchFamily="34" charset="-122"/>
                <a:cs typeface="Calibri" pitchFamily="34" charset="-120"/>
              </a:rPr>
              <a:t>Typical lead time</a:t>
            </a:r>
            <a:endParaRPr lang="en-US" sz="1100" dirty="0"/>
          </a:p>
        </p:txBody>
      </p:sp>
      <p:sp>
        <p:nvSpPr>
          <p:cNvPr id="17" name="Text 15"/>
          <p:cNvSpPr/>
          <p:nvPr/>
        </p:nvSpPr>
        <p:spPr>
          <a:xfrm>
            <a:off x="2441448" y="4754880"/>
            <a:ext cx="5212080" cy="640080"/>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Bearing and seal problems typically show in the residual weeks before a temperature alarm; hydraulic drift shows in months and is almost never noticed at all.</a:t>
            </a:r>
            <a:endParaRPr lang="en-US" sz="1250" dirty="0"/>
          </a:p>
        </p:txBody>
      </p:sp>
      <p:sp>
        <p:nvSpPr>
          <p:cNvPr id="18" name="Shape 16"/>
          <p:cNvSpPr/>
          <p:nvPr/>
        </p:nvSpPr>
        <p:spPr>
          <a:xfrm>
            <a:off x="8019288" y="4754880"/>
            <a:ext cx="3605479" cy="640080"/>
          </a:xfrm>
          <a:prstGeom prst="roundRect">
            <a:avLst>
              <a:gd name="adj" fmla="val 35714"/>
            </a:avLst>
          </a:prstGeom>
          <a:solidFill>
            <a:srgbClr val="E4F0EA"/>
          </a:solidFill>
          <a:ln w="9525">
            <a:solidFill>
              <a:srgbClr val="256B45"/>
            </a:solidFill>
            <a:prstDash val="solid"/>
          </a:ln>
        </p:spPr>
      </p:sp>
      <p:sp>
        <p:nvSpPr>
          <p:cNvPr id="19" name="Text 17"/>
          <p:cNvSpPr/>
          <p:nvPr/>
        </p:nvSpPr>
        <p:spPr>
          <a:xfrm>
            <a:off x="8092440" y="4754880"/>
            <a:ext cx="3459175" cy="640080"/>
          </a:xfrm>
          <a:prstGeom prst="rect">
            <a:avLst/>
          </a:prstGeom>
          <a:noFill/>
          <a:ln/>
        </p:spPr>
        <p:txBody>
          <a:bodyPr wrap="square" lIns="0" tIns="0" rIns="0" bIns="0" rtlCol="0" anchor="ctr"/>
          <a:lstStyle/>
          <a:p>
            <a:pPr algn="ctr" indent="0" marL="0">
              <a:buNone/>
            </a:pPr>
            <a:r>
              <a:rPr lang="en-US" sz="950" b="1" dirty="0">
                <a:solidFill>
                  <a:srgbClr val="256B45"/>
                </a:solidFill>
                <a:latin typeface="Calibri" pitchFamily="34" charset="0"/>
                <a:ea typeface="Calibri" pitchFamily="34" charset="-122"/>
                <a:cs typeface="Calibri" pitchFamily="34" charset="-120"/>
              </a:rPr>
              <a:t>Proven — the most reliable predictive application on the feedwater side</a:t>
            </a:r>
            <a:endParaRPr lang="en-US" sz="950" dirty="0"/>
          </a:p>
        </p:txBody>
      </p:sp>
      <p:sp>
        <p:nvSpPr>
          <p:cNvPr id="20" name="Shape 18"/>
          <p:cNvSpPr/>
          <p:nvPr/>
        </p:nvSpPr>
        <p:spPr>
          <a:xfrm>
            <a:off x="566928" y="5541264"/>
            <a:ext cx="11057839" cy="658368"/>
          </a:xfrm>
          <a:prstGeom prst="roundRect">
            <a:avLst>
              <a:gd name="adj" fmla="val 8333"/>
            </a:avLst>
          </a:prstGeom>
          <a:solidFill>
            <a:srgbClr val="FBF0DC"/>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1" name="Text 19"/>
          <p:cNvSpPr/>
          <p:nvPr/>
        </p:nvSpPr>
        <p:spPr>
          <a:xfrm>
            <a:off x="768096" y="5541264"/>
            <a:ext cx="10655503" cy="658368"/>
          </a:xfrm>
          <a:prstGeom prst="rect">
            <a:avLst/>
          </a:prstGeom>
          <a:noFill/>
          <a:ln/>
        </p:spPr>
        <p:txBody>
          <a:bodyPr wrap="square" lIns="0" tIns="0" rIns="0" bIns="0" rtlCol="0" anchor="ctr"/>
          <a:lstStyle/>
          <a:p>
            <a:pPr indent="0" marL="0">
              <a:buNone/>
            </a:pPr>
            <a:r>
              <a:rPr lang="en-US" sz="1250" b="1" dirty="0">
                <a:solidFill>
                  <a:srgbClr val="9A6408"/>
                </a:solidFill>
                <a:latin typeface="Calibri" pitchFamily="34" charset="0"/>
                <a:ea typeface="Calibri" pitchFamily="34" charset="-122"/>
                <a:cs typeface="Calibri" pitchFamily="34" charset="-120"/>
              </a:rPr>
              <a:t>Watch out:  </a:t>
            </a:r>
            <a:pPr indent="0" marL="0">
              <a:buNone/>
            </a:pPr>
            <a:r>
              <a:rPr lang="en-US" sz="1250" dirty="0">
                <a:solidFill>
                  <a:srgbClr val="6E4A0C"/>
                </a:solidFill>
                <a:latin typeface="Calibri" pitchFamily="34" charset="0"/>
                <a:ea typeface="Calibri" pitchFamily="34" charset="-122"/>
                <a:cs typeface="Calibri" pitchFamily="34" charset="-120"/>
              </a:rPr>
              <a:t>Do not use one model for both drive types. A turbine-driven pump on a 660 MW unit has speed as a free variable; a motor-driven pump does not. Their normal behaviour is genuinely different and one model will fit neither.</a:t>
            </a:r>
            <a:endParaRPr lang="en-US" sz="12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Case — coal mills and pulverisers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plant item that most often decides whether a unit holds load</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3. Predictive maintenance</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41</a:t>
            </a:r>
            <a:endParaRPr lang="en-US" sz="950" dirty="0"/>
          </a:p>
        </p:txBody>
      </p:sp>
      <p:sp>
        <p:nvSpPr>
          <p:cNvPr id="7" name="Shape 5"/>
          <p:cNvSpPr/>
          <p:nvPr/>
        </p:nvSpPr>
        <p:spPr>
          <a:xfrm>
            <a:off x="566928" y="1627632"/>
            <a:ext cx="5400904" cy="2926080"/>
          </a:xfrm>
          <a:prstGeom prst="roundRect">
            <a:avLst>
              <a:gd name="adj" fmla="val 187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5400904" cy="457200"/>
          </a:xfrm>
          <a:prstGeom prst="roundRect">
            <a:avLst>
              <a:gd name="adj" fmla="val 10000"/>
            </a:avLst>
          </a:prstGeom>
          <a:solidFill>
            <a:srgbClr val="2A3644"/>
          </a:solidFill>
          <a:ln/>
        </p:spPr>
      </p:sp>
      <p:sp>
        <p:nvSpPr>
          <p:cNvPr id="9" name="Text 7"/>
          <p:cNvSpPr/>
          <p:nvPr/>
        </p:nvSpPr>
        <p:spPr>
          <a:xfrm>
            <a:off x="768096" y="1627632"/>
            <a:ext cx="5035144"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What the model detects</a:t>
            </a:r>
            <a:endParaRPr lang="en-US" sz="1350" dirty="0"/>
          </a:p>
        </p:txBody>
      </p:sp>
      <p:sp>
        <p:nvSpPr>
          <p:cNvPr id="10" name="Text 8"/>
          <p:cNvSpPr/>
          <p:nvPr/>
        </p:nvSpPr>
        <p:spPr>
          <a:xfrm>
            <a:off x="786384" y="2194560"/>
            <a:ext cx="4961992" cy="2240280"/>
          </a:xfrm>
          <a:prstGeom prst="rect">
            <a:avLst/>
          </a:prstGeom>
          <a:noFill/>
          <a:ln/>
        </p:spPr>
        <p:txBody>
          <a:bodyPr wrap="square" lIns="0" tIns="0" rIns="0" bIns="0" rtlCol="0" anchor="t"/>
          <a:lstStyle/>
          <a:p>
            <a:pPr marL="342900" indent="-342900">
              <a:spcAft>
                <a:spcPts val="500"/>
              </a:spcAft>
              <a:buSzPct val="100000"/>
              <a:buChar char="▪"/>
            </a:pPr>
            <a:r>
              <a:rPr lang="en-US" sz="1020" dirty="0">
                <a:solidFill>
                  <a:srgbClr val="1C2530"/>
                </a:solidFill>
                <a:latin typeface="Calibri" pitchFamily="34" charset="0"/>
                <a:ea typeface="Calibri" pitchFamily="34" charset="-122"/>
                <a:cs typeface="Calibri" pitchFamily="34" charset="-120"/>
              </a:rPr>
              <a:t>Grinding element and roller wear, trended as current per tonne of coal</a:t>
            </a:r>
            <a:endParaRPr lang="en-US" sz="1020" dirty="0"/>
          </a:p>
          <a:p>
            <a:pPr marL="342900" indent="-342900">
              <a:spcAft>
                <a:spcPts val="500"/>
              </a:spcAft>
              <a:buSzPct val="100000"/>
              <a:buChar char="▪"/>
            </a:pPr>
            <a:r>
              <a:rPr lang="en-US" sz="1020" dirty="0">
                <a:solidFill>
                  <a:srgbClr val="1C2530"/>
                </a:solidFill>
                <a:latin typeface="Calibri" pitchFamily="34" charset="0"/>
                <a:ea typeface="Calibri" pitchFamily="34" charset="-122"/>
                <a:cs typeface="Calibri" pitchFamily="34" charset="-120"/>
              </a:rPr>
              <a:t>Mill choking, hours before it happens, from differential pressure behaviour</a:t>
            </a:r>
            <a:endParaRPr lang="en-US" sz="1020" dirty="0"/>
          </a:p>
          <a:p>
            <a:pPr marL="342900" indent="-342900">
              <a:spcAft>
                <a:spcPts val="500"/>
              </a:spcAft>
              <a:buSzPct val="100000"/>
              <a:buChar char="▪"/>
            </a:pPr>
            <a:r>
              <a:rPr lang="en-US" sz="1020" dirty="0">
                <a:solidFill>
                  <a:srgbClr val="1C2530"/>
                </a:solidFill>
                <a:latin typeface="Calibri" pitchFamily="34" charset="0"/>
                <a:ea typeface="Calibri" pitchFamily="34" charset="-122"/>
                <a:cs typeface="Calibri" pitchFamily="34" charset="-120"/>
              </a:rPr>
              <a:t>Fineness deterioration between sampling campaigns</a:t>
            </a:r>
            <a:endParaRPr lang="en-US" sz="1020" dirty="0"/>
          </a:p>
          <a:p>
            <a:pPr marL="342900" indent="-342900">
              <a:spcAft>
                <a:spcPts val="500"/>
              </a:spcAft>
              <a:buSzPct val="100000"/>
              <a:buChar char="▪"/>
            </a:pPr>
            <a:r>
              <a:rPr lang="en-US" sz="1020" dirty="0">
                <a:solidFill>
                  <a:srgbClr val="1C2530"/>
                </a:solidFill>
                <a:latin typeface="Calibri" pitchFamily="34" charset="0"/>
                <a:ea typeface="Calibri" pitchFamily="34" charset="-122"/>
                <a:cs typeface="Calibri" pitchFamily="34" charset="-120"/>
              </a:rPr>
              <a:t>Feeder calibration drift — the mill says one tonnage, the boiler says another</a:t>
            </a:r>
            <a:endParaRPr lang="en-US" sz="1020" dirty="0"/>
          </a:p>
          <a:p>
            <a:pPr marL="342900" indent="-342900">
              <a:spcAft>
                <a:spcPts val="500"/>
              </a:spcAft>
              <a:buSzPct val="100000"/>
              <a:buChar char="▪"/>
            </a:pPr>
            <a:r>
              <a:rPr lang="en-US" sz="1020" dirty="0">
                <a:solidFill>
                  <a:srgbClr val="1C2530"/>
                </a:solidFill>
                <a:latin typeface="Calibri" pitchFamily="34" charset="0"/>
                <a:ea typeface="Calibri" pitchFamily="34" charset="-122"/>
                <a:cs typeface="Calibri" pitchFamily="34" charset="-120"/>
              </a:rPr>
              <a:t>Classifier setting problems and seal air differential loss</a:t>
            </a:r>
            <a:endParaRPr lang="en-US" sz="1020" dirty="0"/>
          </a:p>
          <a:p>
            <a:pPr marL="342900" indent="-342900">
              <a:spcAft>
                <a:spcPts val="500"/>
              </a:spcAft>
              <a:buSzPct val="100000"/>
              <a:buChar char="▪"/>
            </a:pPr>
            <a:r>
              <a:rPr lang="en-US" sz="1020" dirty="0">
                <a:solidFill>
                  <a:srgbClr val="1C2530"/>
                </a:solidFill>
                <a:latin typeface="Calibri" pitchFamily="34" charset="0"/>
                <a:ea typeface="Calibri" pitchFamily="34" charset="-122"/>
                <a:cs typeface="Calibri" pitchFamily="34" charset="-120"/>
              </a:rPr>
              <a:t>Mill fire precursors — outlet temperature rise with falling coal flow</a:t>
            </a:r>
            <a:endParaRPr lang="en-US" sz="1020" dirty="0"/>
          </a:p>
        </p:txBody>
      </p:sp>
      <p:sp>
        <p:nvSpPr>
          <p:cNvPr id="11" name="Shape 9"/>
          <p:cNvSpPr/>
          <p:nvPr/>
        </p:nvSpPr>
        <p:spPr>
          <a:xfrm>
            <a:off x="6223864" y="1627632"/>
            <a:ext cx="5400904" cy="2926080"/>
          </a:xfrm>
          <a:prstGeom prst="roundRect">
            <a:avLst>
              <a:gd name="adj" fmla="val 187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223864" y="1627632"/>
            <a:ext cx="5400904" cy="457200"/>
          </a:xfrm>
          <a:prstGeom prst="roundRect">
            <a:avLst>
              <a:gd name="adj" fmla="val 10000"/>
            </a:avLst>
          </a:prstGeom>
          <a:solidFill>
            <a:srgbClr val="11707F"/>
          </a:solidFill>
          <a:ln/>
        </p:spPr>
      </p:sp>
      <p:sp>
        <p:nvSpPr>
          <p:cNvPr id="13" name="Text 11"/>
          <p:cNvSpPr/>
          <p:nvPr/>
        </p:nvSpPr>
        <p:spPr>
          <a:xfrm>
            <a:off x="6425032" y="1627632"/>
            <a:ext cx="5035144"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Signals it uses</a:t>
            </a:r>
            <a:endParaRPr lang="en-US" sz="1350" dirty="0"/>
          </a:p>
        </p:txBody>
      </p:sp>
      <p:sp>
        <p:nvSpPr>
          <p:cNvPr id="14" name="Text 12"/>
          <p:cNvSpPr/>
          <p:nvPr/>
        </p:nvSpPr>
        <p:spPr>
          <a:xfrm>
            <a:off x="6443320" y="2194560"/>
            <a:ext cx="4961992" cy="2240280"/>
          </a:xfrm>
          <a:prstGeom prst="rect">
            <a:avLst/>
          </a:prstGeom>
          <a:noFill/>
          <a:ln/>
        </p:spPr>
        <p:txBody>
          <a:bodyPr wrap="square" lIns="0" tIns="0" rIns="0" bIns="0" rtlCol="0" anchor="t"/>
          <a:lstStyle/>
          <a:p>
            <a:pPr marL="342900" indent="-342900">
              <a:spcAft>
                <a:spcPts val="500"/>
              </a:spcAft>
              <a:buSzPct val="100000"/>
              <a:buChar char="▪"/>
            </a:pPr>
            <a:r>
              <a:rPr lang="en-US" sz="1070" dirty="0">
                <a:solidFill>
                  <a:srgbClr val="1C2530"/>
                </a:solidFill>
                <a:latin typeface="Calibri" pitchFamily="34" charset="0"/>
                <a:ea typeface="Calibri" pitchFamily="34" charset="-122"/>
                <a:cs typeface="Calibri" pitchFamily="34" charset="-120"/>
              </a:rPr>
              <a:t>Mill motor current and power, and the ratio to feeder tonnage</a:t>
            </a:r>
            <a:endParaRPr lang="en-US" sz="1070" dirty="0"/>
          </a:p>
          <a:p>
            <a:pPr marL="342900" indent="-342900">
              <a:spcAft>
                <a:spcPts val="500"/>
              </a:spcAft>
              <a:buSzPct val="100000"/>
              <a:buChar char="▪"/>
            </a:pPr>
            <a:r>
              <a:rPr lang="en-US" sz="1070" dirty="0">
                <a:solidFill>
                  <a:srgbClr val="1C2530"/>
                </a:solidFill>
                <a:latin typeface="Calibri" pitchFamily="34" charset="0"/>
                <a:ea typeface="Calibri" pitchFamily="34" charset="-122"/>
                <a:cs typeface="Calibri" pitchFamily="34" charset="-120"/>
              </a:rPr>
              <a:t>Mill differential pressure and primary air flow and temperature</a:t>
            </a:r>
            <a:endParaRPr lang="en-US" sz="1070" dirty="0"/>
          </a:p>
          <a:p>
            <a:pPr marL="342900" indent="-342900">
              <a:spcAft>
                <a:spcPts val="500"/>
              </a:spcAft>
              <a:buSzPct val="100000"/>
              <a:buChar char="▪"/>
            </a:pPr>
            <a:r>
              <a:rPr lang="en-US" sz="1070" dirty="0">
                <a:solidFill>
                  <a:srgbClr val="1C2530"/>
                </a:solidFill>
                <a:latin typeface="Calibri" pitchFamily="34" charset="0"/>
                <a:ea typeface="Calibri" pitchFamily="34" charset="-122"/>
                <a:cs typeface="Calibri" pitchFamily="34" charset="-120"/>
              </a:rPr>
              <a:t>Mill outlet temperature and the cold-air damper demand</a:t>
            </a:r>
            <a:endParaRPr lang="en-US" sz="1070" dirty="0"/>
          </a:p>
          <a:p>
            <a:pPr marL="342900" indent="-342900">
              <a:spcAft>
                <a:spcPts val="500"/>
              </a:spcAft>
              <a:buSzPct val="100000"/>
              <a:buChar char="▪"/>
            </a:pPr>
            <a:r>
              <a:rPr lang="en-US" sz="1070" dirty="0">
                <a:solidFill>
                  <a:srgbClr val="1C2530"/>
                </a:solidFill>
                <a:latin typeface="Calibri" pitchFamily="34" charset="0"/>
                <a:ea typeface="Calibri" pitchFamily="34" charset="-122"/>
                <a:cs typeface="Calibri" pitchFamily="34" charset="-120"/>
              </a:rPr>
              <a:t>Grinding or hydraulic loading pressure and roller position</a:t>
            </a:r>
            <a:endParaRPr lang="en-US" sz="1070" dirty="0"/>
          </a:p>
          <a:p>
            <a:pPr marL="342900" indent="-342900">
              <a:spcAft>
                <a:spcPts val="500"/>
              </a:spcAft>
              <a:buSzPct val="100000"/>
              <a:buChar char="▪"/>
            </a:pPr>
            <a:r>
              <a:rPr lang="en-US" sz="1070" dirty="0">
                <a:solidFill>
                  <a:srgbClr val="1C2530"/>
                </a:solidFill>
                <a:latin typeface="Calibri" pitchFamily="34" charset="0"/>
                <a:ea typeface="Calibri" pitchFamily="34" charset="-122"/>
                <a:cs typeface="Calibri" pitchFamily="34" charset="-120"/>
              </a:rPr>
              <a:t>Seal air to mill differential pressure</a:t>
            </a:r>
            <a:endParaRPr lang="en-US" sz="1070" dirty="0"/>
          </a:p>
          <a:p>
            <a:pPr marL="342900" indent="-342900">
              <a:spcAft>
                <a:spcPts val="500"/>
              </a:spcAft>
              <a:buSzPct val="100000"/>
              <a:buChar char="▪"/>
            </a:pPr>
            <a:r>
              <a:rPr lang="en-US" sz="1070" dirty="0">
                <a:solidFill>
                  <a:srgbClr val="1C2530"/>
                </a:solidFill>
                <a:latin typeface="Calibri" pitchFamily="34" charset="0"/>
                <a:ea typeface="Calibri" pitchFamily="34" charset="-122"/>
                <a:cs typeface="Calibri" pitchFamily="34" charset="-120"/>
              </a:rPr>
              <a:t>Reject rate, mill vibration and bowl or table speed</a:t>
            </a:r>
            <a:endParaRPr lang="en-US" sz="1070" dirty="0"/>
          </a:p>
        </p:txBody>
      </p:sp>
      <p:sp>
        <p:nvSpPr>
          <p:cNvPr id="15" name="Shape 13"/>
          <p:cNvSpPr/>
          <p:nvPr/>
        </p:nvSpPr>
        <p:spPr>
          <a:xfrm>
            <a:off x="566928" y="4754880"/>
            <a:ext cx="7223760" cy="640080"/>
          </a:xfrm>
          <a:prstGeom prst="roundRect">
            <a:avLst>
              <a:gd name="adj" fmla="val 8571"/>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Text 14"/>
          <p:cNvSpPr/>
          <p:nvPr/>
        </p:nvSpPr>
        <p:spPr>
          <a:xfrm>
            <a:off x="768096" y="4754880"/>
            <a:ext cx="1691640" cy="640080"/>
          </a:xfrm>
          <a:prstGeom prst="rect">
            <a:avLst/>
          </a:prstGeom>
          <a:noFill/>
          <a:ln/>
        </p:spPr>
        <p:txBody>
          <a:bodyPr wrap="square" lIns="0" tIns="0" rIns="0" bIns="0" rtlCol="0" anchor="ctr"/>
          <a:lstStyle/>
          <a:p>
            <a:pPr indent="0" marL="0">
              <a:buNone/>
            </a:pPr>
            <a:r>
              <a:rPr lang="en-US" sz="1100" b="1" dirty="0">
                <a:solidFill>
                  <a:srgbClr val="5C6B7A"/>
                </a:solidFill>
                <a:latin typeface="Calibri" pitchFamily="34" charset="0"/>
                <a:ea typeface="Calibri" pitchFamily="34" charset="-122"/>
                <a:cs typeface="Calibri" pitchFamily="34" charset="-120"/>
              </a:rPr>
              <a:t>Typical lead time</a:t>
            </a:r>
            <a:endParaRPr lang="en-US" sz="1100" dirty="0"/>
          </a:p>
        </p:txBody>
      </p:sp>
      <p:sp>
        <p:nvSpPr>
          <p:cNvPr id="17" name="Text 15"/>
          <p:cNvSpPr/>
          <p:nvPr/>
        </p:nvSpPr>
        <p:spPr>
          <a:xfrm>
            <a:off x="2441448" y="4754880"/>
            <a:ext cx="5212080" cy="640080"/>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Choking is predictable hours ahead from differential pressure and current behaviour. Grinding element wear trends over months and tells you what to stage for the next outage.</a:t>
            </a:r>
            <a:endParaRPr lang="en-US" sz="1250" dirty="0"/>
          </a:p>
        </p:txBody>
      </p:sp>
      <p:sp>
        <p:nvSpPr>
          <p:cNvPr id="18" name="Shape 16"/>
          <p:cNvSpPr/>
          <p:nvPr/>
        </p:nvSpPr>
        <p:spPr>
          <a:xfrm>
            <a:off x="8019288" y="4754880"/>
            <a:ext cx="3605479" cy="640080"/>
          </a:xfrm>
          <a:prstGeom prst="roundRect">
            <a:avLst>
              <a:gd name="adj" fmla="val 35714"/>
            </a:avLst>
          </a:prstGeom>
          <a:solidFill>
            <a:srgbClr val="E4F0EA"/>
          </a:solidFill>
          <a:ln w="9525">
            <a:solidFill>
              <a:srgbClr val="256B45"/>
            </a:solidFill>
            <a:prstDash val="solid"/>
          </a:ln>
        </p:spPr>
      </p:sp>
      <p:sp>
        <p:nvSpPr>
          <p:cNvPr id="19" name="Text 17"/>
          <p:cNvSpPr/>
          <p:nvPr/>
        </p:nvSpPr>
        <p:spPr>
          <a:xfrm>
            <a:off x="8092440" y="4754880"/>
            <a:ext cx="3459175" cy="640080"/>
          </a:xfrm>
          <a:prstGeom prst="rect">
            <a:avLst/>
          </a:prstGeom>
          <a:noFill/>
          <a:ln/>
        </p:spPr>
        <p:txBody>
          <a:bodyPr wrap="square" lIns="0" tIns="0" rIns="0" bIns="0" rtlCol="0" anchor="ctr"/>
          <a:lstStyle/>
          <a:p>
            <a:pPr algn="ctr" indent="0" marL="0">
              <a:buNone/>
            </a:pPr>
            <a:r>
              <a:rPr lang="en-US" sz="950" b="1" dirty="0">
                <a:solidFill>
                  <a:srgbClr val="256B45"/>
                </a:solidFill>
                <a:latin typeface="Calibri" pitchFamily="34" charset="0"/>
                <a:ea typeface="Calibri" pitchFamily="34" charset="-122"/>
                <a:cs typeface="Calibri" pitchFamily="34" charset="-120"/>
              </a:rPr>
              <a:t>Proven — high value, because a mill trip is a load restriction</a:t>
            </a:r>
            <a:endParaRPr lang="en-US" sz="950" dirty="0"/>
          </a:p>
        </p:txBody>
      </p:sp>
      <p:sp>
        <p:nvSpPr>
          <p:cNvPr id="20" name="Shape 18"/>
          <p:cNvSpPr/>
          <p:nvPr/>
        </p:nvSpPr>
        <p:spPr>
          <a:xfrm>
            <a:off x="566928" y="5541264"/>
            <a:ext cx="11057839" cy="658368"/>
          </a:xfrm>
          <a:prstGeom prst="roundRect">
            <a:avLst>
              <a:gd name="adj" fmla="val 8333"/>
            </a:avLst>
          </a:prstGeom>
          <a:solidFill>
            <a:srgbClr val="FBF0DC"/>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1" name="Text 19"/>
          <p:cNvSpPr/>
          <p:nvPr/>
        </p:nvSpPr>
        <p:spPr>
          <a:xfrm>
            <a:off x="768096" y="5541264"/>
            <a:ext cx="10655503" cy="658368"/>
          </a:xfrm>
          <a:prstGeom prst="rect">
            <a:avLst/>
          </a:prstGeom>
          <a:noFill/>
          <a:ln/>
        </p:spPr>
        <p:txBody>
          <a:bodyPr wrap="square" lIns="0" tIns="0" rIns="0" bIns="0" rtlCol="0" anchor="ctr"/>
          <a:lstStyle/>
          <a:p>
            <a:pPr indent="0" marL="0">
              <a:buNone/>
            </a:pPr>
            <a:r>
              <a:rPr lang="en-US" sz="1250" b="1" dirty="0">
                <a:solidFill>
                  <a:srgbClr val="9A6408"/>
                </a:solidFill>
                <a:latin typeface="Calibri" pitchFamily="34" charset="0"/>
                <a:ea typeface="Calibri" pitchFamily="34" charset="-122"/>
                <a:cs typeface="Calibri" pitchFamily="34" charset="-120"/>
              </a:rPr>
              <a:t>Watch out:  </a:t>
            </a:r>
            <a:pPr indent="0" marL="0">
              <a:buNone/>
            </a:pPr>
            <a:r>
              <a:rPr lang="en-US" sz="1250" dirty="0">
                <a:solidFill>
                  <a:srgbClr val="6E4A0C"/>
                </a:solidFill>
                <a:latin typeface="Calibri" pitchFamily="34" charset="0"/>
                <a:ea typeface="Calibri" pitchFamily="34" charset="-122"/>
                <a:cs typeface="Calibri" pitchFamily="34" charset="-120"/>
              </a:rPr>
              <a:t>Build one model per mill, never one per unit. Mills on the same boiler have different wear, different coal splits and different air balance. A unit-level model averages six machines and hides the one that is degrading.</a:t>
            </a:r>
            <a:endParaRPr lang="en-US" sz="12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Case — ID, FD and PA fans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Large rotating plant, continuously instrumented, and directly on the auxiliary power bill</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3. Predictive maintenance</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42</a:t>
            </a:r>
            <a:endParaRPr lang="en-US" sz="950" dirty="0"/>
          </a:p>
        </p:txBody>
      </p:sp>
      <p:sp>
        <p:nvSpPr>
          <p:cNvPr id="7" name="Shape 5"/>
          <p:cNvSpPr/>
          <p:nvPr/>
        </p:nvSpPr>
        <p:spPr>
          <a:xfrm>
            <a:off x="566928" y="1627632"/>
            <a:ext cx="5400904" cy="2926080"/>
          </a:xfrm>
          <a:prstGeom prst="roundRect">
            <a:avLst>
              <a:gd name="adj" fmla="val 187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5400904" cy="457200"/>
          </a:xfrm>
          <a:prstGeom prst="roundRect">
            <a:avLst>
              <a:gd name="adj" fmla="val 10000"/>
            </a:avLst>
          </a:prstGeom>
          <a:solidFill>
            <a:srgbClr val="2A3644"/>
          </a:solidFill>
          <a:ln/>
        </p:spPr>
      </p:sp>
      <p:sp>
        <p:nvSpPr>
          <p:cNvPr id="9" name="Text 7"/>
          <p:cNvSpPr/>
          <p:nvPr/>
        </p:nvSpPr>
        <p:spPr>
          <a:xfrm>
            <a:off x="768096" y="1627632"/>
            <a:ext cx="5035144"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What the model detects</a:t>
            </a:r>
            <a:endParaRPr lang="en-US" sz="1350" dirty="0"/>
          </a:p>
        </p:txBody>
      </p:sp>
      <p:sp>
        <p:nvSpPr>
          <p:cNvPr id="10" name="Text 8"/>
          <p:cNvSpPr/>
          <p:nvPr/>
        </p:nvSpPr>
        <p:spPr>
          <a:xfrm>
            <a:off x="786384" y="2194560"/>
            <a:ext cx="4961992" cy="2240280"/>
          </a:xfrm>
          <a:prstGeom prst="rect">
            <a:avLst/>
          </a:prstGeom>
          <a:noFill/>
          <a:ln/>
        </p:spPr>
        <p:txBody>
          <a:bodyPr wrap="square" lIns="0" tIns="0" rIns="0" bIns="0" rtlCol="0" anchor="t"/>
          <a:lstStyle/>
          <a:p>
            <a:pPr marL="342900" indent="-342900">
              <a:spcAft>
                <a:spcPts val="500"/>
              </a:spcAft>
              <a:buSzPct val="100000"/>
              <a:buChar char="▪"/>
            </a:pPr>
            <a:r>
              <a:rPr lang="en-US" sz="970" dirty="0">
                <a:solidFill>
                  <a:srgbClr val="1C2530"/>
                </a:solidFill>
                <a:latin typeface="Calibri" pitchFamily="34" charset="0"/>
                <a:ea typeface="Calibri" pitchFamily="34" charset="-122"/>
                <a:cs typeface="Calibri" pitchFamily="34" charset="-120"/>
              </a:rPr>
              <a:t>Blade and impeller erosion from ash, seen as efficiency drift</a:t>
            </a:r>
            <a:endParaRPr lang="en-US" sz="970" dirty="0"/>
          </a:p>
          <a:p>
            <a:pPr marL="342900" indent="-342900">
              <a:spcAft>
                <a:spcPts val="500"/>
              </a:spcAft>
              <a:buSzPct val="100000"/>
              <a:buChar char="▪"/>
            </a:pPr>
            <a:r>
              <a:rPr lang="en-US" sz="970" dirty="0">
                <a:solidFill>
                  <a:srgbClr val="1C2530"/>
                </a:solidFill>
                <a:latin typeface="Calibri" pitchFamily="34" charset="0"/>
                <a:ea typeface="Calibri" pitchFamily="34" charset="-122"/>
                <a:cs typeface="Calibri" pitchFamily="34" charset="-120"/>
              </a:rPr>
              <a:t>Unbalance developing from uneven erosion or ash build-up</a:t>
            </a:r>
            <a:endParaRPr lang="en-US" sz="970" dirty="0"/>
          </a:p>
          <a:p>
            <a:pPr marL="342900" indent="-342900">
              <a:spcAft>
                <a:spcPts val="500"/>
              </a:spcAft>
              <a:buSzPct val="100000"/>
              <a:buChar char="▪"/>
            </a:pPr>
            <a:r>
              <a:rPr lang="en-US" sz="970" dirty="0">
                <a:solidFill>
                  <a:srgbClr val="1C2530"/>
                </a:solidFill>
                <a:latin typeface="Calibri" pitchFamily="34" charset="0"/>
                <a:ea typeface="Calibri" pitchFamily="34" charset="-122"/>
                <a:cs typeface="Calibri" pitchFamily="34" charset="-120"/>
              </a:rPr>
              <a:t>Bearing wear on both fan and motor, ahead of temperature alarm</a:t>
            </a:r>
            <a:endParaRPr lang="en-US" sz="970" dirty="0"/>
          </a:p>
          <a:p>
            <a:pPr marL="342900" indent="-342900">
              <a:spcAft>
                <a:spcPts val="500"/>
              </a:spcAft>
              <a:buSzPct val="100000"/>
              <a:buChar char="▪"/>
            </a:pPr>
            <a:r>
              <a:rPr lang="en-US" sz="970" dirty="0">
                <a:solidFill>
                  <a:srgbClr val="1C2530"/>
                </a:solidFill>
                <a:latin typeface="Calibri" pitchFamily="34" charset="0"/>
                <a:ea typeface="Calibri" pitchFamily="34" charset="-122"/>
                <a:cs typeface="Calibri" pitchFamily="34" charset="-120"/>
              </a:rPr>
              <a:t>Damper, inlet guide vane and blade-pitch actuator problems</a:t>
            </a:r>
            <a:endParaRPr lang="en-US" sz="970" dirty="0"/>
          </a:p>
          <a:p>
            <a:pPr marL="342900" indent="-342900">
              <a:spcAft>
                <a:spcPts val="500"/>
              </a:spcAft>
              <a:buSzPct val="100000"/>
              <a:buChar char="▪"/>
            </a:pPr>
            <a:r>
              <a:rPr lang="en-US" sz="970" dirty="0">
                <a:solidFill>
                  <a:srgbClr val="1C2530"/>
                </a:solidFill>
                <a:latin typeface="Calibri" pitchFamily="34" charset="0"/>
                <a:ea typeface="Calibri" pitchFamily="34" charset="-122"/>
                <a:cs typeface="Calibri" pitchFamily="34" charset="-120"/>
              </a:rPr>
              <a:t>Approach to surge or stall on axial fans, before it is audible</a:t>
            </a:r>
            <a:endParaRPr lang="en-US" sz="970" dirty="0"/>
          </a:p>
          <a:p>
            <a:pPr marL="342900" indent="-342900">
              <a:spcAft>
                <a:spcPts val="500"/>
              </a:spcAft>
              <a:buSzPct val="100000"/>
              <a:buChar char="▪"/>
            </a:pPr>
            <a:r>
              <a:rPr lang="en-US" sz="970" dirty="0">
                <a:solidFill>
                  <a:srgbClr val="1C2530"/>
                </a:solidFill>
                <a:latin typeface="Calibri" pitchFamily="34" charset="0"/>
                <a:ea typeface="Calibri" pitchFamily="34" charset="-122"/>
                <a:cs typeface="Calibri" pitchFamily="34" charset="-120"/>
              </a:rPr>
              <a:t>Duct and expansion joint leakage, seen as flow that does not arrive</a:t>
            </a:r>
            <a:endParaRPr lang="en-US" sz="970" dirty="0"/>
          </a:p>
          <a:p>
            <a:pPr marL="342900" indent="-342900">
              <a:spcAft>
                <a:spcPts val="500"/>
              </a:spcAft>
              <a:buSzPct val="100000"/>
              <a:buChar char="▪"/>
            </a:pPr>
            <a:r>
              <a:rPr lang="en-US" sz="970" dirty="0">
                <a:solidFill>
                  <a:srgbClr val="1C2530"/>
                </a:solidFill>
                <a:latin typeface="Calibri" pitchFamily="34" charset="0"/>
                <a:ea typeface="Calibri" pitchFamily="34" charset="-122"/>
                <a:cs typeface="Calibri" pitchFamily="34" charset="-120"/>
              </a:rPr>
              <a:t>Fan efficiency drift — power rising for the same gas flow</a:t>
            </a:r>
            <a:endParaRPr lang="en-US" sz="970" dirty="0"/>
          </a:p>
        </p:txBody>
      </p:sp>
      <p:sp>
        <p:nvSpPr>
          <p:cNvPr id="11" name="Shape 9"/>
          <p:cNvSpPr/>
          <p:nvPr/>
        </p:nvSpPr>
        <p:spPr>
          <a:xfrm>
            <a:off x="6223864" y="1627632"/>
            <a:ext cx="5400904" cy="2926080"/>
          </a:xfrm>
          <a:prstGeom prst="roundRect">
            <a:avLst>
              <a:gd name="adj" fmla="val 187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223864" y="1627632"/>
            <a:ext cx="5400904" cy="457200"/>
          </a:xfrm>
          <a:prstGeom prst="roundRect">
            <a:avLst>
              <a:gd name="adj" fmla="val 10000"/>
            </a:avLst>
          </a:prstGeom>
          <a:solidFill>
            <a:srgbClr val="11707F"/>
          </a:solidFill>
          <a:ln/>
        </p:spPr>
      </p:sp>
      <p:sp>
        <p:nvSpPr>
          <p:cNvPr id="13" name="Text 11"/>
          <p:cNvSpPr/>
          <p:nvPr/>
        </p:nvSpPr>
        <p:spPr>
          <a:xfrm>
            <a:off x="6425032" y="1627632"/>
            <a:ext cx="5035144"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Signals it uses</a:t>
            </a:r>
            <a:endParaRPr lang="en-US" sz="1350" dirty="0"/>
          </a:p>
        </p:txBody>
      </p:sp>
      <p:sp>
        <p:nvSpPr>
          <p:cNvPr id="14" name="Text 12"/>
          <p:cNvSpPr/>
          <p:nvPr/>
        </p:nvSpPr>
        <p:spPr>
          <a:xfrm>
            <a:off x="6443320" y="2194560"/>
            <a:ext cx="4961992" cy="2240280"/>
          </a:xfrm>
          <a:prstGeom prst="rect">
            <a:avLst/>
          </a:prstGeom>
          <a:noFill/>
          <a:ln/>
        </p:spPr>
        <p:txBody>
          <a:bodyPr wrap="square" lIns="0" tIns="0" rIns="0" bIns="0" rtlCol="0" anchor="t"/>
          <a:lstStyle/>
          <a:p>
            <a:pPr marL="342900" indent="-342900">
              <a:spcAft>
                <a:spcPts val="500"/>
              </a:spcAft>
              <a:buSzPct val="100000"/>
              <a:buChar char="▪"/>
            </a:pPr>
            <a:r>
              <a:rPr lang="en-US" sz="1070" dirty="0">
                <a:solidFill>
                  <a:srgbClr val="1C2530"/>
                </a:solidFill>
                <a:latin typeface="Calibri" pitchFamily="34" charset="0"/>
                <a:ea typeface="Calibri" pitchFamily="34" charset="-122"/>
                <a:cs typeface="Calibri" pitchFamily="34" charset="-120"/>
              </a:rPr>
              <a:t>Motor current and power, and fan speed where variable</a:t>
            </a:r>
            <a:endParaRPr lang="en-US" sz="1070" dirty="0"/>
          </a:p>
          <a:p>
            <a:pPr marL="342900" indent="-342900">
              <a:spcAft>
                <a:spcPts val="500"/>
              </a:spcAft>
              <a:buSzPct val="100000"/>
              <a:buChar char="▪"/>
            </a:pPr>
            <a:r>
              <a:rPr lang="en-US" sz="1070" dirty="0">
                <a:solidFill>
                  <a:srgbClr val="1C2530"/>
                </a:solidFill>
                <a:latin typeface="Calibri" pitchFamily="34" charset="0"/>
                <a:ea typeface="Calibri" pitchFamily="34" charset="-122"/>
                <a:cs typeface="Calibri" pitchFamily="34" charset="-120"/>
              </a:rPr>
              <a:t>Inlet and outlet pressure, differential head across the fan</a:t>
            </a:r>
            <a:endParaRPr lang="en-US" sz="1070" dirty="0"/>
          </a:p>
          <a:p>
            <a:pPr marL="342900" indent="-342900">
              <a:spcAft>
                <a:spcPts val="500"/>
              </a:spcAft>
              <a:buSzPct val="100000"/>
              <a:buChar char="▪"/>
            </a:pPr>
            <a:r>
              <a:rPr lang="en-US" sz="1070" dirty="0">
                <a:solidFill>
                  <a:srgbClr val="1C2530"/>
                </a:solidFill>
                <a:latin typeface="Calibri" pitchFamily="34" charset="0"/>
                <a:ea typeface="Calibri" pitchFamily="34" charset="-122"/>
                <a:cs typeface="Calibri" pitchFamily="34" charset="-120"/>
              </a:rPr>
              <a:t>Gas or air flow, and furnace draught</a:t>
            </a:r>
            <a:endParaRPr lang="en-US" sz="1070" dirty="0"/>
          </a:p>
          <a:p>
            <a:pPr marL="342900" indent="-342900">
              <a:spcAft>
                <a:spcPts val="500"/>
              </a:spcAft>
              <a:buSzPct val="100000"/>
              <a:buChar char="▪"/>
            </a:pPr>
            <a:r>
              <a:rPr lang="en-US" sz="1070" dirty="0">
                <a:solidFill>
                  <a:srgbClr val="1C2530"/>
                </a:solidFill>
                <a:latin typeface="Calibri" pitchFamily="34" charset="0"/>
                <a:ea typeface="Calibri" pitchFamily="34" charset="-122"/>
                <a:cs typeface="Calibri" pitchFamily="34" charset="-120"/>
              </a:rPr>
              <a:t>Bearing vibration, shaft displacement and bearing temperatures</a:t>
            </a:r>
            <a:endParaRPr lang="en-US" sz="1070" dirty="0"/>
          </a:p>
          <a:p>
            <a:pPr marL="342900" indent="-342900">
              <a:spcAft>
                <a:spcPts val="500"/>
              </a:spcAft>
              <a:buSzPct val="100000"/>
              <a:buChar char="▪"/>
            </a:pPr>
            <a:r>
              <a:rPr lang="en-US" sz="1070" dirty="0">
                <a:solidFill>
                  <a:srgbClr val="1C2530"/>
                </a:solidFill>
                <a:latin typeface="Calibri" pitchFamily="34" charset="0"/>
                <a:ea typeface="Calibri" pitchFamily="34" charset="-122"/>
                <a:cs typeface="Calibri" pitchFamily="34" charset="-120"/>
              </a:rPr>
              <a:t>Damper, IGV or blade-pitch position demand and feedback</a:t>
            </a:r>
            <a:endParaRPr lang="en-US" sz="1070" dirty="0"/>
          </a:p>
          <a:p>
            <a:pPr marL="342900" indent="-342900">
              <a:spcAft>
                <a:spcPts val="500"/>
              </a:spcAft>
              <a:buSzPct val="100000"/>
              <a:buChar char="▪"/>
            </a:pPr>
            <a:r>
              <a:rPr lang="en-US" sz="1070" dirty="0">
                <a:solidFill>
                  <a:srgbClr val="1C2530"/>
                </a:solidFill>
                <a:latin typeface="Calibri" pitchFamily="34" charset="0"/>
                <a:ea typeface="Calibri" pitchFamily="34" charset="-122"/>
                <a:cs typeface="Calibri" pitchFamily="34" charset="-120"/>
              </a:rPr>
              <a:t>APH inlet and outlet gas temperature and oxygen, for leakage context</a:t>
            </a:r>
            <a:endParaRPr lang="en-US" sz="1070" dirty="0"/>
          </a:p>
        </p:txBody>
      </p:sp>
      <p:sp>
        <p:nvSpPr>
          <p:cNvPr id="15" name="Shape 13"/>
          <p:cNvSpPr/>
          <p:nvPr/>
        </p:nvSpPr>
        <p:spPr>
          <a:xfrm>
            <a:off x="566928" y="4754880"/>
            <a:ext cx="7223760" cy="640080"/>
          </a:xfrm>
          <a:prstGeom prst="roundRect">
            <a:avLst>
              <a:gd name="adj" fmla="val 8571"/>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Text 14"/>
          <p:cNvSpPr/>
          <p:nvPr/>
        </p:nvSpPr>
        <p:spPr>
          <a:xfrm>
            <a:off x="768096" y="4754880"/>
            <a:ext cx="1691640" cy="640080"/>
          </a:xfrm>
          <a:prstGeom prst="rect">
            <a:avLst/>
          </a:prstGeom>
          <a:noFill/>
          <a:ln/>
        </p:spPr>
        <p:txBody>
          <a:bodyPr wrap="square" lIns="0" tIns="0" rIns="0" bIns="0" rtlCol="0" anchor="ctr"/>
          <a:lstStyle/>
          <a:p>
            <a:pPr indent="0" marL="0">
              <a:buNone/>
            </a:pPr>
            <a:r>
              <a:rPr lang="en-US" sz="1100" b="1" dirty="0">
                <a:solidFill>
                  <a:srgbClr val="5C6B7A"/>
                </a:solidFill>
                <a:latin typeface="Calibri" pitchFamily="34" charset="0"/>
                <a:ea typeface="Calibri" pitchFamily="34" charset="-122"/>
                <a:cs typeface="Calibri" pitchFamily="34" charset="-120"/>
              </a:rPr>
              <a:t>Typical lead time</a:t>
            </a:r>
            <a:endParaRPr lang="en-US" sz="1100" dirty="0"/>
          </a:p>
        </p:txBody>
      </p:sp>
      <p:sp>
        <p:nvSpPr>
          <p:cNvPr id="17" name="Text 15"/>
          <p:cNvSpPr/>
          <p:nvPr/>
        </p:nvSpPr>
        <p:spPr>
          <a:xfrm>
            <a:off x="2441448" y="4754880"/>
            <a:ext cx="5212080" cy="640080"/>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Bearing and unbalance faults appear in the residual weeks ahead. Efficiency drift from erosion is a months-long trend and is the one that costs money continuously.</a:t>
            </a:r>
            <a:endParaRPr lang="en-US" sz="1250" dirty="0"/>
          </a:p>
        </p:txBody>
      </p:sp>
      <p:sp>
        <p:nvSpPr>
          <p:cNvPr id="18" name="Shape 16"/>
          <p:cNvSpPr/>
          <p:nvPr/>
        </p:nvSpPr>
        <p:spPr>
          <a:xfrm>
            <a:off x="8019288" y="4754880"/>
            <a:ext cx="3605479" cy="640080"/>
          </a:xfrm>
          <a:prstGeom prst="roundRect">
            <a:avLst>
              <a:gd name="adj" fmla="val 35714"/>
            </a:avLst>
          </a:prstGeom>
          <a:solidFill>
            <a:srgbClr val="E4F0EA"/>
          </a:solidFill>
          <a:ln w="9525">
            <a:solidFill>
              <a:srgbClr val="256B45"/>
            </a:solidFill>
            <a:prstDash val="solid"/>
          </a:ln>
        </p:spPr>
      </p:sp>
      <p:sp>
        <p:nvSpPr>
          <p:cNvPr id="19" name="Text 17"/>
          <p:cNvSpPr/>
          <p:nvPr/>
        </p:nvSpPr>
        <p:spPr>
          <a:xfrm>
            <a:off x="8092440" y="4754880"/>
            <a:ext cx="3459175" cy="640080"/>
          </a:xfrm>
          <a:prstGeom prst="rect">
            <a:avLst/>
          </a:prstGeom>
          <a:noFill/>
          <a:ln/>
        </p:spPr>
        <p:txBody>
          <a:bodyPr wrap="square" lIns="0" tIns="0" rIns="0" bIns="0" rtlCol="0" anchor="ctr"/>
          <a:lstStyle/>
          <a:p>
            <a:pPr algn="ctr" indent="0" marL="0">
              <a:buNone/>
            </a:pPr>
            <a:r>
              <a:rPr lang="en-US" sz="950" b="1" dirty="0">
                <a:solidFill>
                  <a:srgbClr val="256B45"/>
                </a:solidFill>
                <a:latin typeface="Calibri" pitchFamily="34" charset="0"/>
                <a:ea typeface="Calibri" pitchFamily="34" charset="-122"/>
                <a:cs typeface="Calibri" pitchFamily="34" charset="-120"/>
              </a:rPr>
              <a:t>Proven — and the easiest place to connect maintenance to auxiliary power</a:t>
            </a:r>
            <a:endParaRPr lang="en-US" sz="950" dirty="0"/>
          </a:p>
        </p:txBody>
      </p:sp>
      <p:sp>
        <p:nvSpPr>
          <p:cNvPr id="20" name="Shape 18"/>
          <p:cNvSpPr/>
          <p:nvPr/>
        </p:nvSpPr>
        <p:spPr>
          <a:xfrm>
            <a:off x="566928" y="5541264"/>
            <a:ext cx="11057839" cy="658368"/>
          </a:xfrm>
          <a:prstGeom prst="roundRect">
            <a:avLst>
              <a:gd name="adj" fmla="val 8333"/>
            </a:avLst>
          </a:prstGeom>
          <a:solidFill>
            <a:srgbClr val="FBF0DC"/>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1" name="Text 19"/>
          <p:cNvSpPr/>
          <p:nvPr/>
        </p:nvSpPr>
        <p:spPr>
          <a:xfrm>
            <a:off x="768096" y="5541264"/>
            <a:ext cx="10655503" cy="658368"/>
          </a:xfrm>
          <a:prstGeom prst="rect">
            <a:avLst/>
          </a:prstGeom>
          <a:noFill/>
          <a:ln/>
        </p:spPr>
        <p:txBody>
          <a:bodyPr wrap="square" lIns="0" tIns="0" rIns="0" bIns="0" rtlCol="0" anchor="ctr"/>
          <a:lstStyle/>
          <a:p>
            <a:pPr indent="0" marL="0">
              <a:buNone/>
            </a:pPr>
            <a:r>
              <a:rPr lang="en-US" sz="1250" b="1" dirty="0">
                <a:solidFill>
                  <a:srgbClr val="9A6408"/>
                </a:solidFill>
                <a:latin typeface="Calibri" pitchFamily="34" charset="0"/>
                <a:ea typeface="Calibri" pitchFamily="34" charset="-122"/>
                <a:cs typeface="Calibri" pitchFamily="34" charset="-120"/>
              </a:rPr>
              <a:t>Watch out:  </a:t>
            </a:r>
            <a:pPr indent="0" marL="0">
              <a:buNone/>
            </a:pPr>
            <a:r>
              <a:rPr lang="en-US" sz="1250" dirty="0">
                <a:solidFill>
                  <a:srgbClr val="6E4A0C"/>
                </a:solidFill>
                <a:latin typeface="Calibri" pitchFamily="34" charset="0"/>
                <a:ea typeface="Calibri" pitchFamily="34" charset="-122"/>
                <a:cs typeface="Calibri" pitchFamily="34" charset="-120"/>
              </a:rPr>
              <a:t>Fan power against gas flow is the cheapest health indicator in the plant, needs no new instrument and no model, and almost nobody plots it. Ask your performance engineer for that curve for last year before you buy anything.</a:t>
            </a:r>
            <a:endParaRPr lang="en-US" sz="12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Case — transformers and switchyard</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Identical equipment at all five stations, and the highest consequence per failure</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3. Predictive maintenance</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43</a:t>
            </a:r>
            <a:endParaRPr lang="en-US" sz="950" dirty="0"/>
          </a:p>
        </p:txBody>
      </p:sp>
      <p:sp>
        <p:nvSpPr>
          <p:cNvPr id="7" name="Shape 5"/>
          <p:cNvSpPr/>
          <p:nvPr/>
        </p:nvSpPr>
        <p:spPr>
          <a:xfrm>
            <a:off x="566928" y="1627632"/>
            <a:ext cx="5400904" cy="2926080"/>
          </a:xfrm>
          <a:prstGeom prst="roundRect">
            <a:avLst>
              <a:gd name="adj" fmla="val 187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5400904" cy="457200"/>
          </a:xfrm>
          <a:prstGeom prst="roundRect">
            <a:avLst>
              <a:gd name="adj" fmla="val 10000"/>
            </a:avLst>
          </a:prstGeom>
          <a:solidFill>
            <a:srgbClr val="2A3644"/>
          </a:solidFill>
          <a:ln/>
        </p:spPr>
      </p:sp>
      <p:sp>
        <p:nvSpPr>
          <p:cNvPr id="9" name="Text 7"/>
          <p:cNvSpPr/>
          <p:nvPr/>
        </p:nvSpPr>
        <p:spPr>
          <a:xfrm>
            <a:off x="768096" y="1627632"/>
            <a:ext cx="5035144"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What the model detects</a:t>
            </a:r>
            <a:endParaRPr lang="en-US" sz="1350" dirty="0"/>
          </a:p>
        </p:txBody>
      </p:sp>
      <p:sp>
        <p:nvSpPr>
          <p:cNvPr id="10" name="Text 8"/>
          <p:cNvSpPr/>
          <p:nvPr/>
        </p:nvSpPr>
        <p:spPr>
          <a:xfrm>
            <a:off x="786384" y="2194560"/>
            <a:ext cx="4961992" cy="2240280"/>
          </a:xfrm>
          <a:prstGeom prst="rect">
            <a:avLst/>
          </a:prstGeom>
          <a:noFill/>
          <a:ln/>
        </p:spPr>
        <p:txBody>
          <a:bodyPr wrap="square" lIns="0" tIns="0" rIns="0" bIns="0" rtlCol="0" anchor="t"/>
          <a:lstStyle/>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Dissolved gas trends and ratios, not single values against a limit</a:t>
            </a:r>
            <a:endParaRPr lang="en-US" sz="920" dirty="0"/>
          </a:p>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Winding hot spot running above what the thermal model predicts</a:t>
            </a:r>
            <a:endParaRPr lang="en-US" sz="920" dirty="0"/>
          </a:p>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OLTC contact wear, from motor current signature during a tap change</a:t>
            </a:r>
            <a:endParaRPr lang="en-US" sz="920" dirty="0"/>
          </a:p>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Bushing capacitance and tan delta drift, well before failure</a:t>
            </a:r>
            <a:endParaRPr lang="en-US" sz="920" dirty="0"/>
          </a:p>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Cooling bank underperformance — fans or pumps running with no effect</a:t>
            </a:r>
            <a:endParaRPr lang="en-US" sz="920" dirty="0"/>
          </a:p>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Moisture ingress and accelerated paper ageing at sustained high load</a:t>
            </a:r>
            <a:endParaRPr lang="en-US" sz="920" dirty="0"/>
          </a:p>
        </p:txBody>
      </p:sp>
      <p:sp>
        <p:nvSpPr>
          <p:cNvPr id="11" name="Shape 9"/>
          <p:cNvSpPr/>
          <p:nvPr/>
        </p:nvSpPr>
        <p:spPr>
          <a:xfrm>
            <a:off x="6223864" y="1627632"/>
            <a:ext cx="5400904" cy="2926080"/>
          </a:xfrm>
          <a:prstGeom prst="roundRect">
            <a:avLst>
              <a:gd name="adj" fmla="val 187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223864" y="1627632"/>
            <a:ext cx="5400904" cy="457200"/>
          </a:xfrm>
          <a:prstGeom prst="roundRect">
            <a:avLst>
              <a:gd name="adj" fmla="val 10000"/>
            </a:avLst>
          </a:prstGeom>
          <a:solidFill>
            <a:srgbClr val="11707F"/>
          </a:solidFill>
          <a:ln/>
        </p:spPr>
      </p:sp>
      <p:sp>
        <p:nvSpPr>
          <p:cNvPr id="13" name="Text 11"/>
          <p:cNvSpPr/>
          <p:nvPr/>
        </p:nvSpPr>
        <p:spPr>
          <a:xfrm>
            <a:off x="6425032" y="1627632"/>
            <a:ext cx="5035144"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Signals it uses</a:t>
            </a:r>
            <a:endParaRPr lang="en-US" sz="1350" dirty="0"/>
          </a:p>
        </p:txBody>
      </p:sp>
      <p:sp>
        <p:nvSpPr>
          <p:cNvPr id="14" name="Text 12"/>
          <p:cNvSpPr/>
          <p:nvPr/>
        </p:nvSpPr>
        <p:spPr>
          <a:xfrm>
            <a:off x="6443320" y="2194560"/>
            <a:ext cx="4961992" cy="2240280"/>
          </a:xfrm>
          <a:prstGeom prst="rect">
            <a:avLst/>
          </a:prstGeom>
          <a:noFill/>
          <a:ln/>
        </p:spPr>
        <p:txBody>
          <a:bodyPr wrap="square" lIns="0" tIns="0" rIns="0" bIns="0" rtlCol="0" anchor="t"/>
          <a:lstStyle/>
          <a:p>
            <a:pPr marL="342900" indent="-342900">
              <a:spcAft>
                <a:spcPts val="500"/>
              </a:spcAft>
              <a:buSzPct val="100000"/>
              <a:buChar char="▪"/>
            </a:pPr>
            <a:r>
              <a:rPr lang="en-US" sz="1020" dirty="0">
                <a:solidFill>
                  <a:srgbClr val="1C2530"/>
                </a:solidFill>
                <a:latin typeface="Calibri" pitchFamily="34" charset="0"/>
                <a:ea typeface="Calibri" pitchFamily="34" charset="-122"/>
                <a:cs typeface="Calibri" pitchFamily="34" charset="-120"/>
              </a:rPr>
              <a:t>Dissolved gas concentrations and their rate of change over months</a:t>
            </a:r>
            <a:endParaRPr lang="en-US" sz="1020" dirty="0"/>
          </a:p>
          <a:p>
            <a:pPr marL="342900" indent="-342900">
              <a:spcAft>
                <a:spcPts val="500"/>
              </a:spcAft>
              <a:buSzPct val="100000"/>
              <a:buChar char="▪"/>
            </a:pPr>
            <a:r>
              <a:rPr lang="en-US" sz="1020" dirty="0">
                <a:solidFill>
                  <a:srgbClr val="1C2530"/>
                </a:solidFill>
                <a:latin typeface="Calibri" pitchFamily="34" charset="0"/>
                <a:ea typeface="Calibri" pitchFamily="34" charset="-122"/>
                <a:cs typeface="Calibri" pitchFamily="34" charset="-120"/>
              </a:rPr>
              <a:t>Top oil and winding temperatures, load current and ambient</a:t>
            </a:r>
            <a:endParaRPr lang="en-US" sz="1020" dirty="0"/>
          </a:p>
          <a:p>
            <a:pPr marL="342900" indent="-342900">
              <a:spcAft>
                <a:spcPts val="500"/>
              </a:spcAft>
              <a:buSzPct val="100000"/>
              <a:buChar char="▪"/>
            </a:pPr>
            <a:r>
              <a:rPr lang="en-US" sz="1020" dirty="0">
                <a:solidFill>
                  <a:srgbClr val="1C2530"/>
                </a:solidFill>
                <a:latin typeface="Calibri" pitchFamily="34" charset="0"/>
                <a:ea typeface="Calibri" pitchFamily="34" charset="-122"/>
                <a:cs typeface="Calibri" pitchFamily="34" charset="-120"/>
              </a:rPr>
              <a:t>Cooler bank status, fan and pump currents, oil flow indication</a:t>
            </a:r>
            <a:endParaRPr lang="en-US" sz="1020" dirty="0"/>
          </a:p>
          <a:p>
            <a:pPr marL="342900" indent="-342900">
              <a:spcAft>
                <a:spcPts val="500"/>
              </a:spcAft>
              <a:buSzPct val="100000"/>
              <a:buChar char="▪"/>
            </a:pPr>
            <a:r>
              <a:rPr lang="en-US" sz="1020" dirty="0">
                <a:solidFill>
                  <a:srgbClr val="1C2530"/>
                </a:solidFill>
                <a:latin typeface="Calibri" pitchFamily="34" charset="0"/>
                <a:ea typeface="Calibri" pitchFamily="34" charset="-122"/>
                <a:cs typeface="Calibri" pitchFamily="34" charset="-120"/>
              </a:rPr>
              <a:t>OLTC motor current profile, operation counter and drive time</a:t>
            </a:r>
            <a:endParaRPr lang="en-US" sz="1020" dirty="0"/>
          </a:p>
          <a:p>
            <a:pPr marL="342900" indent="-342900">
              <a:spcAft>
                <a:spcPts val="500"/>
              </a:spcAft>
              <a:buSzPct val="100000"/>
              <a:buChar char="▪"/>
            </a:pPr>
            <a:r>
              <a:rPr lang="en-US" sz="1020" dirty="0">
                <a:solidFill>
                  <a:srgbClr val="1C2530"/>
                </a:solidFill>
                <a:latin typeface="Calibri" pitchFamily="34" charset="0"/>
                <a:ea typeface="Calibri" pitchFamily="34" charset="-122"/>
                <a:cs typeface="Calibri" pitchFamily="34" charset="-120"/>
              </a:rPr>
              <a:t>Bushing leakage current or online tan delta where fitted</a:t>
            </a:r>
            <a:endParaRPr lang="en-US" sz="1020" dirty="0"/>
          </a:p>
          <a:p>
            <a:pPr marL="342900" indent="-342900">
              <a:spcAft>
                <a:spcPts val="500"/>
              </a:spcAft>
              <a:buSzPct val="100000"/>
              <a:buChar char="▪"/>
            </a:pPr>
            <a:r>
              <a:rPr lang="en-US" sz="1020" dirty="0">
                <a:solidFill>
                  <a:srgbClr val="1C2530"/>
                </a:solidFill>
                <a:latin typeface="Calibri" pitchFamily="34" charset="0"/>
                <a:ea typeface="Calibri" pitchFamily="34" charset="-122"/>
                <a:cs typeface="Calibri" pitchFamily="34" charset="-120"/>
              </a:rPr>
              <a:t>Partial discharge, where online monitoring is installed</a:t>
            </a:r>
            <a:endParaRPr lang="en-US" sz="1020" dirty="0"/>
          </a:p>
        </p:txBody>
      </p:sp>
      <p:sp>
        <p:nvSpPr>
          <p:cNvPr id="15" name="Shape 13"/>
          <p:cNvSpPr/>
          <p:nvPr/>
        </p:nvSpPr>
        <p:spPr>
          <a:xfrm>
            <a:off x="566928" y="4754880"/>
            <a:ext cx="7223760" cy="640080"/>
          </a:xfrm>
          <a:prstGeom prst="roundRect">
            <a:avLst>
              <a:gd name="adj" fmla="val 8571"/>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Text 14"/>
          <p:cNvSpPr/>
          <p:nvPr/>
        </p:nvSpPr>
        <p:spPr>
          <a:xfrm>
            <a:off x="768096" y="4754880"/>
            <a:ext cx="1691640" cy="640080"/>
          </a:xfrm>
          <a:prstGeom prst="rect">
            <a:avLst/>
          </a:prstGeom>
          <a:noFill/>
          <a:ln/>
        </p:spPr>
        <p:txBody>
          <a:bodyPr wrap="square" lIns="0" tIns="0" rIns="0" bIns="0" rtlCol="0" anchor="ctr"/>
          <a:lstStyle/>
          <a:p>
            <a:pPr indent="0" marL="0">
              <a:buNone/>
            </a:pPr>
            <a:r>
              <a:rPr lang="en-US" sz="1100" b="1" dirty="0">
                <a:solidFill>
                  <a:srgbClr val="5C6B7A"/>
                </a:solidFill>
                <a:latin typeface="Calibri" pitchFamily="34" charset="0"/>
                <a:ea typeface="Calibri" pitchFamily="34" charset="-122"/>
                <a:cs typeface="Calibri" pitchFamily="34" charset="-120"/>
              </a:rPr>
              <a:t>Typical lead time</a:t>
            </a:r>
            <a:endParaRPr lang="en-US" sz="1100" dirty="0"/>
          </a:p>
        </p:txBody>
      </p:sp>
      <p:sp>
        <p:nvSpPr>
          <p:cNvPr id="17" name="Text 15"/>
          <p:cNvSpPr/>
          <p:nvPr/>
        </p:nvSpPr>
        <p:spPr>
          <a:xfrm>
            <a:off x="2441448" y="4754880"/>
            <a:ext cx="5212080" cy="640080"/>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Gas trends and bushing drift develop over months. The lead time is long, which is exactly why the sampling interval, not the algorithm, is usually the limiting factor.</a:t>
            </a:r>
            <a:endParaRPr lang="en-US" sz="1250" dirty="0"/>
          </a:p>
        </p:txBody>
      </p:sp>
      <p:sp>
        <p:nvSpPr>
          <p:cNvPr id="18" name="Shape 16"/>
          <p:cNvSpPr/>
          <p:nvPr/>
        </p:nvSpPr>
        <p:spPr>
          <a:xfrm>
            <a:off x="8019288" y="4754880"/>
            <a:ext cx="3605479" cy="640080"/>
          </a:xfrm>
          <a:prstGeom prst="roundRect">
            <a:avLst>
              <a:gd name="adj" fmla="val 35714"/>
            </a:avLst>
          </a:prstGeom>
          <a:solidFill>
            <a:srgbClr val="E4F0EA"/>
          </a:solidFill>
          <a:ln w="9525">
            <a:solidFill>
              <a:srgbClr val="256B45"/>
            </a:solidFill>
            <a:prstDash val="solid"/>
          </a:ln>
        </p:spPr>
      </p:sp>
      <p:sp>
        <p:nvSpPr>
          <p:cNvPr id="19" name="Text 17"/>
          <p:cNvSpPr/>
          <p:nvPr/>
        </p:nvSpPr>
        <p:spPr>
          <a:xfrm>
            <a:off x="8092440" y="4754880"/>
            <a:ext cx="3459175" cy="640080"/>
          </a:xfrm>
          <a:prstGeom prst="rect">
            <a:avLst/>
          </a:prstGeom>
          <a:noFill/>
          <a:ln/>
        </p:spPr>
        <p:txBody>
          <a:bodyPr wrap="square" lIns="0" tIns="0" rIns="0" bIns="0" rtlCol="0" anchor="ctr"/>
          <a:lstStyle/>
          <a:p>
            <a:pPr algn="ctr" indent="0" marL="0">
              <a:buNone/>
            </a:pPr>
            <a:r>
              <a:rPr lang="en-US" sz="950" b="1" dirty="0">
                <a:solidFill>
                  <a:srgbClr val="256B45"/>
                </a:solidFill>
                <a:latin typeface="Calibri" pitchFamily="34" charset="0"/>
                <a:ea typeface="Calibri" pitchFamily="34" charset="-122"/>
                <a:cs typeface="Calibri" pitchFamily="34" charset="-120"/>
              </a:rPr>
              <a:t>Proven — dissolved gas trending is the oldest predictive technique in the industry</a:t>
            </a:r>
            <a:endParaRPr lang="en-US" sz="950" dirty="0"/>
          </a:p>
        </p:txBody>
      </p:sp>
      <p:sp>
        <p:nvSpPr>
          <p:cNvPr id="20" name="Shape 18"/>
          <p:cNvSpPr/>
          <p:nvPr/>
        </p:nvSpPr>
        <p:spPr>
          <a:xfrm>
            <a:off x="566928" y="5541264"/>
            <a:ext cx="11057839" cy="658368"/>
          </a:xfrm>
          <a:prstGeom prst="roundRect">
            <a:avLst>
              <a:gd name="adj" fmla="val 8333"/>
            </a:avLst>
          </a:prstGeom>
          <a:solidFill>
            <a:srgbClr val="FBF0DC"/>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1" name="Text 19"/>
          <p:cNvSpPr/>
          <p:nvPr/>
        </p:nvSpPr>
        <p:spPr>
          <a:xfrm>
            <a:off x="768096" y="5541264"/>
            <a:ext cx="10655503" cy="658368"/>
          </a:xfrm>
          <a:prstGeom prst="rect">
            <a:avLst/>
          </a:prstGeom>
          <a:noFill/>
          <a:ln/>
        </p:spPr>
        <p:txBody>
          <a:bodyPr wrap="square" lIns="0" tIns="0" rIns="0" bIns="0" rtlCol="0" anchor="ctr"/>
          <a:lstStyle/>
          <a:p>
            <a:pPr indent="0" marL="0">
              <a:buNone/>
            </a:pPr>
            <a:r>
              <a:rPr lang="en-US" sz="1250" b="1" dirty="0">
                <a:solidFill>
                  <a:srgbClr val="9A6408"/>
                </a:solidFill>
                <a:latin typeface="Calibri" pitchFamily="34" charset="0"/>
                <a:ea typeface="Calibri" pitchFamily="34" charset="-122"/>
                <a:cs typeface="Calibri" pitchFamily="34" charset="-120"/>
              </a:rPr>
              <a:t>Watch out:  </a:t>
            </a:r>
            <a:pPr indent="0" marL="0">
              <a:buNone/>
            </a:pPr>
            <a:r>
              <a:rPr lang="en-US" sz="1250" dirty="0">
                <a:solidFill>
                  <a:srgbClr val="6E4A0C"/>
                </a:solidFill>
                <a:latin typeface="Calibri" pitchFamily="34" charset="0"/>
                <a:ea typeface="Calibri" pitchFamily="34" charset="-122"/>
                <a:cs typeface="Calibri" pitchFamily="34" charset="-120"/>
              </a:rPr>
              <a:t>Six-monthly manual sampling cannot produce a trend. Two points a year tell you almost nothing about a rate of change, and rate of change is the whole diagnosis. Fix the sampling interval before anybody discusses an algorithm.</a:t>
            </a:r>
            <a:endParaRPr lang="en-US" sz="12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Case — HT and LT motors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Hundreds per unit, and the electrical signal itself is the sensor</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3. Predictive maintenance</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44</a:t>
            </a:r>
            <a:endParaRPr lang="en-US" sz="950" dirty="0"/>
          </a:p>
        </p:txBody>
      </p:sp>
      <p:sp>
        <p:nvSpPr>
          <p:cNvPr id="7" name="Shape 5"/>
          <p:cNvSpPr/>
          <p:nvPr/>
        </p:nvSpPr>
        <p:spPr>
          <a:xfrm>
            <a:off x="566928" y="1627632"/>
            <a:ext cx="5400904" cy="2926080"/>
          </a:xfrm>
          <a:prstGeom prst="roundRect">
            <a:avLst>
              <a:gd name="adj" fmla="val 187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5400904" cy="457200"/>
          </a:xfrm>
          <a:prstGeom prst="roundRect">
            <a:avLst>
              <a:gd name="adj" fmla="val 10000"/>
            </a:avLst>
          </a:prstGeom>
          <a:solidFill>
            <a:srgbClr val="2A3644"/>
          </a:solidFill>
          <a:ln/>
        </p:spPr>
      </p:sp>
      <p:sp>
        <p:nvSpPr>
          <p:cNvPr id="9" name="Text 7"/>
          <p:cNvSpPr/>
          <p:nvPr/>
        </p:nvSpPr>
        <p:spPr>
          <a:xfrm>
            <a:off x="768096" y="1627632"/>
            <a:ext cx="5035144"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What the model detects</a:t>
            </a:r>
            <a:endParaRPr lang="en-US" sz="1350" dirty="0"/>
          </a:p>
        </p:txBody>
      </p:sp>
      <p:sp>
        <p:nvSpPr>
          <p:cNvPr id="10" name="Text 8"/>
          <p:cNvSpPr/>
          <p:nvPr/>
        </p:nvSpPr>
        <p:spPr>
          <a:xfrm>
            <a:off x="786384" y="2194560"/>
            <a:ext cx="4961992" cy="2240280"/>
          </a:xfrm>
          <a:prstGeom prst="rect">
            <a:avLst/>
          </a:prstGeom>
          <a:noFill/>
          <a:ln/>
        </p:spPr>
        <p:txBody>
          <a:bodyPr wrap="square" lIns="0" tIns="0" rIns="0" bIns="0" rtlCol="0" anchor="t"/>
          <a:lstStyle/>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Broken or cracked rotor bars and end-ring faults, from current sidebands</a:t>
            </a:r>
            <a:endParaRPr lang="en-US" sz="920" dirty="0"/>
          </a:p>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Static and dynamic eccentricity in the air gap</a:t>
            </a:r>
            <a:endParaRPr lang="en-US" sz="920" dirty="0"/>
          </a:p>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Bearing defect frequencies, visible in current as well as vibration</a:t>
            </a:r>
            <a:endParaRPr lang="en-US" sz="920" dirty="0"/>
          </a:p>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Stator insulation deterioration, from partial discharge and unbalance trends</a:t>
            </a:r>
            <a:endParaRPr lang="en-US" sz="920" dirty="0"/>
          </a:p>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Supply quality — voltage unbalance, harmonics and their heating effect</a:t>
            </a:r>
            <a:endParaRPr lang="en-US" sz="920" dirty="0"/>
          </a:p>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Driven-equipment problems seen through the motor, without instrumenting the machine</a:t>
            </a:r>
            <a:endParaRPr lang="en-US" sz="920" dirty="0"/>
          </a:p>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Cooling degradation — blocked coolers and rising winding temperature at constant load</a:t>
            </a:r>
            <a:endParaRPr lang="en-US" sz="920" dirty="0"/>
          </a:p>
        </p:txBody>
      </p:sp>
      <p:sp>
        <p:nvSpPr>
          <p:cNvPr id="11" name="Shape 9"/>
          <p:cNvSpPr/>
          <p:nvPr/>
        </p:nvSpPr>
        <p:spPr>
          <a:xfrm>
            <a:off x="6223864" y="1627632"/>
            <a:ext cx="5400904" cy="2926080"/>
          </a:xfrm>
          <a:prstGeom prst="roundRect">
            <a:avLst>
              <a:gd name="adj" fmla="val 187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223864" y="1627632"/>
            <a:ext cx="5400904" cy="457200"/>
          </a:xfrm>
          <a:prstGeom prst="roundRect">
            <a:avLst>
              <a:gd name="adj" fmla="val 10000"/>
            </a:avLst>
          </a:prstGeom>
          <a:solidFill>
            <a:srgbClr val="11707F"/>
          </a:solidFill>
          <a:ln/>
        </p:spPr>
      </p:sp>
      <p:sp>
        <p:nvSpPr>
          <p:cNvPr id="13" name="Text 11"/>
          <p:cNvSpPr/>
          <p:nvPr/>
        </p:nvSpPr>
        <p:spPr>
          <a:xfrm>
            <a:off x="6425032" y="1627632"/>
            <a:ext cx="5035144"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Signals it uses</a:t>
            </a:r>
            <a:endParaRPr lang="en-US" sz="1350" dirty="0"/>
          </a:p>
        </p:txBody>
      </p:sp>
      <p:sp>
        <p:nvSpPr>
          <p:cNvPr id="14" name="Text 12"/>
          <p:cNvSpPr/>
          <p:nvPr/>
        </p:nvSpPr>
        <p:spPr>
          <a:xfrm>
            <a:off x="6443320" y="2194560"/>
            <a:ext cx="4961992" cy="2240280"/>
          </a:xfrm>
          <a:prstGeom prst="rect">
            <a:avLst/>
          </a:prstGeom>
          <a:noFill/>
          <a:ln/>
        </p:spPr>
        <p:txBody>
          <a:bodyPr wrap="square" lIns="0" tIns="0" rIns="0" bIns="0" rtlCol="0" anchor="t"/>
          <a:lstStyle/>
          <a:p>
            <a:pPr marL="342900" indent="-342900">
              <a:spcAft>
                <a:spcPts val="500"/>
              </a:spcAft>
              <a:buSzPct val="100000"/>
              <a:buChar char="▪"/>
            </a:pPr>
            <a:r>
              <a:rPr lang="en-US" sz="1020" dirty="0">
                <a:solidFill>
                  <a:srgbClr val="1C2530"/>
                </a:solidFill>
                <a:latin typeface="Calibri" pitchFamily="34" charset="0"/>
                <a:ea typeface="Calibri" pitchFamily="34" charset="-122"/>
                <a:cs typeface="Calibri" pitchFamily="34" charset="-120"/>
              </a:rPr>
              <a:t>Stator current waveform at high sample rate, not an averaged value</a:t>
            </a:r>
            <a:endParaRPr lang="en-US" sz="1020" dirty="0"/>
          </a:p>
          <a:p>
            <a:pPr marL="342900" indent="-342900">
              <a:spcAft>
                <a:spcPts val="500"/>
              </a:spcAft>
              <a:buSzPct val="100000"/>
              <a:buChar char="▪"/>
            </a:pPr>
            <a:r>
              <a:rPr lang="en-US" sz="1020" dirty="0">
                <a:solidFill>
                  <a:srgbClr val="1C2530"/>
                </a:solidFill>
                <a:latin typeface="Calibri" pitchFamily="34" charset="0"/>
                <a:ea typeface="Calibri" pitchFamily="34" charset="-122"/>
                <a:cs typeface="Calibri" pitchFamily="34" charset="-120"/>
              </a:rPr>
              <a:t>Supply voltage, unbalance and harmonic content</a:t>
            </a:r>
            <a:endParaRPr lang="en-US" sz="1020" dirty="0"/>
          </a:p>
          <a:p>
            <a:pPr marL="342900" indent="-342900">
              <a:spcAft>
                <a:spcPts val="500"/>
              </a:spcAft>
              <a:buSzPct val="100000"/>
              <a:buChar char="▪"/>
            </a:pPr>
            <a:r>
              <a:rPr lang="en-US" sz="1020" dirty="0">
                <a:solidFill>
                  <a:srgbClr val="1C2530"/>
                </a:solidFill>
                <a:latin typeface="Calibri" pitchFamily="34" charset="0"/>
                <a:ea typeface="Calibri" pitchFamily="34" charset="-122"/>
                <a:cs typeface="Calibri" pitchFamily="34" charset="-120"/>
              </a:rPr>
              <a:t>Winding and bearing temperatures, and cooling air or water temperature</a:t>
            </a:r>
            <a:endParaRPr lang="en-US" sz="1020" dirty="0"/>
          </a:p>
          <a:p>
            <a:pPr marL="342900" indent="-342900">
              <a:spcAft>
                <a:spcPts val="500"/>
              </a:spcAft>
              <a:buSzPct val="100000"/>
              <a:buChar char="▪"/>
            </a:pPr>
            <a:r>
              <a:rPr lang="en-US" sz="1020" dirty="0">
                <a:solidFill>
                  <a:srgbClr val="1C2530"/>
                </a:solidFill>
                <a:latin typeface="Calibri" pitchFamily="34" charset="0"/>
                <a:ea typeface="Calibri" pitchFamily="34" charset="-122"/>
                <a:cs typeface="Calibri" pitchFamily="34" charset="-120"/>
              </a:rPr>
              <a:t>Vibration where fitted, for cross-confirmation of a current-based finding</a:t>
            </a:r>
            <a:endParaRPr lang="en-US" sz="1020" dirty="0"/>
          </a:p>
          <a:p>
            <a:pPr marL="342900" indent="-342900">
              <a:spcAft>
                <a:spcPts val="500"/>
              </a:spcAft>
              <a:buSzPct val="100000"/>
              <a:buChar char="▪"/>
            </a:pPr>
            <a:r>
              <a:rPr lang="en-US" sz="1020" dirty="0">
                <a:solidFill>
                  <a:srgbClr val="1C2530"/>
                </a:solidFill>
                <a:latin typeface="Calibri" pitchFamily="34" charset="0"/>
                <a:ea typeface="Calibri" pitchFamily="34" charset="-122"/>
                <a:cs typeface="Calibri" pitchFamily="34" charset="-120"/>
              </a:rPr>
              <a:t>Load context — driven equipment flow, pressure or tonnage</a:t>
            </a:r>
            <a:endParaRPr lang="en-US" sz="1020" dirty="0"/>
          </a:p>
          <a:p>
            <a:pPr marL="342900" indent="-342900">
              <a:spcAft>
                <a:spcPts val="500"/>
              </a:spcAft>
              <a:buSzPct val="100000"/>
              <a:buChar char="▪"/>
            </a:pPr>
            <a:r>
              <a:rPr lang="en-US" sz="1020" dirty="0">
                <a:solidFill>
                  <a:srgbClr val="1C2530"/>
                </a:solidFill>
                <a:latin typeface="Calibri" pitchFamily="34" charset="0"/>
                <a:ea typeface="Calibri" pitchFamily="34" charset="-122"/>
                <a:cs typeface="Calibri" pitchFamily="34" charset="-120"/>
              </a:rPr>
              <a:t>Start counts, run hours and starting current profile</a:t>
            </a:r>
            <a:endParaRPr lang="en-US" sz="1020" dirty="0"/>
          </a:p>
        </p:txBody>
      </p:sp>
      <p:sp>
        <p:nvSpPr>
          <p:cNvPr id="15" name="Shape 13"/>
          <p:cNvSpPr/>
          <p:nvPr/>
        </p:nvSpPr>
        <p:spPr>
          <a:xfrm>
            <a:off x="566928" y="4754880"/>
            <a:ext cx="7223760" cy="640080"/>
          </a:xfrm>
          <a:prstGeom prst="roundRect">
            <a:avLst>
              <a:gd name="adj" fmla="val 8571"/>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Text 14"/>
          <p:cNvSpPr/>
          <p:nvPr/>
        </p:nvSpPr>
        <p:spPr>
          <a:xfrm>
            <a:off x="768096" y="4754880"/>
            <a:ext cx="1691640" cy="640080"/>
          </a:xfrm>
          <a:prstGeom prst="rect">
            <a:avLst/>
          </a:prstGeom>
          <a:noFill/>
          <a:ln/>
        </p:spPr>
        <p:txBody>
          <a:bodyPr wrap="square" lIns="0" tIns="0" rIns="0" bIns="0" rtlCol="0" anchor="ctr"/>
          <a:lstStyle/>
          <a:p>
            <a:pPr indent="0" marL="0">
              <a:buNone/>
            </a:pPr>
            <a:r>
              <a:rPr lang="en-US" sz="1100" b="1" dirty="0">
                <a:solidFill>
                  <a:srgbClr val="5C6B7A"/>
                </a:solidFill>
                <a:latin typeface="Calibri" pitchFamily="34" charset="0"/>
                <a:ea typeface="Calibri" pitchFamily="34" charset="-122"/>
                <a:cs typeface="Calibri" pitchFamily="34" charset="-120"/>
              </a:rPr>
              <a:t>Typical lead time</a:t>
            </a:r>
            <a:endParaRPr lang="en-US" sz="1100" dirty="0"/>
          </a:p>
        </p:txBody>
      </p:sp>
      <p:sp>
        <p:nvSpPr>
          <p:cNvPr id="17" name="Text 15"/>
          <p:cNvSpPr/>
          <p:nvPr/>
        </p:nvSpPr>
        <p:spPr>
          <a:xfrm>
            <a:off x="2441448" y="4754880"/>
            <a:ext cx="5212080" cy="640080"/>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Rotor bar and eccentricity faults are detectable months ahead. The technique is mature; the obstacle is almost always the data path, not the mathematics.</a:t>
            </a:r>
            <a:endParaRPr lang="en-US" sz="1250" dirty="0"/>
          </a:p>
        </p:txBody>
      </p:sp>
      <p:sp>
        <p:nvSpPr>
          <p:cNvPr id="18" name="Shape 16"/>
          <p:cNvSpPr/>
          <p:nvPr/>
        </p:nvSpPr>
        <p:spPr>
          <a:xfrm>
            <a:off x="8019288" y="4754880"/>
            <a:ext cx="3605479" cy="640080"/>
          </a:xfrm>
          <a:prstGeom prst="roundRect">
            <a:avLst>
              <a:gd name="adj" fmla="val 35714"/>
            </a:avLst>
          </a:prstGeom>
          <a:solidFill>
            <a:srgbClr val="E4F0EA"/>
          </a:solidFill>
          <a:ln w="9525">
            <a:solidFill>
              <a:srgbClr val="256B45"/>
            </a:solidFill>
            <a:prstDash val="solid"/>
          </a:ln>
        </p:spPr>
      </p:sp>
      <p:sp>
        <p:nvSpPr>
          <p:cNvPr id="19" name="Text 17"/>
          <p:cNvSpPr/>
          <p:nvPr/>
        </p:nvSpPr>
        <p:spPr>
          <a:xfrm>
            <a:off x="8092440" y="4754880"/>
            <a:ext cx="3459175" cy="640080"/>
          </a:xfrm>
          <a:prstGeom prst="rect">
            <a:avLst/>
          </a:prstGeom>
          <a:noFill/>
          <a:ln/>
        </p:spPr>
        <p:txBody>
          <a:bodyPr wrap="square" lIns="0" tIns="0" rIns="0" bIns="0" rtlCol="0" anchor="ctr"/>
          <a:lstStyle/>
          <a:p>
            <a:pPr algn="ctr" indent="0" marL="0">
              <a:buNone/>
            </a:pPr>
            <a:r>
              <a:rPr lang="en-US" sz="950" b="1" dirty="0">
                <a:solidFill>
                  <a:srgbClr val="256B45"/>
                </a:solidFill>
                <a:latin typeface="Calibri" pitchFamily="34" charset="0"/>
                <a:ea typeface="Calibri" pitchFamily="34" charset="-122"/>
                <a:cs typeface="Calibri" pitchFamily="34" charset="-120"/>
              </a:rPr>
              <a:t>Proven — motor current signature analysis is decades old and well validated</a:t>
            </a:r>
            <a:endParaRPr lang="en-US" sz="950" dirty="0"/>
          </a:p>
        </p:txBody>
      </p:sp>
      <p:sp>
        <p:nvSpPr>
          <p:cNvPr id="20" name="Shape 18"/>
          <p:cNvSpPr/>
          <p:nvPr/>
        </p:nvSpPr>
        <p:spPr>
          <a:xfrm>
            <a:off x="566928" y="5541264"/>
            <a:ext cx="11057839" cy="658368"/>
          </a:xfrm>
          <a:prstGeom prst="roundRect">
            <a:avLst>
              <a:gd name="adj" fmla="val 8333"/>
            </a:avLst>
          </a:prstGeom>
          <a:solidFill>
            <a:srgbClr val="FBF0DC"/>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1" name="Text 19"/>
          <p:cNvSpPr/>
          <p:nvPr/>
        </p:nvSpPr>
        <p:spPr>
          <a:xfrm>
            <a:off x="768096" y="5541264"/>
            <a:ext cx="10655503" cy="658368"/>
          </a:xfrm>
          <a:prstGeom prst="rect">
            <a:avLst/>
          </a:prstGeom>
          <a:noFill/>
          <a:ln/>
        </p:spPr>
        <p:txBody>
          <a:bodyPr wrap="square" lIns="0" tIns="0" rIns="0" bIns="0" rtlCol="0" anchor="ctr"/>
          <a:lstStyle/>
          <a:p>
            <a:pPr indent="0" marL="0">
              <a:buNone/>
            </a:pPr>
            <a:r>
              <a:rPr lang="en-US" sz="1250" b="1" dirty="0">
                <a:solidFill>
                  <a:srgbClr val="9A6408"/>
                </a:solidFill>
                <a:latin typeface="Calibri" pitchFamily="34" charset="0"/>
                <a:ea typeface="Calibri" pitchFamily="34" charset="-122"/>
                <a:cs typeface="Calibri" pitchFamily="34" charset="-120"/>
              </a:rPr>
              <a:t>Watch out:  </a:t>
            </a:r>
            <a:pPr indent="0" marL="0">
              <a:buNone/>
            </a:pPr>
            <a:r>
              <a:rPr lang="en-US" sz="1250" dirty="0">
                <a:solidFill>
                  <a:srgbClr val="6E4A0C"/>
                </a:solidFill>
                <a:latin typeface="Calibri" pitchFamily="34" charset="0"/>
                <a:ea typeface="Calibri" pitchFamily="34" charset="-122"/>
                <a:cs typeface="Calibri" pitchFamily="34" charset="-120"/>
              </a:rPr>
              <a:t>Historian averages destroy this. The sidebands MCSA depends on sit close to the supply frequency and vanish the moment current is stored as a one-minute average. This case needs edge processing near the machine, not a historian tag.</a:t>
            </a:r>
            <a:endParaRPr lang="en-US" sz="12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Case — ESP, ash handling and CHP conveyors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A large share of the maintenance effort, and almost none of the instrumentation</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3. Predictive maintenance</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45</a:t>
            </a:r>
            <a:endParaRPr lang="en-US" sz="950" dirty="0"/>
          </a:p>
        </p:txBody>
      </p:sp>
      <p:sp>
        <p:nvSpPr>
          <p:cNvPr id="7" name="Shape 5"/>
          <p:cNvSpPr/>
          <p:nvPr/>
        </p:nvSpPr>
        <p:spPr>
          <a:xfrm>
            <a:off x="566928" y="1627632"/>
            <a:ext cx="5400904" cy="2926080"/>
          </a:xfrm>
          <a:prstGeom prst="roundRect">
            <a:avLst>
              <a:gd name="adj" fmla="val 187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5400904" cy="457200"/>
          </a:xfrm>
          <a:prstGeom prst="roundRect">
            <a:avLst>
              <a:gd name="adj" fmla="val 10000"/>
            </a:avLst>
          </a:prstGeom>
          <a:solidFill>
            <a:srgbClr val="2A3644"/>
          </a:solidFill>
          <a:ln/>
        </p:spPr>
      </p:sp>
      <p:sp>
        <p:nvSpPr>
          <p:cNvPr id="9" name="Text 7"/>
          <p:cNvSpPr/>
          <p:nvPr/>
        </p:nvSpPr>
        <p:spPr>
          <a:xfrm>
            <a:off x="768096" y="1627632"/>
            <a:ext cx="5035144"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What the model detects</a:t>
            </a:r>
            <a:endParaRPr lang="en-US" sz="1350" dirty="0"/>
          </a:p>
        </p:txBody>
      </p:sp>
      <p:sp>
        <p:nvSpPr>
          <p:cNvPr id="10" name="Text 8"/>
          <p:cNvSpPr/>
          <p:nvPr/>
        </p:nvSpPr>
        <p:spPr>
          <a:xfrm>
            <a:off x="786384" y="2194560"/>
            <a:ext cx="4961992" cy="2240280"/>
          </a:xfrm>
          <a:prstGeom prst="rect">
            <a:avLst/>
          </a:prstGeom>
          <a:noFill/>
          <a:ln/>
        </p:spPr>
        <p:txBody>
          <a:bodyPr wrap="square" lIns="0" tIns="0" rIns="0" bIns="0" rtlCol="0" anchor="t"/>
          <a:lstStyle/>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ESP field energisation drift and rapping that has stopped being effective</a:t>
            </a:r>
            <a:endParaRPr lang="en-US" sz="920" dirty="0"/>
          </a:p>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Hopper ash build-up and choking, predicted from evacuation cycle times</a:t>
            </a:r>
            <a:endParaRPr lang="en-US" sz="920" dirty="0"/>
          </a:p>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Ash slurry and vacuum pump wear, from current and cycle duration</a:t>
            </a:r>
            <a:endParaRPr lang="en-US" sz="920" dirty="0"/>
          </a:p>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Conveying line blockages, from vessel fill and empty times lengthening</a:t>
            </a:r>
            <a:endParaRPr lang="en-US" sz="920" dirty="0"/>
          </a:p>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Conveyor belt misalignment, idler seizure and drive slip</a:t>
            </a:r>
            <a:endParaRPr lang="en-US" sz="920" dirty="0"/>
          </a:p>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Transfer chute and crusher choking in the coal handling plant</a:t>
            </a:r>
            <a:endParaRPr lang="en-US" sz="920" dirty="0"/>
          </a:p>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Wagon tippler and stacker-reclaimer mechanism degradation</a:t>
            </a:r>
            <a:endParaRPr lang="en-US" sz="920" dirty="0"/>
          </a:p>
        </p:txBody>
      </p:sp>
      <p:sp>
        <p:nvSpPr>
          <p:cNvPr id="11" name="Shape 9"/>
          <p:cNvSpPr/>
          <p:nvPr/>
        </p:nvSpPr>
        <p:spPr>
          <a:xfrm>
            <a:off x="6223864" y="1627632"/>
            <a:ext cx="5400904" cy="2926080"/>
          </a:xfrm>
          <a:prstGeom prst="roundRect">
            <a:avLst>
              <a:gd name="adj" fmla="val 187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223864" y="1627632"/>
            <a:ext cx="5400904" cy="457200"/>
          </a:xfrm>
          <a:prstGeom prst="roundRect">
            <a:avLst>
              <a:gd name="adj" fmla="val 10000"/>
            </a:avLst>
          </a:prstGeom>
          <a:solidFill>
            <a:srgbClr val="11707F"/>
          </a:solidFill>
          <a:ln/>
        </p:spPr>
      </p:sp>
      <p:sp>
        <p:nvSpPr>
          <p:cNvPr id="13" name="Text 11"/>
          <p:cNvSpPr/>
          <p:nvPr/>
        </p:nvSpPr>
        <p:spPr>
          <a:xfrm>
            <a:off x="6425032" y="1627632"/>
            <a:ext cx="5035144"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Signals it uses</a:t>
            </a:r>
            <a:endParaRPr lang="en-US" sz="1350" dirty="0"/>
          </a:p>
        </p:txBody>
      </p:sp>
      <p:sp>
        <p:nvSpPr>
          <p:cNvPr id="14" name="Text 12"/>
          <p:cNvSpPr/>
          <p:nvPr/>
        </p:nvSpPr>
        <p:spPr>
          <a:xfrm>
            <a:off x="6443320" y="2194560"/>
            <a:ext cx="4961992" cy="2240280"/>
          </a:xfrm>
          <a:prstGeom prst="rect">
            <a:avLst/>
          </a:prstGeom>
          <a:noFill/>
          <a:ln/>
        </p:spPr>
        <p:txBody>
          <a:bodyPr wrap="square" lIns="0" tIns="0" rIns="0" bIns="0" rtlCol="0" anchor="t"/>
          <a:lstStyle/>
          <a:p>
            <a:pPr marL="342900" indent="-342900">
              <a:spcAft>
                <a:spcPts val="500"/>
              </a:spcAft>
              <a:buSzPct val="100000"/>
              <a:buChar char="▪"/>
            </a:pPr>
            <a:r>
              <a:rPr lang="en-US" sz="970" dirty="0">
                <a:solidFill>
                  <a:srgbClr val="1C2530"/>
                </a:solidFill>
                <a:latin typeface="Calibri" pitchFamily="34" charset="0"/>
                <a:ea typeface="Calibri" pitchFamily="34" charset="-122"/>
                <a:cs typeface="Calibri" pitchFamily="34" charset="-120"/>
              </a:rPr>
              <a:t>ESP field kV, mA and spark rate, per field, and stack opacity</a:t>
            </a:r>
            <a:endParaRPr lang="en-US" sz="970" dirty="0"/>
          </a:p>
          <a:p>
            <a:pPr marL="342900" indent="-342900">
              <a:spcAft>
                <a:spcPts val="500"/>
              </a:spcAft>
              <a:buSzPct val="100000"/>
              <a:buChar char="▪"/>
            </a:pPr>
            <a:r>
              <a:rPr lang="en-US" sz="970" dirty="0">
                <a:solidFill>
                  <a:srgbClr val="1C2530"/>
                </a:solidFill>
                <a:latin typeface="Calibri" pitchFamily="34" charset="0"/>
                <a:ea typeface="Calibri" pitchFamily="34" charset="-122"/>
                <a:cs typeface="Calibri" pitchFamily="34" charset="-120"/>
              </a:rPr>
              <a:t>Ash vessel fill and evacuation cycle times, and valve operation counts</a:t>
            </a:r>
            <a:endParaRPr lang="en-US" sz="970" dirty="0"/>
          </a:p>
          <a:p>
            <a:pPr marL="342900" indent="-342900">
              <a:spcAft>
                <a:spcPts val="500"/>
              </a:spcAft>
              <a:buSzPct val="100000"/>
              <a:buChar char="▪"/>
            </a:pPr>
            <a:r>
              <a:rPr lang="en-US" sz="970" dirty="0">
                <a:solidFill>
                  <a:srgbClr val="1C2530"/>
                </a:solidFill>
                <a:latin typeface="Calibri" pitchFamily="34" charset="0"/>
                <a:ea typeface="Calibri" pitchFamily="34" charset="-122"/>
                <a:cs typeface="Calibri" pitchFamily="34" charset="-120"/>
              </a:rPr>
              <a:t>Conveyor motor current, belt drift switch operations and pull-cord events</a:t>
            </a:r>
            <a:endParaRPr lang="en-US" sz="970" dirty="0"/>
          </a:p>
          <a:p>
            <a:pPr marL="342900" indent="-342900">
              <a:spcAft>
                <a:spcPts val="500"/>
              </a:spcAft>
              <a:buSzPct val="100000"/>
              <a:buChar char="▪"/>
            </a:pPr>
            <a:r>
              <a:rPr lang="en-US" sz="970" dirty="0">
                <a:solidFill>
                  <a:srgbClr val="1C2530"/>
                </a:solidFill>
                <a:latin typeface="Calibri" pitchFamily="34" charset="0"/>
                <a:ea typeface="Calibri" pitchFamily="34" charset="-122"/>
                <a:cs typeface="Calibri" pitchFamily="34" charset="-120"/>
              </a:rPr>
              <a:t>Bearing temperatures and vibration on drive and tail pulleys</a:t>
            </a:r>
            <a:endParaRPr lang="en-US" sz="970" dirty="0"/>
          </a:p>
          <a:p>
            <a:pPr marL="342900" indent="-342900">
              <a:spcAft>
                <a:spcPts val="500"/>
              </a:spcAft>
              <a:buSzPct val="100000"/>
              <a:buChar char="▪"/>
            </a:pPr>
            <a:r>
              <a:rPr lang="en-US" sz="970" dirty="0">
                <a:solidFill>
                  <a:srgbClr val="1C2530"/>
                </a:solidFill>
                <a:latin typeface="Calibri" pitchFamily="34" charset="0"/>
                <a:ea typeface="Calibri" pitchFamily="34" charset="-122"/>
                <a:cs typeface="Calibri" pitchFamily="34" charset="-120"/>
              </a:rPr>
              <a:t>Crusher and ring granulator current, and screening throughput</a:t>
            </a:r>
            <a:endParaRPr lang="en-US" sz="970" dirty="0"/>
          </a:p>
          <a:p>
            <a:pPr marL="342900" indent="-342900">
              <a:spcAft>
                <a:spcPts val="500"/>
              </a:spcAft>
              <a:buSzPct val="100000"/>
              <a:buChar char="▪"/>
            </a:pPr>
            <a:r>
              <a:rPr lang="en-US" sz="970" dirty="0">
                <a:solidFill>
                  <a:srgbClr val="1C2530"/>
                </a:solidFill>
                <a:latin typeface="Calibri" pitchFamily="34" charset="0"/>
                <a:ea typeface="Calibri" pitchFamily="34" charset="-122"/>
                <a:cs typeface="Calibri" pitchFamily="34" charset="-120"/>
              </a:rPr>
              <a:t>Cycle counts and run hours, which most stations already log somewhere</a:t>
            </a:r>
            <a:endParaRPr lang="en-US" sz="970" dirty="0"/>
          </a:p>
        </p:txBody>
      </p:sp>
      <p:sp>
        <p:nvSpPr>
          <p:cNvPr id="15" name="Shape 13"/>
          <p:cNvSpPr/>
          <p:nvPr/>
        </p:nvSpPr>
        <p:spPr>
          <a:xfrm>
            <a:off x="566928" y="4754880"/>
            <a:ext cx="7223760" cy="640080"/>
          </a:xfrm>
          <a:prstGeom prst="roundRect">
            <a:avLst>
              <a:gd name="adj" fmla="val 8571"/>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Text 14"/>
          <p:cNvSpPr/>
          <p:nvPr/>
        </p:nvSpPr>
        <p:spPr>
          <a:xfrm>
            <a:off x="768096" y="4754880"/>
            <a:ext cx="1691640" cy="640080"/>
          </a:xfrm>
          <a:prstGeom prst="rect">
            <a:avLst/>
          </a:prstGeom>
          <a:noFill/>
          <a:ln/>
        </p:spPr>
        <p:txBody>
          <a:bodyPr wrap="square" lIns="0" tIns="0" rIns="0" bIns="0" rtlCol="0" anchor="ctr"/>
          <a:lstStyle/>
          <a:p>
            <a:pPr indent="0" marL="0">
              <a:buNone/>
            </a:pPr>
            <a:r>
              <a:rPr lang="en-US" sz="1100" b="1" dirty="0">
                <a:solidFill>
                  <a:srgbClr val="5C6B7A"/>
                </a:solidFill>
                <a:latin typeface="Calibri" pitchFamily="34" charset="0"/>
                <a:ea typeface="Calibri" pitchFamily="34" charset="-122"/>
                <a:cs typeface="Calibri" pitchFamily="34" charset="-120"/>
              </a:rPr>
              <a:t>Typical lead time</a:t>
            </a:r>
            <a:endParaRPr lang="en-US" sz="1100" dirty="0"/>
          </a:p>
        </p:txBody>
      </p:sp>
      <p:sp>
        <p:nvSpPr>
          <p:cNvPr id="17" name="Text 15"/>
          <p:cNvSpPr/>
          <p:nvPr/>
        </p:nvSpPr>
        <p:spPr>
          <a:xfrm>
            <a:off x="2441448" y="4754880"/>
            <a:ext cx="5212080" cy="640080"/>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Cycle-time drift is the earliest and cheapest indicator here, and it is usually already recorded in the PLC without anybody trending it.</a:t>
            </a:r>
            <a:endParaRPr lang="en-US" sz="1250" dirty="0"/>
          </a:p>
        </p:txBody>
      </p:sp>
      <p:sp>
        <p:nvSpPr>
          <p:cNvPr id="18" name="Shape 16"/>
          <p:cNvSpPr/>
          <p:nvPr/>
        </p:nvSpPr>
        <p:spPr>
          <a:xfrm>
            <a:off x="8019288" y="4754880"/>
            <a:ext cx="3605479" cy="640080"/>
          </a:xfrm>
          <a:prstGeom prst="roundRect">
            <a:avLst>
              <a:gd name="adj" fmla="val 35714"/>
            </a:avLst>
          </a:prstGeom>
          <a:solidFill>
            <a:srgbClr val="FBF0DC"/>
          </a:solidFill>
          <a:ln w="9525">
            <a:solidFill>
              <a:srgbClr val="9A6408"/>
            </a:solidFill>
            <a:prstDash val="solid"/>
          </a:ln>
        </p:spPr>
      </p:sp>
      <p:sp>
        <p:nvSpPr>
          <p:cNvPr id="19" name="Text 17"/>
          <p:cNvSpPr/>
          <p:nvPr/>
        </p:nvSpPr>
        <p:spPr>
          <a:xfrm>
            <a:off x="8092440" y="4754880"/>
            <a:ext cx="3459175" cy="640080"/>
          </a:xfrm>
          <a:prstGeom prst="rect">
            <a:avLst/>
          </a:prstGeom>
          <a:noFill/>
          <a:ln/>
        </p:spPr>
        <p:txBody>
          <a:bodyPr wrap="square" lIns="0" tIns="0" rIns="0" bIns="0" rtlCol="0" anchor="ctr"/>
          <a:lstStyle/>
          <a:p>
            <a:pPr algn="ctr" indent="0" marL="0">
              <a:buNone/>
            </a:pPr>
            <a:r>
              <a:rPr lang="en-US" sz="950" b="1" dirty="0">
                <a:solidFill>
                  <a:srgbClr val="9A6408"/>
                </a:solidFill>
                <a:latin typeface="Calibri" pitchFamily="34" charset="0"/>
                <a:ea typeface="Calibri" pitchFamily="34" charset="-122"/>
                <a:cs typeface="Calibri" pitchFamily="34" charset="-120"/>
              </a:rPr>
              <a:t>Emerging in practice — the technique is simple, the instrumentation is the gap</a:t>
            </a:r>
            <a:endParaRPr lang="en-US" sz="950" dirty="0"/>
          </a:p>
        </p:txBody>
      </p:sp>
      <p:sp>
        <p:nvSpPr>
          <p:cNvPr id="20" name="Shape 18"/>
          <p:cNvSpPr/>
          <p:nvPr/>
        </p:nvSpPr>
        <p:spPr>
          <a:xfrm>
            <a:off x="566928" y="5541264"/>
            <a:ext cx="11057839" cy="658368"/>
          </a:xfrm>
          <a:prstGeom prst="roundRect">
            <a:avLst>
              <a:gd name="adj" fmla="val 8333"/>
            </a:avLst>
          </a:prstGeom>
          <a:solidFill>
            <a:srgbClr val="FBF0DC"/>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1" name="Text 19"/>
          <p:cNvSpPr/>
          <p:nvPr/>
        </p:nvSpPr>
        <p:spPr>
          <a:xfrm>
            <a:off x="768096" y="5541264"/>
            <a:ext cx="10655503" cy="658368"/>
          </a:xfrm>
          <a:prstGeom prst="rect">
            <a:avLst/>
          </a:prstGeom>
          <a:noFill/>
          <a:ln/>
        </p:spPr>
        <p:txBody>
          <a:bodyPr wrap="square" lIns="0" tIns="0" rIns="0" bIns="0" rtlCol="0" anchor="ctr"/>
          <a:lstStyle/>
          <a:p>
            <a:pPr indent="0" marL="0">
              <a:buNone/>
            </a:pPr>
            <a:r>
              <a:rPr lang="en-US" sz="1250" b="1" dirty="0">
                <a:solidFill>
                  <a:srgbClr val="9A6408"/>
                </a:solidFill>
                <a:latin typeface="Calibri" pitchFamily="34" charset="0"/>
                <a:ea typeface="Calibri" pitchFamily="34" charset="-122"/>
                <a:cs typeface="Calibri" pitchFamily="34" charset="-120"/>
              </a:rPr>
              <a:t>Watch out:  </a:t>
            </a:r>
            <a:pPr indent="0" marL="0">
              <a:buNone/>
            </a:pPr>
            <a:r>
              <a:rPr lang="en-US" sz="1250" dirty="0">
                <a:solidFill>
                  <a:srgbClr val="6E4A0C"/>
                </a:solidFill>
                <a:latin typeface="Calibri" pitchFamily="34" charset="0"/>
                <a:ea typeface="Calibri" pitchFamily="34" charset="-122"/>
                <a:cs typeface="Calibri" pitchFamily="34" charset="-120"/>
              </a:rPr>
              <a:t>This plant consumes a large share of the station's maintenance effort and is rarely instrumented for analytics at all. The first project here is not a model. It is getting cycle times and motor currents into the historian.</a:t>
            </a:r>
            <a:endParaRPr lang="en-US" sz="12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Diagnostics versus prognostics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Two different questions, two different levels of confidence, two different audiences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3. Predictive maintenance</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46</a:t>
            </a:r>
            <a:endParaRPr lang="en-US" sz="950" dirty="0"/>
          </a:p>
        </p:txBody>
      </p:sp>
      <p:sp>
        <p:nvSpPr>
          <p:cNvPr id="7" name="Shape 5"/>
          <p:cNvSpPr/>
          <p:nvPr/>
        </p:nvSpPr>
        <p:spPr>
          <a:xfrm>
            <a:off x="566928" y="1627632"/>
            <a:ext cx="5382616" cy="3886200"/>
          </a:xfrm>
          <a:prstGeom prst="roundRect">
            <a:avLst>
              <a:gd name="adj" fmla="val 141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841248" y="1847088"/>
            <a:ext cx="4833976" cy="292608"/>
          </a:xfrm>
          <a:prstGeom prst="rect">
            <a:avLst/>
          </a:prstGeom>
          <a:noFill/>
          <a:ln/>
        </p:spPr>
        <p:txBody>
          <a:bodyPr wrap="square" lIns="0" tIns="0" rIns="0" bIns="0" rtlCol="0" anchor="ctr"/>
          <a:lstStyle/>
          <a:p>
            <a:pPr indent="0" marL="0">
              <a:buNone/>
            </a:pPr>
            <a:r>
              <a:rPr lang="en-US" sz="1150" b="1" spc="120" kern="0" dirty="0">
                <a:solidFill>
                  <a:srgbClr val="3B4A5A"/>
                </a:solidFill>
                <a:latin typeface="Calibri" pitchFamily="34" charset="0"/>
                <a:ea typeface="Calibri" pitchFamily="34" charset="-122"/>
                <a:cs typeface="Calibri" pitchFamily="34" charset="-120"/>
              </a:rPr>
              <a:t>DIAGNOSTICS</a:t>
            </a:r>
            <a:endParaRPr lang="en-US" sz="1150" dirty="0"/>
          </a:p>
        </p:txBody>
      </p:sp>
      <p:sp>
        <p:nvSpPr>
          <p:cNvPr id="9" name="Text 7"/>
          <p:cNvSpPr/>
          <p:nvPr/>
        </p:nvSpPr>
        <p:spPr>
          <a:xfrm>
            <a:off x="841248"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What has changed?</a:t>
            </a:r>
            <a:endParaRPr lang="en-US" sz="3300" dirty="0"/>
          </a:p>
        </p:txBody>
      </p:sp>
      <p:sp>
        <p:nvSpPr>
          <p:cNvPr id="10" name="Text 8"/>
          <p:cNvSpPr/>
          <p:nvPr/>
        </p:nvSpPr>
        <p:spPr>
          <a:xfrm>
            <a:off x="841248"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The residual on the thrust bearing is six degrees and growing, and the model points at that signal rather than at load or ambient. It names the machine, the signal and often the direction. It is a question about the present, and an engineer can go and check it.</a:t>
            </a:r>
            <a:endParaRPr lang="en-US" sz="1350" dirty="0"/>
          </a:p>
        </p:txBody>
      </p:sp>
      <p:sp>
        <p:nvSpPr>
          <p:cNvPr id="11" name="Shape 9"/>
          <p:cNvSpPr/>
          <p:nvPr/>
        </p:nvSpPr>
        <p:spPr>
          <a:xfrm>
            <a:off x="6242152" y="1627632"/>
            <a:ext cx="5382616" cy="3886200"/>
          </a:xfrm>
          <a:prstGeom prst="roundRect">
            <a:avLst>
              <a:gd name="adj" fmla="val 1412"/>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10"/>
          <p:cNvSpPr/>
          <p:nvPr/>
        </p:nvSpPr>
        <p:spPr>
          <a:xfrm>
            <a:off x="6516472" y="1847088"/>
            <a:ext cx="4833976" cy="292608"/>
          </a:xfrm>
          <a:prstGeom prst="rect">
            <a:avLst/>
          </a:prstGeom>
          <a:noFill/>
          <a:ln/>
        </p:spPr>
        <p:txBody>
          <a:bodyPr wrap="square" lIns="0" tIns="0" rIns="0" bIns="0" rtlCol="0" anchor="ctr"/>
          <a:lstStyle/>
          <a:p>
            <a:pPr indent="0" marL="0">
              <a:buNone/>
            </a:pPr>
            <a:r>
              <a:rPr lang="en-US" sz="1150" b="1" spc="120" kern="0" dirty="0">
                <a:solidFill>
                  <a:srgbClr val="D96A16"/>
                </a:solidFill>
                <a:latin typeface="Calibri" pitchFamily="34" charset="0"/>
                <a:ea typeface="Calibri" pitchFamily="34" charset="-122"/>
                <a:cs typeface="Calibri" pitchFamily="34" charset="-120"/>
              </a:rPr>
              <a:t>PROGNOSTICS</a:t>
            </a:r>
            <a:endParaRPr lang="en-US" sz="1150" dirty="0"/>
          </a:p>
        </p:txBody>
      </p:sp>
      <p:sp>
        <p:nvSpPr>
          <p:cNvPr id="13" name="Text 11"/>
          <p:cNvSpPr/>
          <p:nvPr/>
        </p:nvSpPr>
        <p:spPr>
          <a:xfrm>
            <a:off x="6516472"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How long have I got?</a:t>
            </a:r>
            <a:endParaRPr lang="en-US" sz="3300" dirty="0"/>
          </a:p>
        </p:txBody>
      </p:sp>
      <p:sp>
        <p:nvSpPr>
          <p:cNvPr id="14" name="Text 12"/>
          <p:cNvSpPr/>
          <p:nvPr/>
        </p:nvSpPr>
        <p:spPr>
          <a:xfrm>
            <a:off x="6516472"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The same residual, fitted with a degradation curve and projected forward to a functional failure threshold. It answers a planning question rather than a diagnostic one, and it arrives with an uncertainty band that is usually wide. Wide is not useless. Wide is honest.</a:t>
            </a:r>
            <a:endParaRPr lang="en-US" sz="1350" dirty="0"/>
          </a:p>
        </p:txBody>
      </p:sp>
      <p:sp>
        <p:nvSpPr>
          <p:cNvPr id="15" name="Shape 13"/>
          <p:cNvSpPr/>
          <p:nvPr/>
        </p:nvSpPr>
        <p:spPr>
          <a:xfrm>
            <a:off x="566928" y="56967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6967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Diagnostics tells you to look. Prognostics tells you whether to book the outage. Most stations need the first far more than they currently think they need the second.</a:t>
            </a:r>
            <a:endParaRPr lang="en-US" sz="13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500" b="1" dirty="0">
                <a:solidFill>
                  <a:srgbClr val="1C2530"/>
                </a:solidFill>
                <a:latin typeface="Cambria" pitchFamily="34" charset="0"/>
                <a:ea typeface="Cambria" pitchFamily="34" charset="-122"/>
                <a:cs typeface="Cambria" pitchFamily="34" charset="-120"/>
              </a:rPr>
              <a:t>Remaining useful life, and why a point estimate is the wrong answer</a:t>
            </a:r>
            <a:endParaRPr lang="en-US" sz="25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number a planner can actually act on is a probability, not a date</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3. Predictive maintenance</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47</a:t>
            </a:r>
            <a:endParaRPr lang="en-US" sz="950" dirty="0"/>
          </a:p>
        </p:txBody>
      </p:sp>
      <p:sp>
        <p:nvSpPr>
          <p:cNvPr id="7" name="Shape 5"/>
          <p:cNvSpPr/>
          <p:nvPr/>
        </p:nvSpPr>
        <p:spPr>
          <a:xfrm>
            <a:off x="566928"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10512"/>
            <a:ext cx="137160" cy="137160"/>
          </a:xfrm>
          <a:prstGeom prst="ellipse">
            <a:avLst/>
          </a:prstGeom>
          <a:solidFill>
            <a:srgbClr val="D96A16"/>
          </a:solidFill>
          <a:ln/>
        </p:spPr>
      </p:sp>
      <p:sp>
        <p:nvSpPr>
          <p:cNvPr id="9" name="Text 7"/>
          <p:cNvSpPr/>
          <p:nvPr/>
        </p:nvSpPr>
        <p:spPr>
          <a:xfrm>
            <a:off x="969264" y="1709928"/>
            <a:ext cx="297271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Sixty-two days is not an answer</a:t>
            </a:r>
            <a:endParaRPr lang="en-US" sz="1450" dirty="0"/>
          </a:p>
        </p:txBody>
      </p:sp>
      <p:sp>
        <p:nvSpPr>
          <p:cNvPr id="10" name="Text 8"/>
          <p:cNvSpPr/>
          <p:nvPr/>
        </p:nvSpPr>
        <p:spPr>
          <a:xfrm>
            <a:off x="768096" y="2322576"/>
            <a:ext cx="3137306" cy="1042416"/>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A single number invites either complacency or panic. No planner commits an outage window to it, and no engineer defends it in a review.</a:t>
            </a:r>
            <a:endParaRPr lang="en-US" sz="1200" dirty="0"/>
          </a:p>
        </p:txBody>
      </p:sp>
      <p:sp>
        <p:nvSpPr>
          <p:cNvPr id="11" name="Shape 9"/>
          <p:cNvSpPr/>
          <p:nvPr/>
        </p:nvSpPr>
        <p:spPr>
          <a:xfrm>
            <a:off x="4326026"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4508906" y="1810512"/>
            <a:ext cx="137160" cy="137160"/>
          </a:xfrm>
          <a:prstGeom prst="ellipse">
            <a:avLst/>
          </a:prstGeom>
          <a:solidFill>
            <a:srgbClr val="D96A16"/>
          </a:solidFill>
          <a:ln/>
        </p:spPr>
      </p:sp>
      <p:sp>
        <p:nvSpPr>
          <p:cNvPr id="13" name="Text 11"/>
          <p:cNvSpPr/>
          <p:nvPr/>
        </p:nvSpPr>
        <p:spPr>
          <a:xfrm>
            <a:off x="4728362" y="1709928"/>
            <a:ext cx="297271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The band carries the information</a:t>
            </a:r>
            <a:endParaRPr lang="en-US" sz="1450" dirty="0"/>
          </a:p>
        </p:txBody>
      </p:sp>
      <p:sp>
        <p:nvSpPr>
          <p:cNvPr id="14" name="Text 12"/>
          <p:cNvSpPr/>
          <p:nvPr/>
        </p:nvSpPr>
        <p:spPr>
          <a:xfrm>
            <a:off x="4527194" y="2322576"/>
            <a:ext cx="3137306" cy="1042416"/>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A projection with a ninety per cent range tells you what you can commit to. The width of that band is the message, not an apology for it.</a:t>
            </a:r>
            <a:endParaRPr lang="en-US" sz="1200" dirty="0"/>
          </a:p>
        </p:txBody>
      </p:sp>
      <p:sp>
        <p:nvSpPr>
          <p:cNvPr id="15" name="Shape 13"/>
          <p:cNvSpPr/>
          <p:nvPr/>
        </p:nvSpPr>
        <p:spPr>
          <a:xfrm>
            <a:off x="8085125"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8268005" y="1810512"/>
            <a:ext cx="137160" cy="137160"/>
          </a:xfrm>
          <a:prstGeom prst="ellipse">
            <a:avLst/>
          </a:prstGeom>
          <a:solidFill>
            <a:srgbClr val="D96A16"/>
          </a:solidFill>
          <a:ln/>
        </p:spPr>
      </p:sp>
      <p:sp>
        <p:nvSpPr>
          <p:cNvPr id="17" name="Text 15"/>
          <p:cNvSpPr/>
          <p:nvPr/>
        </p:nvSpPr>
        <p:spPr>
          <a:xfrm>
            <a:off x="8487461" y="1709928"/>
            <a:ext cx="297271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Ask the planner's question instead</a:t>
            </a:r>
            <a:endParaRPr lang="en-US" sz="1450" dirty="0"/>
          </a:p>
        </p:txBody>
      </p:sp>
      <p:sp>
        <p:nvSpPr>
          <p:cNvPr id="18" name="Text 16"/>
          <p:cNvSpPr/>
          <p:nvPr/>
        </p:nvSpPr>
        <p:spPr>
          <a:xfrm>
            <a:off x="8286293" y="2322576"/>
            <a:ext cx="3137306" cy="1042416"/>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What is the probability this machine survives to the outage already in the plan? That question has a usable answer and a rupee value attached.</a:t>
            </a:r>
            <a:endParaRPr lang="en-US" sz="1200" dirty="0"/>
          </a:p>
        </p:txBody>
      </p:sp>
      <p:sp>
        <p:nvSpPr>
          <p:cNvPr id="19" name="Shape 17"/>
          <p:cNvSpPr/>
          <p:nvPr/>
        </p:nvSpPr>
        <p:spPr>
          <a:xfrm>
            <a:off x="566928"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749808" y="3895344"/>
            <a:ext cx="137160" cy="137160"/>
          </a:xfrm>
          <a:prstGeom prst="ellipse">
            <a:avLst/>
          </a:prstGeom>
          <a:solidFill>
            <a:srgbClr val="D96A16"/>
          </a:solidFill>
          <a:ln/>
        </p:spPr>
      </p:sp>
      <p:sp>
        <p:nvSpPr>
          <p:cNvPr id="21" name="Text 19"/>
          <p:cNvSpPr/>
          <p:nvPr/>
        </p:nvSpPr>
        <p:spPr>
          <a:xfrm>
            <a:off x="969264" y="379476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What makes the band open</a:t>
            </a:r>
            <a:endParaRPr lang="en-US" sz="1450" dirty="0"/>
          </a:p>
        </p:txBody>
      </p:sp>
      <p:sp>
        <p:nvSpPr>
          <p:cNvPr id="22" name="Text 20"/>
          <p:cNvSpPr/>
          <p:nvPr/>
        </p:nvSpPr>
        <p:spPr>
          <a:xfrm>
            <a:off x="768096" y="4206240"/>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A short trend history, a noisy measurement, and a failure threshold nobody has ever measured. The first of those is the cheapest to fix.</a:t>
            </a:r>
            <a:endParaRPr lang="en-US" sz="1200" dirty="0"/>
          </a:p>
        </p:txBody>
      </p:sp>
      <p:sp>
        <p:nvSpPr>
          <p:cNvPr id="23" name="Shape 21"/>
          <p:cNvSpPr/>
          <p:nvPr/>
        </p:nvSpPr>
        <p:spPr>
          <a:xfrm>
            <a:off x="4326026"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4" name="Shape 22"/>
          <p:cNvSpPr/>
          <p:nvPr/>
        </p:nvSpPr>
        <p:spPr>
          <a:xfrm>
            <a:off x="4508906" y="3895344"/>
            <a:ext cx="137160" cy="137160"/>
          </a:xfrm>
          <a:prstGeom prst="ellipse">
            <a:avLst/>
          </a:prstGeom>
          <a:solidFill>
            <a:srgbClr val="D96A16"/>
          </a:solidFill>
          <a:ln/>
        </p:spPr>
      </p:sp>
      <p:sp>
        <p:nvSpPr>
          <p:cNvPr id="25" name="Text 23"/>
          <p:cNvSpPr/>
          <p:nvPr/>
        </p:nvSpPr>
        <p:spPr>
          <a:xfrm>
            <a:off x="4728362" y="3794760"/>
            <a:ext cx="297271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More history beats a better algorithm</a:t>
            </a:r>
            <a:endParaRPr lang="en-US" sz="1450" dirty="0"/>
          </a:p>
        </p:txBody>
      </p:sp>
      <p:sp>
        <p:nvSpPr>
          <p:cNvPr id="26" name="Text 24"/>
          <p:cNvSpPr/>
          <p:nvPr/>
        </p:nvSpPr>
        <p:spPr>
          <a:xfrm>
            <a:off x="4527194" y="4407408"/>
            <a:ext cx="3137306" cy="1042416"/>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Thirty days of trend cannot separate fast degradation from slow degradation with noise on it. No algorithm recovers what was never observed.</a:t>
            </a:r>
            <a:endParaRPr lang="en-US" sz="1200" dirty="0"/>
          </a:p>
        </p:txBody>
      </p:sp>
      <p:sp>
        <p:nvSpPr>
          <p:cNvPr id="27" name="Shape 25"/>
          <p:cNvSpPr/>
          <p:nvPr/>
        </p:nvSpPr>
        <p:spPr>
          <a:xfrm>
            <a:off x="8085125"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Shape 26"/>
          <p:cNvSpPr/>
          <p:nvPr/>
        </p:nvSpPr>
        <p:spPr>
          <a:xfrm>
            <a:off x="8268005" y="3895344"/>
            <a:ext cx="137160" cy="137160"/>
          </a:xfrm>
          <a:prstGeom prst="ellipse">
            <a:avLst/>
          </a:prstGeom>
          <a:solidFill>
            <a:srgbClr val="D96A16"/>
          </a:solidFill>
          <a:ln/>
        </p:spPr>
      </p:sp>
      <p:sp>
        <p:nvSpPr>
          <p:cNvPr id="29" name="Text 27"/>
          <p:cNvSpPr/>
          <p:nvPr/>
        </p:nvSpPr>
        <p:spPr>
          <a:xfrm>
            <a:off x="8487461" y="3794760"/>
            <a:ext cx="297271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Statistical error is not model error</a:t>
            </a:r>
            <a:endParaRPr lang="en-US" sz="1450" dirty="0"/>
          </a:p>
        </p:txBody>
      </p:sp>
      <p:sp>
        <p:nvSpPr>
          <p:cNvPr id="30" name="Text 28"/>
          <p:cNvSpPr/>
          <p:nvPr/>
        </p:nvSpPr>
        <p:spPr>
          <a:xfrm>
            <a:off x="8286293" y="4407408"/>
            <a:ext cx="3137306" cy="1042416"/>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The band covers uncertainty in fitting the curve. It says nothing about the curve being the wrong shape, which is usually the larger risk.</a:t>
            </a:r>
            <a:endParaRPr lang="en-US" sz="1200" dirty="0"/>
          </a:p>
        </p:txBody>
      </p:sp>
      <p:sp>
        <p:nvSpPr>
          <p:cNvPr id="31" name="Shape 29"/>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32" name="Text 30"/>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Remaining useful life is a distribution, not a date. Anyone quoting a single number has already hidden the part you needed.</a:t>
            </a:r>
            <a:endParaRPr lang="en-US" sz="13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500" b="1" dirty="0">
                <a:solidFill>
                  <a:srgbClr val="1C2530"/>
                </a:solidFill>
                <a:latin typeface="Cambria" pitchFamily="34" charset="0"/>
                <a:ea typeface="Cambria" pitchFamily="34" charset="-122"/>
                <a:cs typeface="Cambria" pitchFamily="34" charset="-120"/>
              </a:rPr>
              <a:t>Lab — SIM-5 · Predictive maintenance and remaining useful life</a:t>
            </a:r>
            <a:endParaRPr lang="en-US" sz="25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Ten minutes at the keyboard, on the station carrying the largest disallowance in the fleet</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3. Predictive maintenance</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48</a:t>
            </a:r>
            <a:endParaRPr lang="en-US" sz="950" dirty="0"/>
          </a:p>
        </p:txBody>
      </p:sp>
      <p:sp>
        <p:nvSpPr>
          <p:cNvPr id="7" name="Shape 5"/>
          <p:cNvSpPr/>
          <p:nvPr/>
        </p:nvSpPr>
        <p:spPr>
          <a:xfrm>
            <a:off x="566928" y="1627632"/>
            <a:ext cx="11057839" cy="786384"/>
          </a:xfrm>
          <a:prstGeom prst="roundRect">
            <a:avLst>
              <a:gd name="adj" fmla="val 6977"/>
            </a:avLst>
          </a:prstGeom>
          <a:solidFill>
            <a:srgbClr val="1C2530"/>
          </a:solidFill>
          <a:ln/>
        </p:spPr>
      </p:sp>
      <p:sp>
        <p:nvSpPr>
          <p:cNvPr id="8" name="Shape 6"/>
          <p:cNvSpPr/>
          <p:nvPr/>
        </p:nvSpPr>
        <p:spPr>
          <a:xfrm>
            <a:off x="768096" y="1801368"/>
            <a:ext cx="1188720" cy="438912"/>
          </a:xfrm>
          <a:prstGeom prst="roundRect">
            <a:avLst>
              <a:gd name="adj" fmla="val 50000"/>
            </a:avLst>
          </a:prstGeom>
          <a:solidFill>
            <a:srgbClr val="D96A16"/>
          </a:solidFill>
          <a:ln/>
        </p:spPr>
      </p:sp>
      <p:sp>
        <p:nvSpPr>
          <p:cNvPr id="9" name="Text 7"/>
          <p:cNvSpPr/>
          <p:nvPr/>
        </p:nvSpPr>
        <p:spPr>
          <a:xfrm>
            <a:off x="768096" y="1801368"/>
            <a:ext cx="118872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SIM-5</a:t>
            </a:r>
            <a:endParaRPr lang="en-US" sz="1400" dirty="0"/>
          </a:p>
        </p:txBody>
      </p:sp>
      <p:sp>
        <p:nvSpPr>
          <p:cNvPr id="10" name="Text 8"/>
          <p:cNvSpPr/>
          <p:nvPr/>
        </p:nvSpPr>
        <p:spPr>
          <a:xfrm>
            <a:off x="2139696" y="1627632"/>
            <a:ext cx="7217359" cy="786384"/>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Predictive maintenance and remaining useful life</a:t>
            </a:r>
            <a:endParaRPr lang="en-US" sz="2000" dirty="0"/>
          </a:p>
        </p:txBody>
      </p:sp>
      <p:sp>
        <p:nvSpPr>
          <p:cNvPr id="11" name="Text 9"/>
          <p:cNvSpPr/>
          <p:nvPr/>
        </p:nvSpPr>
        <p:spPr>
          <a:xfrm>
            <a:off x="8881567" y="1627632"/>
            <a:ext cx="2542032" cy="786384"/>
          </a:xfrm>
          <a:prstGeom prst="rect">
            <a:avLst/>
          </a:prstGeom>
          <a:noFill/>
          <a:ln/>
        </p:spPr>
        <p:txBody>
          <a:bodyPr wrap="square" lIns="0" tIns="0" rIns="0" bIns="0" rtlCol="0" anchor="ctr"/>
          <a:lstStyle/>
          <a:p>
            <a:pPr algn="r" indent="0" marL="0">
              <a:buNone/>
            </a:pPr>
            <a:r>
              <a:rPr lang="en-US" sz="1300" b="1" dirty="0">
                <a:solidFill>
                  <a:srgbClr val="D96A16"/>
                </a:solidFill>
                <a:latin typeface="Calibri" pitchFamily="34" charset="0"/>
                <a:ea typeface="Calibri" pitchFamily="34" charset="-122"/>
                <a:cs typeface="Calibri" pitchFamily="34" charset="-120"/>
              </a:rPr>
              <a:t>10 minutes at your laptop</a:t>
            </a:r>
            <a:endParaRPr lang="en-US" sz="1300" dirty="0"/>
          </a:p>
        </p:txBody>
      </p:sp>
      <p:sp>
        <p:nvSpPr>
          <p:cNvPr id="12" name="Shape 10"/>
          <p:cNvSpPr/>
          <p:nvPr/>
        </p:nvSpPr>
        <p:spPr>
          <a:xfrm>
            <a:off x="566928" y="2578608"/>
            <a:ext cx="6038771" cy="2907792"/>
          </a:xfrm>
          <a:prstGeom prst="roundRect">
            <a:avLst>
              <a:gd name="adj" fmla="val 188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Shape 11"/>
          <p:cNvSpPr/>
          <p:nvPr/>
        </p:nvSpPr>
        <p:spPr>
          <a:xfrm>
            <a:off x="566928" y="2578608"/>
            <a:ext cx="6038771" cy="457200"/>
          </a:xfrm>
          <a:prstGeom prst="roundRect">
            <a:avLst>
              <a:gd name="adj" fmla="val 10000"/>
            </a:avLst>
          </a:prstGeom>
          <a:solidFill>
            <a:srgbClr val="2A3644"/>
          </a:solidFill>
          <a:ln/>
        </p:spPr>
      </p:sp>
      <p:sp>
        <p:nvSpPr>
          <p:cNvPr id="14" name="Text 12"/>
          <p:cNvSpPr/>
          <p:nvPr/>
        </p:nvSpPr>
        <p:spPr>
          <a:xfrm>
            <a:off x="786384" y="2578608"/>
            <a:ext cx="5627291"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Do this</a:t>
            </a:r>
            <a:endParaRPr lang="en-US" sz="1400" dirty="0"/>
          </a:p>
        </p:txBody>
      </p:sp>
      <p:sp>
        <p:nvSpPr>
          <p:cNvPr id="15" name="Text 13"/>
          <p:cNvSpPr/>
          <p:nvPr/>
        </p:nvSpPr>
        <p:spPr>
          <a:xfrm>
            <a:off x="841248" y="3163824"/>
            <a:ext cx="5508419" cy="219456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Open SIM-5 and select Koradi Units 8-10 — the station carrying ₹28.04 crore of disallowed fixed charge.</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Read two figures only: the probability of surviving to the planned outage, and the expected cost of waiting against the cost of acting now.</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Drag 'days of trend observed' down to 30 and watch the projection band open up. Do not change anything else.</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Put it back to 70, then move the planned outage date further out and closer in, and watch the recommendation flip.</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Set the forced-outage duration to a figure your own station would recognise, and see what that does to the asymmetry.</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Press 'New machine' twice. The same settings give a different answer, because the trend is a different sample.</a:t>
            </a:r>
            <a:endParaRPr lang="en-US" sz="1100" dirty="0"/>
          </a:p>
        </p:txBody>
      </p:sp>
      <p:sp>
        <p:nvSpPr>
          <p:cNvPr id="16" name="Shape 14"/>
          <p:cNvSpPr/>
          <p:nvPr/>
        </p:nvSpPr>
        <p:spPr>
          <a:xfrm>
            <a:off x="6880019" y="2578608"/>
            <a:ext cx="4744748" cy="2907792"/>
          </a:xfrm>
          <a:prstGeom prst="roundRect">
            <a:avLst>
              <a:gd name="adj" fmla="val 188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7" name="Shape 15"/>
          <p:cNvSpPr/>
          <p:nvPr/>
        </p:nvSpPr>
        <p:spPr>
          <a:xfrm>
            <a:off x="6880019" y="2578608"/>
            <a:ext cx="4744748" cy="457200"/>
          </a:xfrm>
          <a:prstGeom prst="roundRect">
            <a:avLst>
              <a:gd name="adj" fmla="val 10000"/>
            </a:avLst>
          </a:prstGeom>
          <a:solidFill>
            <a:srgbClr val="11707F"/>
          </a:solidFill>
          <a:ln/>
        </p:spPr>
      </p:sp>
      <p:sp>
        <p:nvSpPr>
          <p:cNvPr id="18" name="Text 16"/>
          <p:cNvSpPr/>
          <p:nvPr/>
        </p:nvSpPr>
        <p:spPr>
          <a:xfrm>
            <a:off x="7099475" y="2578608"/>
            <a:ext cx="4333268"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Watch for</a:t>
            </a:r>
            <a:endParaRPr lang="en-US" sz="1400" dirty="0"/>
          </a:p>
        </p:txBody>
      </p:sp>
      <p:sp>
        <p:nvSpPr>
          <p:cNvPr id="19" name="Text 17"/>
          <p:cNvSpPr/>
          <p:nvPr/>
        </p:nvSpPr>
        <p:spPr>
          <a:xfrm>
            <a:off x="7136051" y="3163824"/>
            <a:ext cx="4232684" cy="219456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1C2530"/>
                </a:solidFill>
                <a:latin typeface="Calibri" pitchFamily="34" charset="0"/>
                <a:ea typeface="Calibri" pitchFamily="34" charset="-122"/>
                <a:cs typeface="Calibri" pitchFamily="34" charset="-120"/>
              </a:rPr>
              <a:t>The remaining-life figure moves very little when you shorten the trend, but the ninety per cent range widens dramatically.</a:t>
            </a:r>
            <a:endParaRPr lang="en-US" sz="950" dirty="0"/>
          </a:p>
          <a:p>
            <a:pPr marL="342900" indent="-342900">
              <a:spcAft>
                <a:spcPts val="500"/>
              </a:spcAft>
              <a:buSzPct val="100000"/>
              <a:buChar char="▪"/>
            </a:pPr>
            <a:r>
              <a:rPr lang="en-US" sz="950" dirty="0">
                <a:solidFill>
                  <a:srgbClr val="1C2530"/>
                </a:solidFill>
                <a:latin typeface="Calibri" pitchFamily="34" charset="0"/>
                <a:ea typeface="Calibri" pitchFamily="34" charset="-122"/>
                <a:cs typeface="Calibri" pitchFamily="34" charset="-120"/>
              </a:rPr>
              <a:t>The decision table is driven by the survival probability, not by the point estimate of remaining life.</a:t>
            </a:r>
            <a:endParaRPr lang="en-US" sz="950" dirty="0"/>
          </a:p>
          <a:p>
            <a:pPr marL="342900" indent="-342900">
              <a:spcAft>
                <a:spcPts val="500"/>
              </a:spcAft>
              <a:buSzPct val="100000"/>
              <a:buChar char="▪"/>
            </a:pPr>
            <a:r>
              <a:rPr lang="en-US" sz="950" dirty="0">
                <a:solidFill>
                  <a:srgbClr val="1C2530"/>
                </a:solidFill>
                <a:latin typeface="Calibri" pitchFamily="34" charset="0"/>
                <a:ea typeface="Calibri" pitchFamily="34" charset="-122"/>
                <a:cs typeface="Calibri" pitchFamily="34" charset="-120"/>
              </a:rPr>
              <a:t>Moving the planned outage flips the recommendation with no change to the machine or its degradation at all.</a:t>
            </a:r>
            <a:endParaRPr lang="en-US" sz="950" dirty="0"/>
          </a:p>
          <a:p>
            <a:pPr marL="342900" indent="-342900">
              <a:spcAft>
                <a:spcPts val="500"/>
              </a:spcAft>
              <a:buSzPct val="100000"/>
              <a:buChar char="▪"/>
            </a:pPr>
            <a:r>
              <a:rPr lang="en-US" sz="950" dirty="0">
                <a:solidFill>
                  <a:srgbClr val="1C2530"/>
                </a:solidFill>
                <a:latin typeface="Calibri" pitchFamily="34" charset="0"/>
                <a:ea typeface="Calibri" pitchFamily="34" charset="-122"/>
                <a:cs typeface="Calibri" pitchFamily="34" charset="-120"/>
              </a:rPr>
              <a:t>The cost of a forced outage carries a share of the fixed-charge disallowance the station is already paying.</a:t>
            </a:r>
            <a:endParaRPr lang="en-US" sz="950" dirty="0"/>
          </a:p>
        </p:txBody>
      </p:sp>
      <p:sp>
        <p:nvSpPr>
          <p:cNvPr id="20" name="Shape 18"/>
          <p:cNvSpPr/>
          <p:nvPr/>
        </p:nvSpPr>
        <p:spPr>
          <a:xfrm>
            <a:off x="566928" y="5669280"/>
            <a:ext cx="11057839" cy="548640"/>
          </a:xfrm>
          <a:prstGeom prst="roundRect">
            <a:avLst>
              <a:gd name="adj" fmla="val 8333"/>
            </a:avLst>
          </a:prstGeom>
          <a:solidFill>
            <a:srgbClr val="FCEDE0"/>
          </a:solidFill>
          <a:ln w="12700">
            <a:solidFill>
              <a:srgbClr val="D96A16"/>
            </a:solidFill>
            <a:prstDash val="solid"/>
          </a:ln>
        </p:spPr>
      </p:sp>
      <p:sp>
        <p:nvSpPr>
          <p:cNvPr id="21" name="Text 19"/>
          <p:cNvSpPr/>
          <p:nvPr/>
        </p:nvSpPr>
        <p:spPr>
          <a:xfrm>
            <a:off x="768096" y="5669280"/>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The point estimate barely moves; the uncertainty band moves enormously. That is the lesson. A planner acts on the probability of reaching the outage already scheduled, and that number is worth more than any single date.</a:t>
            </a:r>
            <a:endParaRPr lang="en-US" sz="13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availability arithmetic</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What unavailability already cost us — June 2026, from our own bill</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3. Predictive maintenance</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49</a:t>
            </a:r>
            <a:endParaRPr lang="en-US" sz="95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8275320" cy="914400"/>
        </p:xfrm>
        <a:graphic>
          <a:graphicData uri="http://schemas.openxmlformats.org/drawingml/2006/table">
            <a:tbl>
              <a:tblPr/>
              <a:tblGrid>
                <a:gridCol w="1641472"/>
                <a:gridCol w="1588714"/>
                <a:gridCol w="1256897"/>
                <a:gridCol w="1735676"/>
                <a:gridCol w="2052562"/>
              </a:tblGrid>
              <a:tr h="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Station</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Availability %</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Normative %</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AFC disallowance ₹ cr</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Reading</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Koradi Units 8-10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72.50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85.00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28.04</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Largest single loss in the fleet</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Chandrapur Units 3-7</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64.88</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80.00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23.94</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Lower norm, still far short</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Khaperkheda Units 1-4</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57.85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85.00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21.75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Lowest availability in the fleet</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Chandrapur Units 8-9</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74.87</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85.00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11.75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Newer units, same shortfall</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Bhusawal Unit 6</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79.01</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85.00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7.88</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Six points from the norm</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Paras Units 3-4</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74.83</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85.00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5.74</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Ten points from the norm</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Koradi Unit 6</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75.46</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75.00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0.25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Norm is 75 % — essentially met</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Parli Unit 8</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97.40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85.00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0.00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Fleet best — the norm is achievable</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bl>
          </a:graphicData>
        </a:graphic>
      </p:graphicFrame>
      <p:sp>
        <p:nvSpPr>
          <p:cNvPr id="8" name="Shape 5"/>
          <p:cNvSpPr/>
          <p:nvPr/>
        </p:nvSpPr>
        <p:spPr>
          <a:xfrm>
            <a:off x="9116568" y="1627632"/>
            <a:ext cx="2508199" cy="2331720"/>
          </a:xfrm>
          <a:prstGeom prst="roundRect">
            <a:avLst>
              <a:gd name="adj" fmla="val 2353"/>
            </a:avLst>
          </a:prstGeom>
          <a:solidFill>
            <a:srgbClr val="1C253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9" name="Text 6"/>
          <p:cNvSpPr/>
          <p:nvPr/>
        </p:nvSpPr>
        <p:spPr>
          <a:xfrm>
            <a:off x="9226296" y="2011680"/>
            <a:ext cx="2288743" cy="822960"/>
          </a:xfrm>
          <a:prstGeom prst="rect">
            <a:avLst/>
          </a:prstGeom>
          <a:noFill/>
          <a:ln/>
        </p:spPr>
        <p:txBody>
          <a:bodyPr wrap="square" lIns="0" tIns="0" rIns="0" bIns="0" rtlCol="0" anchor="ctr"/>
          <a:lstStyle/>
          <a:p>
            <a:pPr algn="ctr" indent="0" marL="0">
              <a:buNone/>
            </a:pPr>
            <a:r>
              <a:rPr lang="en-US" sz="3600" b="1" dirty="0">
                <a:solidFill>
                  <a:srgbClr val="D96A16"/>
                </a:solidFill>
                <a:latin typeface="Cambria" pitchFamily="34" charset="0"/>
                <a:ea typeface="Cambria" pitchFamily="34" charset="-122"/>
                <a:cs typeface="Cambria" pitchFamily="34" charset="-120"/>
              </a:rPr>
              <a:t>₹100.87 crore</a:t>
            </a:r>
            <a:endParaRPr lang="en-US" sz="3600" dirty="0"/>
          </a:p>
        </p:txBody>
      </p:sp>
      <p:sp>
        <p:nvSpPr>
          <p:cNvPr id="10" name="Text 7"/>
          <p:cNvSpPr/>
          <p:nvPr/>
        </p:nvSpPr>
        <p:spPr>
          <a:xfrm>
            <a:off x="9317736" y="2852928"/>
            <a:ext cx="2105863" cy="1005840"/>
          </a:xfrm>
          <a:prstGeom prst="rect">
            <a:avLst/>
          </a:prstGeom>
          <a:noFill/>
          <a:ln/>
        </p:spPr>
        <p:txBody>
          <a:bodyPr wrap="square" lIns="0" tIns="0" rIns="0" bIns="0" rtlCol="0" anchor="ctr"/>
          <a:lstStyle/>
          <a:p>
            <a:pPr algn="ctr" indent="0" marL="0">
              <a:buNone/>
            </a:pPr>
            <a:r>
              <a:rPr lang="en-US" sz="1200" dirty="0">
                <a:solidFill>
                  <a:srgbClr val="C3CFDA"/>
                </a:solidFill>
                <a:latin typeface="Calibri" pitchFamily="34" charset="0"/>
                <a:ea typeface="Calibri" pitchFamily="34" charset="-122"/>
                <a:cs typeface="Calibri" pitchFamily="34" charset="-120"/>
              </a:rPr>
              <a:t>cumulative fixed-charge disallowance for availability shortfall, of which ₹32.93 crore was adjusted in June alone</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What predictive maintenance needs from the organisation</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technical part is the smaller half — this is where programmes are actually won</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3. Predictive maintenance</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50</a:t>
            </a:r>
            <a:endParaRPr lang="en-US" sz="950" dirty="0"/>
          </a:p>
        </p:txBody>
      </p:sp>
      <p:sp>
        <p:nvSpPr>
          <p:cNvPr id="7" name="Shape 5"/>
          <p:cNvSpPr/>
          <p:nvPr/>
        </p:nvSpPr>
        <p:spPr>
          <a:xfrm>
            <a:off x="566928" y="1627632"/>
            <a:ext cx="5391760" cy="3429000"/>
          </a:xfrm>
          <a:prstGeom prst="roundRect">
            <a:avLst>
              <a:gd name="adj" fmla="val 1600"/>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5391760" cy="493776"/>
          </a:xfrm>
          <a:prstGeom prst="roundRect">
            <a:avLst>
              <a:gd name="adj" fmla="val 9259"/>
            </a:avLst>
          </a:prstGeom>
          <a:solidFill>
            <a:srgbClr val="2A3644"/>
          </a:solidFill>
          <a:ln/>
        </p:spPr>
      </p:sp>
      <p:sp>
        <p:nvSpPr>
          <p:cNvPr id="9" name="Text 7"/>
          <p:cNvSpPr/>
          <p:nvPr/>
        </p:nvSpPr>
        <p:spPr>
          <a:xfrm>
            <a:off x="786384" y="1627632"/>
            <a:ext cx="4980280" cy="49377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alert-to-work-order loop</a:t>
            </a:r>
            <a:endParaRPr lang="en-US" sz="1400" dirty="0"/>
          </a:p>
        </p:txBody>
      </p:sp>
      <p:sp>
        <p:nvSpPr>
          <p:cNvPr id="10" name="Text 8"/>
          <p:cNvSpPr/>
          <p:nvPr/>
        </p:nvSpPr>
        <p:spPr>
          <a:xfrm>
            <a:off x="804672" y="2267712"/>
            <a:ext cx="4916272" cy="265176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One named engineer owns triage, with a defined response time per criticality</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Every alert carries its evidence — the signals, the residual and the trend — into the notification</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A model alert becomes a CMMS notification, not an email that dies in an inbox</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Every alert is closed with a finding: confirmed, not confirmed, or not inspected</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Findings go back to the model owner monthly — that is the only way accuracy improves</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Alert quality is reviewed as a number, the same way trip statistics are</a:t>
            </a:r>
            <a:endParaRPr lang="en-US" sz="1050" dirty="0"/>
          </a:p>
        </p:txBody>
      </p:sp>
      <p:sp>
        <p:nvSpPr>
          <p:cNvPr id="11" name="Shape 9"/>
          <p:cNvSpPr/>
          <p:nvPr/>
        </p:nvSpPr>
        <p:spPr>
          <a:xfrm>
            <a:off x="6233008" y="1627632"/>
            <a:ext cx="5391760" cy="3429000"/>
          </a:xfrm>
          <a:prstGeom prst="roundRect">
            <a:avLst>
              <a:gd name="adj" fmla="val 1600"/>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233008" y="1627632"/>
            <a:ext cx="5391760" cy="493776"/>
          </a:xfrm>
          <a:prstGeom prst="roundRect">
            <a:avLst>
              <a:gd name="adj" fmla="val 9259"/>
            </a:avLst>
          </a:prstGeom>
          <a:solidFill>
            <a:srgbClr val="11707F"/>
          </a:solidFill>
          <a:ln/>
        </p:spPr>
      </p:sp>
      <p:sp>
        <p:nvSpPr>
          <p:cNvPr id="13" name="Text 11"/>
          <p:cNvSpPr/>
          <p:nvPr/>
        </p:nvSpPr>
        <p:spPr>
          <a:xfrm>
            <a:off x="6452464" y="1627632"/>
            <a:ext cx="4980280" cy="49377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What has to change around it</a:t>
            </a:r>
            <a:endParaRPr lang="en-US" sz="1400" dirty="0"/>
          </a:p>
        </p:txBody>
      </p:sp>
      <p:sp>
        <p:nvSpPr>
          <p:cNvPr id="14" name="Text 12"/>
          <p:cNvSpPr/>
          <p:nvPr/>
        </p:nvSpPr>
        <p:spPr>
          <a:xfrm>
            <a:off x="6470752" y="2267712"/>
            <a:ext cx="4916272" cy="265176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Spares policy — condition-based means the part is staged before the outage, not ordered after</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Outage scope is built partly from model output, and something must come off the list in exchange</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Instrumentation gaps are funded as part of the programme, not deferred to next year</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Two trained people per station, so the programme survives a transfer</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Contract and warranty terms updated where a vendor is doing the monitoring</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A written rule that no model output enters protection or interlock logic</a:t>
            </a:r>
            <a:endParaRPr lang="en-US" sz="1050" dirty="0"/>
          </a:p>
        </p:txBody>
      </p:sp>
      <p:sp>
        <p:nvSpPr>
          <p:cNvPr id="15" name="Shape 13"/>
          <p:cNvSpPr/>
          <p:nvPr/>
        </p:nvSpPr>
        <p:spPr>
          <a:xfrm>
            <a:off x="566928" y="52395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2395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An alert that does not become a work order has cost you money and earned nothing. The loop is the programme.</a:t>
            </a:r>
            <a:endParaRPr lang="en-US" sz="13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Why predictive maintenance programmes fail</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Eight failures seen repeatedly across the industry, and what prevents each one</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3. Predictive maintenance</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51</a:t>
            </a:r>
            <a:endParaRPr lang="en-US" sz="950" dirty="0"/>
          </a:p>
        </p:txBody>
      </p:sp>
      <p:sp>
        <p:nvSpPr>
          <p:cNvPr id="7" name="Text 5"/>
          <p:cNvSpPr/>
          <p:nvPr/>
        </p:nvSpPr>
        <p:spPr>
          <a:xfrm>
            <a:off x="786384" y="1627632"/>
            <a:ext cx="4572000" cy="274320"/>
          </a:xfrm>
          <a:prstGeom prst="rect">
            <a:avLst/>
          </a:prstGeom>
          <a:noFill/>
          <a:ln/>
        </p:spPr>
        <p:txBody>
          <a:bodyPr wrap="square" lIns="0" tIns="0" rIns="0" bIns="0" rtlCol="0" anchor="ctr"/>
          <a:lstStyle/>
          <a:p>
            <a:pPr indent="0" marL="0">
              <a:buNone/>
            </a:pPr>
            <a:r>
              <a:rPr lang="en-US" sz="1050" b="1" spc="120" kern="0" dirty="0">
                <a:solidFill>
                  <a:srgbClr val="A8261E"/>
                </a:solidFill>
                <a:latin typeface="Calibri" pitchFamily="34" charset="0"/>
                <a:ea typeface="Calibri" pitchFamily="34" charset="-122"/>
                <a:cs typeface="Calibri" pitchFamily="34" charset="-120"/>
              </a:rPr>
              <a:t>WHY IT FAILED</a:t>
            </a:r>
            <a:endParaRPr lang="en-US" sz="1050" dirty="0"/>
          </a:p>
        </p:txBody>
      </p:sp>
      <p:sp>
        <p:nvSpPr>
          <p:cNvPr id="8" name="Text 6"/>
          <p:cNvSpPr/>
          <p:nvPr/>
        </p:nvSpPr>
        <p:spPr>
          <a:xfrm>
            <a:off x="6117336" y="1627632"/>
            <a:ext cx="5486400" cy="274320"/>
          </a:xfrm>
          <a:prstGeom prst="rect">
            <a:avLst/>
          </a:prstGeom>
          <a:noFill/>
          <a:ln/>
        </p:spPr>
        <p:txBody>
          <a:bodyPr wrap="square" lIns="0" tIns="0" rIns="0" bIns="0" rtlCol="0" anchor="ctr"/>
          <a:lstStyle/>
          <a:p>
            <a:pPr indent="0" marL="0">
              <a:buNone/>
            </a:pPr>
            <a:r>
              <a:rPr lang="en-US" sz="1050" b="1" spc="120" kern="0" dirty="0">
                <a:solidFill>
                  <a:srgbClr val="256B45"/>
                </a:solidFill>
                <a:latin typeface="Calibri" pitchFamily="34" charset="0"/>
                <a:ea typeface="Calibri" pitchFamily="34" charset="-122"/>
                <a:cs typeface="Calibri" pitchFamily="34" charset="-120"/>
              </a:rPr>
              <a:t>WHAT PREVENTS IT</a:t>
            </a:r>
            <a:endParaRPr lang="en-US" sz="1050" dirty="0"/>
          </a:p>
        </p:txBody>
      </p:sp>
      <p:sp>
        <p:nvSpPr>
          <p:cNvPr id="9" name="Shape 7"/>
          <p:cNvSpPr/>
          <p:nvPr/>
        </p:nvSpPr>
        <p:spPr>
          <a:xfrm>
            <a:off x="566928" y="1956816"/>
            <a:ext cx="5074920" cy="371475"/>
          </a:xfrm>
          <a:prstGeom prst="roundRect">
            <a:avLst>
              <a:gd name="adj" fmla="val 14769"/>
            </a:avLst>
          </a:prstGeom>
          <a:solidFill>
            <a:srgbClr val="F9E7E5"/>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0" name="Text 8"/>
          <p:cNvSpPr/>
          <p:nvPr/>
        </p:nvSpPr>
        <p:spPr>
          <a:xfrm>
            <a:off x="768096" y="1956816"/>
            <a:ext cx="4709160" cy="371475"/>
          </a:xfrm>
          <a:prstGeom prst="rect">
            <a:avLst/>
          </a:prstGeom>
          <a:noFill/>
          <a:ln/>
        </p:spPr>
        <p:txBody>
          <a:bodyPr wrap="square" lIns="0" tIns="0" rIns="0" bIns="0" rtlCol="0" anchor="ctr"/>
          <a:lstStyle/>
          <a:p>
            <a:pPr indent="0" marL="0">
              <a:buNone/>
            </a:pPr>
            <a:r>
              <a:rPr lang="en-US" sz="1230" dirty="0">
                <a:solidFill>
                  <a:srgbClr val="7A1C16"/>
                </a:solidFill>
                <a:latin typeface="Calibri" pitchFamily="34" charset="0"/>
                <a:ea typeface="Calibri" pitchFamily="34" charset="-122"/>
                <a:cs typeface="Calibri" pitchFamily="34" charset="-120"/>
              </a:rPr>
              <a:t>Trained on history that contained the fault</a:t>
            </a:r>
            <a:endParaRPr lang="en-US" sz="1230" dirty="0"/>
          </a:p>
        </p:txBody>
      </p:sp>
      <p:sp>
        <p:nvSpPr>
          <p:cNvPr id="11" name="Shape 9"/>
          <p:cNvSpPr/>
          <p:nvPr/>
        </p:nvSpPr>
        <p:spPr>
          <a:xfrm rot="5400000">
            <a:off x="5715000" y="2041970"/>
            <a:ext cx="137160" cy="219456"/>
          </a:xfrm>
          <a:prstGeom prst="triangle">
            <a:avLst/>
          </a:prstGeom>
          <a:solidFill>
            <a:srgbClr val="5C6B7A"/>
          </a:solidFill>
          <a:ln/>
        </p:spPr>
      </p:sp>
      <p:sp>
        <p:nvSpPr>
          <p:cNvPr id="12" name="Shape 10"/>
          <p:cNvSpPr/>
          <p:nvPr/>
        </p:nvSpPr>
        <p:spPr>
          <a:xfrm>
            <a:off x="5916168" y="1956816"/>
            <a:ext cx="5708599" cy="371475"/>
          </a:xfrm>
          <a:prstGeom prst="roundRect">
            <a:avLst>
              <a:gd name="adj" fmla="val 14769"/>
            </a:avLst>
          </a:prstGeom>
          <a:solidFill>
            <a:srgbClr val="E4F0EA"/>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Text 11"/>
          <p:cNvSpPr/>
          <p:nvPr/>
        </p:nvSpPr>
        <p:spPr>
          <a:xfrm>
            <a:off x="6117336" y="1956816"/>
            <a:ext cx="5297119" cy="371475"/>
          </a:xfrm>
          <a:prstGeom prst="rect">
            <a:avLst/>
          </a:prstGeom>
          <a:noFill/>
          <a:ln/>
        </p:spPr>
        <p:txBody>
          <a:bodyPr wrap="square" lIns="0" tIns="0" rIns="0" bIns="0" rtlCol="0" anchor="ctr"/>
          <a:lstStyle/>
          <a:p>
            <a:pPr indent="0" marL="0">
              <a:buNone/>
            </a:pPr>
            <a:r>
              <a:rPr lang="en-US" sz="1230" dirty="0">
                <a:solidFill>
                  <a:srgbClr val="1B4E32"/>
                </a:solidFill>
                <a:latin typeface="Calibri" pitchFamily="34" charset="0"/>
                <a:ea typeface="Calibri" pitchFamily="34" charset="-122"/>
                <a:cs typeface="Calibri" pitchFamily="34" charset="-120"/>
              </a:rPr>
              <a:t>Check the training window against CMMS work orders first</a:t>
            </a:r>
            <a:endParaRPr lang="en-US" sz="1230" dirty="0"/>
          </a:p>
        </p:txBody>
      </p:sp>
      <p:sp>
        <p:nvSpPr>
          <p:cNvPr id="14" name="Shape 12"/>
          <p:cNvSpPr/>
          <p:nvPr/>
        </p:nvSpPr>
        <p:spPr>
          <a:xfrm>
            <a:off x="566928" y="2401443"/>
            <a:ext cx="5074920" cy="371475"/>
          </a:xfrm>
          <a:prstGeom prst="roundRect">
            <a:avLst>
              <a:gd name="adj" fmla="val 14769"/>
            </a:avLst>
          </a:prstGeom>
          <a:solidFill>
            <a:srgbClr val="F9E7E5"/>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5" name="Text 13"/>
          <p:cNvSpPr/>
          <p:nvPr/>
        </p:nvSpPr>
        <p:spPr>
          <a:xfrm>
            <a:off x="768096" y="2401443"/>
            <a:ext cx="4709160" cy="371475"/>
          </a:xfrm>
          <a:prstGeom prst="rect">
            <a:avLst/>
          </a:prstGeom>
          <a:noFill/>
          <a:ln/>
        </p:spPr>
        <p:txBody>
          <a:bodyPr wrap="square" lIns="0" tIns="0" rIns="0" bIns="0" rtlCol="0" anchor="ctr"/>
          <a:lstStyle/>
          <a:p>
            <a:pPr indent="0" marL="0">
              <a:buNone/>
            </a:pPr>
            <a:r>
              <a:rPr lang="en-US" sz="1230" dirty="0">
                <a:solidFill>
                  <a:srgbClr val="7A1C16"/>
                </a:solidFill>
                <a:latin typeface="Calibri" pitchFamily="34" charset="0"/>
                <a:ea typeface="Calibri" pitchFamily="34" charset="-122"/>
                <a:cs typeface="Calibri" pitchFamily="34" charset="-120"/>
              </a:rPr>
              <a:t>Alerts went to an inbox nobody owned</a:t>
            </a:r>
            <a:endParaRPr lang="en-US" sz="1230" dirty="0"/>
          </a:p>
        </p:txBody>
      </p:sp>
      <p:sp>
        <p:nvSpPr>
          <p:cNvPr id="16" name="Shape 14"/>
          <p:cNvSpPr/>
          <p:nvPr/>
        </p:nvSpPr>
        <p:spPr>
          <a:xfrm rot="5400000">
            <a:off x="5715000" y="2486597"/>
            <a:ext cx="137160" cy="219456"/>
          </a:xfrm>
          <a:prstGeom prst="triangle">
            <a:avLst/>
          </a:prstGeom>
          <a:solidFill>
            <a:srgbClr val="5C6B7A"/>
          </a:solidFill>
          <a:ln/>
        </p:spPr>
      </p:sp>
      <p:sp>
        <p:nvSpPr>
          <p:cNvPr id="17" name="Shape 15"/>
          <p:cNvSpPr/>
          <p:nvPr/>
        </p:nvSpPr>
        <p:spPr>
          <a:xfrm>
            <a:off x="5916168" y="2401443"/>
            <a:ext cx="5708599" cy="371475"/>
          </a:xfrm>
          <a:prstGeom prst="roundRect">
            <a:avLst>
              <a:gd name="adj" fmla="val 14769"/>
            </a:avLst>
          </a:prstGeom>
          <a:solidFill>
            <a:srgbClr val="E4F0EA"/>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8" name="Text 16"/>
          <p:cNvSpPr/>
          <p:nvPr/>
        </p:nvSpPr>
        <p:spPr>
          <a:xfrm>
            <a:off x="6117336" y="2401443"/>
            <a:ext cx="5297119" cy="371475"/>
          </a:xfrm>
          <a:prstGeom prst="rect">
            <a:avLst/>
          </a:prstGeom>
          <a:noFill/>
          <a:ln/>
        </p:spPr>
        <p:txBody>
          <a:bodyPr wrap="square" lIns="0" tIns="0" rIns="0" bIns="0" rtlCol="0" anchor="ctr"/>
          <a:lstStyle/>
          <a:p>
            <a:pPr indent="0" marL="0">
              <a:buNone/>
            </a:pPr>
            <a:r>
              <a:rPr lang="en-US" sz="1230" dirty="0">
                <a:solidFill>
                  <a:srgbClr val="1B4E32"/>
                </a:solidFill>
                <a:latin typeface="Calibri" pitchFamily="34" charset="0"/>
                <a:ea typeface="Calibri" pitchFamily="34" charset="-122"/>
                <a:cs typeface="Calibri" pitchFamily="34" charset="-120"/>
              </a:rPr>
              <a:t>One named triage engineer and a response time in writing</a:t>
            </a:r>
            <a:endParaRPr lang="en-US" sz="1230" dirty="0"/>
          </a:p>
        </p:txBody>
      </p:sp>
      <p:sp>
        <p:nvSpPr>
          <p:cNvPr id="19" name="Shape 17"/>
          <p:cNvSpPr/>
          <p:nvPr/>
        </p:nvSpPr>
        <p:spPr>
          <a:xfrm>
            <a:off x="566928" y="2846070"/>
            <a:ext cx="5074920" cy="371475"/>
          </a:xfrm>
          <a:prstGeom prst="roundRect">
            <a:avLst>
              <a:gd name="adj" fmla="val 14769"/>
            </a:avLst>
          </a:prstGeom>
          <a:solidFill>
            <a:srgbClr val="F9E7E5"/>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Text 18"/>
          <p:cNvSpPr/>
          <p:nvPr/>
        </p:nvSpPr>
        <p:spPr>
          <a:xfrm>
            <a:off x="768096" y="2846070"/>
            <a:ext cx="4709160" cy="371475"/>
          </a:xfrm>
          <a:prstGeom prst="rect">
            <a:avLst/>
          </a:prstGeom>
          <a:noFill/>
          <a:ln/>
        </p:spPr>
        <p:txBody>
          <a:bodyPr wrap="square" lIns="0" tIns="0" rIns="0" bIns="0" rtlCol="0" anchor="ctr"/>
          <a:lstStyle/>
          <a:p>
            <a:pPr indent="0" marL="0">
              <a:buNone/>
            </a:pPr>
            <a:r>
              <a:rPr lang="en-US" sz="1230" dirty="0">
                <a:solidFill>
                  <a:srgbClr val="7A1C16"/>
                </a:solidFill>
                <a:latin typeface="Calibri" pitchFamily="34" charset="0"/>
                <a:ea typeface="Calibri" pitchFamily="34" charset="-122"/>
                <a:cs typeface="Calibri" pitchFamily="34" charset="-120"/>
              </a:rPr>
              <a:t>Too many alerts in the first fortnight</a:t>
            </a:r>
            <a:endParaRPr lang="en-US" sz="1230" dirty="0"/>
          </a:p>
        </p:txBody>
      </p:sp>
      <p:sp>
        <p:nvSpPr>
          <p:cNvPr id="21" name="Shape 19"/>
          <p:cNvSpPr/>
          <p:nvPr/>
        </p:nvSpPr>
        <p:spPr>
          <a:xfrm rot="5400000">
            <a:off x="5715000" y="2931224"/>
            <a:ext cx="137160" cy="219456"/>
          </a:xfrm>
          <a:prstGeom prst="triangle">
            <a:avLst/>
          </a:prstGeom>
          <a:solidFill>
            <a:srgbClr val="5C6B7A"/>
          </a:solidFill>
          <a:ln/>
        </p:spPr>
      </p:sp>
      <p:sp>
        <p:nvSpPr>
          <p:cNvPr id="22" name="Shape 20"/>
          <p:cNvSpPr/>
          <p:nvPr/>
        </p:nvSpPr>
        <p:spPr>
          <a:xfrm>
            <a:off x="5916168" y="2846070"/>
            <a:ext cx="5708599" cy="371475"/>
          </a:xfrm>
          <a:prstGeom prst="roundRect">
            <a:avLst>
              <a:gd name="adj" fmla="val 14769"/>
            </a:avLst>
          </a:prstGeom>
          <a:solidFill>
            <a:srgbClr val="E4F0EA"/>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3" name="Text 21"/>
          <p:cNvSpPr/>
          <p:nvPr/>
        </p:nvSpPr>
        <p:spPr>
          <a:xfrm>
            <a:off x="6117336" y="2846070"/>
            <a:ext cx="5297119" cy="371475"/>
          </a:xfrm>
          <a:prstGeom prst="rect">
            <a:avLst/>
          </a:prstGeom>
          <a:noFill/>
          <a:ln/>
        </p:spPr>
        <p:txBody>
          <a:bodyPr wrap="square" lIns="0" tIns="0" rIns="0" bIns="0" rtlCol="0" anchor="ctr"/>
          <a:lstStyle/>
          <a:p>
            <a:pPr indent="0" marL="0">
              <a:buNone/>
            </a:pPr>
            <a:r>
              <a:rPr lang="en-US" sz="1230" dirty="0">
                <a:solidFill>
                  <a:srgbClr val="1B4E32"/>
                </a:solidFill>
                <a:latin typeface="Calibri" pitchFamily="34" charset="0"/>
                <a:ea typeface="Calibri" pitchFamily="34" charset="-122"/>
                <a:cs typeface="Calibri" pitchFamily="34" charset="-120"/>
              </a:rPr>
              <a:t>Start with three machines and tune persistence before more</a:t>
            </a:r>
            <a:endParaRPr lang="en-US" sz="1230" dirty="0"/>
          </a:p>
        </p:txBody>
      </p:sp>
      <p:sp>
        <p:nvSpPr>
          <p:cNvPr id="24" name="Shape 22"/>
          <p:cNvSpPr/>
          <p:nvPr/>
        </p:nvSpPr>
        <p:spPr>
          <a:xfrm>
            <a:off x="566928" y="3290697"/>
            <a:ext cx="5074920" cy="371475"/>
          </a:xfrm>
          <a:prstGeom prst="roundRect">
            <a:avLst>
              <a:gd name="adj" fmla="val 14769"/>
            </a:avLst>
          </a:prstGeom>
          <a:solidFill>
            <a:srgbClr val="F9E7E5"/>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5" name="Text 23"/>
          <p:cNvSpPr/>
          <p:nvPr/>
        </p:nvSpPr>
        <p:spPr>
          <a:xfrm>
            <a:off x="768096" y="3290697"/>
            <a:ext cx="4709160" cy="371475"/>
          </a:xfrm>
          <a:prstGeom prst="rect">
            <a:avLst/>
          </a:prstGeom>
          <a:noFill/>
          <a:ln/>
        </p:spPr>
        <p:txBody>
          <a:bodyPr wrap="square" lIns="0" tIns="0" rIns="0" bIns="0" rtlCol="0" anchor="ctr"/>
          <a:lstStyle/>
          <a:p>
            <a:pPr indent="0" marL="0">
              <a:buNone/>
            </a:pPr>
            <a:r>
              <a:rPr lang="en-US" sz="1230" dirty="0">
                <a:solidFill>
                  <a:srgbClr val="7A1C16"/>
                </a:solidFill>
                <a:latin typeface="Calibri" pitchFamily="34" charset="0"/>
                <a:ea typeface="Calibri" pitchFamily="34" charset="-122"/>
                <a:cs typeface="Calibri" pitchFamily="34" charset="-120"/>
              </a:rPr>
              <a:t>No feedback on what the alert found</a:t>
            </a:r>
            <a:endParaRPr lang="en-US" sz="1230" dirty="0"/>
          </a:p>
        </p:txBody>
      </p:sp>
      <p:sp>
        <p:nvSpPr>
          <p:cNvPr id="26" name="Shape 24"/>
          <p:cNvSpPr/>
          <p:nvPr/>
        </p:nvSpPr>
        <p:spPr>
          <a:xfrm rot="5400000">
            <a:off x="5715000" y="3375851"/>
            <a:ext cx="137160" cy="219456"/>
          </a:xfrm>
          <a:prstGeom prst="triangle">
            <a:avLst/>
          </a:prstGeom>
          <a:solidFill>
            <a:srgbClr val="5C6B7A"/>
          </a:solidFill>
          <a:ln/>
        </p:spPr>
      </p:sp>
      <p:sp>
        <p:nvSpPr>
          <p:cNvPr id="27" name="Shape 25"/>
          <p:cNvSpPr/>
          <p:nvPr/>
        </p:nvSpPr>
        <p:spPr>
          <a:xfrm>
            <a:off x="5916168" y="3290697"/>
            <a:ext cx="5708599" cy="371475"/>
          </a:xfrm>
          <a:prstGeom prst="roundRect">
            <a:avLst>
              <a:gd name="adj" fmla="val 14769"/>
            </a:avLst>
          </a:prstGeom>
          <a:solidFill>
            <a:srgbClr val="E4F0EA"/>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Text 26"/>
          <p:cNvSpPr/>
          <p:nvPr/>
        </p:nvSpPr>
        <p:spPr>
          <a:xfrm>
            <a:off x="6117336" y="3290697"/>
            <a:ext cx="5297119" cy="371475"/>
          </a:xfrm>
          <a:prstGeom prst="rect">
            <a:avLst/>
          </a:prstGeom>
          <a:noFill/>
          <a:ln/>
        </p:spPr>
        <p:txBody>
          <a:bodyPr wrap="square" lIns="0" tIns="0" rIns="0" bIns="0" rtlCol="0" anchor="ctr"/>
          <a:lstStyle/>
          <a:p>
            <a:pPr indent="0" marL="0">
              <a:buNone/>
            </a:pPr>
            <a:r>
              <a:rPr lang="en-US" sz="1230" dirty="0">
                <a:solidFill>
                  <a:srgbClr val="1B4E32"/>
                </a:solidFill>
                <a:latin typeface="Calibri" pitchFamily="34" charset="0"/>
                <a:ea typeface="Calibri" pitchFamily="34" charset="-122"/>
                <a:cs typeface="Calibri" pitchFamily="34" charset="-120"/>
              </a:rPr>
              <a:t>Close each alert: confirmed, not confirmed, or not inspected</a:t>
            </a:r>
            <a:endParaRPr lang="en-US" sz="1230" dirty="0"/>
          </a:p>
        </p:txBody>
      </p:sp>
      <p:sp>
        <p:nvSpPr>
          <p:cNvPr id="29" name="Shape 27"/>
          <p:cNvSpPr/>
          <p:nvPr/>
        </p:nvSpPr>
        <p:spPr>
          <a:xfrm>
            <a:off x="566928" y="3735324"/>
            <a:ext cx="5074920" cy="371475"/>
          </a:xfrm>
          <a:prstGeom prst="roundRect">
            <a:avLst>
              <a:gd name="adj" fmla="val 14769"/>
            </a:avLst>
          </a:prstGeom>
          <a:solidFill>
            <a:srgbClr val="F9E7E5"/>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0" name="Text 28"/>
          <p:cNvSpPr/>
          <p:nvPr/>
        </p:nvSpPr>
        <p:spPr>
          <a:xfrm>
            <a:off x="768096" y="3735324"/>
            <a:ext cx="4709160" cy="371475"/>
          </a:xfrm>
          <a:prstGeom prst="rect">
            <a:avLst/>
          </a:prstGeom>
          <a:noFill/>
          <a:ln/>
        </p:spPr>
        <p:txBody>
          <a:bodyPr wrap="square" lIns="0" tIns="0" rIns="0" bIns="0" rtlCol="0" anchor="ctr"/>
          <a:lstStyle/>
          <a:p>
            <a:pPr indent="0" marL="0">
              <a:buNone/>
            </a:pPr>
            <a:r>
              <a:rPr lang="en-US" sz="1230" dirty="0">
                <a:solidFill>
                  <a:srgbClr val="7A1C16"/>
                </a:solidFill>
                <a:latin typeface="Calibri" pitchFamily="34" charset="0"/>
                <a:ea typeface="Calibri" pitchFamily="34" charset="-122"/>
                <a:cs typeface="Calibri" pitchFamily="34" charset="-120"/>
              </a:rPr>
              <a:t>Transmitter replaced, model never retrained</a:t>
            </a:r>
            <a:endParaRPr lang="en-US" sz="1230" dirty="0"/>
          </a:p>
        </p:txBody>
      </p:sp>
      <p:sp>
        <p:nvSpPr>
          <p:cNvPr id="31" name="Shape 29"/>
          <p:cNvSpPr/>
          <p:nvPr/>
        </p:nvSpPr>
        <p:spPr>
          <a:xfrm rot="5400000">
            <a:off x="5715000" y="3820477"/>
            <a:ext cx="137160" cy="219456"/>
          </a:xfrm>
          <a:prstGeom prst="triangle">
            <a:avLst/>
          </a:prstGeom>
          <a:solidFill>
            <a:srgbClr val="5C6B7A"/>
          </a:solidFill>
          <a:ln/>
        </p:spPr>
      </p:sp>
      <p:sp>
        <p:nvSpPr>
          <p:cNvPr id="32" name="Shape 30"/>
          <p:cNvSpPr/>
          <p:nvPr/>
        </p:nvSpPr>
        <p:spPr>
          <a:xfrm>
            <a:off x="5916168" y="3735324"/>
            <a:ext cx="5708599" cy="371475"/>
          </a:xfrm>
          <a:prstGeom prst="roundRect">
            <a:avLst>
              <a:gd name="adj" fmla="val 14769"/>
            </a:avLst>
          </a:prstGeom>
          <a:solidFill>
            <a:srgbClr val="E4F0EA"/>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3" name="Text 31"/>
          <p:cNvSpPr/>
          <p:nvPr/>
        </p:nvSpPr>
        <p:spPr>
          <a:xfrm>
            <a:off x="6117336" y="3735324"/>
            <a:ext cx="5297119" cy="371475"/>
          </a:xfrm>
          <a:prstGeom prst="rect">
            <a:avLst/>
          </a:prstGeom>
          <a:noFill/>
          <a:ln/>
        </p:spPr>
        <p:txBody>
          <a:bodyPr wrap="square" lIns="0" tIns="0" rIns="0" bIns="0" rtlCol="0" anchor="ctr"/>
          <a:lstStyle/>
          <a:p>
            <a:pPr indent="0" marL="0">
              <a:buNone/>
            </a:pPr>
            <a:r>
              <a:rPr lang="en-US" sz="1230" dirty="0">
                <a:solidFill>
                  <a:srgbClr val="1B4E32"/>
                </a:solidFill>
                <a:latin typeface="Calibri" pitchFamily="34" charset="0"/>
                <a:ea typeface="Calibri" pitchFamily="34" charset="-122"/>
                <a:cs typeface="Calibri" pitchFamily="34" charset="-120"/>
              </a:rPr>
              <a:t>Instrument changes raise a model-review task automatically</a:t>
            </a:r>
            <a:endParaRPr lang="en-US" sz="1230" dirty="0"/>
          </a:p>
        </p:txBody>
      </p:sp>
      <p:sp>
        <p:nvSpPr>
          <p:cNvPr id="34" name="Shape 32"/>
          <p:cNvSpPr/>
          <p:nvPr/>
        </p:nvSpPr>
        <p:spPr>
          <a:xfrm>
            <a:off x="566928" y="4179951"/>
            <a:ext cx="5074920" cy="371475"/>
          </a:xfrm>
          <a:prstGeom prst="roundRect">
            <a:avLst>
              <a:gd name="adj" fmla="val 14769"/>
            </a:avLst>
          </a:prstGeom>
          <a:solidFill>
            <a:srgbClr val="F9E7E5"/>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5" name="Text 33"/>
          <p:cNvSpPr/>
          <p:nvPr/>
        </p:nvSpPr>
        <p:spPr>
          <a:xfrm>
            <a:off x="768096" y="4179951"/>
            <a:ext cx="4709160" cy="371475"/>
          </a:xfrm>
          <a:prstGeom prst="rect">
            <a:avLst/>
          </a:prstGeom>
          <a:noFill/>
          <a:ln/>
        </p:spPr>
        <p:txBody>
          <a:bodyPr wrap="square" lIns="0" tIns="0" rIns="0" bIns="0" rtlCol="0" anchor="ctr"/>
          <a:lstStyle/>
          <a:p>
            <a:pPr indent="0" marL="0">
              <a:buNone/>
            </a:pPr>
            <a:r>
              <a:rPr lang="en-US" sz="1230" dirty="0">
                <a:solidFill>
                  <a:srgbClr val="7A1C16"/>
                </a:solidFill>
                <a:latin typeface="Calibri" pitchFamily="34" charset="0"/>
                <a:ea typeface="Calibri" pitchFamily="34" charset="-122"/>
                <a:cs typeface="Calibri" pitchFamily="34" charset="-120"/>
              </a:rPr>
              <a:t>Model output could not reach the work order</a:t>
            </a:r>
            <a:endParaRPr lang="en-US" sz="1230" dirty="0"/>
          </a:p>
        </p:txBody>
      </p:sp>
      <p:sp>
        <p:nvSpPr>
          <p:cNvPr id="36" name="Shape 34"/>
          <p:cNvSpPr/>
          <p:nvPr/>
        </p:nvSpPr>
        <p:spPr>
          <a:xfrm rot="5400000">
            <a:off x="5715000" y="4265105"/>
            <a:ext cx="137160" cy="219456"/>
          </a:xfrm>
          <a:prstGeom prst="triangle">
            <a:avLst/>
          </a:prstGeom>
          <a:solidFill>
            <a:srgbClr val="5C6B7A"/>
          </a:solidFill>
          <a:ln/>
        </p:spPr>
      </p:sp>
      <p:sp>
        <p:nvSpPr>
          <p:cNvPr id="37" name="Shape 35"/>
          <p:cNvSpPr/>
          <p:nvPr/>
        </p:nvSpPr>
        <p:spPr>
          <a:xfrm>
            <a:off x="5916168" y="4179951"/>
            <a:ext cx="5708599" cy="371475"/>
          </a:xfrm>
          <a:prstGeom prst="roundRect">
            <a:avLst>
              <a:gd name="adj" fmla="val 14769"/>
            </a:avLst>
          </a:prstGeom>
          <a:solidFill>
            <a:srgbClr val="E4F0EA"/>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8" name="Text 36"/>
          <p:cNvSpPr/>
          <p:nvPr/>
        </p:nvSpPr>
        <p:spPr>
          <a:xfrm>
            <a:off x="6117336" y="4179951"/>
            <a:ext cx="5297119" cy="371475"/>
          </a:xfrm>
          <a:prstGeom prst="rect">
            <a:avLst/>
          </a:prstGeom>
          <a:noFill/>
          <a:ln/>
        </p:spPr>
        <p:txBody>
          <a:bodyPr wrap="square" lIns="0" tIns="0" rIns="0" bIns="0" rtlCol="0" anchor="ctr"/>
          <a:lstStyle/>
          <a:p>
            <a:pPr indent="0" marL="0">
              <a:buNone/>
            </a:pPr>
            <a:r>
              <a:rPr lang="en-US" sz="1230" dirty="0">
                <a:solidFill>
                  <a:srgbClr val="1B4E32"/>
                </a:solidFill>
                <a:latin typeface="Calibri" pitchFamily="34" charset="0"/>
                <a:ea typeface="Calibri" pitchFamily="34" charset="-122"/>
                <a:cs typeface="Calibri" pitchFamily="34" charset="-120"/>
              </a:rPr>
              <a:t>Build the historian-to-CMMS link inside the pilot, not after</a:t>
            </a:r>
            <a:endParaRPr lang="en-US" sz="1230" dirty="0"/>
          </a:p>
        </p:txBody>
      </p:sp>
      <p:sp>
        <p:nvSpPr>
          <p:cNvPr id="39" name="Shape 37"/>
          <p:cNvSpPr/>
          <p:nvPr/>
        </p:nvSpPr>
        <p:spPr>
          <a:xfrm>
            <a:off x="566928" y="4624578"/>
            <a:ext cx="5074920" cy="371475"/>
          </a:xfrm>
          <a:prstGeom prst="roundRect">
            <a:avLst>
              <a:gd name="adj" fmla="val 14769"/>
            </a:avLst>
          </a:prstGeom>
          <a:solidFill>
            <a:srgbClr val="F9E7E5"/>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40" name="Text 38"/>
          <p:cNvSpPr/>
          <p:nvPr/>
        </p:nvSpPr>
        <p:spPr>
          <a:xfrm>
            <a:off x="768096" y="4624578"/>
            <a:ext cx="4709160" cy="371475"/>
          </a:xfrm>
          <a:prstGeom prst="rect">
            <a:avLst/>
          </a:prstGeom>
          <a:noFill/>
          <a:ln/>
        </p:spPr>
        <p:txBody>
          <a:bodyPr wrap="square" lIns="0" tIns="0" rIns="0" bIns="0" rtlCol="0" anchor="ctr"/>
          <a:lstStyle/>
          <a:p>
            <a:pPr indent="0" marL="0">
              <a:buNone/>
            </a:pPr>
            <a:r>
              <a:rPr lang="en-US" sz="1230" dirty="0">
                <a:solidFill>
                  <a:srgbClr val="7A1C16"/>
                </a:solidFill>
                <a:latin typeface="Calibri" pitchFamily="34" charset="0"/>
                <a:ea typeface="Calibri" pitchFamily="34" charset="-122"/>
                <a:cs typeface="Calibri" pitchFamily="34" charset="-120"/>
              </a:rPr>
              <a:t>Pilot proved value, nobody funded scale-up</a:t>
            </a:r>
            <a:endParaRPr lang="en-US" sz="1230" dirty="0"/>
          </a:p>
        </p:txBody>
      </p:sp>
      <p:sp>
        <p:nvSpPr>
          <p:cNvPr id="41" name="Shape 39"/>
          <p:cNvSpPr/>
          <p:nvPr/>
        </p:nvSpPr>
        <p:spPr>
          <a:xfrm rot="5400000">
            <a:off x="5715000" y="4709732"/>
            <a:ext cx="137160" cy="219456"/>
          </a:xfrm>
          <a:prstGeom prst="triangle">
            <a:avLst/>
          </a:prstGeom>
          <a:solidFill>
            <a:srgbClr val="5C6B7A"/>
          </a:solidFill>
          <a:ln/>
        </p:spPr>
      </p:sp>
      <p:sp>
        <p:nvSpPr>
          <p:cNvPr id="42" name="Shape 40"/>
          <p:cNvSpPr/>
          <p:nvPr/>
        </p:nvSpPr>
        <p:spPr>
          <a:xfrm>
            <a:off x="5916168" y="4624578"/>
            <a:ext cx="5708599" cy="371475"/>
          </a:xfrm>
          <a:prstGeom prst="roundRect">
            <a:avLst>
              <a:gd name="adj" fmla="val 14769"/>
            </a:avLst>
          </a:prstGeom>
          <a:solidFill>
            <a:srgbClr val="E4F0EA"/>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43" name="Text 41"/>
          <p:cNvSpPr/>
          <p:nvPr/>
        </p:nvSpPr>
        <p:spPr>
          <a:xfrm>
            <a:off x="6117336" y="4624578"/>
            <a:ext cx="5297119" cy="371475"/>
          </a:xfrm>
          <a:prstGeom prst="rect">
            <a:avLst/>
          </a:prstGeom>
          <a:noFill/>
          <a:ln/>
        </p:spPr>
        <p:txBody>
          <a:bodyPr wrap="square" lIns="0" tIns="0" rIns="0" bIns="0" rtlCol="0" anchor="ctr"/>
          <a:lstStyle/>
          <a:p>
            <a:pPr indent="0" marL="0">
              <a:buNone/>
            </a:pPr>
            <a:r>
              <a:rPr lang="en-US" sz="1230" dirty="0">
                <a:solidFill>
                  <a:srgbClr val="1B4E32"/>
                </a:solidFill>
                <a:latin typeface="Calibri" pitchFamily="34" charset="0"/>
                <a:ea typeface="Calibri" pitchFamily="34" charset="-122"/>
                <a:cs typeface="Calibri" pitchFamily="34" charset="-120"/>
              </a:rPr>
              <a:t>Agree the scale-up trigger and budget before the pilot</a:t>
            </a:r>
            <a:endParaRPr lang="en-US" sz="1230" dirty="0"/>
          </a:p>
        </p:txBody>
      </p:sp>
      <p:sp>
        <p:nvSpPr>
          <p:cNvPr id="44" name="Shape 42"/>
          <p:cNvSpPr/>
          <p:nvPr/>
        </p:nvSpPr>
        <p:spPr>
          <a:xfrm>
            <a:off x="566928" y="5069205"/>
            <a:ext cx="5074920" cy="371475"/>
          </a:xfrm>
          <a:prstGeom prst="roundRect">
            <a:avLst>
              <a:gd name="adj" fmla="val 14769"/>
            </a:avLst>
          </a:prstGeom>
          <a:solidFill>
            <a:srgbClr val="F9E7E5"/>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45" name="Text 43"/>
          <p:cNvSpPr/>
          <p:nvPr/>
        </p:nvSpPr>
        <p:spPr>
          <a:xfrm>
            <a:off x="768096" y="5069205"/>
            <a:ext cx="4709160" cy="371475"/>
          </a:xfrm>
          <a:prstGeom prst="rect">
            <a:avLst/>
          </a:prstGeom>
          <a:noFill/>
          <a:ln/>
        </p:spPr>
        <p:txBody>
          <a:bodyPr wrap="square" lIns="0" tIns="0" rIns="0" bIns="0" rtlCol="0" anchor="ctr"/>
          <a:lstStyle/>
          <a:p>
            <a:pPr indent="0" marL="0">
              <a:buNone/>
            </a:pPr>
            <a:r>
              <a:rPr lang="en-US" sz="1230" dirty="0">
                <a:solidFill>
                  <a:srgbClr val="7A1C16"/>
                </a:solidFill>
                <a:latin typeface="Calibri" pitchFamily="34" charset="0"/>
                <a:ea typeface="Calibri" pitchFamily="34" charset="-122"/>
                <a:cs typeface="Calibri" pitchFamily="34" charset="-120"/>
              </a:rPr>
              <a:t>The one engineer who understood it moved</a:t>
            </a:r>
            <a:endParaRPr lang="en-US" sz="1230" dirty="0"/>
          </a:p>
        </p:txBody>
      </p:sp>
      <p:sp>
        <p:nvSpPr>
          <p:cNvPr id="46" name="Shape 44"/>
          <p:cNvSpPr/>
          <p:nvPr/>
        </p:nvSpPr>
        <p:spPr>
          <a:xfrm rot="5400000">
            <a:off x="5715000" y="5154359"/>
            <a:ext cx="137160" cy="219456"/>
          </a:xfrm>
          <a:prstGeom prst="triangle">
            <a:avLst/>
          </a:prstGeom>
          <a:solidFill>
            <a:srgbClr val="5C6B7A"/>
          </a:solidFill>
          <a:ln/>
        </p:spPr>
      </p:sp>
      <p:sp>
        <p:nvSpPr>
          <p:cNvPr id="47" name="Shape 45"/>
          <p:cNvSpPr/>
          <p:nvPr/>
        </p:nvSpPr>
        <p:spPr>
          <a:xfrm>
            <a:off x="5916168" y="5069205"/>
            <a:ext cx="5708599" cy="371475"/>
          </a:xfrm>
          <a:prstGeom prst="roundRect">
            <a:avLst>
              <a:gd name="adj" fmla="val 14769"/>
            </a:avLst>
          </a:prstGeom>
          <a:solidFill>
            <a:srgbClr val="E4F0EA"/>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48" name="Text 46"/>
          <p:cNvSpPr/>
          <p:nvPr/>
        </p:nvSpPr>
        <p:spPr>
          <a:xfrm>
            <a:off x="6117336" y="5069205"/>
            <a:ext cx="5297119" cy="371475"/>
          </a:xfrm>
          <a:prstGeom prst="rect">
            <a:avLst/>
          </a:prstGeom>
          <a:noFill/>
          <a:ln/>
        </p:spPr>
        <p:txBody>
          <a:bodyPr wrap="square" lIns="0" tIns="0" rIns="0" bIns="0" rtlCol="0" anchor="ctr"/>
          <a:lstStyle/>
          <a:p>
            <a:pPr indent="0" marL="0">
              <a:buNone/>
            </a:pPr>
            <a:r>
              <a:rPr lang="en-US" sz="1230" dirty="0">
                <a:solidFill>
                  <a:srgbClr val="1B4E32"/>
                </a:solidFill>
                <a:latin typeface="Calibri" pitchFamily="34" charset="0"/>
                <a:ea typeface="Calibri" pitchFamily="34" charset="-122"/>
                <a:cs typeface="Calibri" pitchFamily="34" charset="-120"/>
              </a:rPr>
              <a:t>Two trained people per station, plus written documentation</a:t>
            </a:r>
            <a:endParaRPr lang="en-US" sz="1230" dirty="0"/>
          </a:p>
        </p:txBody>
      </p:sp>
      <p:sp>
        <p:nvSpPr>
          <p:cNvPr id="49" name="Shape 47"/>
          <p:cNvSpPr/>
          <p:nvPr/>
        </p:nvSpPr>
        <p:spPr>
          <a:xfrm>
            <a:off x="566928" y="5660136"/>
            <a:ext cx="11057839" cy="548640"/>
          </a:xfrm>
          <a:prstGeom prst="roundRect">
            <a:avLst>
              <a:gd name="adj" fmla="val 8333"/>
            </a:avLst>
          </a:prstGeom>
          <a:solidFill>
            <a:srgbClr val="FCEDE0"/>
          </a:solidFill>
          <a:ln w="12700">
            <a:solidFill>
              <a:srgbClr val="D96A16"/>
            </a:solidFill>
            <a:prstDash val="solid"/>
          </a:ln>
        </p:spPr>
      </p:sp>
      <p:sp>
        <p:nvSpPr>
          <p:cNvPr id="50" name="Text 48"/>
          <p:cNvSpPr/>
          <p:nvPr/>
        </p:nvSpPr>
        <p:spPr>
          <a:xfrm>
            <a:off x="768096" y="5660136"/>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Not one of these eight is a modelling failure. Every one of them is an organisational failure, and every one is preventable.</a:t>
            </a:r>
            <a:endParaRPr lang="en-US" sz="13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Block close — four things to carry into lunch</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Everything after the break is about our own numbers rather than equipment</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3. Predictive maintenance</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52</a:t>
            </a:r>
            <a:endParaRPr lang="en-US" sz="950" dirty="0"/>
          </a:p>
        </p:txBody>
      </p:sp>
      <p:sp>
        <p:nvSpPr>
          <p:cNvPr id="7" name="Shape 5"/>
          <p:cNvSpPr/>
          <p:nvPr/>
        </p:nvSpPr>
        <p:spPr>
          <a:xfrm>
            <a:off x="566928"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92808"/>
            <a:ext cx="137160" cy="137160"/>
          </a:xfrm>
          <a:prstGeom prst="ellipse">
            <a:avLst/>
          </a:prstGeom>
          <a:solidFill>
            <a:srgbClr val="D96A16"/>
          </a:solidFill>
          <a:ln/>
        </p:spPr>
      </p:sp>
      <p:sp>
        <p:nvSpPr>
          <p:cNvPr id="9" name="Text 7"/>
          <p:cNvSpPr/>
          <p:nvPr/>
        </p:nvSpPr>
        <p:spPr>
          <a:xfrm>
            <a:off x="969264" y="1792224"/>
            <a:ext cx="485226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The residual, and then the trend</a:t>
            </a:r>
            <a:endParaRPr lang="en-US" sz="1450" dirty="0"/>
          </a:p>
        </p:txBody>
      </p:sp>
      <p:sp>
        <p:nvSpPr>
          <p:cNvPr id="10" name="Text 8"/>
          <p:cNvSpPr/>
          <p:nvPr/>
        </p:nvSpPr>
        <p:spPr>
          <a:xfrm>
            <a:off x="768096" y="2404872"/>
            <a:ext cx="5016856" cy="960120"/>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Monitoring says something has changed. Predictive maintenance fits a curve to that change and turns it into a date with a band around it.</a:t>
            </a:r>
            <a:endParaRPr lang="en-US" sz="1200" dirty="0"/>
          </a:p>
        </p:txBody>
      </p:sp>
      <p:sp>
        <p:nvSpPr>
          <p:cNvPr id="11" name="Shape 9"/>
          <p:cNvSpPr/>
          <p:nvPr/>
        </p:nvSpPr>
        <p:spPr>
          <a:xfrm>
            <a:off x="6205576"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388456" y="1892808"/>
            <a:ext cx="137160" cy="137160"/>
          </a:xfrm>
          <a:prstGeom prst="ellipse">
            <a:avLst/>
          </a:prstGeom>
          <a:solidFill>
            <a:srgbClr val="D96A16"/>
          </a:solidFill>
          <a:ln/>
        </p:spPr>
      </p:sp>
      <p:sp>
        <p:nvSpPr>
          <p:cNvPr id="13" name="Text 11"/>
          <p:cNvSpPr/>
          <p:nvPr/>
        </p:nvSpPr>
        <p:spPr>
          <a:xfrm>
            <a:off x="6607912" y="1792224"/>
            <a:ext cx="485226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One model per machine, never per unit</a:t>
            </a:r>
            <a:endParaRPr lang="en-US" sz="1450" dirty="0"/>
          </a:p>
        </p:txBody>
      </p:sp>
      <p:sp>
        <p:nvSpPr>
          <p:cNvPr id="14" name="Text 12"/>
          <p:cNvSpPr/>
          <p:nvPr/>
        </p:nvSpPr>
        <p:spPr>
          <a:xfrm>
            <a:off x="6406744" y="2404872"/>
            <a:ext cx="5016856" cy="960120"/>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Per mill, per fan, per pump. A unit-level model averages six machines and hides precisely the one that is degrading.</a:t>
            </a:r>
            <a:endParaRPr lang="en-US" sz="1200" dirty="0"/>
          </a:p>
        </p:txBody>
      </p:sp>
      <p:sp>
        <p:nvSpPr>
          <p:cNvPr id="15" name="Shape 13"/>
          <p:cNvSpPr/>
          <p:nvPr/>
        </p:nvSpPr>
        <p:spPr>
          <a:xfrm>
            <a:off x="566928"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749808" y="3895344"/>
            <a:ext cx="137160" cy="137160"/>
          </a:xfrm>
          <a:prstGeom prst="ellipse">
            <a:avLst/>
          </a:prstGeom>
          <a:solidFill>
            <a:srgbClr val="D96A16"/>
          </a:solidFill>
          <a:ln/>
        </p:spPr>
      </p:sp>
      <p:sp>
        <p:nvSpPr>
          <p:cNvPr id="17" name="Text 15"/>
          <p:cNvSpPr/>
          <p:nvPr/>
        </p:nvSpPr>
        <p:spPr>
          <a:xfrm>
            <a:off x="969264"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An alert is not a work order</a:t>
            </a:r>
            <a:endParaRPr lang="en-US" sz="1450" dirty="0"/>
          </a:p>
        </p:txBody>
      </p:sp>
      <p:sp>
        <p:nvSpPr>
          <p:cNvPr id="18" name="Text 16"/>
          <p:cNvSpPr/>
          <p:nvPr/>
        </p:nvSpPr>
        <p:spPr>
          <a:xfrm>
            <a:off x="768096"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Nothing in this block earns a rupee until a named engineer triages it and the evidence reaches the CMMS with the notification.</a:t>
            </a:r>
            <a:endParaRPr lang="en-US" sz="1200" dirty="0"/>
          </a:p>
        </p:txBody>
      </p:sp>
      <p:sp>
        <p:nvSpPr>
          <p:cNvPr id="19" name="Shape 17"/>
          <p:cNvSpPr/>
          <p:nvPr/>
        </p:nvSpPr>
        <p:spPr>
          <a:xfrm>
            <a:off x="6205576"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6388456" y="3895344"/>
            <a:ext cx="137160" cy="137160"/>
          </a:xfrm>
          <a:prstGeom prst="ellipse">
            <a:avLst/>
          </a:prstGeom>
          <a:solidFill>
            <a:srgbClr val="D96A16"/>
          </a:solidFill>
          <a:ln/>
        </p:spPr>
      </p:sp>
      <p:sp>
        <p:nvSpPr>
          <p:cNvPr id="21" name="Text 19"/>
          <p:cNvSpPr/>
          <p:nvPr/>
        </p:nvSpPr>
        <p:spPr>
          <a:xfrm>
            <a:off x="6607912"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₹100.87 crore</a:t>
            </a:r>
            <a:endParaRPr lang="en-US" sz="1450" dirty="0"/>
          </a:p>
        </p:txBody>
      </p:sp>
      <p:sp>
        <p:nvSpPr>
          <p:cNvPr id="22" name="Text 20"/>
          <p:cNvSpPr/>
          <p:nvPr/>
        </p:nvSpPr>
        <p:spPr>
          <a:xfrm>
            <a:off x="6406744"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The cumulative fixed-charge disallowance for availability shortfall. That is what unavailability has already cost, before anybody buys anything.</a:t>
            </a:r>
            <a:endParaRPr lang="en-US" sz="1200" dirty="0"/>
          </a:p>
        </p:txBody>
      </p:sp>
      <p:sp>
        <p:nvSpPr>
          <p:cNvPr id="23" name="Shape 21"/>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24" name="Text 22"/>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After lunch we stop discussing equipment and start reading our own bill. Bring the same scepticism.</a:t>
            </a:r>
            <a:endParaRPr lang="en-US" sz="13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C2530"/>
        </a:solidFill>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D96A16"/>
          </a:solidFill>
          <a:ln/>
        </p:spPr>
      </p:sp>
      <p:sp>
        <p:nvSpPr>
          <p:cNvPr id="3" name="Text 1"/>
          <p:cNvSpPr/>
          <p:nvPr/>
        </p:nvSpPr>
        <p:spPr>
          <a:xfrm>
            <a:off x="9052560" y="822960"/>
            <a:ext cx="2377440" cy="2011680"/>
          </a:xfrm>
          <a:prstGeom prst="rect">
            <a:avLst/>
          </a:prstGeom>
          <a:noFill/>
          <a:ln/>
        </p:spPr>
        <p:txBody>
          <a:bodyPr wrap="square" lIns="0" tIns="0" rIns="0" bIns="0" rtlCol="0" anchor="ctr"/>
          <a:lstStyle/>
          <a:p>
            <a:pPr algn="r" indent="0" marL="0">
              <a:buNone/>
            </a:pPr>
            <a:r>
              <a:rPr lang="en-US" sz="13200" b="1" dirty="0">
                <a:solidFill>
                  <a:srgbClr val="2C3B4B"/>
                </a:solidFill>
                <a:latin typeface="Cambria" pitchFamily="34" charset="0"/>
                <a:ea typeface="Cambria" pitchFamily="34" charset="-122"/>
                <a:cs typeface="Cambria" pitchFamily="34" charset="-120"/>
              </a:rPr>
              <a:t>4</a:t>
            </a:r>
            <a:endParaRPr lang="en-US" sz="13200" dirty="0"/>
          </a:p>
        </p:txBody>
      </p:sp>
      <p:sp>
        <p:nvSpPr>
          <p:cNvPr id="4" name="Text 2"/>
          <p:cNvSpPr/>
          <p:nvPr/>
        </p:nvSpPr>
        <p:spPr>
          <a:xfrm>
            <a:off x="1051560" y="1920240"/>
            <a:ext cx="9601200" cy="310896"/>
          </a:xfrm>
          <a:prstGeom prst="rect">
            <a:avLst/>
          </a:prstGeom>
          <a:noFill/>
          <a:ln/>
        </p:spPr>
        <p:txBody>
          <a:bodyPr wrap="square" lIns="0" tIns="0" rIns="0" bIns="0" rtlCol="0" anchor="ctr"/>
          <a:lstStyle/>
          <a:p>
            <a:pPr indent="0" marL="0">
              <a:buNone/>
            </a:pPr>
            <a:r>
              <a:rPr lang="en-US" sz="1250" b="1" spc="220" kern="0" dirty="0">
                <a:solidFill>
                  <a:srgbClr val="D96A16"/>
                </a:solidFill>
                <a:latin typeface="Calibri" pitchFamily="34" charset="0"/>
                <a:ea typeface="Calibri" pitchFamily="34" charset="-122"/>
                <a:cs typeface="Calibri" pitchFamily="34" charset="-120"/>
              </a:rPr>
              <a:t>SESSION · THE PIVOT OF THE DAY</a:t>
            </a:r>
            <a:endParaRPr lang="en-US" sz="1250" dirty="0"/>
          </a:p>
        </p:txBody>
      </p:sp>
      <p:sp>
        <p:nvSpPr>
          <p:cNvPr id="5" name="Text 3"/>
          <p:cNvSpPr/>
          <p:nvPr/>
        </p:nvSpPr>
        <p:spPr>
          <a:xfrm>
            <a:off x="1051560" y="2212848"/>
            <a:ext cx="804672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Reading our own numbers</a:t>
            </a:r>
            <a:endParaRPr lang="en-US" sz="4000" dirty="0"/>
          </a:p>
        </p:txBody>
      </p:sp>
      <p:sp>
        <p:nvSpPr>
          <p:cNvPr id="6" name="Text 4"/>
          <p:cNvSpPr/>
          <p:nvPr/>
        </p:nvSpPr>
        <p:spPr>
          <a:xfrm>
            <a:off x="1051560" y="3529584"/>
            <a:ext cx="8778240" cy="603504"/>
          </a:xfrm>
          <a:prstGeom prst="rect">
            <a:avLst/>
          </a:prstGeom>
          <a:noFill/>
          <a:ln/>
        </p:spPr>
        <p:txBody>
          <a:bodyPr wrap="square" lIns="0" tIns="0" rIns="0" bIns="0" rtlCol="0" anchor="t"/>
          <a:lstStyle/>
          <a:p>
            <a:pPr indent="0" marL="0">
              <a:buNone/>
            </a:pPr>
            <a:r>
              <a:rPr lang="en-US" sz="1500" dirty="0">
                <a:solidFill>
                  <a:srgbClr val="A9B8C6"/>
                </a:solidFill>
                <a:latin typeface="Calibri" pitchFamily="34" charset="0"/>
                <a:ea typeface="Calibri" pitchFamily="34" charset="-122"/>
                <a:cs typeface="Calibri" pitchFamily="34" charset="-120"/>
              </a:rPr>
              <a:t>MAHAGENCO’s June 2026 regulatory filing, turned into an opportunity map</a:t>
            </a:r>
            <a:endParaRPr lang="en-US" sz="1500" dirty="0"/>
          </a:p>
        </p:txBody>
      </p:sp>
      <p:sp>
        <p:nvSpPr>
          <p:cNvPr id="7" name="Shape 5"/>
          <p:cNvSpPr/>
          <p:nvPr/>
        </p:nvSpPr>
        <p:spPr>
          <a:xfrm>
            <a:off x="1078992" y="4315968"/>
            <a:ext cx="118872" cy="118872"/>
          </a:xfrm>
          <a:prstGeom prst="ellipse">
            <a:avLst/>
          </a:prstGeom>
          <a:solidFill>
            <a:srgbClr val="D96A16"/>
          </a:solidFill>
          <a:ln/>
        </p:spPr>
      </p:sp>
      <p:sp>
        <p:nvSpPr>
          <p:cNvPr id="8" name="Text 6"/>
          <p:cNvSpPr/>
          <p:nvPr/>
        </p:nvSpPr>
        <p:spPr>
          <a:xfrm>
            <a:off x="1389888" y="4224528"/>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The decomposition: auxiliary power against boiler and turbine</a:t>
            </a:r>
            <a:endParaRPr lang="en-US" sz="1250" dirty="0"/>
          </a:p>
        </p:txBody>
      </p:sp>
      <p:sp>
        <p:nvSpPr>
          <p:cNvPr id="9" name="Shape 7"/>
          <p:cNvSpPr/>
          <p:nvPr/>
        </p:nvSpPr>
        <p:spPr>
          <a:xfrm>
            <a:off x="1078992" y="4718304"/>
            <a:ext cx="118872" cy="118872"/>
          </a:xfrm>
          <a:prstGeom prst="ellipse">
            <a:avLst/>
          </a:prstGeom>
          <a:solidFill>
            <a:srgbClr val="D96A16"/>
          </a:solidFill>
          <a:ln/>
        </p:spPr>
      </p:sp>
      <p:sp>
        <p:nvSpPr>
          <p:cNvPr id="10" name="Text 8"/>
          <p:cNvSpPr/>
          <p:nvPr/>
        </p:nvSpPr>
        <p:spPr>
          <a:xfrm>
            <a:off x="1389888" y="4626864"/>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What our fuel actually costs us, station by station</a:t>
            </a:r>
            <a:endParaRPr lang="en-US" sz="1250" dirty="0"/>
          </a:p>
        </p:txBody>
      </p:sp>
      <p:sp>
        <p:nvSpPr>
          <p:cNvPr id="11" name="Shape 9"/>
          <p:cNvSpPr/>
          <p:nvPr/>
        </p:nvSpPr>
        <p:spPr>
          <a:xfrm>
            <a:off x="1078992" y="5120640"/>
            <a:ext cx="118872" cy="118872"/>
          </a:xfrm>
          <a:prstGeom prst="ellipse">
            <a:avLst/>
          </a:prstGeom>
          <a:solidFill>
            <a:srgbClr val="D96A16"/>
          </a:solidFill>
          <a:ln/>
        </p:spPr>
      </p:sp>
      <p:sp>
        <p:nvSpPr>
          <p:cNvPr id="12" name="Text 10"/>
          <p:cNvSpPr/>
          <p:nvPr/>
        </p:nvSpPr>
        <p:spPr>
          <a:xfrm>
            <a:off x="1389888" y="5029200"/>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The merit order as a scoreboard</a:t>
            </a:r>
            <a:endParaRPr lang="en-US" sz="1250" dirty="0"/>
          </a:p>
        </p:txBody>
      </p:sp>
      <p:sp>
        <p:nvSpPr>
          <p:cNvPr id="13" name="Shape 11"/>
          <p:cNvSpPr/>
          <p:nvPr/>
        </p:nvSpPr>
        <p:spPr>
          <a:xfrm>
            <a:off x="1078992" y="5522976"/>
            <a:ext cx="118872" cy="118872"/>
          </a:xfrm>
          <a:prstGeom prst="ellipse">
            <a:avLst/>
          </a:prstGeom>
          <a:solidFill>
            <a:srgbClr val="D96A16"/>
          </a:solidFill>
          <a:ln/>
        </p:spPr>
      </p:sp>
      <p:sp>
        <p:nvSpPr>
          <p:cNvPr id="14" name="Text 12"/>
          <p:cNvSpPr/>
          <p:nvPr/>
        </p:nvSpPr>
        <p:spPr>
          <a:xfrm>
            <a:off x="1389888" y="5431536"/>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Where the ₹56 crore a month actually sits</a:t>
            </a:r>
            <a:endParaRPr lang="en-US" sz="1250" dirty="0"/>
          </a:p>
        </p:txBody>
      </p:sp>
      <p:sp>
        <p:nvSpPr>
          <p:cNvPr id="15" name="Shape 13"/>
          <p:cNvSpPr/>
          <p:nvPr/>
        </p:nvSpPr>
        <p:spPr>
          <a:xfrm>
            <a:off x="9281160" y="4224528"/>
            <a:ext cx="1965960" cy="859536"/>
          </a:xfrm>
          <a:prstGeom prst="roundRect">
            <a:avLst>
              <a:gd name="adj" fmla="val 6383"/>
            </a:avLst>
          </a:prstGeom>
          <a:solidFill>
            <a:srgbClr val="2A3644"/>
          </a:solidFill>
          <a:ln w="12700">
            <a:solidFill>
              <a:srgbClr val="D96A16"/>
            </a:solidFill>
            <a:prstDash val="solid"/>
          </a:ln>
        </p:spPr>
      </p:sp>
      <p:sp>
        <p:nvSpPr>
          <p:cNvPr id="16" name="Text 14"/>
          <p:cNvSpPr/>
          <p:nvPr/>
        </p:nvSpPr>
        <p:spPr>
          <a:xfrm>
            <a:off x="9281160" y="4334256"/>
            <a:ext cx="1965960" cy="384048"/>
          </a:xfrm>
          <a:prstGeom prst="rect">
            <a:avLst/>
          </a:prstGeom>
          <a:noFill/>
          <a:ln/>
        </p:spPr>
        <p:txBody>
          <a:bodyPr wrap="square" lIns="0" tIns="0" rIns="0" bIns="0" rtlCol="0" anchor="ctr"/>
          <a:lstStyle/>
          <a:p>
            <a:pPr algn="ctr" indent="0" marL="0">
              <a:buNone/>
            </a:pPr>
            <a:r>
              <a:rPr lang="en-US" sz="1600" b="1" dirty="0">
                <a:solidFill>
                  <a:srgbClr val="D96A16"/>
                </a:solidFill>
                <a:latin typeface="Cambria" pitchFamily="34" charset="0"/>
                <a:ea typeface="Cambria" pitchFamily="34" charset="-122"/>
                <a:cs typeface="Cambria" pitchFamily="34" charset="-120"/>
              </a:rPr>
              <a:t>14:30 – 15:00</a:t>
            </a:r>
            <a:endParaRPr lang="en-US" sz="1600" dirty="0"/>
          </a:p>
        </p:txBody>
      </p:sp>
      <p:sp>
        <p:nvSpPr>
          <p:cNvPr id="17" name="Text 15"/>
          <p:cNvSpPr/>
          <p:nvPr/>
        </p:nvSpPr>
        <p:spPr>
          <a:xfrm>
            <a:off x="9281160" y="4700016"/>
            <a:ext cx="1965960" cy="310896"/>
          </a:xfrm>
          <a:prstGeom prst="rect">
            <a:avLst/>
          </a:prstGeom>
          <a:noFill/>
          <a:ln/>
        </p:spPr>
        <p:txBody>
          <a:bodyPr wrap="square" lIns="0" tIns="0" rIns="0" bIns="0" rtlCol="0" anchor="ctr"/>
          <a:lstStyle/>
          <a:p>
            <a:pPr algn="ctr" indent="0" marL="0">
              <a:buNone/>
            </a:pPr>
            <a:r>
              <a:rPr lang="en-US" sz="1100" dirty="0">
                <a:solidFill>
                  <a:srgbClr val="9BAAB8"/>
                </a:solidFill>
                <a:latin typeface="Calibri" pitchFamily="34" charset="0"/>
                <a:ea typeface="Calibri" pitchFamily="34" charset="-122"/>
                <a:cs typeface="Calibri" pitchFamily="34" charset="-120"/>
              </a:rPr>
              <a:t>30 minutes</a:t>
            </a:r>
            <a:endParaRPr lang="en-US" sz="1100" dirty="0"/>
          </a:p>
        </p:txBody>
      </p:sp>
      <p:sp>
        <p:nvSpPr>
          <p:cNvPr id="18" name="Text 16"/>
          <p:cNvSpPr/>
          <p:nvPr/>
        </p:nvSpPr>
        <p:spPr>
          <a:xfrm>
            <a:off x="1051560" y="5797296"/>
            <a:ext cx="9601200" cy="329184"/>
          </a:xfrm>
          <a:prstGeom prst="rect">
            <a:avLst/>
          </a:prstGeom>
          <a:noFill/>
          <a:ln/>
        </p:spPr>
        <p:txBody>
          <a:bodyPr wrap="square" lIns="0" tIns="0" rIns="0" bIns="0" rtlCol="0" anchor="ctr"/>
          <a:lstStyle/>
          <a:p>
            <a:pPr indent="0" marL="0">
              <a:buNone/>
            </a:pPr>
            <a:r>
              <a:rPr lang="en-US" sz="1200" i="1" dirty="0">
                <a:solidFill>
                  <a:srgbClr val="86C0C9"/>
                </a:solidFill>
                <a:latin typeface="Calibri" pitchFamily="34" charset="0"/>
                <a:ea typeface="Calibri" pitchFamily="34" charset="-122"/>
                <a:cs typeface="Calibri" pitchFamily="34" charset="-120"/>
              </a:rPr>
              <a:t>Hands-on: SIM-2 — heat rate loss attribution</a:t>
            </a:r>
            <a:endParaRPr lang="en-US" sz="1200" dirty="0"/>
          </a:p>
        </p:txBody>
      </p:sp>
      <p:sp>
        <p:nvSpPr>
          <p:cNvPr id="19" name="Text 17"/>
          <p:cNvSpPr/>
          <p:nvPr/>
        </p:nvSpPr>
        <p:spPr>
          <a:xfrm>
            <a:off x="11140135" y="6419088"/>
            <a:ext cx="502920" cy="274320"/>
          </a:xfrm>
          <a:prstGeom prst="rect">
            <a:avLst/>
          </a:prstGeom>
          <a:noFill/>
          <a:ln/>
        </p:spPr>
        <p:txBody>
          <a:bodyPr wrap="square" lIns="0" tIns="0" rIns="0" bIns="0" rtlCol="0" anchor="ctr"/>
          <a:lstStyle/>
          <a:p>
            <a:pPr algn="r" indent="0" marL="0">
              <a:buNone/>
            </a:pPr>
            <a:r>
              <a:rPr lang="en-US" sz="950" dirty="0">
                <a:solidFill>
                  <a:srgbClr val="5E6E7C"/>
                </a:solidFill>
                <a:latin typeface="Calibri" pitchFamily="34" charset="0"/>
                <a:ea typeface="Calibri" pitchFamily="34" charset="-122"/>
                <a:cs typeface="Calibri" pitchFamily="34" charset="-120"/>
              </a:rPr>
              <a:t>53</a:t>
            </a:r>
            <a:endParaRPr lang="en-US" sz="9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Where this data comes from</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Three documents this company already produces every month, and one that nobody reads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4. Reading our own numbers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54</a:t>
            </a:r>
            <a:endParaRPr lang="en-US" sz="950" dirty="0"/>
          </a:p>
        </p:txBody>
      </p:sp>
      <p:sp>
        <p:nvSpPr>
          <p:cNvPr id="7" name="Shape 5"/>
          <p:cNvSpPr/>
          <p:nvPr/>
        </p:nvSpPr>
        <p:spPr>
          <a:xfrm>
            <a:off x="566928"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92808"/>
            <a:ext cx="137160" cy="137160"/>
          </a:xfrm>
          <a:prstGeom prst="ellipse">
            <a:avLst/>
          </a:prstGeom>
          <a:solidFill>
            <a:srgbClr val="D96A16"/>
          </a:solidFill>
          <a:ln/>
        </p:spPr>
      </p:sp>
      <p:sp>
        <p:nvSpPr>
          <p:cNvPr id="9" name="Text 7"/>
          <p:cNvSpPr/>
          <p:nvPr/>
        </p:nvSpPr>
        <p:spPr>
          <a:xfrm>
            <a:off x="969264" y="1792224"/>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The June 2026 energy bill</a:t>
            </a:r>
            <a:endParaRPr lang="en-US" sz="1450" dirty="0"/>
          </a:p>
        </p:txBody>
      </p:sp>
      <p:sp>
        <p:nvSpPr>
          <p:cNvPr id="10" name="Text 8"/>
          <p:cNvSpPr/>
          <p:nvPr/>
        </p:nvSpPr>
        <p:spPr>
          <a:xfrm>
            <a:off x="768096" y="2203704"/>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Bills 001/2026 and 35/2026. Station by station availability, PLF, gross and net generation. 4,588.47 MU sent out, ₹2,806.55 crore net.</a:t>
            </a:r>
            <a:endParaRPr lang="en-US" sz="1200" dirty="0"/>
          </a:p>
        </p:txBody>
      </p:sp>
      <p:sp>
        <p:nvSpPr>
          <p:cNvPr id="11" name="Shape 9"/>
          <p:cNvSpPr/>
          <p:nvPr/>
        </p:nvSpPr>
        <p:spPr>
          <a:xfrm>
            <a:off x="6205576"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388456" y="1892808"/>
            <a:ext cx="137160" cy="137160"/>
          </a:xfrm>
          <a:prstGeom prst="ellipse">
            <a:avLst/>
          </a:prstGeom>
          <a:solidFill>
            <a:srgbClr val="D96A16"/>
          </a:solidFill>
          <a:ln/>
        </p:spPr>
      </p:sp>
      <p:sp>
        <p:nvSpPr>
          <p:cNvPr id="13" name="Text 11"/>
          <p:cNvSpPr/>
          <p:nvPr/>
        </p:nvSpPr>
        <p:spPr>
          <a:xfrm>
            <a:off x="6607912" y="1792224"/>
            <a:ext cx="485226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The Part-I FSA bill and its F10 sheet</a:t>
            </a:r>
            <a:endParaRPr lang="en-US" sz="1450" dirty="0"/>
          </a:p>
        </p:txBody>
      </p:sp>
      <p:sp>
        <p:nvSpPr>
          <p:cNvPr id="14" name="Text 12"/>
          <p:cNvSpPr/>
          <p:nvPr/>
        </p:nvSpPr>
        <p:spPr>
          <a:xfrm>
            <a:off x="6406744" y="2404872"/>
            <a:ext cx="5016856" cy="960120"/>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Provisional bill 43/2026, with the F10 energy charge rate calculation. Heat rate, auxiliary consumption, GCV, oil and transit loss, per station.</a:t>
            </a:r>
            <a:endParaRPr lang="en-US" sz="1200" dirty="0"/>
          </a:p>
        </p:txBody>
      </p:sp>
      <p:sp>
        <p:nvSpPr>
          <p:cNvPr id="15" name="Shape 13"/>
          <p:cNvSpPr/>
          <p:nvPr/>
        </p:nvSpPr>
        <p:spPr>
          <a:xfrm>
            <a:off x="566928"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749808" y="3895344"/>
            <a:ext cx="137160" cy="137160"/>
          </a:xfrm>
          <a:prstGeom prst="ellipse">
            <a:avLst/>
          </a:prstGeom>
          <a:solidFill>
            <a:srgbClr val="D96A16"/>
          </a:solidFill>
          <a:ln/>
        </p:spPr>
      </p:sp>
      <p:sp>
        <p:nvSpPr>
          <p:cNvPr id="17" name="Text 15"/>
          <p:cNvSpPr/>
          <p:nvPr/>
        </p:nvSpPr>
        <p:spPr>
          <a:xfrm>
            <a:off x="969264"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The MERC merit order stack</a:t>
            </a:r>
            <a:endParaRPr lang="en-US" sz="1450" dirty="0"/>
          </a:p>
        </p:txBody>
      </p:sp>
      <p:sp>
        <p:nvSpPr>
          <p:cNvPr id="18" name="Text 16"/>
          <p:cNvSpPr/>
          <p:nvPr/>
        </p:nvSpPr>
        <p:spPr>
          <a:xfrm>
            <a:off x="768096"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July 2026 revision zero, effective 16.07.2026 to 15.08.2026. Every station's variable charge and where it sits in the dispatch queue.</a:t>
            </a:r>
            <a:endParaRPr lang="en-US" sz="1200" dirty="0"/>
          </a:p>
        </p:txBody>
      </p:sp>
      <p:sp>
        <p:nvSpPr>
          <p:cNvPr id="19" name="Shape 17"/>
          <p:cNvSpPr/>
          <p:nvPr/>
        </p:nvSpPr>
        <p:spPr>
          <a:xfrm>
            <a:off x="6205576"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6388456" y="3895344"/>
            <a:ext cx="137160" cy="137160"/>
          </a:xfrm>
          <a:prstGeom prst="ellipse">
            <a:avLst/>
          </a:prstGeom>
          <a:solidFill>
            <a:srgbClr val="D96A16"/>
          </a:solidFill>
          <a:ln/>
        </p:spPr>
      </p:sp>
      <p:sp>
        <p:nvSpPr>
          <p:cNvPr id="21" name="Text 19"/>
          <p:cNvSpPr/>
          <p:nvPr/>
        </p:nvSpPr>
        <p:spPr>
          <a:xfrm>
            <a:off x="6607912"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The document nobody reads</a:t>
            </a:r>
            <a:endParaRPr lang="en-US" sz="1450" dirty="0"/>
          </a:p>
        </p:txBody>
      </p:sp>
      <p:sp>
        <p:nvSpPr>
          <p:cNvPr id="22" name="Text 20"/>
          <p:cNvSpPr/>
          <p:nvPr/>
        </p:nvSpPr>
        <p:spPr>
          <a:xfrm>
            <a:off x="6406744"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F10 is prepared for billing and then filed. It is the most complete performance record in the company, and it is not a performance report to anyone.</a:t>
            </a:r>
            <a:endParaRPr lang="en-US" sz="1200" dirty="0"/>
          </a:p>
        </p:txBody>
      </p:sp>
      <p:sp>
        <p:nvSpPr>
          <p:cNvPr id="23" name="Shape 21"/>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24" name="Text 22"/>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Nothing in this block is a benchmark, a vendor study or an assumption. It is our own filing, read as an engineering document.</a:t>
            </a:r>
            <a:endParaRPr lang="en-US" sz="13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fleet in one table, June 2026</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Availability, PLF and net heat rate against MERC norm — eight groups chosen to show the spread</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4. Reading our own numbers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55</a:t>
            </a:r>
            <a:endParaRPr lang="en-US" sz="95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8275320" cy="914400"/>
        </p:xfrm>
        <a:graphic>
          <a:graphicData uri="http://schemas.openxmlformats.org/drawingml/2006/table">
            <a:tbl>
              <a:tblPr/>
              <a:tblGrid>
                <a:gridCol w="2549282"/>
                <a:gridCol w="1309471"/>
                <a:gridCol w="1309471"/>
                <a:gridCol w="1758843"/>
                <a:gridCol w="1348252"/>
              </a:tblGrid>
              <a:tr h="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Station</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Avail %</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PLF %</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Net HR act / norm</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Gap kcal/kWh</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Nashik Units 3-5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94.62</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58.40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2,804 / 2,754</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+50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Parli Unit 8</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97.40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79.55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2,461 / 2,415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+46</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Khaperkheda Unit 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87.86</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82.03</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2,385 / 2,375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Bhusawal Unit 6</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79.01</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70.37</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2,183 / 2,139</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+44</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Paras Units 3-4</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74.83</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66.92</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2,578 / 2,415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+163</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Koradi Units 8-10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72.50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66.62</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2,442 / 2,230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+212</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Chandrapur Units 3-7</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64.88</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53.56</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2,709 / 2,688</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+21</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Khaperkheda Units 1-4</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57.85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54.55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2,715 / 2,630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+85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bl>
          </a:graphicData>
        </a:graphic>
      </p:graphicFrame>
      <p:sp>
        <p:nvSpPr>
          <p:cNvPr id="8" name="Shape 5"/>
          <p:cNvSpPr/>
          <p:nvPr/>
        </p:nvSpPr>
        <p:spPr>
          <a:xfrm>
            <a:off x="9116568" y="1627632"/>
            <a:ext cx="2508199" cy="2331720"/>
          </a:xfrm>
          <a:prstGeom prst="roundRect">
            <a:avLst>
              <a:gd name="adj" fmla="val 2353"/>
            </a:avLst>
          </a:prstGeom>
          <a:solidFill>
            <a:srgbClr val="1C253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9" name="Text 6"/>
          <p:cNvSpPr/>
          <p:nvPr/>
        </p:nvSpPr>
        <p:spPr>
          <a:xfrm>
            <a:off x="9226296" y="2011680"/>
            <a:ext cx="2288743" cy="822960"/>
          </a:xfrm>
          <a:prstGeom prst="rect">
            <a:avLst/>
          </a:prstGeom>
          <a:noFill/>
          <a:ln/>
        </p:spPr>
        <p:txBody>
          <a:bodyPr wrap="square" lIns="0" tIns="0" rIns="0" bIns="0" rtlCol="0" anchor="ctr"/>
          <a:lstStyle/>
          <a:p>
            <a:pPr algn="ctr" indent="0" marL="0">
              <a:buNone/>
            </a:pPr>
            <a:r>
              <a:rPr lang="en-US" sz="3600" b="1" dirty="0">
                <a:solidFill>
                  <a:srgbClr val="D96A16"/>
                </a:solidFill>
                <a:latin typeface="Cambria" pitchFamily="34" charset="0"/>
                <a:ea typeface="Cambria" pitchFamily="34" charset="-122"/>
                <a:cs typeface="Cambria" pitchFamily="34" charset="-120"/>
              </a:rPr>
              <a:t>₹56 crore</a:t>
            </a:r>
            <a:endParaRPr lang="en-US" sz="3600" dirty="0"/>
          </a:p>
        </p:txBody>
      </p:sp>
      <p:sp>
        <p:nvSpPr>
          <p:cNvPr id="10" name="Text 7"/>
          <p:cNvSpPr/>
          <p:nvPr/>
        </p:nvSpPr>
        <p:spPr>
          <a:xfrm>
            <a:off x="9317736" y="2852928"/>
            <a:ext cx="2105863" cy="1005840"/>
          </a:xfrm>
          <a:prstGeom prst="rect">
            <a:avLst/>
          </a:prstGeom>
          <a:noFill/>
          <a:ln/>
        </p:spPr>
        <p:txBody>
          <a:bodyPr wrap="square" lIns="0" tIns="0" rIns="0" bIns="0" rtlCol="0" anchor="ctr"/>
          <a:lstStyle/>
          <a:p>
            <a:pPr algn="ctr" indent="0" marL="0">
              <a:buNone/>
            </a:pPr>
            <a:r>
              <a:rPr lang="en-US" sz="1200" dirty="0">
                <a:solidFill>
                  <a:srgbClr val="C3CFDA"/>
                </a:solidFill>
                <a:latin typeface="Calibri" pitchFamily="34" charset="0"/>
                <a:ea typeface="Calibri" pitchFamily="34" charset="-122"/>
                <a:cs typeface="Calibri" pitchFamily="34" charset="-120"/>
              </a:rPr>
              <a:t>the net heat-rate gap against MERC norms across thirteen thermal groups, in June 2026 alone</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decomposition that changes the conversation</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One line of arithmetic that tells you whose problem the heat-rate gap actually is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4. Reading our own numbers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56</a:t>
            </a:r>
            <a:endParaRPr lang="en-US" sz="950" dirty="0"/>
          </a:p>
        </p:txBody>
      </p:sp>
      <p:sp>
        <p:nvSpPr>
          <p:cNvPr id="7" name="Shape 5"/>
          <p:cNvSpPr/>
          <p:nvPr/>
        </p:nvSpPr>
        <p:spPr>
          <a:xfrm>
            <a:off x="566928" y="1627632"/>
            <a:ext cx="5382616" cy="3886200"/>
          </a:xfrm>
          <a:prstGeom prst="roundRect">
            <a:avLst>
              <a:gd name="adj" fmla="val 141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841248" y="1847088"/>
            <a:ext cx="4833976" cy="292608"/>
          </a:xfrm>
          <a:prstGeom prst="rect">
            <a:avLst/>
          </a:prstGeom>
          <a:noFill/>
          <a:ln/>
        </p:spPr>
        <p:txBody>
          <a:bodyPr wrap="square" lIns="0" tIns="0" rIns="0" bIns="0" rtlCol="0" anchor="ctr"/>
          <a:lstStyle/>
          <a:p>
            <a:pPr indent="0" marL="0">
              <a:buNone/>
            </a:pPr>
            <a:r>
              <a:rPr lang="en-US" sz="1150" b="1" spc="120" kern="0" dirty="0">
                <a:solidFill>
                  <a:srgbClr val="3B4A5A"/>
                </a:solidFill>
                <a:latin typeface="Calibri" pitchFamily="34" charset="0"/>
                <a:ea typeface="Calibri" pitchFamily="34" charset="-122"/>
                <a:cs typeface="Calibri" pitchFamily="34" charset="-120"/>
              </a:rPr>
              <a:t>THE IDENTITY</a:t>
            </a:r>
            <a:endParaRPr lang="en-US" sz="1150" dirty="0"/>
          </a:p>
        </p:txBody>
      </p:sp>
      <p:sp>
        <p:nvSpPr>
          <p:cNvPr id="9" name="Text 7"/>
          <p:cNvSpPr/>
          <p:nvPr/>
        </p:nvSpPr>
        <p:spPr>
          <a:xfrm>
            <a:off x="841248" y="2176272"/>
            <a:ext cx="4833976" cy="1170432"/>
          </a:xfrm>
          <a:prstGeom prst="rect">
            <a:avLst/>
          </a:prstGeom>
          <a:noFill/>
          <a:ln/>
        </p:spPr>
        <p:txBody>
          <a:bodyPr wrap="square" lIns="0" tIns="0" rIns="0" bIns="0" rtlCol="0" anchor="t"/>
          <a:lstStyle/>
          <a:p>
            <a:pPr indent="0" marL="0">
              <a:buNone/>
            </a:pPr>
            <a:r>
              <a:rPr lang="en-US" sz="2700" b="1" dirty="0">
                <a:solidFill>
                  <a:srgbClr val="1C2530"/>
                </a:solidFill>
                <a:latin typeface="Cambria" pitchFamily="34" charset="0"/>
                <a:ea typeface="Cambria" pitchFamily="34" charset="-122"/>
                <a:cs typeface="Cambria" pitchFamily="34" charset="-120"/>
              </a:rPr>
              <a:t>Gross HR = net HR × (1 − aux fraction)</a:t>
            </a:r>
            <a:endParaRPr lang="en-US" sz="2700" dirty="0"/>
          </a:p>
        </p:txBody>
      </p:sp>
      <p:sp>
        <p:nvSpPr>
          <p:cNvPr id="10" name="Text 8"/>
          <p:cNvSpPr/>
          <p:nvPr/>
        </p:nvSpPr>
        <p:spPr>
          <a:xfrm>
            <a:off x="841248" y="3547872"/>
            <a:ext cx="4833976" cy="1856232"/>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Every station already reports a net heat rate and an auxiliary consumption percentage. Multiply one by one minus the other and you have the gross heat rate — what the boiler and turbine actually achieved. MERC publishes a norm for both. Almost nobody in the plant does this arithmetic.</a:t>
            </a:r>
            <a:endParaRPr lang="en-US" sz="1350" dirty="0"/>
          </a:p>
        </p:txBody>
      </p:sp>
      <p:sp>
        <p:nvSpPr>
          <p:cNvPr id="11" name="Shape 9"/>
          <p:cNvSpPr/>
          <p:nvPr/>
        </p:nvSpPr>
        <p:spPr>
          <a:xfrm>
            <a:off x="6242152" y="1627632"/>
            <a:ext cx="5382616" cy="3886200"/>
          </a:xfrm>
          <a:prstGeom prst="roundRect">
            <a:avLst>
              <a:gd name="adj" fmla="val 1412"/>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10"/>
          <p:cNvSpPr/>
          <p:nvPr/>
        </p:nvSpPr>
        <p:spPr>
          <a:xfrm>
            <a:off x="6516472" y="1847088"/>
            <a:ext cx="4833976" cy="292608"/>
          </a:xfrm>
          <a:prstGeom prst="rect">
            <a:avLst/>
          </a:prstGeom>
          <a:noFill/>
          <a:ln/>
        </p:spPr>
        <p:txBody>
          <a:bodyPr wrap="square" lIns="0" tIns="0" rIns="0" bIns="0" rtlCol="0" anchor="ctr"/>
          <a:lstStyle/>
          <a:p>
            <a:pPr indent="0" marL="0">
              <a:buNone/>
            </a:pPr>
            <a:r>
              <a:rPr lang="en-US" sz="1150" b="1" spc="120" kern="0" dirty="0">
                <a:solidFill>
                  <a:srgbClr val="D96A16"/>
                </a:solidFill>
                <a:latin typeface="Calibri" pitchFamily="34" charset="0"/>
                <a:ea typeface="Calibri" pitchFamily="34" charset="-122"/>
                <a:cs typeface="Calibri" pitchFamily="34" charset="-120"/>
              </a:rPr>
              <a:t>WHAT IT REVEALS</a:t>
            </a:r>
            <a:endParaRPr lang="en-US" sz="1150" dirty="0"/>
          </a:p>
        </p:txBody>
      </p:sp>
      <p:sp>
        <p:nvSpPr>
          <p:cNvPr id="13" name="Text 11"/>
          <p:cNvSpPr/>
          <p:nvPr/>
        </p:nvSpPr>
        <p:spPr>
          <a:xfrm>
            <a:off x="6516472" y="2176272"/>
            <a:ext cx="4833976" cy="1170432"/>
          </a:xfrm>
          <a:prstGeom prst="rect">
            <a:avLst/>
          </a:prstGeom>
          <a:noFill/>
          <a:ln/>
        </p:spPr>
        <p:txBody>
          <a:bodyPr wrap="square" lIns="0" tIns="0" rIns="0" bIns="0" rtlCol="0" anchor="t"/>
          <a:lstStyle/>
          <a:p>
            <a:pPr indent="0" marL="0">
              <a:buNone/>
            </a:pPr>
            <a:r>
              <a:rPr lang="en-US" sz="2700" b="1" dirty="0">
                <a:solidFill>
                  <a:srgbClr val="1C2530"/>
                </a:solidFill>
                <a:latin typeface="Cambria" pitchFamily="34" charset="0"/>
                <a:ea typeface="Cambria" pitchFamily="34" charset="-122"/>
                <a:cs typeface="Cambria" pitchFamily="34" charset="-120"/>
              </a:rPr>
              <a:t>A combustion problem, or an electrical one</a:t>
            </a:r>
            <a:endParaRPr lang="en-US" sz="2700" dirty="0"/>
          </a:p>
        </p:txBody>
      </p:sp>
      <p:sp>
        <p:nvSpPr>
          <p:cNvPr id="14" name="Text 12"/>
          <p:cNvSpPr/>
          <p:nvPr/>
        </p:nvSpPr>
        <p:spPr>
          <a:xfrm>
            <a:off x="6516472" y="3547872"/>
            <a:ext cx="4833976" cy="1856232"/>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The net gap splits into two pieces with two different owners and two entirely different remedies. A positive gross gap is combustion, condenser and air pre-heater. A negative gross gap means the plant is beating its norm and every kilocalorie of the penalty is electricity consumed inside the fence.</a:t>
            </a:r>
            <a:endParaRPr lang="en-US" sz="1350" dirty="0"/>
          </a:p>
        </p:txBody>
      </p:sp>
      <p:sp>
        <p:nvSpPr>
          <p:cNvPr id="15" name="Shape 13"/>
          <p:cNvSpPr/>
          <p:nvPr/>
        </p:nvSpPr>
        <p:spPr>
          <a:xfrm>
            <a:off x="566928" y="56967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6967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Nashik's gross heat rate is 2,440 against a normative 2,458 — the boiler and turbine are beating the norm by 18 kcal/kWh, and the entire 50 kcal/kWh penalty is auxiliary power at 12.96 % against 10.75 %.</a:t>
            </a:r>
            <a:endParaRPr lang="en-US" sz="13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Station by station — where the gap actually sits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same net gap, decomposed. A negative gross gap means the plant is beating its norm.</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4. Reading our own numbers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57</a:t>
            </a:r>
            <a:endParaRPr lang="en-US" sz="95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8275320" cy="914400"/>
        </p:xfrm>
        <a:graphic>
          <a:graphicData uri="http://schemas.openxmlformats.org/drawingml/2006/table">
            <a:tbl>
              <a:tblPr/>
              <a:tblGrid>
                <a:gridCol w="2062066"/>
                <a:gridCol w="1082972"/>
                <a:gridCol w="1456886"/>
                <a:gridCol w="1082972"/>
                <a:gridCol w="2590424"/>
              </a:tblGrid>
              <a:tr h="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Station</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Aux gap pp</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Gross HR act / norm</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Gross gap</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Diagnosis</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Chandrapur Units 3-7</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+3.02</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2,393 / 2,455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−62</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Auxiliary power is the whole problem</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Nashik Units 3-5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+2.21</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2,440 / 2,458</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−18</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Auxiliary power is the whole problem</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Parli Unit 8</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+2.24</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2,197 / 2,210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−13</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Auxiliary power is the whole problem</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Khaperkheda Unit 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+0.57</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2,228 / 2,232</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Auxiliary power is the whole problem</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Khaperkheda Units 1-4</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+2.74</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2,377 / 2,375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Both, roughly balanced</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Koradi Unit 6</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+0.56</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2,246 / 2,190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+56</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Mostly boiler and turbine</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Paras Units 3-4</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+2.29</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2,279 / 2,190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+89</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Mostly boiler and turbine</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Koradi Units 8-10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+0.95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2,272 / 2,096</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+176</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Mostly boiler and turbine</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bl>
          </a:graphicData>
        </a:graphic>
      </p:graphicFrame>
      <p:sp>
        <p:nvSpPr>
          <p:cNvPr id="8" name="Shape 5"/>
          <p:cNvSpPr/>
          <p:nvPr/>
        </p:nvSpPr>
        <p:spPr>
          <a:xfrm>
            <a:off x="9116568" y="1627632"/>
            <a:ext cx="2508199" cy="2331720"/>
          </a:xfrm>
          <a:prstGeom prst="roundRect">
            <a:avLst>
              <a:gd name="adj" fmla="val 2353"/>
            </a:avLst>
          </a:prstGeom>
          <a:solidFill>
            <a:srgbClr val="1C253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9" name="Text 6"/>
          <p:cNvSpPr/>
          <p:nvPr/>
        </p:nvSpPr>
        <p:spPr>
          <a:xfrm>
            <a:off x="9226296" y="2011680"/>
            <a:ext cx="2288743" cy="822960"/>
          </a:xfrm>
          <a:prstGeom prst="rect">
            <a:avLst/>
          </a:prstGeom>
          <a:noFill/>
          <a:ln/>
        </p:spPr>
        <p:txBody>
          <a:bodyPr wrap="square" lIns="0" tIns="0" rIns="0" bIns="0" rtlCol="0" anchor="ctr"/>
          <a:lstStyle/>
          <a:p>
            <a:pPr algn="ctr" indent="0" marL="0">
              <a:buNone/>
            </a:pPr>
            <a:r>
              <a:rPr lang="en-US" sz="3600" b="1" dirty="0">
                <a:solidFill>
                  <a:srgbClr val="D96A16"/>
                </a:solidFill>
                <a:latin typeface="Cambria" pitchFamily="34" charset="0"/>
                <a:ea typeface="Cambria" pitchFamily="34" charset="-122"/>
                <a:cs typeface="Cambria" pitchFamily="34" charset="-120"/>
              </a:rPr>
              <a:t>₹22.84 crore</a:t>
            </a:r>
            <a:endParaRPr lang="en-US" sz="3600" dirty="0"/>
          </a:p>
        </p:txBody>
      </p:sp>
      <p:sp>
        <p:nvSpPr>
          <p:cNvPr id="10" name="Text 7"/>
          <p:cNvSpPr/>
          <p:nvPr/>
        </p:nvSpPr>
        <p:spPr>
          <a:xfrm>
            <a:off x="9317736" y="2852928"/>
            <a:ext cx="2105863" cy="1005840"/>
          </a:xfrm>
          <a:prstGeom prst="rect">
            <a:avLst/>
          </a:prstGeom>
          <a:noFill/>
          <a:ln/>
        </p:spPr>
        <p:txBody>
          <a:bodyPr wrap="square" lIns="0" tIns="0" rIns="0" bIns="0" rtlCol="0" anchor="ctr"/>
          <a:lstStyle/>
          <a:p>
            <a:pPr algn="ctr" indent="0" marL="0">
              <a:buNone/>
            </a:pPr>
            <a:r>
              <a:rPr lang="en-US" sz="1200" dirty="0">
                <a:solidFill>
                  <a:srgbClr val="C3CFDA"/>
                </a:solidFill>
                <a:latin typeface="Calibri" pitchFamily="34" charset="0"/>
                <a:ea typeface="Calibri" pitchFamily="34" charset="-122"/>
                <a:cs typeface="Calibri" pitchFamily="34" charset="-120"/>
              </a:rPr>
              <a:t>Koradi 8-10's GROSS gap: 176 kcal/kWh on 964.8 MU generated. Its NET gap of 212 on 897.75 MU sent out is worth ₹25.61 crore. Same station, two questions — and mixing them is the error this whole session is about</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What our fuel actually costs us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Cost of heat = MOD variable charge ÷ net heat rate. The station's own money, not an assumption.</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4. Reading our own numbers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58</a:t>
            </a:r>
            <a:endParaRPr lang="en-US" sz="95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11057839" cy="914400"/>
        </p:xfrm>
        <a:graphic>
          <a:graphicData uri="http://schemas.openxmlformats.org/drawingml/2006/table">
            <a:tbl>
              <a:tblPr/>
              <a:tblGrid>
                <a:gridCol w="2342540"/>
                <a:gridCol w="2314964"/>
                <a:gridCol w="1880696"/>
                <a:gridCol w="1984096"/>
                <a:gridCol w="2535543"/>
              </a:tblGrid>
              <a:tr h="420624">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Station</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MOD variable charge ₹/kWh</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Net heat rate kcal/kWh</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Cost of heat ₹/kcal</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Implied as-fired coal ₹/tonne</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r>
              <a:tr h="420624">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Nashik Units 3-5</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5.9800</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2,804</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0.002133</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6,217</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420624">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Bhusawal Unit 3</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4.9470</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2,848</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0.001737</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5,280</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420624">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Koradi Units 8-10</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3.2840</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2,442</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0.001345</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4,116</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420624">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Khaperkheda Unit 5</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3.1890</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2,385</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0.001337</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3,655</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bl>
          </a:graphicData>
        </a:graphic>
      </p:graphicFrame>
      <p:sp>
        <p:nvSpPr>
          <p:cNvPr id="8" name="Shape 5"/>
          <p:cNvSpPr/>
          <p:nvPr/>
        </p:nvSpPr>
        <p:spPr>
          <a:xfrm>
            <a:off x="566928" y="4206240"/>
            <a:ext cx="5669280" cy="1234440"/>
          </a:xfrm>
          <a:prstGeom prst="roundRect">
            <a:avLst>
              <a:gd name="adj" fmla="val 4444"/>
            </a:avLst>
          </a:prstGeom>
          <a:solidFill>
            <a:srgbClr val="1C253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9" name="Text 6"/>
          <p:cNvSpPr/>
          <p:nvPr/>
        </p:nvSpPr>
        <p:spPr>
          <a:xfrm>
            <a:off x="749808" y="4334256"/>
            <a:ext cx="5303520" cy="621792"/>
          </a:xfrm>
          <a:prstGeom prst="rect">
            <a:avLst/>
          </a:prstGeom>
          <a:noFill/>
          <a:ln/>
        </p:spPr>
        <p:txBody>
          <a:bodyPr wrap="square" lIns="0" tIns="0" rIns="0" bIns="0" rtlCol="0" anchor="ctr"/>
          <a:lstStyle/>
          <a:p>
            <a:pPr algn="ctr" indent="0" marL="0">
              <a:buNone/>
            </a:pPr>
            <a:r>
              <a:rPr lang="en-US" sz="3400" b="1" dirty="0">
                <a:solidFill>
                  <a:srgbClr val="D96A16"/>
                </a:solidFill>
                <a:latin typeface="Cambria" pitchFamily="34" charset="0"/>
                <a:ea typeface="Cambria" pitchFamily="34" charset="-122"/>
                <a:cs typeface="Cambria" pitchFamily="34" charset="-120"/>
              </a:rPr>
              <a:t>70 %</a:t>
            </a:r>
            <a:endParaRPr lang="en-US" sz="3400" dirty="0"/>
          </a:p>
        </p:txBody>
      </p:sp>
      <p:sp>
        <p:nvSpPr>
          <p:cNvPr id="10" name="Text 7"/>
          <p:cNvSpPr/>
          <p:nvPr/>
        </p:nvSpPr>
        <p:spPr>
          <a:xfrm>
            <a:off x="841248" y="4956048"/>
            <a:ext cx="5120640" cy="411480"/>
          </a:xfrm>
          <a:prstGeom prst="rect">
            <a:avLst/>
          </a:prstGeom>
          <a:noFill/>
          <a:ln/>
        </p:spPr>
        <p:txBody>
          <a:bodyPr wrap="square" lIns="0" tIns="0" rIns="0" bIns="0" rtlCol="0" anchor="ctr"/>
          <a:lstStyle/>
          <a:p>
            <a:pPr algn="ctr" indent="0" marL="0">
              <a:buNone/>
            </a:pPr>
            <a:r>
              <a:rPr lang="en-US" sz="1100" dirty="0">
                <a:solidFill>
                  <a:srgbClr val="C3CFDA"/>
                </a:solidFill>
                <a:latin typeface="Calibri" pitchFamily="34" charset="0"/>
                <a:ea typeface="Calibri" pitchFamily="34" charset="-122"/>
                <a:cs typeface="Calibri" pitchFamily="34" charset="-120"/>
              </a:rPr>
              <a:t>spread in implied as-fired coal cost between Khaperkheda Unit 5 and Nashik, inside one company</a:t>
            </a:r>
            <a:endParaRPr lang="en-US" sz="1100" dirty="0"/>
          </a:p>
        </p:txBody>
      </p:sp>
      <p:sp>
        <p:nvSpPr>
          <p:cNvPr id="11" name="Shape 8"/>
          <p:cNvSpPr/>
          <p:nvPr/>
        </p:nvSpPr>
        <p:spPr>
          <a:xfrm>
            <a:off x="6510528" y="4206240"/>
            <a:ext cx="5114239" cy="1234440"/>
          </a:xfrm>
          <a:prstGeom prst="roundRect">
            <a:avLst>
              <a:gd name="adj" fmla="val 4444"/>
            </a:avLst>
          </a:prstGeom>
          <a:solidFill>
            <a:srgbClr val="E1EFF1"/>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9"/>
          <p:cNvSpPr/>
          <p:nvPr/>
        </p:nvSpPr>
        <p:spPr>
          <a:xfrm>
            <a:off x="6711696" y="4315968"/>
            <a:ext cx="4702759" cy="274320"/>
          </a:xfrm>
          <a:prstGeom prst="rect">
            <a:avLst/>
          </a:prstGeom>
          <a:noFill/>
          <a:ln/>
        </p:spPr>
        <p:txBody>
          <a:bodyPr wrap="square" lIns="0" tIns="0" rIns="0" bIns="0" rtlCol="0" anchor="ctr"/>
          <a:lstStyle/>
          <a:p>
            <a:pPr indent="0" marL="0">
              <a:buNone/>
            </a:pPr>
            <a:r>
              <a:rPr lang="en-US" sz="1250" b="1" dirty="0">
                <a:solidFill>
                  <a:srgbClr val="11707F"/>
                </a:solidFill>
                <a:latin typeface="Calibri" pitchFamily="34" charset="0"/>
                <a:ea typeface="Calibri" pitchFamily="34" charset="-122"/>
                <a:cs typeface="Calibri" pitchFamily="34" charset="-120"/>
              </a:rPr>
              <a:t>Indicative basis</a:t>
            </a:r>
            <a:endParaRPr lang="en-US" sz="1250" dirty="0"/>
          </a:p>
        </p:txBody>
      </p:sp>
      <p:sp>
        <p:nvSpPr>
          <p:cNvPr id="13" name="Text 10"/>
          <p:cNvSpPr/>
          <p:nvPr/>
        </p:nvSpPr>
        <p:spPr>
          <a:xfrm>
            <a:off x="6711696" y="4608576"/>
            <a:ext cx="4702759" cy="786384"/>
          </a:xfrm>
          <a:prstGeom prst="rect">
            <a:avLst/>
          </a:prstGeom>
          <a:noFill/>
          <a:ln/>
        </p:spPr>
        <p:txBody>
          <a:bodyPr wrap="square" lIns="0" tIns="0" rIns="0" bIns="0" rtlCol="0" anchor="ctr"/>
          <a:lstStyle/>
          <a:p>
            <a:pPr indent="0" marL="0">
              <a:buNone/>
            </a:pPr>
            <a:r>
              <a:rPr lang="en-US" sz="1100" dirty="0">
                <a:solidFill>
                  <a:srgbClr val="2E5C63"/>
                </a:solidFill>
                <a:latin typeface="Calibri" pitchFamily="34" charset="0"/>
                <a:ea typeface="Calibri" pitchFamily="34" charset="-122"/>
                <a:cs typeface="Calibri" pitchFamily="34" charset="-120"/>
              </a:rPr>
              <a:t>Cost of heat = each station's own MERC merit-order variable charge divided by its own actual net heat rate for June 2026. Implied coal cost = cost of heat × as-fired GCV. These are the station's own figures, not an assumption.</a:t>
            </a:r>
            <a:endParaRPr lang="en-US" sz="1100" dirty="0"/>
          </a:p>
        </p:txBody>
      </p:sp>
      <p:sp>
        <p:nvSpPr>
          <p:cNvPr id="14" name="Shape 11"/>
          <p:cNvSpPr/>
          <p:nvPr/>
        </p:nvSpPr>
        <p:spPr>
          <a:xfrm>
            <a:off x="566928" y="5596128"/>
            <a:ext cx="11057839" cy="548640"/>
          </a:xfrm>
          <a:prstGeom prst="roundRect">
            <a:avLst>
              <a:gd name="adj" fmla="val 8333"/>
            </a:avLst>
          </a:prstGeom>
          <a:solidFill>
            <a:srgbClr val="FCEDE0"/>
          </a:solidFill>
          <a:ln w="12700">
            <a:solidFill>
              <a:srgbClr val="D96A16"/>
            </a:solidFill>
            <a:prstDash val="solid"/>
          </a:ln>
        </p:spPr>
      </p:sp>
      <p:sp>
        <p:nvSpPr>
          <p:cNvPr id="15" name="Text 12"/>
          <p:cNvSpPr/>
          <p:nvPr/>
        </p:nvSpPr>
        <p:spPr>
          <a:xfrm>
            <a:off x="768096" y="5596128"/>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Nashik's coal costs ₹6,217 a tonne against ₹3,655 at Khaperkheda 5 — nearly twice. The same kcal/kWh saved is worth far more at Nashik.</a:t>
            </a:r>
            <a:endParaRPr lang="en-US" sz="13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merit order is a scoreboard</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How heat rate and coal cost decide whether a station that is ready actually gets called</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4. Reading our own numbers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59</a:t>
            </a:r>
            <a:endParaRPr lang="en-US" sz="950" dirty="0"/>
          </a:p>
        </p:txBody>
      </p:sp>
      <p:sp>
        <p:nvSpPr>
          <p:cNvPr id="7" name="Shape 5"/>
          <p:cNvSpPr/>
          <p:nvPr/>
        </p:nvSpPr>
        <p:spPr>
          <a:xfrm>
            <a:off x="566928"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10512"/>
            <a:ext cx="137160" cy="137160"/>
          </a:xfrm>
          <a:prstGeom prst="ellipse">
            <a:avLst/>
          </a:prstGeom>
          <a:solidFill>
            <a:srgbClr val="D96A16"/>
          </a:solidFill>
          <a:ln/>
        </p:spPr>
      </p:sp>
      <p:sp>
        <p:nvSpPr>
          <p:cNvPr id="9" name="Text 7"/>
          <p:cNvSpPr/>
          <p:nvPr/>
        </p:nvSpPr>
        <p:spPr>
          <a:xfrm>
            <a:off x="969264" y="1709928"/>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₹5.98 per kWh</a:t>
            </a:r>
            <a:endParaRPr lang="en-US" sz="1450" dirty="0"/>
          </a:p>
        </p:txBody>
      </p:sp>
      <p:sp>
        <p:nvSpPr>
          <p:cNvPr id="10" name="Text 8"/>
          <p:cNvSpPr/>
          <p:nvPr/>
        </p:nvSpPr>
        <p:spPr>
          <a:xfrm>
            <a:off x="768096" y="2121408"/>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Nashik's July 2026 variable charge. The most expensive coal station in the MSEDCL stack, ranked tenth overall and behind only gas.</a:t>
            </a:r>
            <a:endParaRPr lang="en-US" sz="1200" dirty="0"/>
          </a:p>
        </p:txBody>
      </p:sp>
      <p:sp>
        <p:nvSpPr>
          <p:cNvPr id="11" name="Shape 9"/>
          <p:cNvSpPr/>
          <p:nvPr/>
        </p:nvSpPr>
        <p:spPr>
          <a:xfrm>
            <a:off x="4326026"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4508906" y="1810512"/>
            <a:ext cx="137160" cy="137160"/>
          </a:xfrm>
          <a:prstGeom prst="ellipse">
            <a:avLst/>
          </a:prstGeom>
          <a:solidFill>
            <a:srgbClr val="D96A16"/>
          </a:solidFill>
          <a:ln/>
        </p:spPr>
      </p:sp>
      <p:sp>
        <p:nvSpPr>
          <p:cNvPr id="13" name="Text 11"/>
          <p:cNvSpPr/>
          <p:nvPr/>
        </p:nvSpPr>
        <p:spPr>
          <a:xfrm>
            <a:off x="4728362" y="1709928"/>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94.62 per cent available</a:t>
            </a:r>
            <a:endParaRPr lang="en-US" sz="1450" dirty="0"/>
          </a:p>
        </p:txBody>
      </p:sp>
      <p:sp>
        <p:nvSpPr>
          <p:cNvPr id="14" name="Text 12"/>
          <p:cNvSpPr/>
          <p:nvPr/>
        </p:nvSpPr>
        <p:spPr>
          <a:xfrm>
            <a:off x="4527194" y="2121408"/>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The highest availability in the fleet. The plant is ready, declared and staffed. Availability is not the constraint here.</a:t>
            </a:r>
            <a:endParaRPr lang="en-US" sz="1200" dirty="0"/>
          </a:p>
        </p:txBody>
      </p:sp>
      <p:sp>
        <p:nvSpPr>
          <p:cNvPr id="15" name="Shape 13"/>
          <p:cNvSpPr/>
          <p:nvPr/>
        </p:nvSpPr>
        <p:spPr>
          <a:xfrm>
            <a:off x="8085125"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8268005" y="1810512"/>
            <a:ext cx="137160" cy="137160"/>
          </a:xfrm>
          <a:prstGeom prst="ellipse">
            <a:avLst/>
          </a:prstGeom>
          <a:solidFill>
            <a:srgbClr val="D96A16"/>
          </a:solidFill>
          <a:ln/>
        </p:spPr>
      </p:sp>
      <p:sp>
        <p:nvSpPr>
          <p:cNvPr id="17" name="Text 15"/>
          <p:cNvSpPr/>
          <p:nvPr/>
        </p:nvSpPr>
        <p:spPr>
          <a:xfrm>
            <a:off x="8487461" y="1709928"/>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58.40 per cent PLF</a:t>
            </a:r>
            <a:endParaRPr lang="en-US" sz="1450" dirty="0"/>
          </a:p>
        </p:txBody>
      </p:sp>
      <p:sp>
        <p:nvSpPr>
          <p:cNvPr id="18" name="Text 16"/>
          <p:cNvSpPr/>
          <p:nvPr/>
        </p:nvSpPr>
        <p:spPr>
          <a:xfrm>
            <a:off x="8286293" y="2121408"/>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And it is not being called. The gap between those two numbers is the merit order doing exactly what it is designed to do.</a:t>
            </a:r>
            <a:endParaRPr lang="en-US" sz="1200" dirty="0"/>
          </a:p>
        </p:txBody>
      </p:sp>
      <p:sp>
        <p:nvSpPr>
          <p:cNvPr id="19" name="Shape 17"/>
          <p:cNvSpPr/>
          <p:nvPr/>
        </p:nvSpPr>
        <p:spPr>
          <a:xfrm>
            <a:off x="566928"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749808" y="3895344"/>
            <a:ext cx="137160" cy="137160"/>
          </a:xfrm>
          <a:prstGeom prst="ellipse">
            <a:avLst/>
          </a:prstGeom>
          <a:solidFill>
            <a:srgbClr val="D96A16"/>
          </a:solidFill>
          <a:ln/>
        </p:spPr>
      </p:sp>
      <p:sp>
        <p:nvSpPr>
          <p:cNvPr id="21" name="Text 19"/>
          <p:cNvSpPr/>
          <p:nvPr/>
        </p:nvSpPr>
        <p:spPr>
          <a:xfrm>
            <a:off x="969264" y="379476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The causal chain</a:t>
            </a:r>
            <a:endParaRPr lang="en-US" sz="1450" dirty="0"/>
          </a:p>
        </p:txBody>
      </p:sp>
      <p:sp>
        <p:nvSpPr>
          <p:cNvPr id="22" name="Text 20"/>
          <p:cNvSpPr/>
          <p:nvPr/>
        </p:nvSpPr>
        <p:spPr>
          <a:xfrm>
            <a:off x="768096" y="4206240"/>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Heat rate and coal cost set the variable charge. The variable charge sets the rank. The rank sets the PLF. The PLF sets fixed-cost recovery.</a:t>
            </a:r>
            <a:endParaRPr lang="en-US" sz="1200" dirty="0"/>
          </a:p>
        </p:txBody>
      </p:sp>
      <p:sp>
        <p:nvSpPr>
          <p:cNvPr id="23" name="Shape 21"/>
          <p:cNvSpPr/>
          <p:nvPr/>
        </p:nvSpPr>
        <p:spPr>
          <a:xfrm>
            <a:off x="4326026"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4" name="Shape 22"/>
          <p:cNvSpPr/>
          <p:nvPr/>
        </p:nvSpPr>
        <p:spPr>
          <a:xfrm>
            <a:off x="4508906" y="3895344"/>
            <a:ext cx="137160" cy="137160"/>
          </a:xfrm>
          <a:prstGeom prst="ellipse">
            <a:avLst/>
          </a:prstGeom>
          <a:solidFill>
            <a:srgbClr val="D96A16"/>
          </a:solidFill>
          <a:ln/>
        </p:spPr>
      </p:sp>
      <p:sp>
        <p:nvSpPr>
          <p:cNvPr id="25" name="Text 23"/>
          <p:cNvSpPr/>
          <p:nvPr/>
        </p:nvSpPr>
        <p:spPr>
          <a:xfrm>
            <a:off x="4728362" y="379476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Where the lever is</a:t>
            </a:r>
            <a:endParaRPr lang="en-US" sz="1450" dirty="0"/>
          </a:p>
        </p:txBody>
      </p:sp>
      <p:sp>
        <p:nvSpPr>
          <p:cNvPr id="26" name="Text 24"/>
          <p:cNvSpPr/>
          <p:nvPr/>
        </p:nvSpPr>
        <p:spPr>
          <a:xfrm>
            <a:off x="4527194" y="4206240"/>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Rank is relative and nobody controls the other bidders. The only lever inside the fence is the station's own variable charge.</a:t>
            </a:r>
            <a:endParaRPr lang="en-US" sz="1200" dirty="0"/>
          </a:p>
        </p:txBody>
      </p:sp>
      <p:sp>
        <p:nvSpPr>
          <p:cNvPr id="27" name="Shape 25"/>
          <p:cNvSpPr/>
          <p:nvPr/>
        </p:nvSpPr>
        <p:spPr>
          <a:xfrm>
            <a:off x="8085125"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Shape 26"/>
          <p:cNvSpPr/>
          <p:nvPr/>
        </p:nvSpPr>
        <p:spPr>
          <a:xfrm>
            <a:off x="8268005" y="3895344"/>
            <a:ext cx="137160" cy="137160"/>
          </a:xfrm>
          <a:prstGeom prst="ellipse">
            <a:avLst/>
          </a:prstGeom>
          <a:solidFill>
            <a:srgbClr val="D96A16"/>
          </a:solidFill>
          <a:ln/>
        </p:spPr>
      </p:sp>
      <p:sp>
        <p:nvSpPr>
          <p:cNvPr id="29" name="Text 27"/>
          <p:cNvSpPr/>
          <p:nvPr/>
        </p:nvSpPr>
        <p:spPr>
          <a:xfrm>
            <a:off x="8487461" y="379476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This is structural, not blame</a:t>
            </a:r>
            <a:endParaRPr lang="en-US" sz="1450" dirty="0"/>
          </a:p>
        </p:txBody>
      </p:sp>
      <p:sp>
        <p:nvSpPr>
          <p:cNvPr id="30" name="Text 28"/>
          <p:cNvSpPr/>
          <p:nvPr/>
        </p:nvSpPr>
        <p:spPr>
          <a:xfrm>
            <a:off x="8286293" y="4206240"/>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1979 to 1981 vintage units on the most expensive coal in the fleet. The mechanism is arithmetic, and it is worth understanding rather than resenting.</a:t>
            </a:r>
            <a:endParaRPr lang="en-US" sz="1200" dirty="0"/>
          </a:p>
        </p:txBody>
      </p:sp>
      <p:sp>
        <p:nvSpPr>
          <p:cNvPr id="31" name="Shape 29"/>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32" name="Text 30"/>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Every kilocalorie per kilowatt hour and every rupee per tonne moves you up or down a ranked list that decides whether you run at all.</a:t>
            </a:r>
            <a:endParaRPr lang="en-US" sz="13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auxiliary power bill</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Electricity generated and then consumed inside the fence, above the approved norm</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4. Reading our own numbers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60</a:t>
            </a:r>
            <a:endParaRPr lang="en-US" sz="95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8275320" cy="914400"/>
        </p:xfrm>
        <a:graphic>
          <a:graphicData uri="http://schemas.openxmlformats.org/drawingml/2006/table">
            <a:tbl>
              <a:tblPr/>
              <a:tblGrid>
                <a:gridCol w="2400438"/>
                <a:gridCol w="1442167"/>
                <a:gridCol w="1238382"/>
                <a:gridCol w="1613428"/>
                <a:gridCol w="1580904"/>
              </a:tblGrid>
              <a:tr h="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Station</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Aux actual %</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Aux norm %</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Excess MU/month</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Value ₹ cr/month</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Chandrapur Units 3-7</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11.69</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8.67</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23.03</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9.52</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Nashik Units 3-5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12.96</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10.75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5.85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3.50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Khaperkheda Units 1-4</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12.44</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9.70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9.38</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3.42</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Parli Units 6-7</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12.41</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9.30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7.86</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3.25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Koradi Units 8-10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6.95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6.00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9.17</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3.01</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Bhusawal Units 4-5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7.06</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6.00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5.85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2.37</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Paras Units 3-4</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11.59</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9.30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5.61</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2.22</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Parli Unit 8</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10.74</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8.50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3.26</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1.35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bl>
          </a:graphicData>
        </a:graphic>
      </p:graphicFrame>
      <p:sp>
        <p:nvSpPr>
          <p:cNvPr id="8" name="Shape 5"/>
          <p:cNvSpPr/>
          <p:nvPr/>
        </p:nvSpPr>
        <p:spPr>
          <a:xfrm>
            <a:off x="9116568" y="1627632"/>
            <a:ext cx="2508199" cy="2331720"/>
          </a:xfrm>
          <a:prstGeom prst="roundRect">
            <a:avLst>
              <a:gd name="adj" fmla="val 2353"/>
            </a:avLst>
          </a:prstGeom>
          <a:solidFill>
            <a:srgbClr val="1C253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9" name="Text 6"/>
          <p:cNvSpPr/>
          <p:nvPr/>
        </p:nvSpPr>
        <p:spPr>
          <a:xfrm>
            <a:off x="9226296" y="2011680"/>
            <a:ext cx="2288743" cy="822960"/>
          </a:xfrm>
          <a:prstGeom prst="rect">
            <a:avLst/>
          </a:prstGeom>
          <a:noFill/>
          <a:ln/>
        </p:spPr>
        <p:txBody>
          <a:bodyPr wrap="square" lIns="0" tIns="0" rIns="0" bIns="0" rtlCol="0" anchor="ctr"/>
          <a:lstStyle/>
          <a:p>
            <a:pPr algn="ctr" indent="0" marL="0">
              <a:buNone/>
            </a:pPr>
            <a:r>
              <a:rPr lang="en-US" sz="3600" b="1" dirty="0">
                <a:solidFill>
                  <a:srgbClr val="D96A16"/>
                </a:solidFill>
                <a:latin typeface="Cambria" pitchFamily="34" charset="0"/>
                <a:ea typeface="Cambria" pitchFamily="34" charset="-122"/>
                <a:cs typeface="Cambria" pitchFamily="34" charset="-120"/>
              </a:rPr>
              <a:t>81.5 MU</a:t>
            </a:r>
            <a:endParaRPr lang="en-US" sz="3600" dirty="0"/>
          </a:p>
        </p:txBody>
      </p:sp>
      <p:sp>
        <p:nvSpPr>
          <p:cNvPr id="10" name="Text 7"/>
          <p:cNvSpPr/>
          <p:nvPr/>
        </p:nvSpPr>
        <p:spPr>
          <a:xfrm>
            <a:off x="9317736" y="2852928"/>
            <a:ext cx="2105863" cy="1005840"/>
          </a:xfrm>
          <a:prstGeom prst="rect">
            <a:avLst/>
          </a:prstGeom>
          <a:noFill/>
          <a:ln/>
        </p:spPr>
        <p:txBody>
          <a:bodyPr wrap="square" lIns="0" tIns="0" rIns="0" bIns="0" rtlCol="0" anchor="ctr"/>
          <a:lstStyle/>
          <a:p>
            <a:pPr algn="ctr" indent="0" marL="0">
              <a:buNone/>
            </a:pPr>
            <a:r>
              <a:rPr lang="en-US" sz="1200" dirty="0">
                <a:solidFill>
                  <a:srgbClr val="C3CFDA"/>
                </a:solidFill>
                <a:latin typeface="Calibri" pitchFamily="34" charset="0"/>
                <a:ea typeface="Calibri" pitchFamily="34" charset="-122"/>
                <a:cs typeface="Calibri" pitchFamily="34" charset="-120"/>
              </a:rPr>
              <a:t>above norm in one month, worth ₹32.9 crore — a component of the ₹56 crore, never an addition to it</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oil and the coal</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Two costs that sit outside the heat-rate arithmetic and are measured every single day</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4. Reading our own numbers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61</a:t>
            </a:r>
            <a:endParaRPr lang="en-US" sz="950" dirty="0"/>
          </a:p>
        </p:txBody>
      </p:sp>
      <p:sp>
        <p:nvSpPr>
          <p:cNvPr id="7" name="Shape 5"/>
          <p:cNvSpPr/>
          <p:nvPr/>
        </p:nvSpPr>
        <p:spPr>
          <a:xfrm>
            <a:off x="566928" y="1627632"/>
            <a:ext cx="5391760" cy="3429000"/>
          </a:xfrm>
          <a:prstGeom prst="roundRect">
            <a:avLst>
              <a:gd name="adj" fmla="val 1600"/>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5391760" cy="493776"/>
          </a:xfrm>
          <a:prstGeom prst="roundRect">
            <a:avLst>
              <a:gd name="adj" fmla="val 9259"/>
            </a:avLst>
          </a:prstGeom>
          <a:solidFill>
            <a:srgbClr val="2A3644"/>
          </a:solidFill>
          <a:ln/>
        </p:spPr>
      </p:sp>
      <p:sp>
        <p:nvSpPr>
          <p:cNvPr id="9" name="Text 7"/>
          <p:cNvSpPr/>
          <p:nvPr/>
        </p:nvSpPr>
        <p:spPr>
          <a:xfrm>
            <a:off x="786384" y="1627632"/>
            <a:ext cx="4980280" cy="49377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Secondary fuel oil — burning oil to hold a flame</a:t>
            </a:r>
            <a:endParaRPr lang="en-US" sz="1400" dirty="0"/>
          </a:p>
        </p:txBody>
      </p:sp>
      <p:sp>
        <p:nvSpPr>
          <p:cNvPr id="10" name="Text 8"/>
          <p:cNvSpPr/>
          <p:nvPr/>
        </p:nvSpPr>
        <p:spPr>
          <a:xfrm>
            <a:off x="804672" y="2267712"/>
            <a:ext cx="4916272" cy="265176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Chandrapur Units 3-7: 3.23 ml/kWh against a normative 1.00</a:t>
            </a:r>
            <a:endParaRPr lang="en-US" sz="1300" dirty="0"/>
          </a:p>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Parli Units 6-7: 2.87 ml/kWh against a normative 0.50 — nearly six times</a:t>
            </a:r>
            <a:endParaRPr lang="en-US" sz="1300" dirty="0"/>
          </a:p>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Oil support is a symptom of low-load running and flame-stability anxiety</a:t>
            </a:r>
            <a:endParaRPr lang="en-US" sz="1300" dirty="0"/>
          </a:p>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It is the most expensive heat in the station, by a wide margin</a:t>
            </a:r>
            <a:endParaRPr lang="en-US" sz="1300" dirty="0"/>
          </a:p>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Much of it is precautionary rather than necessary, and nobody measures which</a:t>
            </a:r>
            <a:endParaRPr lang="en-US" sz="1300" dirty="0"/>
          </a:p>
        </p:txBody>
      </p:sp>
      <p:sp>
        <p:nvSpPr>
          <p:cNvPr id="11" name="Shape 9"/>
          <p:cNvSpPr/>
          <p:nvPr/>
        </p:nvSpPr>
        <p:spPr>
          <a:xfrm>
            <a:off x="6233008" y="1627632"/>
            <a:ext cx="5391760" cy="3429000"/>
          </a:xfrm>
          <a:prstGeom prst="roundRect">
            <a:avLst>
              <a:gd name="adj" fmla="val 1600"/>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233008" y="1627632"/>
            <a:ext cx="5391760" cy="493776"/>
          </a:xfrm>
          <a:prstGeom prst="roundRect">
            <a:avLst>
              <a:gd name="adj" fmla="val 9259"/>
            </a:avLst>
          </a:prstGeom>
          <a:solidFill>
            <a:srgbClr val="11707F"/>
          </a:solidFill>
          <a:ln/>
        </p:spPr>
      </p:sp>
      <p:sp>
        <p:nvSpPr>
          <p:cNvPr id="13" name="Text 11"/>
          <p:cNvSpPr/>
          <p:nvPr/>
        </p:nvSpPr>
        <p:spPr>
          <a:xfrm>
            <a:off x="6452464" y="1627632"/>
            <a:ext cx="4980280" cy="49377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Coal quality — what arrives is not what was bought</a:t>
            </a:r>
            <a:endParaRPr lang="en-US" sz="1400" dirty="0"/>
          </a:p>
        </p:txBody>
      </p:sp>
      <p:sp>
        <p:nvSpPr>
          <p:cNvPr id="14" name="Text 12"/>
          <p:cNvSpPr/>
          <p:nvPr/>
        </p:nvSpPr>
        <p:spPr>
          <a:xfrm>
            <a:off x="6470752" y="2267712"/>
            <a:ext cx="4916272" cy="265176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GCV loss between loading and unloading: 619 to 941 kcal/kg</a:t>
            </a:r>
            <a:endParaRPr lang="en-US" sz="1300" dirty="0"/>
          </a:p>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As-fired GCV across the fleet: 2,733 to 3,270 kcal/kg</a:t>
            </a:r>
            <a:endParaRPr lang="en-US" sz="1300" dirty="0"/>
          </a:p>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Paras transit loss 1.924 % against a normative 0.800 %</a:t>
            </a:r>
            <a:endParaRPr lang="en-US" sz="1300" dirty="0"/>
          </a:p>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Stacking loss taken at 85 kcal/kg at every station</a:t>
            </a:r>
            <a:endParaRPr lang="en-US" sz="1300" dirty="0"/>
          </a:p>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Six stations blend imported coal at 4,624 to 4,709 kcal/kg as fired</a:t>
            </a:r>
            <a:endParaRPr lang="en-US" sz="1300" dirty="0"/>
          </a:p>
        </p:txBody>
      </p:sp>
      <p:sp>
        <p:nvSpPr>
          <p:cNvPr id="15" name="Shape 13"/>
          <p:cNvSpPr/>
          <p:nvPr/>
        </p:nvSpPr>
        <p:spPr>
          <a:xfrm>
            <a:off x="566928" y="52395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2395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Both columns are measured daily and analysed monthly at best. Both are prediction problems long before they are procurement problems.</a:t>
            </a:r>
            <a:endParaRPr lang="en-US" sz="13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Lab — SIM-2 · Heat rate loss attribution</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Ten minutes at the keyboard, on your own station's June 2026 numbers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4. Reading our own numbers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62</a:t>
            </a:r>
            <a:endParaRPr lang="en-US" sz="950" dirty="0"/>
          </a:p>
        </p:txBody>
      </p:sp>
      <p:sp>
        <p:nvSpPr>
          <p:cNvPr id="7" name="Shape 5"/>
          <p:cNvSpPr/>
          <p:nvPr/>
        </p:nvSpPr>
        <p:spPr>
          <a:xfrm>
            <a:off x="566928" y="1627632"/>
            <a:ext cx="11057839" cy="786384"/>
          </a:xfrm>
          <a:prstGeom prst="roundRect">
            <a:avLst>
              <a:gd name="adj" fmla="val 6977"/>
            </a:avLst>
          </a:prstGeom>
          <a:solidFill>
            <a:srgbClr val="1C2530"/>
          </a:solidFill>
          <a:ln/>
        </p:spPr>
      </p:sp>
      <p:sp>
        <p:nvSpPr>
          <p:cNvPr id="8" name="Shape 6"/>
          <p:cNvSpPr/>
          <p:nvPr/>
        </p:nvSpPr>
        <p:spPr>
          <a:xfrm>
            <a:off x="768096" y="1801368"/>
            <a:ext cx="1188720" cy="438912"/>
          </a:xfrm>
          <a:prstGeom prst="roundRect">
            <a:avLst>
              <a:gd name="adj" fmla="val 50000"/>
            </a:avLst>
          </a:prstGeom>
          <a:solidFill>
            <a:srgbClr val="D96A16"/>
          </a:solidFill>
          <a:ln/>
        </p:spPr>
      </p:sp>
      <p:sp>
        <p:nvSpPr>
          <p:cNvPr id="9" name="Text 7"/>
          <p:cNvSpPr/>
          <p:nvPr/>
        </p:nvSpPr>
        <p:spPr>
          <a:xfrm>
            <a:off x="768096" y="1801368"/>
            <a:ext cx="118872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SIM-2</a:t>
            </a:r>
            <a:endParaRPr lang="en-US" sz="1400" dirty="0"/>
          </a:p>
        </p:txBody>
      </p:sp>
      <p:sp>
        <p:nvSpPr>
          <p:cNvPr id="10" name="Text 8"/>
          <p:cNvSpPr/>
          <p:nvPr/>
        </p:nvSpPr>
        <p:spPr>
          <a:xfrm>
            <a:off x="2139696" y="1627632"/>
            <a:ext cx="7217359" cy="786384"/>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Heat rate loss attribution</a:t>
            </a:r>
            <a:endParaRPr lang="en-US" sz="2000" dirty="0"/>
          </a:p>
        </p:txBody>
      </p:sp>
      <p:sp>
        <p:nvSpPr>
          <p:cNvPr id="11" name="Text 9"/>
          <p:cNvSpPr/>
          <p:nvPr/>
        </p:nvSpPr>
        <p:spPr>
          <a:xfrm>
            <a:off x="8881567" y="1627632"/>
            <a:ext cx="2542032" cy="786384"/>
          </a:xfrm>
          <a:prstGeom prst="rect">
            <a:avLst/>
          </a:prstGeom>
          <a:noFill/>
          <a:ln/>
        </p:spPr>
        <p:txBody>
          <a:bodyPr wrap="square" lIns="0" tIns="0" rIns="0" bIns="0" rtlCol="0" anchor="ctr"/>
          <a:lstStyle/>
          <a:p>
            <a:pPr algn="r" indent="0" marL="0">
              <a:buNone/>
            </a:pPr>
            <a:r>
              <a:rPr lang="en-US" sz="1300" b="1" dirty="0">
                <a:solidFill>
                  <a:srgbClr val="D96A16"/>
                </a:solidFill>
                <a:latin typeface="Calibri" pitchFamily="34" charset="0"/>
                <a:ea typeface="Calibri" pitchFamily="34" charset="-122"/>
                <a:cs typeface="Calibri" pitchFamily="34" charset="-120"/>
              </a:rPr>
              <a:t>10 minutes at your laptop</a:t>
            </a:r>
            <a:endParaRPr lang="en-US" sz="1300" dirty="0"/>
          </a:p>
        </p:txBody>
      </p:sp>
      <p:sp>
        <p:nvSpPr>
          <p:cNvPr id="12" name="Shape 10"/>
          <p:cNvSpPr/>
          <p:nvPr/>
        </p:nvSpPr>
        <p:spPr>
          <a:xfrm>
            <a:off x="566928" y="2578608"/>
            <a:ext cx="6038771" cy="2907792"/>
          </a:xfrm>
          <a:prstGeom prst="roundRect">
            <a:avLst>
              <a:gd name="adj" fmla="val 188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Shape 11"/>
          <p:cNvSpPr/>
          <p:nvPr/>
        </p:nvSpPr>
        <p:spPr>
          <a:xfrm>
            <a:off x="566928" y="2578608"/>
            <a:ext cx="6038771" cy="457200"/>
          </a:xfrm>
          <a:prstGeom prst="roundRect">
            <a:avLst>
              <a:gd name="adj" fmla="val 10000"/>
            </a:avLst>
          </a:prstGeom>
          <a:solidFill>
            <a:srgbClr val="2A3644"/>
          </a:solidFill>
          <a:ln/>
        </p:spPr>
      </p:sp>
      <p:sp>
        <p:nvSpPr>
          <p:cNvPr id="14" name="Text 12"/>
          <p:cNvSpPr/>
          <p:nvPr/>
        </p:nvSpPr>
        <p:spPr>
          <a:xfrm>
            <a:off x="786384" y="2578608"/>
            <a:ext cx="5627291"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Do this</a:t>
            </a:r>
            <a:endParaRPr lang="en-US" sz="1400" dirty="0"/>
          </a:p>
        </p:txBody>
      </p:sp>
      <p:sp>
        <p:nvSpPr>
          <p:cNvPr id="15" name="Text 13"/>
          <p:cNvSpPr/>
          <p:nvPr/>
        </p:nvSpPr>
        <p:spPr>
          <a:xfrm>
            <a:off x="841248" y="3163824"/>
            <a:ext cx="5508419" cy="219456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Open SIM-2 and select your own station from the dropdown. Read the facts panel underneath it.</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Read the split: how much of your net heat-rate gap is auxiliary power, and how much is boiler and turbine.</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Select Nashik Units 3-5, then Koradi Units 8-10. Same question, opposite answers.</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Go back to your own station and move the controllable-parameter sliders — excess oxygen, main steam temperature, back pressure, unburnt carbon, air pre-heater leakage.</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Drag the auxiliary power reduction slider and see what closing half a percentage point is worth at your own variable charge.</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Read the red warning at the bottom of the module before you close it.</a:t>
            </a:r>
            <a:endParaRPr lang="en-US" sz="1100" dirty="0"/>
          </a:p>
        </p:txBody>
      </p:sp>
      <p:sp>
        <p:nvSpPr>
          <p:cNvPr id="16" name="Shape 14"/>
          <p:cNvSpPr/>
          <p:nvPr/>
        </p:nvSpPr>
        <p:spPr>
          <a:xfrm>
            <a:off x="6880019" y="2578608"/>
            <a:ext cx="4744748" cy="2907792"/>
          </a:xfrm>
          <a:prstGeom prst="roundRect">
            <a:avLst>
              <a:gd name="adj" fmla="val 188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7" name="Shape 15"/>
          <p:cNvSpPr/>
          <p:nvPr/>
        </p:nvSpPr>
        <p:spPr>
          <a:xfrm>
            <a:off x="6880019" y="2578608"/>
            <a:ext cx="4744748" cy="457200"/>
          </a:xfrm>
          <a:prstGeom prst="roundRect">
            <a:avLst>
              <a:gd name="adj" fmla="val 10000"/>
            </a:avLst>
          </a:prstGeom>
          <a:solidFill>
            <a:srgbClr val="11707F"/>
          </a:solidFill>
          <a:ln/>
        </p:spPr>
      </p:sp>
      <p:sp>
        <p:nvSpPr>
          <p:cNvPr id="18" name="Text 16"/>
          <p:cNvSpPr/>
          <p:nvPr/>
        </p:nvSpPr>
        <p:spPr>
          <a:xfrm>
            <a:off x="7099475" y="2578608"/>
            <a:ext cx="4333268"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Watch for</a:t>
            </a:r>
            <a:endParaRPr lang="en-US" sz="1400" dirty="0"/>
          </a:p>
        </p:txBody>
      </p:sp>
      <p:sp>
        <p:nvSpPr>
          <p:cNvPr id="19" name="Text 17"/>
          <p:cNvSpPr/>
          <p:nvPr/>
        </p:nvSpPr>
        <p:spPr>
          <a:xfrm>
            <a:off x="7136051" y="3163824"/>
            <a:ext cx="4232684" cy="2194560"/>
          </a:xfrm>
          <a:prstGeom prst="rect">
            <a:avLst/>
          </a:prstGeom>
          <a:noFill/>
          <a:ln/>
        </p:spPr>
        <p:txBody>
          <a:bodyPr wrap="square" lIns="0" tIns="0" rIns="0" bIns="0" rtlCol="0" anchor="t"/>
          <a:lstStyle/>
          <a:p>
            <a:pPr marL="342900" indent="-342900">
              <a:spcAft>
                <a:spcPts val="500"/>
              </a:spcAft>
              <a:buSzPct val="100000"/>
              <a:buChar char="▪"/>
            </a:pPr>
            <a:r>
              <a:rPr lang="en-US" sz="1000" dirty="0">
                <a:solidFill>
                  <a:srgbClr val="1C2530"/>
                </a:solidFill>
                <a:latin typeface="Calibri" pitchFamily="34" charset="0"/>
                <a:ea typeface="Calibri" pitchFamily="34" charset="-122"/>
                <a:cs typeface="Calibri" pitchFamily="34" charset="-120"/>
              </a:rPr>
              <a:t>For Nashik the boiler and turbine bar sits below the line — better than the norm. The whole gap is the auxiliary bar.</a:t>
            </a:r>
            <a:endParaRPr lang="en-US" sz="1000" dirty="0"/>
          </a:p>
          <a:p>
            <a:pPr marL="342900" indent="-342900">
              <a:spcAft>
                <a:spcPts val="500"/>
              </a:spcAft>
              <a:buSzPct val="100000"/>
              <a:buChar char="▪"/>
            </a:pPr>
            <a:r>
              <a:rPr lang="en-US" sz="1000" dirty="0">
                <a:solidFill>
                  <a:srgbClr val="1C2530"/>
                </a:solidFill>
                <a:latin typeface="Calibri" pitchFamily="34" charset="0"/>
                <a:ea typeface="Calibri" pitchFamily="34" charset="-122"/>
                <a:cs typeface="Calibri" pitchFamily="34" charset="-120"/>
              </a:rPr>
              <a:t>Koradi Units 8-10 are the mirror image: a 176 kcal/kWh plant gap and almost no auxiliary gap at all.</a:t>
            </a:r>
            <a:endParaRPr lang="en-US" sz="1000" dirty="0"/>
          </a:p>
          <a:p>
            <a:pPr marL="342900" indent="-342900">
              <a:spcAft>
                <a:spcPts val="500"/>
              </a:spcAft>
              <a:buSzPct val="100000"/>
              <a:buChar char="▪"/>
            </a:pPr>
            <a:r>
              <a:rPr lang="en-US" sz="1000" dirty="0">
                <a:solidFill>
                  <a:srgbClr val="1C2530"/>
                </a:solidFill>
                <a:latin typeface="Calibri" pitchFamily="34" charset="0"/>
                <a:ea typeface="Calibri" pitchFamily="34" charset="-122"/>
                <a:cs typeface="Calibri" pitchFamily="34" charset="-120"/>
              </a:rPr>
              <a:t>The fleet chart shows four station groups with negative bars — four whose plant is beating its own norm.</a:t>
            </a:r>
            <a:endParaRPr lang="en-US" sz="1000" dirty="0"/>
          </a:p>
          <a:p>
            <a:pPr marL="342900" indent="-342900">
              <a:spcAft>
                <a:spcPts val="500"/>
              </a:spcAft>
              <a:buSzPct val="100000"/>
              <a:buChar char="▪"/>
            </a:pPr>
            <a:r>
              <a:rPr lang="en-US" sz="1000" dirty="0">
                <a:solidFill>
                  <a:srgbClr val="1C2530"/>
                </a:solidFill>
                <a:latin typeface="Calibri" pitchFamily="34" charset="0"/>
                <a:ea typeface="Calibri" pitchFamily="34" charset="-122"/>
                <a:cs typeface="Calibri" pitchFamily="34" charset="-120"/>
              </a:rPr>
              <a:t>Every slider move changes the monthly rupee figure immediately, priced at that station's own variable charge.</a:t>
            </a:r>
            <a:endParaRPr lang="en-US" sz="1000" dirty="0"/>
          </a:p>
        </p:txBody>
      </p:sp>
      <p:sp>
        <p:nvSpPr>
          <p:cNvPr id="20" name="Shape 18"/>
          <p:cNvSpPr/>
          <p:nvPr/>
        </p:nvSpPr>
        <p:spPr>
          <a:xfrm>
            <a:off x="566928" y="5669280"/>
            <a:ext cx="11057839" cy="548640"/>
          </a:xfrm>
          <a:prstGeom prst="roundRect">
            <a:avLst>
              <a:gd name="adj" fmla="val 8333"/>
            </a:avLst>
          </a:prstGeom>
          <a:solidFill>
            <a:srgbClr val="FCEDE0"/>
          </a:solidFill>
          <a:ln w="12700">
            <a:solidFill>
              <a:srgbClr val="D96A16"/>
            </a:solidFill>
            <a:prstDash val="solid"/>
          </a:ln>
        </p:spPr>
      </p:sp>
      <p:sp>
        <p:nvSpPr>
          <p:cNvPr id="21" name="Text 19"/>
          <p:cNvSpPr/>
          <p:nvPr/>
        </p:nvSpPr>
        <p:spPr>
          <a:xfrm>
            <a:off x="768096" y="5669280"/>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Two stations, the same penalty on paper, and opposite remedies. The decomposition decides which project is worth funding, and it takes one line of arithmetic on data the commercial department already files every month.</a:t>
            </a:r>
            <a:endParaRPr lang="en-US" sz="13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opportunity map</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Five pain points from our own June 2026 filing, each with its evidence and an honest confidence rating</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4. Reading our own numbers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63</a:t>
            </a:r>
            <a:endParaRPr lang="en-US" sz="950" dirty="0"/>
          </a:p>
        </p:txBody>
      </p:sp>
      <p:sp>
        <p:nvSpPr>
          <p:cNvPr id="7" name="Shape 5"/>
          <p:cNvSpPr/>
          <p:nvPr/>
        </p:nvSpPr>
        <p:spPr>
          <a:xfrm>
            <a:off x="566928" y="1627632"/>
            <a:ext cx="11057839" cy="694944"/>
          </a:xfrm>
          <a:prstGeom prst="roundRect">
            <a:avLst>
              <a:gd name="adj" fmla="val 7895"/>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786384" y="1627632"/>
            <a:ext cx="3566160" cy="694944"/>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1 · Availability — ₹100.87 cr disallowed · worst Koradi 8-10</a:t>
            </a:r>
            <a:endParaRPr lang="en-US" sz="1280" dirty="0"/>
          </a:p>
        </p:txBody>
      </p:sp>
      <p:sp>
        <p:nvSpPr>
          <p:cNvPr id="9" name="Text 7"/>
          <p:cNvSpPr/>
          <p:nvPr/>
        </p:nvSpPr>
        <p:spPr>
          <a:xfrm>
            <a:off x="4453128" y="1627632"/>
            <a:ext cx="3788359" cy="694944"/>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Predictive maintenance and early-warning anomaly detection on the plant driving forced outages; outage scope built from model output</a:t>
            </a:r>
            <a:endParaRPr lang="en-US" sz="1200" dirty="0"/>
          </a:p>
        </p:txBody>
      </p:sp>
      <p:sp>
        <p:nvSpPr>
          <p:cNvPr id="10" name="Shape 8"/>
          <p:cNvSpPr/>
          <p:nvPr/>
        </p:nvSpPr>
        <p:spPr>
          <a:xfrm>
            <a:off x="8470087" y="1746504"/>
            <a:ext cx="3063240" cy="457200"/>
          </a:xfrm>
          <a:prstGeom prst="roundRect">
            <a:avLst>
              <a:gd name="adj" fmla="val 50000"/>
            </a:avLst>
          </a:prstGeom>
          <a:solidFill>
            <a:srgbClr val="E4F0EA"/>
          </a:solidFill>
          <a:ln w="9525">
            <a:solidFill>
              <a:srgbClr val="256B45"/>
            </a:solidFill>
            <a:prstDash val="solid"/>
          </a:ln>
        </p:spPr>
      </p:sp>
      <p:sp>
        <p:nvSpPr>
          <p:cNvPr id="11" name="Text 9"/>
          <p:cNvSpPr/>
          <p:nvPr/>
        </p:nvSpPr>
        <p:spPr>
          <a:xfrm>
            <a:off x="8543239" y="1746504"/>
            <a:ext cx="2916936" cy="457200"/>
          </a:xfrm>
          <a:prstGeom prst="rect">
            <a:avLst/>
          </a:prstGeom>
          <a:noFill/>
          <a:ln/>
        </p:spPr>
        <p:txBody>
          <a:bodyPr wrap="square" lIns="0" tIns="0" rIns="0" bIns="0" rtlCol="0" anchor="ctr"/>
          <a:lstStyle/>
          <a:p>
            <a:pPr algn="ctr" indent="0" marL="0">
              <a:buNone/>
            </a:pPr>
            <a:r>
              <a:rPr lang="en-US" sz="900" b="1" dirty="0">
                <a:solidFill>
                  <a:srgbClr val="256B45"/>
                </a:solidFill>
                <a:latin typeface="Calibri" pitchFamily="34" charset="0"/>
                <a:ea typeface="Calibri" pitchFamily="34" charset="-122"/>
                <a:cs typeface="Calibri" pitchFamily="34" charset="-120"/>
              </a:rPr>
              <a:t>Proven — anomaly detection is the safest first project in any station</a:t>
            </a:r>
            <a:endParaRPr lang="en-US" sz="900" dirty="0"/>
          </a:p>
        </p:txBody>
      </p:sp>
      <p:sp>
        <p:nvSpPr>
          <p:cNvPr id="12" name="Shape 10"/>
          <p:cNvSpPr/>
          <p:nvPr/>
        </p:nvSpPr>
        <p:spPr>
          <a:xfrm>
            <a:off x="566928" y="2404872"/>
            <a:ext cx="11057839" cy="694944"/>
          </a:xfrm>
          <a:prstGeom prst="roundRect">
            <a:avLst>
              <a:gd name="adj" fmla="val 789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Text 11"/>
          <p:cNvSpPr/>
          <p:nvPr/>
        </p:nvSpPr>
        <p:spPr>
          <a:xfrm>
            <a:off x="786384" y="2404872"/>
            <a:ext cx="3566160" cy="694944"/>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2 · Auxiliary power — 81.5 MU, ₹32.9 cr · worst Chandrapur 3-7</a:t>
            </a:r>
            <a:endParaRPr lang="en-US" sz="1280" dirty="0"/>
          </a:p>
        </p:txBody>
      </p:sp>
      <p:sp>
        <p:nvSpPr>
          <p:cNvPr id="14" name="Text 12"/>
          <p:cNvSpPr/>
          <p:nvPr/>
        </p:nvSpPr>
        <p:spPr>
          <a:xfrm>
            <a:off x="4453128" y="2404872"/>
            <a:ext cx="3788359" cy="694944"/>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Combinatorial optimisation of mill, fan and CW pump combinations plus ESP field energisation, offered as operator advice</a:t>
            </a:r>
            <a:endParaRPr lang="en-US" sz="1200" dirty="0"/>
          </a:p>
        </p:txBody>
      </p:sp>
      <p:sp>
        <p:nvSpPr>
          <p:cNvPr id="15" name="Shape 13"/>
          <p:cNvSpPr/>
          <p:nvPr/>
        </p:nvSpPr>
        <p:spPr>
          <a:xfrm>
            <a:off x="8470087" y="2523744"/>
            <a:ext cx="3063240" cy="457200"/>
          </a:xfrm>
          <a:prstGeom prst="roundRect">
            <a:avLst>
              <a:gd name="adj" fmla="val 50000"/>
            </a:avLst>
          </a:prstGeom>
          <a:solidFill>
            <a:srgbClr val="E4F0EA"/>
          </a:solidFill>
          <a:ln w="9525">
            <a:solidFill>
              <a:srgbClr val="256B45"/>
            </a:solidFill>
            <a:prstDash val="solid"/>
          </a:ln>
        </p:spPr>
      </p:sp>
      <p:sp>
        <p:nvSpPr>
          <p:cNvPr id="16" name="Text 14"/>
          <p:cNvSpPr/>
          <p:nvPr/>
        </p:nvSpPr>
        <p:spPr>
          <a:xfrm>
            <a:off x="8543239" y="2523744"/>
            <a:ext cx="2916936" cy="457200"/>
          </a:xfrm>
          <a:prstGeom prst="rect">
            <a:avLst/>
          </a:prstGeom>
          <a:noFill/>
          <a:ln/>
        </p:spPr>
        <p:txBody>
          <a:bodyPr wrap="square" lIns="0" tIns="0" rIns="0" bIns="0" rtlCol="0" anchor="ctr"/>
          <a:lstStyle/>
          <a:p>
            <a:pPr algn="ctr" indent="0" marL="0">
              <a:buNone/>
            </a:pPr>
            <a:r>
              <a:rPr lang="en-US" sz="900" b="1" dirty="0">
                <a:solidFill>
                  <a:srgbClr val="256B45"/>
                </a:solidFill>
                <a:latin typeface="Calibri" pitchFamily="34" charset="0"/>
                <a:ea typeface="Calibri" pitchFamily="34" charset="-122"/>
                <a:cs typeface="Calibri" pitchFamily="34" charset="-120"/>
              </a:rPr>
              <a:t>Proven as advisory — the gain depends on how well you already schedule</a:t>
            </a:r>
            <a:endParaRPr lang="en-US" sz="900" dirty="0"/>
          </a:p>
        </p:txBody>
      </p:sp>
      <p:sp>
        <p:nvSpPr>
          <p:cNvPr id="17" name="Shape 15"/>
          <p:cNvSpPr/>
          <p:nvPr/>
        </p:nvSpPr>
        <p:spPr>
          <a:xfrm>
            <a:off x="566928" y="3182112"/>
            <a:ext cx="11057839" cy="694944"/>
          </a:xfrm>
          <a:prstGeom prst="roundRect">
            <a:avLst>
              <a:gd name="adj" fmla="val 7895"/>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8" name="Text 16"/>
          <p:cNvSpPr/>
          <p:nvPr/>
        </p:nvSpPr>
        <p:spPr>
          <a:xfrm>
            <a:off x="786384" y="3182112"/>
            <a:ext cx="3566160" cy="694944"/>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3 · Boiler and turbine — 176 kcal/kWh · worst Koradi 8-10</a:t>
            </a:r>
            <a:endParaRPr lang="en-US" sz="1280" dirty="0"/>
          </a:p>
        </p:txBody>
      </p:sp>
      <p:sp>
        <p:nvSpPr>
          <p:cNvPr id="19" name="Text 17"/>
          <p:cNvSpPr/>
          <p:nvPr/>
        </p:nvSpPr>
        <p:spPr>
          <a:xfrm>
            <a:off x="4453128" y="3182112"/>
            <a:ext cx="3788359" cy="694944"/>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Combustion optimisation with online loss attribution, plus condenser and air pre-heater analytics feeding a daily loss report</a:t>
            </a:r>
            <a:endParaRPr lang="en-US" sz="1200" dirty="0"/>
          </a:p>
        </p:txBody>
      </p:sp>
      <p:sp>
        <p:nvSpPr>
          <p:cNvPr id="20" name="Shape 18"/>
          <p:cNvSpPr/>
          <p:nvPr/>
        </p:nvSpPr>
        <p:spPr>
          <a:xfrm>
            <a:off x="8470087" y="3300984"/>
            <a:ext cx="3063240" cy="457200"/>
          </a:xfrm>
          <a:prstGeom prst="roundRect">
            <a:avLst>
              <a:gd name="adj" fmla="val 50000"/>
            </a:avLst>
          </a:prstGeom>
          <a:solidFill>
            <a:srgbClr val="FBF0DC"/>
          </a:solidFill>
          <a:ln w="9525">
            <a:solidFill>
              <a:srgbClr val="9A6408"/>
            </a:solidFill>
            <a:prstDash val="solid"/>
          </a:ln>
        </p:spPr>
      </p:sp>
      <p:sp>
        <p:nvSpPr>
          <p:cNvPr id="21" name="Text 19"/>
          <p:cNvSpPr/>
          <p:nvPr/>
        </p:nvSpPr>
        <p:spPr>
          <a:xfrm>
            <a:off x="8543239" y="3300984"/>
            <a:ext cx="2916936" cy="457200"/>
          </a:xfrm>
          <a:prstGeom prst="rect">
            <a:avLst/>
          </a:prstGeom>
          <a:noFill/>
          <a:ln/>
        </p:spPr>
        <p:txBody>
          <a:bodyPr wrap="square" lIns="0" tIns="0" rIns="0" bIns="0" rtlCol="0" anchor="ctr"/>
          <a:lstStyle/>
          <a:p>
            <a:pPr algn="ctr" indent="0" marL="0">
              <a:buNone/>
            </a:pPr>
            <a:r>
              <a:rPr lang="en-US" sz="900" b="1" dirty="0">
                <a:solidFill>
                  <a:srgbClr val="9A6408"/>
                </a:solidFill>
                <a:latin typeface="Calibri" pitchFamily="34" charset="0"/>
                <a:ea typeface="Calibri" pitchFamily="34" charset="-122"/>
                <a:cs typeface="Calibri" pitchFamily="34" charset="-120"/>
              </a:rPr>
              <a:t>Emerging — proven as advice, closed loop needs full engineering controls</a:t>
            </a:r>
            <a:endParaRPr lang="en-US" sz="900" dirty="0"/>
          </a:p>
        </p:txBody>
      </p:sp>
      <p:sp>
        <p:nvSpPr>
          <p:cNvPr id="22" name="Shape 20"/>
          <p:cNvSpPr/>
          <p:nvPr/>
        </p:nvSpPr>
        <p:spPr>
          <a:xfrm>
            <a:off x="566928" y="3959352"/>
            <a:ext cx="11057839" cy="694944"/>
          </a:xfrm>
          <a:prstGeom prst="roundRect">
            <a:avLst>
              <a:gd name="adj" fmla="val 789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3" name="Text 21"/>
          <p:cNvSpPr/>
          <p:nvPr/>
        </p:nvSpPr>
        <p:spPr>
          <a:xfrm>
            <a:off x="786384" y="3959352"/>
            <a:ext cx="3566160" cy="694944"/>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4 · Secondary fuel oil — 3.23 ml/kWh · worst Chandrapur 3-7</a:t>
            </a:r>
            <a:endParaRPr lang="en-US" sz="1280" dirty="0"/>
          </a:p>
        </p:txBody>
      </p:sp>
      <p:sp>
        <p:nvSpPr>
          <p:cNvPr id="24" name="Text 22"/>
          <p:cNvSpPr/>
          <p:nvPr/>
        </p:nvSpPr>
        <p:spPr>
          <a:xfrm>
            <a:off x="4453128" y="3959352"/>
            <a:ext cx="3788359" cy="694944"/>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Flame-stability prediction to avoid precautionary oil support at low load, and start-up sequence optimisation</a:t>
            </a:r>
            <a:endParaRPr lang="en-US" sz="1200" dirty="0"/>
          </a:p>
        </p:txBody>
      </p:sp>
      <p:sp>
        <p:nvSpPr>
          <p:cNvPr id="25" name="Shape 23"/>
          <p:cNvSpPr/>
          <p:nvPr/>
        </p:nvSpPr>
        <p:spPr>
          <a:xfrm>
            <a:off x="8470087" y="4078224"/>
            <a:ext cx="3063240" cy="457200"/>
          </a:xfrm>
          <a:prstGeom prst="roundRect">
            <a:avLst>
              <a:gd name="adj" fmla="val 50000"/>
            </a:avLst>
          </a:prstGeom>
          <a:solidFill>
            <a:srgbClr val="FBF0DC"/>
          </a:solidFill>
          <a:ln w="9525">
            <a:solidFill>
              <a:srgbClr val="9A6408"/>
            </a:solidFill>
            <a:prstDash val="solid"/>
          </a:ln>
        </p:spPr>
      </p:sp>
      <p:sp>
        <p:nvSpPr>
          <p:cNvPr id="26" name="Text 24"/>
          <p:cNvSpPr/>
          <p:nvPr/>
        </p:nvSpPr>
        <p:spPr>
          <a:xfrm>
            <a:off x="8543239" y="4078224"/>
            <a:ext cx="2916936" cy="457200"/>
          </a:xfrm>
          <a:prstGeom prst="rect">
            <a:avLst/>
          </a:prstGeom>
          <a:noFill/>
          <a:ln/>
        </p:spPr>
        <p:txBody>
          <a:bodyPr wrap="square" lIns="0" tIns="0" rIns="0" bIns="0" rtlCol="0" anchor="ctr"/>
          <a:lstStyle/>
          <a:p>
            <a:pPr algn="ctr" indent="0" marL="0">
              <a:buNone/>
            </a:pPr>
            <a:r>
              <a:rPr lang="en-US" sz="900" b="1" dirty="0">
                <a:solidFill>
                  <a:srgbClr val="9A6408"/>
                </a:solidFill>
                <a:latin typeface="Calibri" pitchFamily="34" charset="0"/>
                <a:ea typeface="Calibri" pitchFamily="34" charset="-122"/>
                <a:cs typeface="Calibri" pitchFamily="34" charset="-120"/>
              </a:rPr>
              <a:t>Emerging — depends on flame scanner and mill data you may not historise</a:t>
            </a:r>
            <a:endParaRPr lang="en-US" sz="900" dirty="0"/>
          </a:p>
        </p:txBody>
      </p:sp>
      <p:sp>
        <p:nvSpPr>
          <p:cNvPr id="27" name="Shape 25"/>
          <p:cNvSpPr/>
          <p:nvPr/>
        </p:nvSpPr>
        <p:spPr>
          <a:xfrm>
            <a:off x="566928" y="4736592"/>
            <a:ext cx="11057839" cy="694944"/>
          </a:xfrm>
          <a:prstGeom prst="roundRect">
            <a:avLst>
              <a:gd name="adj" fmla="val 7895"/>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Text 26"/>
          <p:cNvSpPr/>
          <p:nvPr/>
        </p:nvSpPr>
        <p:spPr>
          <a:xfrm>
            <a:off x="786384" y="4736592"/>
            <a:ext cx="3566160" cy="694944"/>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5 · Coal quality — GCV loss 619 to 941 kcal/kg · worst Paras</a:t>
            </a:r>
            <a:endParaRPr lang="en-US" sz="1280" dirty="0"/>
          </a:p>
        </p:txBody>
      </p:sp>
      <p:sp>
        <p:nvSpPr>
          <p:cNvPr id="29" name="Text 27"/>
          <p:cNvSpPr/>
          <p:nvPr/>
        </p:nvSpPr>
        <p:spPr>
          <a:xfrm>
            <a:off x="4453128" y="4736592"/>
            <a:ext cx="3788359" cy="694944"/>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GCV soft sensor trained on your own laboratory results, rake-level transit-loss analytics and blend optimisation</a:t>
            </a:r>
            <a:endParaRPr lang="en-US" sz="1200" dirty="0"/>
          </a:p>
        </p:txBody>
      </p:sp>
      <p:sp>
        <p:nvSpPr>
          <p:cNvPr id="30" name="Shape 28"/>
          <p:cNvSpPr/>
          <p:nvPr/>
        </p:nvSpPr>
        <p:spPr>
          <a:xfrm>
            <a:off x="8470087" y="4855464"/>
            <a:ext cx="3063240" cy="457200"/>
          </a:xfrm>
          <a:prstGeom prst="roundRect">
            <a:avLst>
              <a:gd name="adj" fmla="val 50000"/>
            </a:avLst>
          </a:prstGeom>
          <a:solidFill>
            <a:srgbClr val="E4F0EA"/>
          </a:solidFill>
          <a:ln w="9525">
            <a:solidFill>
              <a:srgbClr val="256B45"/>
            </a:solidFill>
            <a:prstDash val="solid"/>
          </a:ln>
        </p:spPr>
      </p:sp>
      <p:sp>
        <p:nvSpPr>
          <p:cNvPr id="31" name="Text 29"/>
          <p:cNvSpPr/>
          <p:nvPr/>
        </p:nvSpPr>
        <p:spPr>
          <a:xfrm>
            <a:off x="8543239" y="4855464"/>
            <a:ext cx="2916936" cy="457200"/>
          </a:xfrm>
          <a:prstGeom prst="rect">
            <a:avLst/>
          </a:prstGeom>
          <a:noFill/>
          <a:ln/>
        </p:spPr>
        <p:txBody>
          <a:bodyPr wrap="square" lIns="0" tIns="0" rIns="0" bIns="0" rtlCol="0" anchor="ctr"/>
          <a:lstStyle/>
          <a:p>
            <a:pPr algn="ctr" indent="0" marL="0">
              <a:buNone/>
            </a:pPr>
            <a:r>
              <a:rPr lang="en-US" sz="900" b="1" dirty="0">
                <a:solidFill>
                  <a:srgbClr val="256B45"/>
                </a:solidFill>
                <a:latin typeface="Calibri" pitchFamily="34" charset="0"/>
                <a:ea typeface="Calibri" pitchFamily="34" charset="-122"/>
                <a:cs typeface="Calibri" pitchFamily="34" charset="-120"/>
              </a:rPr>
              <a:t>Proven as a soft sensor — but the error must be reported honestly</a:t>
            </a:r>
            <a:endParaRPr lang="en-US" sz="900" dirty="0"/>
          </a:p>
        </p:txBody>
      </p:sp>
      <p:sp>
        <p:nvSpPr>
          <p:cNvPr id="32" name="Shape 30"/>
          <p:cNvSpPr/>
          <p:nvPr/>
        </p:nvSpPr>
        <p:spPr>
          <a:xfrm>
            <a:off x="566928" y="5660136"/>
            <a:ext cx="11057839" cy="548640"/>
          </a:xfrm>
          <a:prstGeom prst="roundRect">
            <a:avLst>
              <a:gd name="adj" fmla="val 8333"/>
            </a:avLst>
          </a:prstGeom>
          <a:solidFill>
            <a:srgbClr val="FCEDE0"/>
          </a:solidFill>
          <a:ln w="12700">
            <a:solidFill>
              <a:srgbClr val="D96A16"/>
            </a:solidFill>
            <a:prstDash val="solid"/>
          </a:ln>
        </p:spPr>
      </p:sp>
      <p:sp>
        <p:nvSpPr>
          <p:cNvPr id="33" name="Text 31"/>
          <p:cNvSpPr/>
          <p:nvPr/>
        </p:nvSpPr>
        <p:spPr>
          <a:xfrm>
            <a:off x="768096" y="5660136"/>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These are the values of closing each gap entirely against norm. No programme closes a gap entirely. Fifteen to twenty-five per cent of the identified gap is a defensible first-year planning assumption.</a:t>
            </a:r>
            <a:endParaRPr lang="en-US" sz="13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1C2530"/>
        </a:solidFill>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D96A16"/>
          </a:solidFill>
          <a:ln/>
        </p:spPr>
      </p:sp>
      <p:sp>
        <p:nvSpPr>
          <p:cNvPr id="3" name="Text 1"/>
          <p:cNvSpPr/>
          <p:nvPr/>
        </p:nvSpPr>
        <p:spPr>
          <a:xfrm>
            <a:off x="9052560" y="822960"/>
            <a:ext cx="2377440" cy="2011680"/>
          </a:xfrm>
          <a:prstGeom prst="rect">
            <a:avLst/>
          </a:prstGeom>
          <a:noFill/>
          <a:ln/>
        </p:spPr>
        <p:txBody>
          <a:bodyPr wrap="square" lIns="0" tIns="0" rIns="0" bIns="0" rtlCol="0" anchor="ctr"/>
          <a:lstStyle/>
          <a:p>
            <a:pPr algn="r" indent="0" marL="0">
              <a:buNone/>
            </a:pPr>
            <a:r>
              <a:rPr lang="en-US" sz="13200" b="1" dirty="0">
                <a:solidFill>
                  <a:srgbClr val="2C3B4B"/>
                </a:solidFill>
                <a:latin typeface="Cambria" pitchFamily="34" charset="0"/>
                <a:ea typeface="Cambria" pitchFamily="34" charset="-122"/>
                <a:cs typeface="Cambria" pitchFamily="34" charset="-120"/>
              </a:rPr>
              <a:t>5</a:t>
            </a:r>
            <a:endParaRPr lang="en-US" sz="13200" dirty="0"/>
          </a:p>
        </p:txBody>
      </p:sp>
      <p:sp>
        <p:nvSpPr>
          <p:cNvPr id="4" name="Text 2"/>
          <p:cNvSpPr/>
          <p:nvPr/>
        </p:nvSpPr>
        <p:spPr>
          <a:xfrm>
            <a:off x="1051560" y="1920240"/>
            <a:ext cx="9601200" cy="310896"/>
          </a:xfrm>
          <a:prstGeom prst="rect">
            <a:avLst/>
          </a:prstGeom>
          <a:noFill/>
          <a:ln/>
        </p:spPr>
        <p:txBody>
          <a:bodyPr wrap="square" lIns="0" tIns="0" rIns="0" bIns="0" rtlCol="0" anchor="ctr"/>
          <a:lstStyle/>
          <a:p>
            <a:pPr indent="0" marL="0">
              <a:buNone/>
            </a:pPr>
            <a:r>
              <a:rPr lang="en-US" sz="1250" b="1" spc="220" kern="0" dirty="0">
                <a:solidFill>
                  <a:srgbClr val="D96A16"/>
                </a:solidFill>
                <a:latin typeface="Calibri" pitchFamily="34" charset="0"/>
                <a:ea typeface="Calibri" pitchFamily="34" charset="-122"/>
                <a:cs typeface="Calibri" pitchFamily="34" charset="-120"/>
              </a:rPr>
              <a:t>SESSION</a:t>
            </a:r>
            <a:endParaRPr lang="en-US" sz="1250" dirty="0"/>
          </a:p>
        </p:txBody>
      </p:sp>
      <p:sp>
        <p:nvSpPr>
          <p:cNvPr id="5" name="Text 3"/>
          <p:cNvSpPr/>
          <p:nvPr/>
        </p:nvSpPr>
        <p:spPr>
          <a:xfrm>
            <a:off x="1051560" y="2212848"/>
            <a:ext cx="804672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What other generators have done</a:t>
            </a:r>
            <a:endParaRPr lang="en-US" sz="4000" dirty="0"/>
          </a:p>
        </p:txBody>
      </p:sp>
      <p:sp>
        <p:nvSpPr>
          <p:cNvPr id="6" name="Text 4"/>
          <p:cNvSpPr/>
          <p:nvPr/>
        </p:nvSpPr>
        <p:spPr>
          <a:xfrm>
            <a:off x="1051560" y="3529584"/>
            <a:ext cx="8778240" cy="603504"/>
          </a:xfrm>
          <a:prstGeom prst="rect">
            <a:avLst/>
          </a:prstGeom>
          <a:noFill/>
          <a:ln/>
        </p:spPr>
        <p:txBody>
          <a:bodyPr wrap="square" lIns="0" tIns="0" rIns="0" bIns="0" rtlCol="0" anchor="t"/>
          <a:lstStyle/>
          <a:p>
            <a:pPr indent="0" marL="0">
              <a:buNone/>
            </a:pPr>
            <a:r>
              <a:rPr lang="en-US" sz="1500" dirty="0">
                <a:solidFill>
                  <a:srgbClr val="A9B8C6"/>
                </a:solidFill>
                <a:latin typeface="Calibri" pitchFamily="34" charset="0"/>
                <a:ea typeface="Calibri" pitchFamily="34" charset="-122"/>
                <a:cs typeface="Calibri" pitchFamily="34" charset="-120"/>
              </a:rPr>
              <a:t>NTPC, Tata Power, Coal India, SAIL — and Vistra and Duke Energy internationally</a:t>
            </a:r>
            <a:endParaRPr lang="en-US" sz="1500" dirty="0"/>
          </a:p>
        </p:txBody>
      </p:sp>
      <p:sp>
        <p:nvSpPr>
          <p:cNvPr id="7" name="Shape 5"/>
          <p:cNvSpPr/>
          <p:nvPr/>
        </p:nvSpPr>
        <p:spPr>
          <a:xfrm>
            <a:off x="1078992" y="4315968"/>
            <a:ext cx="118872" cy="118872"/>
          </a:xfrm>
          <a:prstGeom prst="ellipse">
            <a:avLst/>
          </a:prstGeom>
          <a:solidFill>
            <a:srgbClr val="D96A16"/>
          </a:solidFill>
          <a:ln/>
        </p:spPr>
      </p:sp>
      <p:sp>
        <p:nvSpPr>
          <p:cNvPr id="8" name="Text 6"/>
          <p:cNvSpPr/>
          <p:nvPr/>
        </p:nvSpPr>
        <p:spPr>
          <a:xfrm>
            <a:off x="1389888" y="4224528"/>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Indian public-sector and private deployments, named</a:t>
            </a:r>
            <a:endParaRPr lang="en-US" sz="1250" dirty="0"/>
          </a:p>
        </p:txBody>
      </p:sp>
      <p:sp>
        <p:nvSpPr>
          <p:cNvPr id="9" name="Shape 7"/>
          <p:cNvSpPr/>
          <p:nvPr/>
        </p:nvSpPr>
        <p:spPr>
          <a:xfrm>
            <a:off x="1078992" y="4718304"/>
            <a:ext cx="118872" cy="118872"/>
          </a:xfrm>
          <a:prstGeom prst="ellipse">
            <a:avLst/>
          </a:prstGeom>
          <a:solidFill>
            <a:srgbClr val="D96A16"/>
          </a:solidFill>
          <a:ln/>
        </p:spPr>
      </p:sp>
      <p:sp>
        <p:nvSpPr>
          <p:cNvPr id="10" name="Text 8"/>
          <p:cNvSpPr/>
          <p:nvPr/>
        </p:nvSpPr>
        <p:spPr>
          <a:xfrm>
            <a:off x="1389888" y="4626864"/>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Vistra: 67 units, 1 per cent, US$ 23 million</a:t>
            </a:r>
            <a:endParaRPr lang="en-US" sz="1250" dirty="0"/>
          </a:p>
        </p:txBody>
      </p:sp>
      <p:sp>
        <p:nvSpPr>
          <p:cNvPr id="11" name="Shape 9"/>
          <p:cNvSpPr/>
          <p:nvPr/>
        </p:nvSpPr>
        <p:spPr>
          <a:xfrm>
            <a:off x="1078992" y="5120640"/>
            <a:ext cx="118872" cy="118872"/>
          </a:xfrm>
          <a:prstGeom prst="ellipse">
            <a:avLst/>
          </a:prstGeom>
          <a:solidFill>
            <a:srgbClr val="D96A16"/>
          </a:solidFill>
          <a:ln/>
        </p:spPr>
      </p:sp>
      <p:sp>
        <p:nvSpPr>
          <p:cNvPr id="12" name="Text 10"/>
          <p:cNvSpPr/>
          <p:nvPr/>
        </p:nvSpPr>
        <p:spPr>
          <a:xfrm>
            <a:off x="1389888" y="5029200"/>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Duke Energy: the operating model worth copying</a:t>
            </a:r>
            <a:endParaRPr lang="en-US" sz="1250" dirty="0"/>
          </a:p>
        </p:txBody>
      </p:sp>
      <p:sp>
        <p:nvSpPr>
          <p:cNvPr id="13" name="Shape 11"/>
          <p:cNvSpPr/>
          <p:nvPr/>
        </p:nvSpPr>
        <p:spPr>
          <a:xfrm>
            <a:off x="1078992" y="5522976"/>
            <a:ext cx="118872" cy="118872"/>
          </a:xfrm>
          <a:prstGeom prst="ellipse">
            <a:avLst/>
          </a:prstGeom>
          <a:solidFill>
            <a:srgbClr val="D96A16"/>
          </a:solidFill>
          <a:ln/>
        </p:spPr>
      </p:sp>
      <p:sp>
        <p:nvSpPr>
          <p:cNvPr id="14" name="Text 12"/>
          <p:cNvSpPr/>
          <p:nvPr/>
        </p:nvSpPr>
        <p:spPr>
          <a:xfrm>
            <a:off x="1389888" y="5431536"/>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Reading a vendor claim without being taken in</a:t>
            </a:r>
            <a:endParaRPr lang="en-US" sz="1250" dirty="0"/>
          </a:p>
        </p:txBody>
      </p:sp>
      <p:sp>
        <p:nvSpPr>
          <p:cNvPr id="15" name="Shape 13"/>
          <p:cNvSpPr/>
          <p:nvPr/>
        </p:nvSpPr>
        <p:spPr>
          <a:xfrm>
            <a:off x="9281160" y="4224528"/>
            <a:ext cx="1965960" cy="859536"/>
          </a:xfrm>
          <a:prstGeom prst="roundRect">
            <a:avLst>
              <a:gd name="adj" fmla="val 6383"/>
            </a:avLst>
          </a:prstGeom>
          <a:solidFill>
            <a:srgbClr val="2A3644"/>
          </a:solidFill>
          <a:ln w="12700">
            <a:solidFill>
              <a:srgbClr val="D96A16"/>
            </a:solidFill>
            <a:prstDash val="solid"/>
          </a:ln>
        </p:spPr>
      </p:sp>
      <p:sp>
        <p:nvSpPr>
          <p:cNvPr id="16" name="Text 14"/>
          <p:cNvSpPr/>
          <p:nvPr/>
        </p:nvSpPr>
        <p:spPr>
          <a:xfrm>
            <a:off x="9281160" y="4334256"/>
            <a:ext cx="1965960" cy="384048"/>
          </a:xfrm>
          <a:prstGeom prst="rect">
            <a:avLst/>
          </a:prstGeom>
          <a:noFill/>
          <a:ln/>
        </p:spPr>
        <p:txBody>
          <a:bodyPr wrap="square" lIns="0" tIns="0" rIns="0" bIns="0" rtlCol="0" anchor="ctr"/>
          <a:lstStyle/>
          <a:p>
            <a:pPr algn="ctr" indent="0" marL="0">
              <a:buNone/>
            </a:pPr>
            <a:r>
              <a:rPr lang="en-US" sz="1600" b="1" dirty="0">
                <a:solidFill>
                  <a:srgbClr val="D96A16"/>
                </a:solidFill>
                <a:latin typeface="Cambria" pitchFamily="34" charset="0"/>
                <a:ea typeface="Cambria" pitchFamily="34" charset="-122"/>
                <a:cs typeface="Cambria" pitchFamily="34" charset="-120"/>
              </a:rPr>
              <a:t>15:00 – 15:12</a:t>
            </a:r>
            <a:endParaRPr lang="en-US" sz="1600" dirty="0"/>
          </a:p>
        </p:txBody>
      </p:sp>
      <p:sp>
        <p:nvSpPr>
          <p:cNvPr id="17" name="Text 15"/>
          <p:cNvSpPr/>
          <p:nvPr/>
        </p:nvSpPr>
        <p:spPr>
          <a:xfrm>
            <a:off x="9281160" y="4700016"/>
            <a:ext cx="1965960" cy="310896"/>
          </a:xfrm>
          <a:prstGeom prst="rect">
            <a:avLst/>
          </a:prstGeom>
          <a:noFill/>
          <a:ln/>
        </p:spPr>
        <p:txBody>
          <a:bodyPr wrap="square" lIns="0" tIns="0" rIns="0" bIns="0" rtlCol="0" anchor="ctr"/>
          <a:lstStyle/>
          <a:p>
            <a:pPr algn="ctr" indent="0" marL="0">
              <a:buNone/>
            </a:pPr>
            <a:r>
              <a:rPr lang="en-US" sz="1100" dirty="0">
                <a:solidFill>
                  <a:srgbClr val="9BAAB8"/>
                </a:solidFill>
                <a:latin typeface="Calibri" pitchFamily="34" charset="0"/>
                <a:ea typeface="Calibri" pitchFamily="34" charset="-122"/>
                <a:cs typeface="Calibri" pitchFamily="34" charset="-120"/>
              </a:rPr>
              <a:t>12 minutes</a:t>
            </a:r>
            <a:endParaRPr lang="en-US" sz="1100" dirty="0"/>
          </a:p>
        </p:txBody>
      </p:sp>
      <p:sp>
        <p:nvSpPr>
          <p:cNvPr id="18" name="Text 16"/>
          <p:cNvSpPr/>
          <p:nvPr/>
        </p:nvSpPr>
        <p:spPr>
          <a:xfrm>
            <a:off x="11140135" y="6419088"/>
            <a:ext cx="502920" cy="274320"/>
          </a:xfrm>
          <a:prstGeom prst="rect">
            <a:avLst/>
          </a:prstGeom>
          <a:noFill/>
          <a:ln/>
        </p:spPr>
        <p:txBody>
          <a:bodyPr wrap="square" lIns="0" tIns="0" rIns="0" bIns="0" rtlCol="0" anchor="ctr"/>
          <a:lstStyle/>
          <a:p>
            <a:pPr algn="r" indent="0" marL="0">
              <a:buNone/>
            </a:pPr>
            <a:r>
              <a:rPr lang="en-US" sz="950" dirty="0">
                <a:solidFill>
                  <a:srgbClr val="5E6E7C"/>
                </a:solidFill>
                <a:latin typeface="Calibri" pitchFamily="34" charset="0"/>
                <a:ea typeface="Calibri" pitchFamily="34" charset="-122"/>
                <a:cs typeface="Calibri" pitchFamily="34" charset="-120"/>
              </a:rPr>
              <a:t>64</a:t>
            </a:r>
            <a:endParaRPr lang="en-US" sz="9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What other generators have actually done</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Named companies, named systems — and where the numbers are verified against where they are vendor claims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5. What others have done</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65</a:t>
            </a:r>
            <a:endParaRPr lang="en-US" sz="950" dirty="0"/>
          </a:p>
        </p:txBody>
      </p:sp>
      <p:sp>
        <p:nvSpPr>
          <p:cNvPr id="7" name="Shape 5"/>
          <p:cNvSpPr/>
          <p:nvPr/>
        </p:nvSpPr>
        <p:spPr>
          <a:xfrm>
            <a:off x="566928"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10512"/>
            <a:ext cx="137160" cy="137160"/>
          </a:xfrm>
          <a:prstGeom prst="ellipse">
            <a:avLst/>
          </a:prstGeom>
          <a:solidFill>
            <a:srgbClr val="D96A16"/>
          </a:solidFill>
          <a:ln/>
        </p:spPr>
      </p:sp>
      <p:sp>
        <p:nvSpPr>
          <p:cNvPr id="9" name="Text 7"/>
          <p:cNvSpPr/>
          <p:nvPr/>
        </p:nvSpPr>
        <p:spPr>
          <a:xfrm>
            <a:off x="969264" y="1709928"/>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NTPC — NePPS</a:t>
            </a:r>
            <a:endParaRPr lang="en-US" sz="1450" dirty="0"/>
          </a:p>
        </p:txBody>
      </p:sp>
      <p:sp>
        <p:nvSpPr>
          <p:cNvPr id="10" name="Text 8"/>
          <p:cNvSpPr/>
          <p:nvPr/>
        </p:nvSpPr>
        <p:spPr>
          <a:xfrm>
            <a:off x="768096" y="2121408"/>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NETRA e-Power Plant Solutions: an AI-based operator advisory system predicting equipment faults from sensor data, developed at NTPC's NETRA research centre and Advanced Computing Center.</a:t>
            </a:r>
            <a:endParaRPr lang="en-US" sz="1200" dirty="0"/>
          </a:p>
        </p:txBody>
      </p:sp>
      <p:sp>
        <p:nvSpPr>
          <p:cNvPr id="11" name="Shape 9"/>
          <p:cNvSpPr/>
          <p:nvPr/>
        </p:nvSpPr>
        <p:spPr>
          <a:xfrm>
            <a:off x="4326026"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4508906" y="1810512"/>
            <a:ext cx="137160" cy="137160"/>
          </a:xfrm>
          <a:prstGeom prst="ellipse">
            <a:avLst/>
          </a:prstGeom>
          <a:solidFill>
            <a:srgbClr val="D96A16"/>
          </a:solidFill>
          <a:ln/>
        </p:spPr>
      </p:sp>
      <p:sp>
        <p:nvSpPr>
          <p:cNvPr id="13" name="Text 11"/>
          <p:cNvSpPr/>
          <p:nvPr/>
        </p:nvSpPr>
        <p:spPr>
          <a:xfrm>
            <a:off x="4728362" y="1709928"/>
            <a:ext cx="297271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Tata Power — enterprise data platform</a:t>
            </a:r>
            <a:endParaRPr lang="en-US" sz="1450" dirty="0"/>
          </a:p>
        </p:txBody>
      </p:sp>
      <p:sp>
        <p:nvSpPr>
          <p:cNvPr id="14" name="Text 12"/>
          <p:cNvSpPr/>
          <p:nvPr/>
        </p:nvSpPr>
        <p:spPr>
          <a:xfrm>
            <a:off x="4527194" y="2322576"/>
            <a:ext cx="3137306" cy="1042416"/>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Announced April 2026 with Databricks: a unified data and AI platform across a 16 GW+ portfolio. Grid management, renewable forecasting and a 'talk-to-data' agent. Note honestly: thermal generation is not named in the announcement.</a:t>
            </a:r>
            <a:endParaRPr lang="en-US" sz="1200" dirty="0"/>
          </a:p>
        </p:txBody>
      </p:sp>
      <p:sp>
        <p:nvSpPr>
          <p:cNvPr id="15" name="Shape 13"/>
          <p:cNvSpPr/>
          <p:nvPr/>
        </p:nvSpPr>
        <p:spPr>
          <a:xfrm>
            <a:off x="8085125"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8268005" y="1810512"/>
            <a:ext cx="137160" cy="137160"/>
          </a:xfrm>
          <a:prstGeom prst="ellipse">
            <a:avLst/>
          </a:prstGeom>
          <a:solidFill>
            <a:srgbClr val="D96A16"/>
          </a:solidFill>
          <a:ln/>
        </p:spPr>
      </p:sp>
      <p:sp>
        <p:nvSpPr>
          <p:cNvPr id="17" name="Text 15"/>
          <p:cNvSpPr/>
          <p:nvPr/>
        </p:nvSpPr>
        <p:spPr>
          <a:xfrm>
            <a:off x="8487461" y="1709928"/>
            <a:ext cx="297271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Adani Electricity — Mumbai distribution</a:t>
            </a:r>
            <a:endParaRPr lang="en-US" sz="1450" dirty="0"/>
          </a:p>
        </p:txBody>
      </p:sp>
      <p:sp>
        <p:nvSpPr>
          <p:cNvPr id="18" name="Text 16"/>
          <p:cNvSpPr/>
          <p:nvPr/>
        </p:nvSpPr>
        <p:spPr>
          <a:xfrm>
            <a:off x="8286293" y="2322576"/>
            <a:ext cx="3137306" cy="1042416"/>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AspenTech deployment supporting reliable supply to about three million customers. Distribution, not generation — but the same asset-analytics family.</a:t>
            </a:r>
            <a:endParaRPr lang="en-US" sz="1200" dirty="0"/>
          </a:p>
        </p:txBody>
      </p:sp>
      <p:sp>
        <p:nvSpPr>
          <p:cNvPr id="19" name="Shape 17"/>
          <p:cNvSpPr/>
          <p:nvPr/>
        </p:nvSpPr>
        <p:spPr>
          <a:xfrm>
            <a:off x="566928"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749808" y="3895344"/>
            <a:ext cx="137160" cy="137160"/>
          </a:xfrm>
          <a:prstGeom prst="ellipse">
            <a:avLst/>
          </a:prstGeom>
          <a:solidFill>
            <a:srgbClr val="D96A16"/>
          </a:solidFill>
          <a:ln/>
        </p:spPr>
      </p:sp>
      <p:sp>
        <p:nvSpPr>
          <p:cNvPr id="21" name="Text 19"/>
          <p:cNvSpPr/>
          <p:nvPr/>
        </p:nvSpPr>
        <p:spPr>
          <a:xfrm>
            <a:off x="969264" y="379476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Coal India — the fuel end</a:t>
            </a:r>
            <a:endParaRPr lang="en-US" sz="1450" dirty="0"/>
          </a:p>
        </p:txBody>
      </p:sp>
      <p:sp>
        <p:nvSpPr>
          <p:cNvPr id="22" name="Text 20"/>
          <p:cNvSpPr/>
          <p:nvPr/>
        </p:nvSpPr>
        <p:spPr>
          <a:xfrm>
            <a:off x="768096" y="4206240"/>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AI satellite dashboard with ISRO's National Remote Sensing Centre for underground coal fires at Jharia and Dhanbad; over 500 AI surveillance cameras; a 'Digi Coal' platform with 17 AI use cases.</a:t>
            </a:r>
            <a:endParaRPr lang="en-US" sz="1200" dirty="0"/>
          </a:p>
        </p:txBody>
      </p:sp>
      <p:sp>
        <p:nvSpPr>
          <p:cNvPr id="23" name="Shape 21"/>
          <p:cNvSpPr/>
          <p:nvPr/>
        </p:nvSpPr>
        <p:spPr>
          <a:xfrm>
            <a:off x="4326026"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4" name="Shape 22"/>
          <p:cNvSpPr/>
          <p:nvPr/>
        </p:nvSpPr>
        <p:spPr>
          <a:xfrm>
            <a:off x="4508906" y="3895344"/>
            <a:ext cx="137160" cy="137160"/>
          </a:xfrm>
          <a:prstGeom prst="ellipse">
            <a:avLst/>
          </a:prstGeom>
          <a:solidFill>
            <a:srgbClr val="D96A16"/>
          </a:solidFill>
          <a:ln/>
        </p:spPr>
      </p:sp>
      <p:sp>
        <p:nvSpPr>
          <p:cNvPr id="25" name="Text 23"/>
          <p:cNvSpPr/>
          <p:nvPr/>
        </p:nvSpPr>
        <p:spPr>
          <a:xfrm>
            <a:off x="4728362" y="3794760"/>
            <a:ext cx="297271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SAIL Bokaro — adjacent heavy industry</a:t>
            </a:r>
            <a:endParaRPr lang="en-US" sz="1450" dirty="0"/>
          </a:p>
        </p:txBody>
      </p:sp>
      <p:sp>
        <p:nvSpPr>
          <p:cNvPr id="26" name="Text 24"/>
          <p:cNvSpPr/>
          <p:nvPr/>
        </p:nvSpPr>
        <p:spPr>
          <a:xfrm>
            <a:off x="4527194" y="4407408"/>
            <a:ext cx="3137306" cy="1042416"/>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AI-assisted stoichiometric optimisation reported at ₹3.23 crore annual savings and 1,500 tonnes of CO₂ avoided. A combustion-chemistry optimisation, in a PSU, in India.</a:t>
            </a:r>
            <a:endParaRPr lang="en-US" sz="1200" dirty="0"/>
          </a:p>
        </p:txBody>
      </p:sp>
      <p:sp>
        <p:nvSpPr>
          <p:cNvPr id="27" name="Shape 25"/>
          <p:cNvSpPr/>
          <p:nvPr/>
        </p:nvSpPr>
        <p:spPr>
          <a:xfrm>
            <a:off x="8085125"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Shape 26"/>
          <p:cNvSpPr/>
          <p:nvPr/>
        </p:nvSpPr>
        <p:spPr>
          <a:xfrm>
            <a:off x="8268005" y="3895344"/>
            <a:ext cx="137160" cy="137160"/>
          </a:xfrm>
          <a:prstGeom prst="ellipse">
            <a:avLst/>
          </a:prstGeom>
          <a:solidFill>
            <a:srgbClr val="D96A16"/>
          </a:solidFill>
          <a:ln/>
        </p:spPr>
      </p:sp>
      <p:sp>
        <p:nvSpPr>
          <p:cNvPr id="29" name="Text 27"/>
          <p:cNvSpPr/>
          <p:nvPr/>
        </p:nvSpPr>
        <p:spPr>
          <a:xfrm>
            <a:off x="8487461" y="379476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NLC India and NPCIL</a:t>
            </a:r>
            <a:endParaRPr lang="en-US" sz="1450" dirty="0"/>
          </a:p>
        </p:txBody>
      </p:sp>
      <p:sp>
        <p:nvSpPr>
          <p:cNvPr id="30" name="Text 28"/>
          <p:cNvSpPr/>
          <p:nvPr/>
        </p:nvSpPr>
        <p:spPr>
          <a:xfrm>
            <a:off x="8286293" y="4206240"/>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Memoranda of understanding with IIT Kanpur and IIT Bombay respectively for AI and machine learning capability building. The academic-partnership route, which a state utility can copy directly.</a:t>
            </a:r>
            <a:endParaRPr lang="en-US" sz="1200" dirty="0"/>
          </a:p>
        </p:txBody>
      </p:sp>
      <p:sp>
        <p:nvSpPr>
          <p:cNvPr id="31" name="Shape 29"/>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32" name="Text 30"/>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Every one of these is a public-sector or Indian private generator. None of this is a Western experiment.</a:t>
            </a:r>
            <a:endParaRPr lang="en-US" sz="13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Vistra — the case that maps onto our problem exactly</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A US thermal generator, a heat-rate optimiser, and a fleet rollout with published numbers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5. What others have done</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66</a:t>
            </a:r>
            <a:endParaRPr lang="en-US" sz="95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8275320" cy="914400"/>
        </p:xfrm>
        <a:graphic>
          <a:graphicData uri="http://schemas.openxmlformats.org/drawingml/2006/table">
            <a:tbl>
              <a:tblPr/>
              <a:tblGrid>
                <a:gridCol w="1216173"/>
                <a:gridCol w="2559339"/>
                <a:gridCol w="2271101"/>
                <a:gridCol w="2228707"/>
              </a:tblGrid>
              <a:tr h="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Stage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What was done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Result</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Note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Pilot — Martin Lake, Texas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Multi-layered neural network heat-rate optimiser recommending setpoints every 30 minutes, built by McKinsey and QuantumBlack</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2 % heat rate improvement in three months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Model prediction accuracy reported at 99 % or better</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Pilot value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Same plant, annualised</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US$ 4.5 million a year; 340,000 tonnes of CO₂ abated</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One plant</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Fleet rollout</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67 generating units across 26 plants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1 % average efficiency improvement</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The fleet average is half the pilot — that is the honest pattern</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Fleet value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Company-wide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US$ 23 million; 1.6 million tonnes of CO₂ avoided</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Published by the company and its consultants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bl>
          </a:graphicData>
        </a:graphic>
      </p:graphicFrame>
      <p:sp>
        <p:nvSpPr>
          <p:cNvPr id="8" name="Shape 5"/>
          <p:cNvSpPr/>
          <p:nvPr/>
        </p:nvSpPr>
        <p:spPr>
          <a:xfrm>
            <a:off x="9116568" y="1627632"/>
            <a:ext cx="2508199" cy="2331720"/>
          </a:xfrm>
          <a:prstGeom prst="roundRect">
            <a:avLst>
              <a:gd name="adj" fmla="val 2353"/>
            </a:avLst>
          </a:prstGeom>
          <a:solidFill>
            <a:srgbClr val="1C253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9" name="Text 6"/>
          <p:cNvSpPr/>
          <p:nvPr/>
        </p:nvSpPr>
        <p:spPr>
          <a:xfrm>
            <a:off x="9226296" y="2011680"/>
            <a:ext cx="2288743" cy="822960"/>
          </a:xfrm>
          <a:prstGeom prst="rect">
            <a:avLst/>
          </a:prstGeom>
          <a:noFill/>
          <a:ln/>
        </p:spPr>
        <p:txBody>
          <a:bodyPr wrap="square" lIns="0" tIns="0" rIns="0" bIns="0" rtlCol="0" anchor="ctr"/>
          <a:lstStyle/>
          <a:p>
            <a:pPr algn="ctr" indent="0" marL="0">
              <a:buNone/>
            </a:pPr>
            <a:r>
              <a:rPr lang="en-US" sz="3600" b="1" dirty="0">
                <a:solidFill>
                  <a:srgbClr val="D96A16"/>
                </a:solidFill>
                <a:latin typeface="Cambria" pitchFamily="34" charset="0"/>
                <a:ea typeface="Cambria" pitchFamily="34" charset="-122"/>
                <a:cs typeface="Cambria" pitchFamily="34" charset="-120"/>
              </a:rPr>
              <a:t>1 % → 24 kcal/kWh</a:t>
            </a:r>
            <a:endParaRPr lang="en-US" sz="3600" dirty="0"/>
          </a:p>
        </p:txBody>
      </p:sp>
      <p:sp>
        <p:nvSpPr>
          <p:cNvPr id="10" name="Text 7"/>
          <p:cNvSpPr/>
          <p:nvPr/>
        </p:nvSpPr>
        <p:spPr>
          <a:xfrm>
            <a:off x="9317736" y="2852928"/>
            <a:ext cx="2105863" cy="1005840"/>
          </a:xfrm>
          <a:prstGeom prst="rect">
            <a:avLst/>
          </a:prstGeom>
          <a:noFill/>
          <a:ln/>
        </p:spPr>
        <p:txBody>
          <a:bodyPr wrap="square" lIns="0" tIns="0" rIns="0" bIns="0" rtlCol="0" anchor="ctr"/>
          <a:lstStyle/>
          <a:p>
            <a:pPr algn="ctr" indent="0" marL="0">
              <a:buNone/>
            </a:pPr>
            <a:r>
              <a:rPr lang="en-US" sz="1200" dirty="0">
                <a:solidFill>
                  <a:srgbClr val="C3CFDA"/>
                </a:solidFill>
                <a:latin typeface="Calibri" pitchFamily="34" charset="0"/>
                <a:ea typeface="Calibri" pitchFamily="34" charset="-122"/>
                <a:cs typeface="Calibri" pitchFamily="34" charset="-120"/>
              </a:rPr>
              <a:t>the fleet-average result applied to Koradi 8-10's actual 2,442 kcal/kWh — against a gap of 212</a:t>
            </a:r>
            <a:endParaRPr lang="en-US" sz="1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Duke Energy — the operating model worth copying</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Not the algorithm. The monitoring and diagnostics centre around it.</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5. What others have done</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67</a:t>
            </a:r>
            <a:endParaRPr lang="en-US" sz="95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566928" y="1828800"/>
          <a:ext cx="11057839" cy="914400"/>
        </p:xfrm>
        <a:graphic>
          <a:graphicData uri="http://schemas.openxmlformats.org/drawingml/2006/table">
            <a:tbl>
              <a:tblPr/>
              <a:tblGrid>
                <a:gridCol w="1562563"/>
                <a:gridCol w="5283229"/>
                <a:gridCol w="4212047"/>
              </a:tblGrid>
              <a:tr h="7315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Element</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Duke Energy</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What it means for a five-station fleet</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Coverage</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Over 87 % of the generating fleet — about 58,000 MW across seven states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Fleet-wide, not one flagship unit</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Scale of models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Over 11,000 models drawing on more than 500,000 data points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One model per machine, not one model per plant</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The team</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A central monitoring and diagnostics centre staffed by five analysts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Five people watching a fleet — the economics only work centrally</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The result</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A single early catch reported as avoiding over US$ 34 million in 2016</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One catch paid for the programme many times over</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bl>
          </a:graphicData>
        </a:graphic>
      </p:graphicFrame>
      <p:sp>
        <p:nvSpPr>
          <p:cNvPr id="8" name="Shape 5"/>
          <p:cNvSpPr/>
          <p:nvPr/>
        </p:nvSpPr>
        <p:spPr>
          <a:xfrm>
            <a:off x="566928" y="5650992"/>
            <a:ext cx="11057839" cy="548640"/>
          </a:xfrm>
          <a:prstGeom prst="roundRect">
            <a:avLst>
              <a:gd name="adj" fmla="val 8333"/>
            </a:avLst>
          </a:prstGeom>
          <a:solidFill>
            <a:srgbClr val="FCEDE0"/>
          </a:solidFill>
          <a:ln w="12700">
            <a:solidFill>
              <a:srgbClr val="D96A16"/>
            </a:solidFill>
            <a:prstDash val="solid"/>
          </a:ln>
        </p:spPr>
      </p:sp>
      <p:sp>
        <p:nvSpPr>
          <p:cNvPr id="9" name="Text 6"/>
          <p:cNvSpPr/>
          <p:nvPr/>
        </p:nvSpPr>
        <p:spPr>
          <a:xfrm>
            <a:off x="768096" y="565099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Their competitive advantage is not the software. It is that five named people look at the alerts every single day.</a:t>
            </a:r>
            <a:endParaRPr lang="en-US" sz="13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500" b="1" dirty="0">
                <a:solidFill>
                  <a:srgbClr val="1C2530"/>
                </a:solidFill>
                <a:latin typeface="Cambria" pitchFamily="34" charset="0"/>
                <a:ea typeface="Cambria" pitchFamily="34" charset="-122"/>
                <a:cs typeface="Cambria" pitchFamily="34" charset="-120"/>
              </a:rPr>
              <a:t>Adani Power — the Indian case, and what it does not tell us</a:t>
            </a:r>
            <a:endParaRPr lang="en-US" sz="25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AVEVA World, Paris, October 2024 — their own slides, their own screenshots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5. What others have done</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68</a:t>
            </a:r>
            <a:endParaRPr lang="en-US" sz="95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566928" y="1828800"/>
          <a:ext cx="11057839" cy="914400"/>
        </p:xfrm>
        <a:graphic>
          <a:graphicData uri="http://schemas.openxmlformats.org/drawingml/2006/table">
            <a:tbl>
              <a:tblPr/>
              <a:tblGrid>
                <a:gridCol w="1641228"/>
                <a:gridCol w="7493594"/>
                <a:gridCol w="1923018"/>
              </a:tblGrid>
              <a:tr h="611124">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What they showed</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The detail</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Evidence</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r>
              <a:tr h="611124">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Scope</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AVEVA PI System across 8 thermal locations, 25 units, about 150,000 tags, one central operations centre at Ahmedabad. Udupi (1,200 MW) is one of the eight.</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Their own conference slides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611124">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Boiler and turbine efficiency</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Every loss itemised on screen on a 15-minute AND a 24-hour window. Live screenshot: boiler efficiency 86.72 % last 15 min against 86.49 % last 24 h; turbine heat rate 1,883 against 1,826 design.</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Screenshots, dated</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611124">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Asset Health Index</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Four tiers — station, asset, equipment, sensor. Pumps 69, fans 71, mills 77. Individual BFP, CEP and CWP scored. Motor winding and motor bearing temperature are scored inputs.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Screenshots, dated</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611124">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Is it AI?</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The 15-minute efficiency is a thermodynamic enthalpy–entropy module in PI Asset Framework, with coal quality typed in by hand. The AI/ML is Python health scoring. Predictive analytics was still on the roadmap.</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Stated on their slides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611124">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The published benefit</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None. Not a kcal/kWh, not a percentage point of availability, not a rupee. Their own annual report quantifies heat-rate gains only for air-preheater baskets and water-box cleaning — the mechanical work, not the software.</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Nothing found</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bl>
          </a:graphicData>
        </a:graphic>
      </p:graphicFrame>
      <p:sp>
        <p:nvSpPr>
          <p:cNvPr id="8" name="Shape 5"/>
          <p:cNvSpPr/>
          <p:nvPr/>
        </p:nvSpPr>
        <p:spPr>
          <a:xfrm>
            <a:off x="566928" y="5660136"/>
            <a:ext cx="11057839" cy="548640"/>
          </a:xfrm>
          <a:prstGeom prst="roundRect">
            <a:avLst>
              <a:gd name="adj" fmla="val 8333"/>
            </a:avLst>
          </a:prstGeom>
          <a:solidFill>
            <a:srgbClr val="FCEDE0"/>
          </a:solidFill>
          <a:ln w="12700">
            <a:solidFill>
              <a:srgbClr val="D96A16"/>
            </a:solidFill>
            <a:prstDash val="solid"/>
          </a:ln>
        </p:spPr>
      </p:sp>
      <p:sp>
        <p:nvSpPr>
          <p:cNvPr id="9" name="Text 6"/>
          <p:cNvSpPr/>
          <p:nvPr/>
        </p:nvSpPr>
        <p:spPr>
          <a:xfrm>
            <a:off x="768096" y="5660136"/>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Well-documented capability. Undocumented benefit. Learn to tell those two apart and you can read any vendor case study in this industry.</a:t>
            </a:r>
            <a:endParaRPr lang="en-US" sz="13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Reading vendor claims without being taken in</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weak end of the same list. The three cases above came with named plants and published numbers; these do not.</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5. What others have done</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69</a:t>
            </a:r>
            <a:endParaRPr lang="en-US" sz="950" dirty="0"/>
          </a:p>
        </p:txBody>
      </p:sp>
      <p:sp>
        <p:nvSpPr>
          <p:cNvPr id="7" name="Shape 5"/>
          <p:cNvSpPr/>
          <p:nvPr/>
        </p:nvSpPr>
        <p:spPr>
          <a:xfrm>
            <a:off x="566928" y="1627632"/>
            <a:ext cx="11057839" cy="694944"/>
          </a:xfrm>
          <a:prstGeom prst="roundRect">
            <a:avLst>
              <a:gd name="adj" fmla="val 7895"/>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786384" y="1627632"/>
            <a:ext cx="3566160" cy="694944"/>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Adani Power AVEVA PI programme</a:t>
            </a:r>
            <a:endParaRPr lang="en-US" sz="1280" dirty="0"/>
          </a:p>
        </p:txBody>
      </p:sp>
      <p:sp>
        <p:nvSpPr>
          <p:cNvPr id="9" name="Text 7"/>
          <p:cNvSpPr/>
          <p:nvPr/>
        </p:nvSpPr>
        <p:spPr>
          <a:xfrm>
            <a:off x="4453128" y="1627632"/>
            <a:ext cx="3788359" cy="694944"/>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8 sites, 25 units, 150,000 tags, live screens — and no published benefit figure anywhere, including their own annual report</a:t>
            </a:r>
            <a:endParaRPr lang="en-US" sz="1200" dirty="0"/>
          </a:p>
        </p:txBody>
      </p:sp>
      <p:sp>
        <p:nvSpPr>
          <p:cNvPr id="10" name="Shape 8"/>
          <p:cNvSpPr/>
          <p:nvPr/>
        </p:nvSpPr>
        <p:spPr>
          <a:xfrm>
            <a:off x="8470087" y="1746504"/>
            <a:ext cx="3063240" cy="457200"/>
          </a:xfrm>
          <a:prstGeom prst="roundRect">
            <a:avLst>
              <a:gd name="adj" fmla="val 50000"/>
            </a:avLst>
          </a:prstGeom>
          <a:solidFill>
            <a:srgbClr val="E4F0EA"/>
          </a:solidFill>
          <a:ln w="9525">
            <a:solidFill>
              <a:srgbClr val="256B45"/>
            </a:solidFill>
            <a:prstDash val="solid"/>
          </a:ln>
        </p:spPr>
      </p:sp>
      <p:sp>
        <p:nvSpPr>
          <p:cNvPr id="11" name="Text 9"/>
          <p:cNvSpPr/>
          <p:nvPr/>
        </p:nvSpPr>
        <p:spPr>
          <a:xfrm>
            <a:off x="8543239" y="1746504"/>
            <a:ext cx="2916936" cy="457200"/>
          </a:xfrm>
          <a:prstGeom prst="rect">
            <a:avLst/>
          </a:prstGeom>
          <a:noFill/>
          <a:ln/>
        </p:spPr>
        <p:txBody>
          <a:bodyPr wrap="square" lIns="0" tIns="0" rIns="0" bIns="0" rtlCol="0" anchor="ctr"/>
          <a:lstStyle/>
          <a:p>
            <a:pPr algn="ctr" indent="0" marL="0">
              <a:buNone/>
            </a:pPr>
            <a:r>
              <a:rPr lang="en-US" sz="900" b="1" dirty="0">
                <a:solidFill>
                  <a:srgbClr val="256B45"/>
                </a:solidFill>
                <a:latin typeface="Calibri" pitchFamily="34" charset="0"/>
                <a:ea typeface="Calibri" pitchFamily="34" charset="-122"/>
                <a:cs typeface="Calibri" pitchFamily="34" charset="-120"/>
              </a:rPr>
              <a:t>Proven as deployed; benefit unquantified publicly</a:t>
            </a:r>
            <a:endParaRPr lang="en-US" sz="900" dirty="0"/>
          </a:p>
        </p:txBody>
      </p:sp>
      <p:sp>
        <p:nvSpPr>
          <p:cNvPr id="12" name="Shape 10"/>
          <p:cNvSpPr/>
          <p:nvPr/>
        </p:nvSpPr>
        <p:spPr>
          <a:xfrm>
            <a:off x="566928" y="2404872"/>
            <a:ext cx="11057839" cy="694944"/>
          </a:xfrm>
          <a:prstGeom prst="roundRect">
            <a:avLst>
              <a:gd name="adj" fmla="val 789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Text 11"/>
          <p:cNvSpPr/>
          <p:nvPr/>
        </p:nvSpPr>
        <p:spPr>
          <a:xfrm>
            <a:off x="786384" y="2404872"/>
            <a:ext cx="3566160" cy="694944"/>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NTPC NePPS operator advisory</a:t>
            </a:r>
            <a:endParaRPr lang="en-US" sz="1280" dirty="0"/>
          </a:p>
        </p:txBody>
      </p:sp>
      <p:sp>
        <p:nvSpPr>
          <p:cNvPr id="14" name="Text 12"/>
          <p:cNvSpPr/>
          <p:nvPr/>
        </p:nvSpPr>
        <p:spPr>
          <a:xfrm>
            <a:off x="4453128" y="2404872"/>
            <a:ext cx="3788359" cy="694944"/>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Named system, named research centre, no published benefit figure</a:t>
            </a:r>
            <a:endParaRPr lang="en-US" sz="1200" dirty="0"/>
          </a:p>
        </p:txBody>
      </p:sp>
      <p:sp>
        <p:nvSpPr>
          <p:cNvPr id="15" name="Shape 13"/>
          <p:cNvSpPr/>
          <p:nvPr/>
        </p:nvSpPr>
        <p:spPr>
          <a:xfrm>
            <a:off x="8470087" y="2523744"/>
            <a:ext cx="3063240" cy="457200"/>
          </a:xfrm>
          <a:prstGeom prst="roundRect">
            <a:avLst>
              <a:gd name="adj" fmla="val 50000"/>
            </a:avLst>
          </a:prstGeom>
          <a:solidFill>
            <a:srgbClr val="E4F0EA"/>
          </a:solidFill>
          <a:ln w="9525">
            <a:solidFill>
              <a:srgbClr val="256B45"/>
            </a:solidFill>
            <a:prstDash val="solid"/>
          </a:ln>
        </p:spPr>
      </p:sp>
      <p:sp>
        <p:nvSpPr>
          <p:cNvPr id="16" name="Text 14"/>
          <p:cNvSpPr/>
          <p:nvPr/>
        </p:nvSpPr>
        <p:spPr>
          <a:xfrm>
            <a:off x="8543239" y="2523744"/>
            <a:ext cx="2916936" cy="457200"/>
          </a:xfrm>
          <a:prstGeom prst="rect">
            <a:avLst/>
          </a:prstGeom>
          <a:noFill/>
          <a:ln/>
        </p:spPr>
        <p:txBody>
          <a:bodyPr wrap="square" lIns="0" tIns="0" rIns="0" bIns="0" rtlCol="0" anchor="ctr"/>
          <a:lstStyle/>
          <a:p>
            <a:pPr algn="ctr" indent="0" marL="0">
              <a:buNone/>
            </a:pPr>
            <a:r>
              <a:rPr lang="en-US" sz="900" b="1" dirty="0">
                <a:solidFill>
                  <a:srgbClr val="256B45"/>
                </a:solidFill>
                <a:latin typeface="Calibri" pitchFamily="34" charset="0"/>
                <a:ea typeface="Calibri" pitchFamily="34" charset="-122"/>
                <a:cs typeface="Calibri" pitchFamily="34" charset="-120"/>
              </a:rPr>
              <a:t>Proven as deployed; benefit unquantified publicly</a:t>
            </a:r>
            <a:endParaRPr lang="en-US" sz="900" dirty="0"/>
          </a:p>
        </p:txBody>
      </p:sp>
      <p:sp>
        <p:nvSpPr>
          <p:cNvPr id="17" name="Shape 15"/>
          <p:cNvSpPr/>
          <p:nvPr/>
        </p:nvSpPr>
        <p:spPr>
          <a:xfrm>
            <a:off x="566928" y="3182112"/>
            <a:ext cx="11057839" cy="694944"/>
          </a:xfrm>
          <a:prstGeom prst="roundRect">
            <a:avLst>
              <a:gd name="adj" fmla="val 7895"/>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8" name="Text 16"/>
          <p:cNvSpPr/>
          <p:nvPr/>
        </p:nvSpPr>
        <p:spPr>
          <a:xfrm>
            <a:off x="786384" y="3182112"/>
            <a:ext cx="3566160" cy="694944"/>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GE Vernova performance software</a:t>
            </a:r>
            <a:endParaRPr lang="en-US" sz="1280" dirty="0"/>
          </a:p>
        </p:txBody>
      </p:sp>
      <p:sp>
        <p:nvSpPr>
          <p:cNvPr id="19" name="Text 17"/>
          <p:cNvSpPr/>
          <p:nvPr/>
        </p:nvSpPr>
        <p:spPr>
          <a:xfrm>
            <a:off x="4453128" y="3182112"/>
            <a:ext cx="3788359" cy="694944"/>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'Up to 1 % heat rate reduction in 12 months'; customer examples anonymous</a:t>
            </a:r>
            <a:endParaRPr lang="en-US" sz="1200" dirty="0"/>
          </a:p>
        </p:txBody>
      </p:sp>
      <p:sp>
        <p:nvSpPr>
          <p:cNvPr id="20" name="Shape 18"/>
          <p:cNvSpPr/>
          <p:nvPr/>
        </p:nvSpPr>
        <p:spPr>
          <a:xfrm>
            <a:off x="8470087" y="3300984"/>
            <a:ext cx="3063240" cy="457200"/>
          </a:xfrm>
          <a:prstGeom prst="roundRect">
            <a:avLst>
              <a:gd name="adj" fmla="val 50000"/>
            </a:avLst>
          </a:prstGeom>
          <a:solidFill>
            <a:srgbClr val="FBF0DC"/>
          </a:solidFill>
          <a:ln w="9525">
            <a:solidFill>
              <a:srgbClr val="9A6408"/>
            </a:solidFill>
            <a:prstDash val="solid"/>
          </a:ln>
        </p:spPr>
      </p:sp>
      <p:sp>
        <p:nvSpPr>
          <p:cNvPr id="21" name="Text 19"/>
          <p:cNvSpPr/>
          <p:nvPr/>
        </p:nvSpPr>
        <p:spPr>
          <a:xfrm>
            <a:off x="8543239" y="3300984"/>
            <a:ext cx="2916936" cy="457200"/>
          </a:xfrm>
          <a:prstGeom prst="rect">
            <a:avLst/>
          </a:prstGeom>
          <a:noFill/>
          <a:ln/>
        </p:spPr>
        <p:txBody>
          <a:bodyPr wrap="square" lIns="0" tIns="0" rIns="0" bIns="0" rtlCol="0" anchor="ctr"/>
          <a:lstStyle/>
          <a:p>
            <a:pPr algn="ctr" indent="0" marL="0">
              <a:buNone/>
            </a:pPr>
            <a:r>
              <a:rPr lang="en-US" sz="900" b="1" dirty="0">
                <a:solidFill>
                  <a:srgbClr val="9A6408"/>
                </a:solidFill>
                <a:latin typeface="Calibri" pitchFamily="34" charset="0"/>
                <a:ea typeface="Calibri" pitchFamily="34" charset="-122"/>
                <a:cs typeface="Calibri" pitchFamily="34" charset="-120"/>
              </a:rPr>
              <a:t>Emerging — vendor claim, no named plant</a:t>
            </a:r>
            <a:endParaRPr lang="en-US" sz="900" dirty="0"/>
          </a:p>
        </p:txBody>
      </p:sp>
      <p:sp>
        <p:nvSpPr>
          <p:cNvPr id="22" name="Shape 20"/>
          <p:cNvSpPr/>
          <p:nvPr/>
        </p:nvSpPr>
        <p:spPr>
          <a:xfrm>
            <a:off x="566928" y="3959352"/>
            <a:ext cx="11057839" cy="694944"/>
          </a:xfrm>
          <a:prstGeom prst="roundRect">
            <a:avLst>
              <a:gd name="adj" fmla="val 789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3" name="Text 21"/>
          <p:cNvSpPr/>
          <p:nvPr/>
        </p:nvSpPr>
        <p:spPr>
          <a:xfrm>
            <a:off x="786384" y="3959352"/>
            <a:ext cx="3566160" cy="694944"/>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Tata Power enterprise AI platform</a:t>
            </a:r>
            <a:endParaRPr lang="en-US" sz="1280" dirty="0"/>
          </a:p>
        </p:txBody>
      </p:sp>
      <p:sp>
        <p:nvSpPr>
          <p:cNvPr id="24" name="Text 22"/>
          <p:cNvSpPr/>
          <p:nvPr/>
        </p:nvSpPr>
        <p:spPr>
          <a:xfrm>
            <a:off x="4453128" y="3959352"/>
            <a:ext cx="3788359" cy="694944"/>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Announced April 2026; grid and renewables, thermal not named</a:t>
            </a:r>
            <a:endParaRPr lang="en-US" sz="1200" dirty="0"/>
          </a:p>
        </p:txBody>
      </p:sp>
      <p:sp>
        <p:nvSpPr>
          <p:cNvPr id="25" name="Shape 23"/>
          <p:cNvSpPr/>
          <p:nvPr/>
        </p:nvSpPr>
        <p:spPr>
          <a:xfrm>
            <a:off x="8470087" y="4078224"/>
            <a:ext cx="3063240" cy="457200"/>
          </a:xfrm>
          <a:prstGeom prst="roundRect">
            <a:avLst>
              <a:gd name="adj" fmla="val 50000"/>
            </a:avLst>
          </a:prstGeom>
          <a:solidFill>
            <a:srgbClr val="FBF0DC"/>
          </a:solidFill>
          <a:ln w="9525">
            <a:solidFill>
              <a:srgbClr val="9A6408"/>
            </a:solidFill>
            <a:prstDash val="solid"/>
          </a:ln>
        </p:spPr>
      </p:sp>
      <p:sp>
        <p:nvSpPr>
          <p:cNvPr id="26" name="Text 24"/>
          <p:cNvSpPr/>
          <p:nvPr/>
        </p:nvSpPr>
        <p:spPr>
          <a:xfrm>
            <a:off x="8543239" y="4078224"/>
            <a:ext cx="2916936" cy="457200"/>
          </a:xfrm>
          <a:prstGeom prst="rect">
            <a:avLst/>
          </a:prstGeom>
          <a:noFill/>
          <a:ln/>
        </p:spPr>
        <p:txBody>
          <a:bodyPr wrap="square" lIns="0" tIns="0" rIns="0" bIns="0" rtlCol="0" anchor="ctr"/>
          <a:lstStyle/>
          <a:p>
            <a:pPr algn="ctr" indent="0" marL="0">
              <a:buNone/>
            </a:pPr>
            <a:r>
              <a:rPr lang="en-US" sz="900" b="1" dirty="0">
                <a:solidFill>
                  <a:srgbClr val="9A6408"/>
                </a:solidFill>
                <a:latin typeface="Calibri" pitchFamily="34" charset="0"/>
                <a:ea typeface="Calibri" pitchFamily="34" charset="-122"/>
                <a:cs typeface="Calibri" pitchFamily="34" charset="-120"/>
              </a:rPr>
              <a:t>Emerging — a platform announcement, not a result</a:t>
            </a:r>
            <a:endParaRPr lang="en-US" sz="900" dirty="0"/>
          </a:p>
        </p:txBody>
      </p:sp>
      <p:sp>
        <p:nvSpPr>
          <p:cNvPr id="27" name="Shape 25"/>
          <p:cNvSpPr/>
          <p:nvPr/>
        </p:nvSpPr>
        <p:spPr>
          <a:xfrm>
            <a:off x="566928" y="4736592"/>
            <a:ext cx="11057839" cy="694944"/>
          </a:xfrm>
          <a:prstGeom prst="roundRect">
            <a:avLst>
              <a:gd name="adj" fmla="val 7895"/>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Text 26"/>
          <p:cNvSpPr/>
          <p:nvPr/>
        </p:nvSpPr>
        <p:spPr>
          <a:xfrm>
            <a:off x="786384" y="4736592"/>
            <a:ext cx="3566160" cy="694944"/>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Generic 'AI saves 10–15 %' marketing</a:t>
            </a:r>
            <a:endParaRPr lang="en-US" sz="1280" dirty="0"/>
          </a:p>
        </p:txBody>
      </p:sp>
      <p:sp>
        <p:nvSpPr>
          <p:cNvPr id="29" name="Text 27"/>
          <p:cNvSpPr/>
          <p:nvPr/>
        </p:nvSpPr>
        <p:spPr>
          <a:xfrm>
            <a:off x="4453128" y="4736592"/>
            <a:ext cx="3788359" cy="694944"/>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No plant, no baseline, no measurement method</a:t>
            </a:r>
            <a:endParaRPr lang="en-US" sz="1200" dirty="0"/>
          </a:p>
        </p:txBody>
      </p:sp>
      <p:sp>
        <p:nvSpPr>
          <p:cNvPr id="30" name="Shape 28"/>
          <p:cNvSpPr/>
          <p:nvPr/>
        </p:nvSpPr>
        <p:spPr>
          <a:xfrm>
            <a:off x="8470087" y="4855464"/>
            <a:ext cx="3063240" cy="457200"/>
          </a:xfrm>
          <a:prstGeom prst="roundRect">
            <a:avLst>
              <a:gd name="adj" fmla="val 50000"/>
            </a:avLst>
          </a:prstGeom>
          <a:solidFill>
            <a:srgbClr val="F9E7E5"/>
          </a:solidFill>
          <a:ln w="9525">
            <a:solidFill>
              <a:srgbClr val="A8261E"/>
            </a:solidFill>
            <a:prstDash val="solid"/>
          </a:ln>
        </p:spPr>
      </p:sp>
      <p:sp>
        <p:nvSpPr>
          <p:cNvPr id="31" name="Text 29"/>
          <p:cNvSpPr/>
          <p:nvPr/>
        </p:nvSpPr>
        <p:spPr>
          <a:xfrm>
            <a:off x="8543239" y="4855464"/>
            <a:ext cx="2916936" cy="457200"/>
          </a:xfrm>
          <a:prstGeom prst="rect">
            <a:avLst/>
          </a:prstGeom>
          <a:noFill/>
          <a:ln/>
        </p:spPr>
        <p:txBody>
          <a:bodyPr wrap="square" lIns="0" tIns="0" rIns="0" bIns="0" rtlCol="0" anchor="ctr"/>
          <a:lstStyle/>
          <a:p>
            <a:pPr algn="ctr" indent="0" marL="0">
              <a:buNone/>
            </a:pPr>
            <a:r>
              <a:rPr lang="en-US" sz="900" b="1" dirty="0">
                <a:solidFill>
                  <a:srgbClr val="A8261E"/>
                </a:solidFill>
                <a:latin typeface="Calibri" pitchFamily="34" charset="0"/>
                <a:ea typeface="Calibri" pitchFamily="34" charset="-122"/>
                <a:cs typeface="Calibri" pitchFamily="34" charset="-120"/>
              </a:rPr>
              <a:t>Experimental — treat as advertising until a baseline appears</a:t>
            </a:r>
            <a:endParaRPr lang="en-US" sz="900" dirty="0"/>
          </a:p>
        </p:txBody>
      </p:sp>
      <p:sp>
        <p:nvSpPr>
          <p:cNvPr id="32" name="Shape 30"/>
          <p:cNvSpPr/>
          <p:nvPr/>
        </p:nvSpPr>
        <p:spPr>
          <a:xfrm>
            <a:off x="566928" y="5660136"/>
            <a:ext cx="11057839" cy="548640"/>
          </a:xfrm>
          <a:prstGeom prst="roundRect">
            <a:avLst>
              <a:gd name="adj" fmla="val 8333"/>
            </a:avLst>
          </a:prstGeom>
          <a:solidFill>
            <a:srgbClr val="FCEDE0"/>
          </a:solidFill>
          <a:ln w="12700">
            <a:solidFill>
              <a:srgbClr val="D96A16"/>
            </a:solidFill>
            <a:prstDash val="solid"/>
          </a:ln>
        </p:spPr>
      </p:sp>
      <p:sp>
        <p:nvSpPr>
          <p:cNvPr id="33" name="Text 31"/>
          <p:cNvSpPr/>
          <p:nvPr/>
        </p:nvSpPr>
        <p:spPr>
          <a:xfrm>
            <a:off x="768096" y="5660136"/>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Three questions for any vendor: which plant, what baseline, and who measured it? If any answer is missing, the number is marketing.</a:t>
            </a:r>
            <a:endParaRPr lang="en-US" sz="13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What the evidence actually supports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Setting an expectation you can defend in a review meeting</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5. What others have done</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70</a:t>
            </a:r>
            <a:endParaRPr lang="en-US" sz="950" dirty="0"/>
          </a:p>
        </p:txBody>
      </p:sp>
      <p:sp>
        <p:nvSpPr>
          <p:cNvPr id="7" name="Shape 5"/>
          <p:cNvSpPr/>
          <p:nvPr/>
        </p:nvSpPr>
        <p:spPr>
          <a:xfrm>
            <a:off x="566928" y="1627632"/>
            <a:ext cx="5382616" cy="3886200"/>
          </a:xfrm>
          <a:prstGeom prst="roundRect">
            <a:avLst>
              <a:gd name="adj" fmla="val 141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841248" y="1847088"/>
            <a:ext cx="4833976" cy="292608"/>
          </a:xfrm>
          <a:prstGeom prst="rect">
            <a:avLst/>
          </a:prstGeom>
          <a:noFill/>
          <a:ln/>
        </p:spPr>
        <p:txBody>
          <a:bodyPr wrap="square" lIns="0" tIns="0" rIns="0" bIns="0" rtlCol="0" anchor="ctr"/>
          <a:lstStyle/>
          <a:p>
            <a:pPr indent="0" marL="0">
              <a:buNone/>
            </a:pPr>
            <a:r>
              <a:rPr lang="en-US" sz="1150" b="1" spc="120" kern="0" dirty="0">
                <a:solidFill>
                  <a:srgbClr val="3B4A5A"/>
                </a:solidFill>
                <a:latin typeface="Calibri" pitchFamily="34" charset="0"/>
                <a:ea typeface="Calibri" pitchFamily="34" charset="-122"/>
                <a:cs typeface="Calibri" pitchFamily="34" charset="-120"/>
              </a:rPr>
              <a:t>WHAT THE BROCHURES SAY</a:t>
            </a:r>
            <a:endParaRPr lang="en-US" sz="1150" dirty="0"/>
          </a:p>
        </p:txBody>
      </p:sp>
      <p:sp>
        <p:nvSpPr>
          <p:cNvPr id="9" name="Text 7"/>
          <p:cNvSpPr/>
          <p:nvPr/>
        </p:nvSpPr>
        <p:spPr>
          <a:xfrm>
            <a:off x="841248"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5 to 15 per cent</a:t>
            </a:r>
            <a:endParaRPr lang="en-US" sz="3300" dirty="0"/>
          </a:p>
        </p:txBody>
      </p:sp>
      <p:sp>
        <p:nvSpPr>
          <p:cNvPr id="10" name="Text 8"/>
          <p:cNvSpPr/>
          <p:nvPr/>
        </p:nvSpPr>
        <p:spPr>
          <a:xfrm>
            <a:off x="841248"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Efficiency gains, availability improvements and cost reductions quoted without a named plant, a stated baseline or an independent measurement. Almost always a pilot result on a poorly tuned unit, annualised and generalised.</a:t>
            </a:r>
            <a:endParaRPr lang="en-US" sz="1350" dirty="0"/>
          </a:p>
        </p:txBody>
      </p:sp>
      <p:sp>
        <p:nvSpPr>
          <p:cNvPr id="11" name="Shape 9"/>
          <p:cNvSpPr/>
          <p:nvPr/>
        </p:nvSpPr>
        <p:spPr>
          <a:xfrm>
            <a:off x="6242152" y="1627632"/>
            <a:ext cx="5382616" cy="3886200"/>
          </a:xfrm>
          <a:prstGeom prst="roundRect">
            <a:avLst>
              <a:gd name="adj" fmla="val 1412"/>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10"/>
          <p:cNvSpPr/>
          <p:nvPr/>
        </p:nvSpPr>
        <p:spPr>
          <a:xfrm>
            <a:off x="6516472" y="1847088"/>
            <a:ext cx="4833976" cy="292608"/>
          </a:xfrm>
          <a:prstGeom prst="rect">
            <a:avLst/>
          </a:prstGeom>
          <a:noFill/>
          <a:ln/>
        </p:spPr>
        <p:txBody>
          <a:bodyPr wrap="square" lIns="0" tIns="0" rIns="0" bIns="0" rtlCol="0" anchor="ctr"/>
          <a:lstStyle/>
          <a:p>
            <a:pPr indent="0" marL="0">
              <a:buNone/>
            </a:pPr>
            <a:r>
              <a:rPr lang="en-US" sz="1150" b="1" spc="120" kern="0" dirty="0">
                <a:solidFill>
                  <a:srgbClr val="D96A16"/>
                </a:solidFill>
                <a:latin typeface="Calibri" pitchFamily="34" charset="0"/>
                <a:ea typeface="Calibri" pitchFamily="34" charset="-122"/>
                <a:cs typeface="Calibri" pitchFamily="34" charset="-120"/>
              </a:rPr>
              <a:t>WHAT THE PUBLISHED FLEET RESULTS SAY</a:t>
            </a:r>
            <a:endParaRPr lang="en-US" sz="1150" dirty="0"/>
          </a:p>
        </p:txBody>
      </p:sp>
      <p:sp>
        <p:nvSpPr>
          <p:cNvPr id="13" name="Text 11"/>
          <p:cNvSpPr/>
          <p:nvPr/>
        </p:nvSpPr>
        <p:spPr>
          <a:xfrm>
            <a:off x="6516472"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About 1 per cent</a:t>
            </a:r>
            <a:endParaRPr lang="en-US" sz="3300" dirty="0"/>
          </a:p>
        </p:txBody>
      </p:sp>
      <p:sp>
        <p:nvSpPr>
          <p:cNvPr id="14" name="Text 12"/>
          <p:cNvSpPr/>
          <p:nvPr/>
        </p:nvSpPr>
        <p:spPr>
          <a:xfrm>
            <a:off x="6516472"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Vistra's 67-unit rollout averaged 1 per cent against a 2 per cent pilot. GE Vernova claims up to 1 per cent in twelve months. On MAHAGENCO's June 2026 thermal generation, 1 per cent of heat rate is roughly 24 kcal/kWh on a 2,400 kcal/kWh unit — real money, and nothing like the brochure.</a:t>
            </a:r>
            <a:endParaRPr lang="en-US" sz="1350" dirty="0"/>
          </a:p>
        </p:txBody>
      </p:sp>
      <p:sp>
        <p:nvSpPr>
          <p:cNvPr id="15" name="Shape 13"/>
          <p:cNvSpPr/>
          <p:nvPr/>
        </p:nvSpPr>
        <p:spPr>
          <a:xfrm>
            <a:off x="566928" y="56967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6967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Plan on the fleet number, not the pilot number. A business case built on 10 per cent will be shredded, and it will take the credible 1 per cent down with it.</a:t>
            </a:r>
            <a:endParaRPr lang="en-US" sz="13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1C2530"/>
        </a:solidFill>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D96A16"/>
          </a:solidFill>
          <a:ln/>
        </p:spPr>
      </p:sp>
      <p:sp>
        <p:nvSpPr>
          <p:cNvPr id="3" name="Text 1"/>
          <p:cNvSpPr/>
          <p:nvPr/>
        </p:nvSpPr>
        <p:spPr>
          <a:xfrm>
            <a:off x="9052560" y="822960"/>
            <a:ext cx="2377440" cy="2011680"/>
          </a:xfrm>
          <a:prstGeom prst="rect">
            <a:avLst/>
          </a:prstGeom>
          <a:noFill/>
          <a:ln/>
        </p:spPr>
        <p:txBody>
          <a:bodyPr wrap="square" lIns="0" tIns="0" rIns="0" bIns="0" rtlCol="0" anchor="ctr"/>
          <a:lstStyle/>
          <a:p>
            <a:pPr algn="r" indent="0" marL="0">
              <a:buNone/>
            </a:pPr>
            <a:r>
              <a:rPr lang="en-US" sz="13200" b="1" dirty="0">
                <a:solidFill>
                  <a:srgbClr val="2C3B4B"/>
                </a:solidFill>
                <a:latin typeface="Cambria" pitchFamily="34" charset="0"/>
                <a:ea typeface="Cambria" pitchFamily="34" charset="-122"/>
                <a:cs typeface="Cambria" pitchFamily="34" charset="-120"/>
              </a:rPr>
              <a:t>6</a:t>
            </a:r>
            <a:endParaRPr lang="en-US" sz="13200" dirty="0"/>
          </a:p>
        </p:txBody>
      </p:sp>
      <p:sp>
        <p:nvSpPr>
          <p:cNvPr id="4" name="Text 2"/>
          <p:cNvSpPr/>
          <p:nvPr/>
        </p:nvSpPr>
        <p:spPr>
          <a:xfrm>
            <a:off x="1051560" y="1920240"/>
            <a:ext cx="9601200" cy="310896"/>
          </a:xfrm>
          <a:prstGeom prst="rect">
            <a:avLst/>
          </a:prstGeom>
          <a:noFill/>
          <a:ln/>
        </p:spPr>
        <p:txBody>
          <a:bodyPr wrap="square" lIns="0" tIns="0" rIns="0" bIns="0" rtlCol="0" anchor="ctr"/>
          <a:lstStyle/>
          <a:p>
            <a:pPr indent="0" marL="0">
              <a:buNone/>
            </a:pPr>
            <a:r>
              <a:rPr lang="en-US" sz="1250" b="1" spc="220" kern="0" dirty="0">
                <a:solidFill>
                  <a:srgbClr val="D96A16"/>
                </a:solidFill>
                <a:latin typeface="Calibri" pitchFamily="34" charset="0"/>
                <a:ea typeface="Calibri" pitchFamily="34" charset="-122"/>
                <a:cs typeface="Calibri" pitchFamily="34" charset="-120"/>
              </a:rPr>
              <a:t>SESSION</a:t>
            </a:r>
            <a:endParaRPr lang="en-US" sz="1250" dirty="0"/>
          </a:p>
        </p:txBody>
      </p:sp>
      <p:sp>
        <p:nvSpPr>
          <p:cNvPr id="5" name="Text 3"/>
          <p:cNvSpPr/>
          <p:nvPr/>
        </p:nvSpPr>
        <p:spPr>
          <a:xfrm>
            <a:off x="1051560" y="2212848"/>
            <a:ext cx="804672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Operation and performance optimisation</a:t>
            </a:r>
            <a:endParaRPr lang="en-US" sz="4000" dirty="0"/>
          </a:p>
        </p:txBody>
      </p:sp>
      <p:sp>
        <p:nvSpPr>
          <p:cNvPr id="6" name="Text 4"/>
          <p:cNvSpPr/>
          <p:nvPr/>
        </p:nvSpPr>
        <p:spPr>
          <a:xfrm>
            <a:off x="1051560" y="3529584"/>
            <a:ext cx="8778240" cy="603504"/>
          </a:xfrm>
          <a:prstGeom prst="rect">
            <a:avLst/>
          </a:prstGeom>
          <a:noFill/>
          <a:ln/>
        </p:spPr>
        <p:txBody>
          <a:bodyPr wrap="square" lIns="0" tIns="0" rIns="0" bIns="0" rtlCol="0" anchor="t"/>
          <a:lstStyle/>
          <a:p>
            <a:pPr indent="0" marL="0">
              <a:buNone/>
            </a:pPr>
            <a:r>
              <a:rPr lang="en-US" sz="1500" dirty="0">
                <a:solidFill>
                  <a:srgbClr val="A9B8C6"/>
                </a:solidFill>
                <a:latin typeface="Calibri" pitchFamily="34" charset="0"/>
                <a:ea typeface="Calibri" pitchFamily="34" charset="-122"/>
                <a:cs typeface="Calibri" pitchFamily="34" charset="-120"/>
              </a:rPr>
              <a:t>Combustion, condenser, auxiliary power and coal quality — where the kcal/kWh actually come from</a:t>
            </a:r>
            <a:endParaRPr lang="en-US" sz="1500" dirty="0"/>
          </a:p>
        </p:txBody>
      </p:sp>
      <p:sp>
        <p:nvSpPr>
          <p:cNvPr id="7" name="Shape 5"/>
          <p:cNvSpPr/>
          <p:nvPr/>
        </p:nvSpPr>
        <p:spPr>
          <a:xfrm>
            <a:off x="1078992" y="4315968"/>
            <a:ext cx="118872" cy="118872"/>
          </a:xfrm>
          <a:prstGeom prst="ellipse">
            <a:avLst/>
          </a:prstGeom>
          <a:solidFill>
            <a:srgbClr val="D96A16"/>
          </a:solidFill>
          <a:ln/>
        </p:spPr>
      </p:sp>
      <p:sp>
        <p:nvSpPr>
          <p:cNvPr id="8" name="Text 6"/>
          <p:cNvSpPr/>
          <p:nvPr/>
        </p:nvSpPr>
        <p:spPr>
          <a:xfrm>
            <a:off x="1389888" y="4224528"/>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The controllable-loss table, and online loss accounting</a:t>
            </a:r>
            <a:endParaRPr lang="en-US" sz="1250" dirty="0"/>
          </a:p>
        </p:txBody>
      </p:sp>
      <p:sp>
        <p:nvSpPr>
          <p:cNvPr id="9" name="Shape 7"/>
          <p:cNvSpPr/>
          <p:nvPr/>
        </p:nvSpPr>
        <p:spPr>
          <a:xfrm>
            <a:off x="1078992" y="4718304"/>
            <a:ext cx="118872" cy="118872"/>
          </a:xfrm>
          <a:prstGeom prst="ellipse">
            <a:avLst/>
          </a:prstGeom>
          <a:solidFill>
            <a:srgbClr val="D96A16"/>
          </a:solidFill>
          <a:ln/>
        </p:spPr>
      </p:sp>
      <p:sp>
        <p:nvSpPr>
          <p:cNvPr id="10" name="Text 8"/>
          <p:cNvSpPr/>
          <p:nvPr/>
        </p:nvSpPr>
        <p:spPr>
          <a:xfrm>
            <a:off x="1389888" y="4626864"/>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Combustion optimisation and the engineering that makes it safe</a:t>
            </a:r>
            <a:endParaRPr lang="en-US" sz="1250" dirty="0"/>
          </a:p>
        </p:txBody>
      </p:sp>
      <p:sp>
        <p:nvSpPr>
          <p:cNvPr id="11" name="Shape 9"/>
          <p:cNvSpPr/>
          <p:nvPr/>
        </p:nvSpPr>
        <p:spPr>
          <a:xfrm>
            <a:off x="1078992" y="5120640"/>
            <a:ext cx="118872" cy="118872"/>
          </a:xfrm>
          <a:prstGeom prst="ellipse">
            <a:avLst/>
          </a:prstGeom>
          <a:solidFill>
            <a:srgbClr val="D96A16"/>
          </a:solidFill>
          <a:ln/>
        </p:spPr>
      </p:sp>
      <p:sp>
        <p:nvSpPr>
          <p:cNvPr id="12" name="Text 10"/>
          <p:cNvSpPr/>
          <p:nvPr/>
        </p:nvSpPr>
        <p:spPr>
          <a:xfrm>
            <a:off x="1389888" y="5029200"/>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Auxiliary power as a scheduling problem</a:t>
            </a:r>
            <a:endParaRPr lang="en-US" sz="1250" dirty="0"/>
          </a:p>
        </p:txBody>
      </p:sp>
      <p:sp>
        <p:nvSpPr>
          <p:cNvPr id="13" name="Shape 11"/>
          <p:cNvSpPr/>
          <p:nvPr/>
        </p:nvSpPr>
        <p:spPr>
          <a:xfrm>
            <a:off x="1078992" y="5522976"/>
            <a:ext cx="118872" cy="118872"/>
          </a:xfrm>
          <a:prstGeom prst="ellipse">
            <a:avLst/>
          </a:prstGeom>
          <a:solidFill>
            <a:srgbClr val="D96A16"/>
          </a:solidFill>
          <a:ln/>
        </p:spPr>
      </p:sp>
      <p:sp>
        <p:nvSpPr>
          <p:cNvPr id="14" name="Text 12"/>
          <p:cNvSpPr/>
          <p:nvPr/>
        </p:nvSpPr>
        <p:spPr>
          <a:xfrm>
            <a:off x="1389888" y="5431536"/>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How a soft sensor is built</a:t>
            </a:r>
            <a:endParaRPr lang="en-US" sz="1250" dirty="0"/>
          </a:p>
        </p:txBody>
      </p:sp>
      <p:sp>
        <p:nvSpPr>
          <p:cNvPr id="15" name="Shape 13"/>
          <p:cNvSpPr/>
          <p:nvPr/>
        </p:nvSpPr>
        <p:spPr>
          <a:xfrm>
            <a:off x="9281160" y="4224528"/>
            <a:ext cx="1965960" cy="859536"/>
          </a:xfrm>
          <a:prstGeom prst="roundRect">
            <a:avLst>
              <a:gd name="adj" fmla="val 6383"/>
            </a:avLst>
          </a:prstGeom>
          <a:solidFill>
            <a:srgbClr val="2A3644"/>
          </a:solidFill>
          <a:ln w="12700">
            <a:solidFill>
              <a:srgbClr val="D96A16"/>
            </a:solidFill>
            <a:prstDash val="solid"/>
          </a:ln>
        </p:spPr>
      </p:sp>
      <p:sp>
        <p:nvSpPr>
          <p:cNvPr id="16" name="Text 14"/>
          <p:cNvSpPr/>
          <p:nvPr/>
        </p:nvSpPr>
        <p:spPr>
          <a:xfrm>
            <a:off x="9281160" y="4334256"/>
            <a:ext cx="1965960" cy="384048"/>
          </a:xfrm>
          <a:prstGeom prst="rect">
            <a:avLst/>
          </a:prstGeom>
          <a:noFill/>
          <a:ln/>
        </p:spPr>
        <p:txBody>
          <a:bodyPr wrap="square" lIns="0" tIns="0" rIns="0" bIns="0" rtlCol="0" anchor="ctr"/>
          <a:lstStyle/>
          <a:p>
            <a:pPr algn="ctr" indent="0" marL="0">
              <a:buNone/>
            </a:pPr>
            <a:r>
              <a:rPr lang="en-US" sz="1600" b="1" dirty="0">
                <a:solidFill>
                  <a:srgbClr val="D96A16"/>
                </a:solidFill>
                <a:latin typeface="Cambria" pitchFamily="34" charset="0"/>
                <a:ea typeface="Cambria" pitchFamily="34" charset="-122"/>
                <a:cs typeface="Cambria" pitchFamily="34" charset="-120"/>
              </a:rPr>
              <a:t>15:12 – 15:45</a:t>
            </a:r>
            <a:endParaRPr lang="en-US" sz="1600" dirty="0"/>
          </a:p>
        </p:txBody>
      </p:sp>
      <p:sp>
        <p:nvSpPr>
          <p:cNvPr id="17" name="Text 15"/>
          <p:cNvSpPr/>
          <p:nvPr/>
        </p:nvSpPr>
        <p:spPr>
          <a:xfrm>
            <a:off x="9281160" y="4700016"/>
            <a:ext cx="1965960" cy="310896"/>
          </a:xfrm>
          <a:prstGeom prst="rect">
            <a:avLst/>
          </a:prstGeom>
          <a:noFill/>
          <a:ln/>
        </p:spPr>
        <p:txBody>
          <a:bodyPr wrap="square" lIns="0" tIns="0" rIns="0" bIns="0" rtlCol="0" anchor="ctr"/>
          <a:lstStyle/>
          <a:p>
            <a:pPr algn="ctr" indent="0" marL="0">
              <a:buNone/>
            </a:pPr>
            <a:r>
              <a:rPr lang="en-US" sz="1100" dirty="0">
                <a:solidFill>
                  <a:srgbClr val="9BAAB8"/>
                </a:solidFill>
                <a:latin typeface="Calibri" pitchFamily="34" charset="0"/>
                <a:ea typeface="Calibri" pitchFamily="34" charset="-122"/>
                <a:cs typeface="Calibri" pitchFamily="34" charset="-120"/>
              </a:rPr>
              <a:t>33 minutes</a:t>
            </a:r>
            <a:endParaRPr lang="en-US" sz="1100" dirty="0"/>
          </a:p>
        </p:txBody>
      </p:sp>
      <p:sp>
        <p:nvSpPr>
          <p:cNvPr id="18" name="Text 16"/>
          <p:cNvSpPr/>
          <p:nvPr/>
        </p:nvSpPr>
        <p:spPr>
          <a:xfrm>
            <a:off x="1051560" y="5797296"/>
            <a:ext cx="9601200" cy="329184"/>
          </a:xfrm>
          <a:prstGeom prst="rect">
            <a:avLst/>
          </a:prstGeom>
          <a:noFill/>
          <a:ln/>
        </p:spPr>
        <p:txBody>
          <a:bodyPr wrap="square" lIns="0" tIns="0" rIns="0" bIns="0" rtlCol="0" anchor="ctr"/>
          <a:lstStyle/>
          <a:p>
            <a:pPr indent="0" marL="0">
              <a:buNone/>
            </a:pPr>
            <a:r>
              <a:rPr lang="en-US" sz="1200" i="1" dirty="0">
                <a:solidFill>
                  <a:srgbClr val="86C0C9"/>
                </a:solidFill>
                <a:latin typeface="Calibri" pitchFamily="34" charset="0"/>
                <a:ea typeface="Calibri" pitchFamily="34" charset="-122"/>
                <a:cs typeface="Calibri" pitchFamily="34" charset="-120"/>
              </a:rPr>
              <a:t>Hands-on: SIM-6 and SIM-3</a:t>
            </a:r>
            <a:endParaRPr lang="en-US" sz="1200" dirty="0"/>
          </a:p>
        </p:txBody>
      </p:sp>
      <p:sp>
        <p:nvSpPr>
          <p:cNvPr id="19" name="Text 17"/>
          <p:cNvSpPr/>
          <p:nvPr/>
        </p:nvSpPr>
        <p:spPr>
          <a:xfrm>
            <a:off x="11140135" y="6419088"/>
            <a:ext cx="502920" cy="274320"/>
          </a:xfrm>
          <a:prstGeom prst="rect">
            <a:avLst/>
          </a:prstGeom>
          <a:noFill/>
          <a:ln/>
        </p:spPr>
        <p:txBody>
          <a:bodyPr wrap="square" lIns="0" tIns="0" rIns="0" bIns="0" rtlCol="0" anchor="ctr"/>
          <a:lstStyle/>
          <a:p>
            <a:pPr algn="r" indent="0" marL="0">
              <a:buNone/>
            </a:pPr>
            <a:r>
              <a:rPr lang="en-US" sz="950" dirty="0">
                <a:solidFill>
                  <a:srgbClr val="5E6E7C"/>
                </a:solidFill>
                <a:latin typeface="Calibri" pitchFamily="34" charset="0"/>
                <a:ea typeface="Calibri" pitchFamily="34" charset="-122"/>
                <a:cs typeface="Calibri" pitchFamily="34" charset="-120"/>
              </a:rPr>
              <a:t>71</a:t>
            </a:r>
            <a:endParaRPr lang="en-US" sz="9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controllable loss table</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Indicative heat-rate sensitivities — subcritical against supercritical, and who can actually move each one</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6. Performance optimisation</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72</a:t>
            </a:r>
            <a:endParaRPr lang="en-US" sz="950" dirty="0"/>
          </a:p>
        </p:txBody>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8275320" cy="914400"/>
        </p:xfrm>
        <a:graphic>
          <a:graphicData uri="http://schemas.openxmlformats.org/drawingml/2006/table">
            <a:tbl>
              <a:tblPr/>
              <a:tblGrid>
                <a:gridCol w="1706886"/>
                <a:gridCol w="1452725"/>
                <a:gridCol w="1652270"/>
                <a:gridCol w="1790847"/>
                <a:gridCol w="1672592"/>
              </a:tblGrid>
              <a:tr h="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Parameter</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Deviation from design</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Subcritical 210–500 MW</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Supercritical 660 MW</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Who influences it daily</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Boiler efficiency</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1 % drop</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 30 kcal/kWh</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 25 kcal/kWh</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Operations and combustion</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Main steam temperature</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10 °C below design</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5–8 kcal/kWh</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4–6 kcal/kWh</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Operations</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Reheat steam temperature</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10 °C below design</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4–6 kcal/kWh</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4–5 kcal/kWh</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Operations</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Condenser back pressure</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10 mmHg rise</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8–12 kcal/kWh</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7–10 kcal/kWh</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Mechanical and chemistry</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Excess O₂</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1 % above optimum</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10–15 kcal/kWh</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8–12 kcal/kWh</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Operations, every shift</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Unburnt carbon in ash</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1 % increase</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10–15 kcal/kWh</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10–15 kcal/kWh</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Mills and combustion</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Final feedwater temperature</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5 °C below design</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4–6 kcal/kWh</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4–6 kcal/kWh</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Heaters and mechanical</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APH air leakage</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5 % increase</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3–5 kcal/kWh, plus ID fan power</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3–5 kcal/kWh, plus ID fan power</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Maintenance</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bl>
          </a:graphicData>
        </a:graphic>
      </p:graphicFrame>
      <p:sp>
        <p:nvSpPr>
          <p:cNvPr id="8" name="Shape 5"/>
          <p:cNvSpPr/>
          <p:nvPr/>
        </p:nvSpPr>
        <p:spPr>
          <a:xfrm>
            <a:off x="9116568" y="1627632"/>
            <a:ext cx="2508199" cy="2331720"/>
          </a:xfrm>
          <a:prstGeom prst="roundRect">
            <a:avLst>
              <a:gd name="adj" fmla="val 2353"/>
            </a:avLst>
          </a:prstGeom>
          <a:solidFill>
            <a:srgbClr val="1C253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9" name="Text 6"/>
          <p:cNvSpPr/>
          <p:nvPr/>
        </p:nvSpPr>
        <p:spPr>
          <a:xfrm>
            <a:off x="9226296" y="2011680"/>
            <a:ext cx="2288743" cy="822960"/>
          </a:xfrm>
          <a:prstGeom prst="rect">
            <a:avLst/>
          </a:prstGeom>
          <a:noFill/>
          <a:ln/>
        </p:spPr>
        <p:txBody>
          <a:bodyPr wrap="square" lIns="0" tIns="0" rIns="0" bIns="0" rtlCol="0" anchor="ctr"/>
          <a:lstStyle/>
          <a:p>
            <a:pPr algn="ctr" indent="0" marL="0">
              <a:buNone/>
            </a:pPr>
            <a:r>
              <a:rPr lang="en-US" sz="3600" b="1" dirty="0">
                <a:solidFill>
                  <a:srgbClr val="D96A16"/>
                </a:solidFill>
                <a:latin typeface="Cambria" pitchFamily="34" charset="0"/>
                <a:ea typeface="Cambria" pitchFamily="34" charset="-122"/>
                <a:cs typeface="Cambria" pitchFamily="34" charset="-120"/>
              </a:rPr>
              <a:t>₹14–44 lakh a year</a:t>
            </a:r>
            <a:endParaRPr lang="en-US" sz="3600" dirty="0"/>
          </a:p>
        </p:txBody>
      </p:sp>
      <p:sp>
        <p:nvSpPr>
          <p:cNvPr id="10" name="Text 7"/>
          <p:cNvSpPr/>
          <p:nvPr/>
        </p:nvSpPr>
        <p:spPr>
          <a:xfrm>
            <a:off x="9317736" y="2852928"/>
            <a:ext cx="2105863" cy="1005840"/>
          </a:xfrm>
          <a:prstGeom prst="rect">
            <a:avLst/>
          </a:prstGeom>
          <a:noFill/>
          <a:ln/>
        </p:spPr>
        <p:txBody>
          <a:bodyPr wrap="square" lIns="0" tIns="0" rIns="0" bIns="0" rtlCol="0" anchor="ctr"/>
          <a:lstStyle/>
          <a:p>
            <a:pPr algn="ctr" indent="0" marL="0">
              <a:buNone/>
            </a:pPr>
            <a:r>
              <a:rPr lang="en-US" sz="1200" dirty="0">
                <a:solidFill>
                  <a:srgbClr val="C3CFDA"/>
                </a:solidFill>
                <a:latin typeface="Calibri" pitchFamily="34" charset="0"/>
                <a:ea typeface="Calibri" pitchFamily="34" charset="-122"/>
                <a:cs typeface="Calibri" pitchFamily="34" charset="-120"/>
              </a:rPr>
              <a:t>what one kcal/kWh is worth on a 210 to 660 MW unit — indicative, at 65 per cent PLF</a:t>
            </a:r>
            <a:endParaRPr lang="en-US" sz="12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Online loss accounting</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What an expected-heat-rate model does that a monthly spreadsheet cannot</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6. Performance optimisation</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73</a:t>
            </a:r>
            <a:endParaRPr lang="en-US" sz="950" dirty="0"/>
          </a:p>
        </p:txBody>
      </p:sp>
      <p:sp>
        <p:nvSpPr>
          <p:cNvPr id="7" name="Shape 5"/>
          <p:cNvSpPr/>
          <p:nvPr/>
        </p:nvSpPr>
        <p:spPr>
          <a:xfrm>
            <a:off x="566928" y="1627632"/>
            <a:ext cx="5382616" cy="3886200"/>
          </a:xfrm>
          <a:prstGeom prst="roundRect">
            <a:avLst>
              <a:gd name="adj" fmla="val 141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841248" y="1847088"/>
            <a:ext cx="4833976" cy="292608"/>
          </a:xfrm>
          <a:prstGeom prst="rect">
            <a:avLst/>
          </a:prstGeom>
          <a:noFill/>
          <a:ln/>
        </p:spPr>
        <p:txBody>
          <a:bodyPr wrap="square" lIns="0" tIns="0" rIns="0" bIns="0" rtlCol="0" anchor="ctr"/>
          <a:lstStyle/>
          <a:p>
            <a:pPr indent="0" marL="0">
              <a:buNone/>
            </a:pPr>
            <a:r>
              <a:rPr lang="en-US" sz="1150" b="1" spc="120" kern="0" dirty="0">
                <a:solidFill>
                  <a:srgbClr val="3B4A5A"/>
                </a:solidFill>
                <a:latin typeface="Calibri" pitchFamily="34" charset="0"/>
                <a:ea typeface="Calibri" pitchFamily="34" charset="-122"/>
                <a:cs typeface="Calibri" pitchFamily="34" charset="-120"/>
              </a:rPr>
              <a:t>THE MONTHLY PERFORMANCE REPORT</a:t>
            </a:r>
            <a:endParaRPr lang="en-US" sz="1150" dirty="0"/>
          </a:p>
        </p:txBody>
      </p:sp>
      <p:sp>
        <p:nvSpPr>
          <p:cNvPr id="9" name="Text 7"/>
          <p:cNvSpPr/>
          <p:nvPr/>
        </p:nvSpPr>
        <p:spPr>
          <a:xfrm>
            <a:off x="841248" y="2176272"/>
            <a:ext cx="4833976" cy="1170432"/>
          </a:xfrm>
          <a:prstGeom prst="rect">
            <a:avLst/>
          </a:prstGeom>
          <a:noFill/>
          <a:ln/>
        </p:spPr>
        <p:txBody>
          <a:bodyPr wrap="square" lIns="0" tIns="0" rIns="0" bIns="0" rtlCol="0" anchor="t"/>
          <a:lstStyle/>
          <a:p>
            <a:pPr indent="0" marL="0">
              <a:buNone/>
            </a:pPr>
            <a:r>
              <a:rPr lang="en-US" sz="2700" b="1" dirty="0">
                <a:solidFill>
                  <a:srgbClr val="1C2530"/>
                </a:solidFill>
                <a:latin typeface="Cambria" pitchFamily="34" charset="0"/>
                <a:ea typeface="Cambria" pitchFamily="34" charset="-122"/>
                <a:cs typeface="Cambria" pitchFamily="34" charset="-120"/>
              </a:rPr>
              <a:t>One number, four weeks late</a:t>
            </a:r>
            <a:endParaRPr lang="en-US" sz="2700" dirty="0"/>
          </a:p>
        </p:txBody>
      </p:sp>
      <p:sp>
        <p:nvSpPr>
          <p:cNvPr id="10" name="Text 8"/>
          <p:cNvSpPr/>
          <p:nvPr/>
        </p:nvSpPr>
        <p:spPr>
          <a:xfrm>
            <a:off x="841248" y="3547872"/>
            <a:ext cx="4833976" cy="1856232"/>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It tells you the unit ran at 2,425 kcal/kWh against 2,375 normative. It cannot tell you which shift, which coal, which mill combination or which fouled surface produced the gap — because by the time it is compiled, every one of those conditions has gone.</a:t>
            </a:r>
            <a:endParaRPr lang="en-US" sz="1350" dirty="0"/>
          </a:p>
        </p:txBody>
      </p:sp>
      <p:sp>
        <p:nvSpPr>
          <p:cNvPr id="11" name="Shape 9"/>
          <p:cNvSpPr/>
          <p:nvPr/>
        </p:nvSpPr>
        <p:spPr>
          <a:xfrm>
            <a:off x="6242152" y="1627632"/>
            <a:ext cx="5382616" cy="3886200"/>
          </a:xfrm>
          <a:prstGeom prst="roundRect">
            <a:avLst>
              <a:gd name="adj" fmla="val 1412"/>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10"/>
          <p:cNvSpPr/>
          <p:nvPr/>
        </p:nvSpPr>
        <p:spPr>
          <a:xfrm>
            <a:off x="6516472" y="1847088"/>
            <a:ext cx="4833976" cy="292608"/>
          </a:xfrm>
          <a:prstGeom prst="rect">
            <a:avLst/>
          </a:prstGeom>
          <a:noFill/>
          <a:ln/>
        </p:spPr>
        <p:txBody>
          <a:bodyPr wrap="square" lIns="0" tIns="0" rIns="0" bIns="0" rtlCol="0" anchor="ctr"/>
          <a:lstStyle/>
          <a:p>
            <a:pPr indent="0" marL="0">
              <a:buNone/>
            </a:pPr>
            <a:r>
              <a:rPr lang="en-US" sz="1150" b="1" spc="120" kern="0" dirty="0">
                <a:solidFill>
                  <a:srgbClr val="D96A16"/>
                </a:solidFill>
                <a:latin typeface="Calibri" pitchFamily="34" charset="0"/>
                <a:ea typeface="Calibri" pitchFamily="34" charset="-122"/>
                <a:cs typeface="Calibri" pitchFamily="34" charset="-120"/>
              </a:rPr>
              <a:t>AN EXPECTED-HEAT-RATE MODEL</a:t>
            </a:r>
            <a:endParaRPr lang="en-US" sz="1150" dirty="0"/>
          </a:p>
        </p:txBody>
      </p:sp>
      <p:sp>
        <p:nvSpPr>
          <p:cNvPr id="13" name="Text 11"/>
          <p:cNvSpPr/>
          <p:nvPr/>
        </p:nvSpPr>
        <p:spPr>
          <a:xfrm>
            <a:off x="6516472" y="2176272"/>
            <a:ext cx="4833976" cy="1170432"/>
          </a:xfrm>
          <a:prstGeom prst="rect">
            <a:avLst/>
          </a:prstGeom>
          <a:noFill/>
          <a:ln/>
        </p:spPr>
        <p:txBody>
          <a:bodyPr wrap="square" lIns="0" tIns="0" rIns="0" bIns="0" rtlCol="0" anchor="t"/>
          <a:lstStyle/>
          <a:p>
            <a:pPr indent="0" marL="0">
              <a:buNone/>
            </a:pPr>
            <a:r>
              <a:rPr lang="en-US" sz="2700" b="1" dirty="0">
                <a:solidFill>
                  <a:srgbClr val="1C2530"/>
                </a:solidFill>
                <a:latin typeface="Cambria" pitchFamily="34" charset="0"/>
                <a:ea typeface="Cambria" pitchFamily="34" charset="-122"/>
                <a:cs typeface="Cambria" pitchFamily="34" charset="-120"/>
              </a:rPr>
              <a:t>A deviation, attributed, now</a:t>
            </a:r>
            <a:endParaRPr lang="en-US" sz="2700" dirty="0"/>
          </a:p>
        </p:txBody>
      </p:sp>
      <p:sp>
        <p:nvSpPr>
          <p:cNvPr id="14" name="Text 12"/>
          <p:cNvSpPr/>
          <p:nvPr/>
        </p:nvSpPr>
        <p:spPr>
          <a:xfrm>
            <a:off x="6516472" y="3547872"/>
            <a:ext cx="4833976" cy="1856232"/>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It computes every few minutes the heat rate this unit should be achieving at this load, this coal, this ambient and this cooling water temperature, then splits the gap across back pressure, excess air, unburnt carbon, feedwater temperature and auxiliary power while the shift is still running.</a:t>
            </a:r>
            <a:endParaRPr lang="en-US" sz="1350" dirty="0"/>
          </a:p>
        </p:txBody>
      </p:sp>
      <p:sp>
        <p:nvSpPr>
          <p:cNvPr id="15" name="Shape 13"/>
          <p:cNvSpPr/>
          <p:nvPr/>
        </p:nvSpPr>
        <p:spPr>
          <a:xfrm>
            <a:off x="566928" y="56967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6967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A monthly report tells you that you lost the money. An online loss account tells you where it went, and who is still in a position to stop it.</a:t>
            </a:r>
            <a:endParaRPr lang="en-US" sz="13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Combustion optimisation — what it actually does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And what has to be engineered around it before it goes anywhere near the DCS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6. Performance optimisation</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74</a:t>
            </a:r>
            <a:endParaRPr lang="en-US" sz="950" dirty="0"/>
          </a:p>
        </p:txBody>
      </p:sp>
      <p:sp>
        <p:nvSpPr>
          <p:cNvPr id="7" name="Shape 5"/>
          <p:cNvSpPr/>
          <p:nvPr/>
        </p:nvSpPr>
        <p:spPr>
          <a:xfrm>
            <a:off x="566928" y="1627632"/>
            <a:ext cx="5391760" cy="3429000"/>
          </a:xfrm>
          <a:prstGeom prst="roundRect">
            <a:avLst>
              <a:gd name="adj" fmla="val 1600"/>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5391760" cy="493776"/>
          </a:xfrm>
          <a:prstGeom prst="roundRect">
            <a:avLst>
              <a:gd name="adj" fmla="val 9259"/>
            </a:avLst>
          </a:prstGeom>
          <a:solidFill>
            <a:srgbClr val="2A3644"/>
          </a:solidFill>
          <a:ln/>
        </p:spPr>
      </p:sp>
      <p:sp>
        <p:nvSpPr>
          <p:cNvPr id="9" name="Text 7"/>
          <p:cNvSpPr/>
          <p:nvPr/>
        </p:nvSpPr>
        <p:spPr>
          <a:xfrm>
            <a:off x="786384" y="1627632"/>
            <a:ext cx="4980280" cy="49377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What the system does</a:t>
            </a:r>
            <a:endParaRPr lang="en-US" sz="1400" dirty="0"/>
          </a:p>
        </p:txBody>
      </p:sp>
      <p:sp>
        <p:nvSpPr>
          <p:cNvPr id="10" name="Text 8"/>
          <p:cNvSpPr/>
          <p:nvPr/>
        </p:nvSpPr>
        <p:spPr>
          <a:xfrm>
            <a:off x="804672" y="2267712"/>
            <a:ext cx="4916272" cy="265176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Learns a boiler model from your own operating data, not from a design manual</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Searches combinations of excess O₂, burner tilt and secondary air damper positions</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Brings mill combination and over-fire air into the same search</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Writes small bias values to the DCS — it nudges setpoints, it does not replace the control loops</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Re-optimises as coal, load and equipment condition change through the shift</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States the predicted gain in kcal/kWh before anything is allowed to move</a:t>
            </a:r>
            <a:endParaRPr lang="en-US" sz="1050" dirty="0"/>
          </a:p>
        </p:txBody>
      </p:sp>
      <p:sp>
        <p:nvSpPr>
          <p:cNvPr id="11" name="Shape 9"/>
          <p:cNvSpPr/>
          <p:nvPr/>
        </p:nvSpPr>
        <p:spPr>
          <a:xfrm>
            <a:off x="6233008" y="1627632"/>
            <a:ext cx="5391760" cy="3429000"/>
          </a:xfrm>
          <a:prstGeom prst="roundRect">
            <a:avLst>
              <a:gd name="adj" fmla="val 1600"/>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233008" y="1627632"/>
            <a:ext cx="5391760" cy="493776"/>
          </a:xfrm>
          <a:prstGeom prst="roundRect">
            <a:avLst>
              <a:gd name="adj" fmla="val 9259"/>
            </a:avLst>
          </a:prstGeom>
          <a:solidFill>
            <a:srgbClr val="11707F"/>
          </a:solidFill>
          <a:ln/>
        </p:spPr>
      </p:sp>
      <p:sp>
        <p:nvSpPr>
          <p:cNvPr id="13" name="Text 11"/>
          <p:cNvSpPr/>
          <p:nvPr/>
        </p:nvSpPr>
        <p:spPr>
          <a:xfrm>
            <a:off x="6452464" y="1627632"/>
            <a:ext cx="4980280" cy="49377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What honest engineering requires</a:t>
            </a:r>
            <a:endParaRPr lang="en-US" sz="1400" dirty="0"/>
          </a:p>
        </p:txBody>
      </p:sp>
      <p:sp>
        <p:nvSpPr>
          <p:cNvPr id="14" name="Text 12"/>
          <p:cNvSpPr/>
          <p:nvPr/>
        </p:nvSpPr>
        <p:spPr>
          <a:xfrm>
            <a:off x="6470752" y="2267712"/>
            <a:ext cx="4916272" cy="265176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Hard clamps on every variable it is permitted to touch</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Rate limits, so nothing moves faster than the boiler can follow</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A watchdog that returns the unit to base control if the optimiser stops responding</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Bumpless transfer in and out, tested in both directions</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Operator override on one button, available at all times, no password</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Availability above 90 per cent in service before anyone believes the reported benefit</a:t>
            </a:r>
            <a:endParaRPr lang="en-US" sz="1050" dirty="0"/>
          </a:p>
        </p:txBody>
      </p:sp>
      <p:sp>
        <p:nvSpPr>
          <p:cNvPr id="15" name="Shape 13"/>
          <p:cNvSpPr/>
          <p:nvPr/>
        </p:nvSpPr>
        <p:spPr>
          <a:xfrm>
            <a:off x="566928" y="52395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2395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Vendors sell the left column. Your commissioning engineer has to build the right one — and the right one decides whether the benefit still exists in year two.</a:t>
            </a:r>
            <a:endParaRPr lang="en-US" sz="13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trade-off nobody puts on the brochure</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NOx, unburnt carbon, heat rate and CO move against each other — always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6. Performance optimisation</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75</a:t>
            </a:r>
            <a:endParaRPr lang="en-US" sz="950" dirty="0"/>
          </a:p>
        </p:txBody>
      </p:sp>
      <p:sp>
        <p:nvSpPr>
          <p:cNvPr id="7" name="Shape 5"/>
          <p:cNvSpPr/>
          <p:nvPr/>
        </p:nvSpPr>
        <p:spPr>
          <a:xfrm>
            <a:off x="566928"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92808"/>
            <a:ext cx="137160" cy="137160"/>
          </a:xfrm>
          <a:prstGeom prst="ellipse">
            <a:avLst/>
          </a:prstGeom>
          <a:solidFill>
            <a:srgbClr val="D96A16"/>
          </a:solidFill>
          <a:ln/>
        </p:spPr>
      </p:sp>
      <p:sp>
        <p:nvSpPr>
          <p:cNvPr id="9" name="Text 7"/>
          <p:cNvSpPr/>
          <p:nvPr/>
        </p:nvSpPr>
        <p:spPr>
          <a:xfrm>
            <a:off x="969264" y="1792224"/>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NOx</a:t>
            </a:r>
            <a:endParaRPr lang="en-US" sz="1450" dirty="0"/>
          </a:p>
        </p:txBody>
      </p:sp>
      <p:sp>
        <p:nvSpPr>
          <p:cNvPr id="10" name="Text 8"/>
          <p:cNvSpPr/>
          <p:nvPr/>
        </p:nvSpPr>
        <p:spPr>
          <a:xfrm>
            <a:off x="768096" y="2203704"/>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Lower excess air and staged combustion bring NOx down. The same moves push unburnt carbon up and can cost flame stability at low load.</a:t>
            </a:r>
            <a:endParaRPr lang="en-US" sz="1200" dirty="0"/>
          </a:p>
        </p:txBody>
      </p:sp>
      <p:sp>
        <p:nvSpPr>
          <p:cNvPr id="11" name="Shape 9"/>
          <p:cNvSpPr/>
          <p:nvPr/>
        </p:nvSpPr>
        <p:spPr>
          <a:xfrm>
            <a:off x="6205576"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388456" y="1892808"/>
            <a:ext cx="137160" cy="137160"/>
          </a:xfrm>
          <a:prstGeom prst="ellipse">
            <a:avLst/>
          </a:prstGeom>
          <a:solidFill>
            <a:srgbClr val="D96A16"/>
          </a:solidFill>
          <a:ln/>
        </p:spPr>
      </p:sp>
      <p:sp>
        <p:nvSpPr>
          <p:cNvPr id="13" name="Text 11"/>
          <p:cNvSpPr/>
          <p:nvPr/>
        </p:nvSpPr>
        <p:spPr>
          <a:xfrm>
            <a:off x="6607912" y="1792224"/>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Unburnt carbon</a:t>
            </a:r>
            <a:endParaRPr lang="en-US" sz="1450" dirty="0"/>
          </a:p>
        </p:txBody>
      </p:sp>
      <p:sp>
        <p:nvSpPr>
          <p:cNvPr id="14" name="Text 12"/>
          <p:cNvSpPr/>
          <p:nvPr/>
        </p:nvSpPr>
        <p:spPr>
          <a:xfrm>
            <a:off x="6406744" y="2203704"/>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Each 1 per cent increase costs an indicative 10 to 15 kcal/kWh and downgrades the ash. Raise O₂ to fix it and you pay in NOx and dry gas loss.</a:t>
            </a:r>
            <a:endParaRPr lang="en-US" sz="1200" dirty="0"/>
          </a:p>
        </p:txBody>
      </p:sp>
      <p:sp>
        <p:nvSpPr>
          <p:cNvPr id="15" name="Shape 13"/>
          <p:cNvSpPr/>
          <p:nvPr/>
        </p:nvSpPr>
        <p:spPr>
          <a:xfrm>
            <a:off x="566928"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749808" y="3895344"/>
            <a:ext cx="137160" cy="137160"/>
          </a:xfrm>
          <a:prstGeom prst="ellipse">
            <a:avLst/>
          </a:prstGeom>
          <a:solidFill>
            <a:srgbClr val="D96A16"/>
          </a:solidFill>
          <a:ln/>
        </p:spPr>
      </p:sp>
      <p:sp>
        <p:nvSpPr>
          <p:cNvPr id="17" name="Text 15"/>
          <p:cNvSpPr/>
          <p:nvPr/>
        </p:nvSpPr>
        <p:spPr>
          <a:xfrm>
            <a:off x="969264"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Heat rate</a:t>
            </a:r>
            <a:endParaRPr lang="en-US" sz="1450" dirty="0"/>
          </a:p>
        </p:txBody>
      </p:sp>
      <p:sp>
        <p:nvSpPr>
          <p:cNvPr id="18" name="Text 16"/>
          <p:cNvSpPr/>
          <p:nvPr/>
        </p:nvSpPr>
        <p:spPr>
          <a:xfrm>
            <a:off x="768096"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The best O₂ for heat rate sits above the best O₂ for NOx and below the point where CO breaks away. It is a narrow window and it moves with coal.</a:t>
            </a:r>
            <a:endParaRPr lang="en-US" sz="1200" dirty="0"/>
          </a:p>
        </p:txBody>
      </p:sp>
      <p:sp>
        <p:nvSpPr>
          <p:cNvPr id="19" name="Shape 17"/>
          <p:cNvSpPr/>
          <p:nvPr/>
        </p:nvSpPr>
        <p:spPr>
          <a:xfrm>
            <a:off x="6205576"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6388456" y="3895344"/>
            <a:ext cx="137160" cy="137160"/>
          </a:xfrm>
          <a:prstGeom prst="ellipse">
            <a:avLst/>
          </a:prstGeom>
          <a:solidFill>
            <a:srgbClr val="D96A16"/>
          </a:solidFill>
          <a:ln/>
        </p:spPr>
      </p:sp>
      <p:sp>
        <p:nvSpPr>
          <p:cNvPr id="21" name="Text 19"/>
          <p:cNvSpPr/>
          <p:nvPr/>
        </p:nvSpPr>
        <p:spPr>
          <a:xfrm>
            <a:off x="6607912"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CO and slagging</a:t>
            </a:r>
            <a:endParaRPr lang="en-US" sz="1450" dirty="0"/>
          </a:p>
        </p:txBody>
      </p:sp>
      <p:sp>
        <p:nvSpPr>
          <p:cNvPr id="22" name="Text 20"/>
          <p:cNvSpPr/>
          <p:nvPr/>
        </p:nvSpPr>
        <p:spPr>
          <a:xfrm>
            <a:off x="6406744"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Rising CO is the boiler saying the window has closed. Slagging and high furnace exit gas temperature are the slower, more expensive version of the same message.</a:t>
            </a:r>
            <a:endParaRPr lang="en-US" sz="1200" dirty="0"/>
          </a:p>
        </p:txBody>
      </p:sp>
      <p:sp>
        <p:nvSpPr>
          <p:cNvPr id="23" name="Shape 21"/>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24" name="Text 22"/>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The weights in that objective function are a management decision, not a technical one. Somebody senior has to sign what a milligram of NOx is worth in kcal/kWh.</a:t>
            </a:r>
            <a:endParaRPr lang="en-US" sz="13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Lab — SIM-6 · Combustion multi-objective optimiser</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Twelve minutes at the keyboard, on the trade-off surface you have just been shown</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6. Performance optimisation</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76</a:t>
            </a:r>
            <a:endParaRPr lang="en-US" sz="950" dirty="0"/>
          </a:p>
        </p:txBody>
      </p:sp>
      <p:sp>
        <p:nvSpPr>
          <p:cNvPr id="7" name="Shape 5"/>
          <p:cNvSpPr/>
          <p:nvPr/>
        </p:nvSpPr>
        <p:spPr>
          <a:xfrm>
            <a:off x="566928" y="1627632"/>
            <a:ext cx="11057839" cy="786384"/>
          </a:xfrm>
          <a:prstGeom prst="roundRect">
            <a:avLst>
              <a:gd name="adj" fmla="val 6977"/>
            </a:avLst>
          </a:prstGeom>
          <a:solidFill>
            <a:srgbClr val="1C2530"/>
          </a:solidFill>
          <a:ln/>
        </p:spPr>
      </p:sp>
      <p:sp>
        <p:nvSpPr>
          <p:cNvPr id="8" name="Shape 6"/>
          <p:cNvSpPr/>
          <p:nvPr/>
        </p:nvSpPr>
        <p:spPr>
          <a:xfrm>
            <a:off x="768096" y="1801368"/>
            <a:ext cx="1188720" cy="438912"/>
          </a:xfrm>
          <a:prstGeom prst="roundRect">
            <a:avLst>
              <a:gd name="adj" fmla="val 50000"/>
            </a:avLst>
          </a:prstGeom>
          <a:solidFill>
            <a:srgbClr val="D96A16"/>
          </a:solidFill>
          <a:ln/>
        </p:spPr>
      </p:sp>
      <p:sp>
        <p:nvSpPr>
          <p:cNvPr id="9" name="Text 7"/>
          <p:cNvSpPr/>
          <p:nvPr/>
        </p:nvSpPr>
        <p:spPr>
          <a:xfrm>
            <a:off x="768096" y="1801368"/>
            <a:ext cx="118872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SIM-6</a:t>
            </a:r>
            <a:endParaRPr lang="en-US" sz="1400" dirty="0"/>
          </a:p>
        </p:txBody>
      </p:sp>
      <p:sp>
        <p:nvSpPr>
          <p:cNvPr id="10" name="Text 8"/>
          <p:cNvSpPr/>
          <p:nvPr/>
        </p:nvSpPr>
        <p:spPr>
          <a:xfrm>
            <a:off x="2139696" y="1627632"/>
            <a:ext cx="7217359" cy="786384"/>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Combustion multi-objective optimiser</a:t>
            </a:r>
            <a:endParaRPr lang="en-US" sz="2000" dirty="0"/>
          </a:p>
        </p:txBody>
      </p:sp>
      <p:sp>
        <p:nvSpPr>
          <p:cNvPr id="11" name="Text 9"/>
          <p:cNvSpPr/>
          <p:nvPr/>
        </p:nvSpPr>
        <p:spPr>
          <a:xfrm>
            <a:off x="8881567" y="1627632"/>
            <a:ext cx="2542032" cy="786384"/>
          </a:xfrm>
          <a:prstGeom prst="rect">
            <a:avLst/>
          </a:prstGeom>
          <a:noFill/>
          <a:ln/>
        </p:spPr>
        <p:txBody>
          <a:bodyPr wrap="square" lIns="0" tIns="0" rIns="0" bIns="0" rtlCol="0" anchor="ctr"/>
          <a:lstStyle/>
          <a:p>
            <a:pPr algn="r" indent="0" marL="0">
              <a:buNone/>
            </a:pPr>
            <a:r>
              <a:rPr lang="en-US" sz="1300" b="1" dirty="0">
                <a:solidFill>
                  <a:srgbClr val="D96A16"/>
                </a:solidFill>
                <a:latin typeface="Calibri" pitchFamily="34" charset="0"/>
                <a:ea typeface="Calibri" pitchFamily="34" charset="-122"/>
                <a:cs typeface="Calibri" pitchFamily="34" charset="-120"/>
              </a:rPr>
              <a:t>12 minutes at your laptop</a:t>
            </a:r>
            <a:endParaRPr lang="en-US" sz="1300" dirty="0"/>
          </a:p>
        </p:txBody>
      </p:sp>
      <p:sp>
        <p:nvSpPr>
          <p:cNvPr id="12" name="Shape 10"/>
          <p:cNvSpPr/>
          <p:nvPr/>
        </p:nvSpPr>
        <p:spPr>
          <a:xfrm>
            <a:off x="566928" y="2578608"/>
            <a:ext cx="6038771" cy="2907792"/>
          </a:xfrm>
          <a:prstGeom prst="roundRect">
            <a:avLst>
              <a:gd name="adj" fmla="val 188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Shape 11"/>
          <p:cNvSpPr/>
          <p:nvPr/>
        </p:nvSpPr>
        <p:spPr>
          <a:xfrm>
            <a:off x="566928" y="2578608"/>
            <a:ext cx="6038771" cy="457200"/>
          </a:xfrm>
          <a:prstGeom prst="roundRect">
            <a:avLst>
              <a:gd name="adj" fmla="val 10000"/>
            </a:avLst>
          </a:prstGeom>
          <a:solidFill>
            <a:srgbClr val="2A3644"/>
          </a:solidFill>
          <a:ln/>
        </p:spPr>
      </p:sp>
      <p:sp>
        <p:nvSpPr>
          <p:cNvPr id="14" name="Text 12"/>
          <p:cNvSpPr/>
          <p:nvPr/>
        </p:nvSpPr>
        <p:spPr>
          <a:xfrm>
            <a:off x="786384" y="2578608"/>
            <a:ext cx="5627291"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Do this</a:t>
            </a:r>
            <a:endParaRPr lang="en-US" sz="1400" dirty="0"/>
          </a:p>
        </p:txBody>
      </p:sp>
      <p:sp>
        <p:nvSpPr>
          <p:cNvPr id="15" name="Text 13"/>
          <p:cNvSpPr/>
          <p:nvPr/>
        </p:nvSpPr>
        <p:spPr>
          <a:xfrm>
            <a:off x="841248" y="3163824"/>
            <a:ext cx="5508419" cy="219456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Open SIM-6 and run the optimiser at its default weights. Write down the proposed excess O₂, the burner tilt and the predicted gain in kcal/kWh.</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Drag the weight on NOx to maximum and run again. Watch the recommended target slide along the frontier and the heat-rate gain shrink.</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Bring the NOx weight back down and settle on a setting you would be willing to defend to your environment cell.</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Switch the hard clamps off and re-run. Read what the unconstrained optimiser proposes, and decide whether you would sanction it on a running unit.</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Switch the rate limits off and watch the target jump in one step instead of walking there.</a:t>
            </a:r>
            <a:endParaRPr lang="en-US" sz="1100" dirty="0"/>
          </a:p>
        </p:txBody>
      </p:sp>
      <p:sp>
        <p:nvSpPr>
          <p:cNvPr id="16" name="Shape 14"/>
          <p:cNvSpPr/>
          <p:nvPr/>
        </p:nvSpPr>
        <p:spPr>
          <a:xfrm>
            <a:off x="6880019" y="2578608"/>
            <a:ext cx="4744748" cy="2907792"/>
          </a:xfrm>
          <a:prstGeom prst="roundRect">
            <a:avLst>
              <a:gd name="adj" fmla="val 188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7" name="Shape 15"/>
          <p:cNvSpPr/>
          <p:nvPr/>
        </p:nvSpPr>
        <p:spPr>
          <a:xfrm>
            <a:off x="6880019" y="2578608"/>
            <a:ext cx="4744748" cy="457200"/>
          </a:xfrm>
          <a:prstGeom prst="roundRect">
            <a:avLst>
              <a:gd name="adj" fmla="val 10000"/>
            </a:avLst>
          </a:prstGeom>
          <a:solidFill>
            <a:srgbClr val="11707F"/>
          </a:solidFill>
          <a:ln/>
        </p:spPr>
      </p:sp>
      <p:sp>
        <p:nvSpPr>
          <p:cNvPr id="18" name="Text 16"/>
          <p:cNvSpPr/>
          <p:nvPr/>
        </p:nvSpPr>
        <p:spPr>
          <a:xfrm>
            <a:off x="7099475" y="2578608"/>
            <a:ext cx="4333268"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Watch for</a:t>
            </a:r>
            <a:endParaRPr lang="en-US" sz="1400" dirty="0"/>
          </a:p>
        </p:txBody>
      </p:sp>
      <p:sp>
        <p:nvSpPr>
          <p:cNvPr id="19" name="Text 17"/>
          <p:cNvSpPr/>
          <p:nvPr/>
        </p:nvSpPr>
        <p:spPr>
          <a:xfrm>
            <a:off x="7136051" y="3163824"/>
            <a:ext cx="4232684" cy="2194560"/>
          </a:xfrm>
          <a:prstGeom prst="rect">
            <a:avLst/>
          </a:prstGeom>
          <a:noFill/>
          <a:ln/>
        </p:spPr>
        <p:txBody>
          <a:bodyPr wrap="square" lIns="0" tIns="0" rIns="0" bIns="0" rtlCol="0" anchor="t"/>
          <a:lstStyle/>
          <a:p>
            <a:pPr marL="342900" indent="-342900">
              <a:spcAft>
                <a:spcPts val="500"/>
              </a:spcAft>
              <a:buSzPct val="100000"/>
              <a:buChar char="▪"/>
            </a:pPr>
            <a:r>
              <a:rPr lang="en-US" sz="1000" dirty="0">
                <a:solidFill>
                  <a:srgbClr val="1C2530"/>
                </a:solidFill>
                <a:latin typeface="Calibri" pitchFamily="34" charset="0"/>
                <a:ea typeface="Calibri" pitchFamily="34" charset="-122"/>
                <a:cs typeface="Calibri" pitchFamily="34" charset="-120"/>
              </a:rPr>
              <a:t>There is no single best answer — only a frontier, and a choice about where on it you wish to sit.</a:t>
            </a:r>
            <a:endParaRPr lang="en-US" sz="1000" dirty="0"/>
          </a:p>
          <a:p>
            <a:pPr marL="342900" indent="-342900">
              <a:spcAft>
                <a:spcPts val="500"/>
              </a:spcAft>
              <a:buSzPct val="100000"/>
              <a:buChar char="▪"/>
            </a:pPr>
            <a:r>
              <a:rPr lang="en-US" sz="1000" dirty="0">
                <a:solidFill>
                  <a:srgbClr val="1C2530"/>
                </a:solidFill>
                <a:latin typeface="Calibri" pitchFamily="34" charset="0"/>
                <a:ea typeface="Calibri" pitchFamily="34" charset="-122"/>
                <a:cs typeface="Calibri" pitchFamily="34" charset="-120"/>
              </a:rPr>
              <a:t>Weighting NOx heavily is a perfectly legitimate answer. It costs heat rate, and the cost is on the screen in kcal/kWh.</a:t>
            </a:r>
            <a:endParaRPr lang="en-US" sz="1000" dirty="0"/>
          </a:p>
          <a:p>
            <a:pPr marL="342900" indent="-342900">
              <a:spcAft>
                <a:spcPts val="500"/>
              </a:spcAft>
              <a:buSzPct val="100000"/>
              <a:buChar char="▪"/>
            </a:pPr>
            <a:r>
              <a:rPr lang="en-US" sz="1000" dirty="0">
                <a:solidFill>
                  <a:srgbClr val="1C2530"/>
                </a:solidFill>
                <a:latin typeface="Calibri" pitchFamily="34" charset="0"/>
                <a:ea typeface="Calibri" pitchFamily="34" charset="-122"/>
                <a:cs typeface="Calibri" pitchFamily="34" charset="-120"/>
              </a:rPr>
              <a:t>With clamps off, the optimiser asks for an operating point no engineer in this room would sign for.</a:t>
            </a:r>
            <a:endParaRPr lang="en-US" sz="1000" dirty="0"/>
          </a:p>
          <a:p>
            <a:pPr marL="342900" indent="-342900">
              <a:spcAft>
                <a:spcPts val="500"/>
              </a:spcAft>
              <a:buSzPct val="100000"/>
              <a:buChar char="▪"/>
            </a:pPr>
            <a:r>
              <a:rPr lang="en-US" sz="1000" dirty="0">
                <a:solidFill>
                  <a:srgbClr val="1C2530"/>
                </a:solidFill>
                <a:latin typeface="Calibri" pitchFamily="34" charset="0"/>
                <a:ea typeface="Calibri" pitchFamily="34" charset="-122"/>
                <a:cs typeface="Calibri" pitchFamily="34" charset="-120"/>
              </a:rPr>
              <a:t>With rate limits off, the setpoint steps instead of ramping — which is precisely how a boiler gets upset.</a:t>
            </a:r>
            <a:endParaRPr lang="en-US" sz="1000" dirty="0"/>
          </a:p>
        </p:txBody>
      </p:sp>
      <p:sp>
        <p:nvSpPr>
          <p:cNvPr id="20" name="Shape 18"/>
          <p:cNvSpPr/>
          <p:nvPr/>
        </p:nvSpPr>
        <p:spPr>
          <a:xfrm>
            <a:off x="566928" y="5669280"/>
            <a:ext cx="11057839" cy="548640"/>
          </a:xfrm>
          <a:prstGeom prst="roundRect">
            <a:avLst>
              <a:gd name="adj" fmla="val 8333"/>
            </a:avLst>
          </a:prstGeom>
          <a:solidFill>
            <a:srgbClr val="FCEDE0"/>
          </a:solidFill>
          <a:ln w="12700">
            <a:solidFill>
              <a:srgbClr val="D96A16"/>
            </a:solidFill>
            <a:prstDash val="solid"/>
          </a:ln>
        </p:spPr>
      </p:sp>
      <p:sp>
        <p:nvSpPr>
          <p:cNvPr id="21" name="Text 19"/>
          <p:cNvSpPr/>
          <p:nvPr/>
        </p:nvSpPr>
        <p:spPr>
          <a:xfrm>
            <a:off x="768096" y="5669280"/>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Combustion optimisation is a trade-off surface, not a single best answer. Clamps and rate limits are not paperwork — they are the engineering that makes an optimiser safe enough to leave in service.</a:t>
            </a:r>
            <a:endParaRPr lang="en-US" sz="13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Condenser, vacuum and cooling</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cheapest kcal on the station, and the one most often lost quietly</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6. Performance optimisation</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77</a:t>
            </a:r>
            <a:endParaRPr lang="en-US" sz="950" dirty="0"/>
          </a:p>
        </p:txBody>
      </p:sp>
      <p:sp>
        <p:nvSpPr>
          <p:cNvPr id="7" name="Shape 5"/>
          <p:cNvSpPr/>
          <p:nvPr/>
        </p:nvSpPr>
        <p:spPr>
          <a:xfrm>
            <a:off x="566928" y="1627632"/>
            <a:ext cx="5391760" cy="3429000"/>
          </a:xfrm>
          <a:prstGeom prst="roundRect">
            <a:avLst>
              <a:gd name="adj" fmla="val 1600"/>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5391760" cy="493776"/>
          </a:xfrm>
          <a:prstGeom prst="roundRect">
            <a:avLst>
              <a:gd name="adj" fmla="val 9259"/>
            </a:avLst>
          </a:prstGeom>
          <a:solidFill>
            <a:srgbClr val="2A3644"/>
          </a:solidFill>
          <a:ln/>
        </p:spPr>
      </p:sp>
      <p:sp>
        <p:nvSpPr>
          <p:cNvPr id="9" name="Text 7"/>
          <p:cNvSpPr/>
          <p:nvPr/>
        </p:nvSpPr>
        <p:spPr>
          <a:xfrm>
            <a:off x="786384" y="1627632"/>
            <a:ext cx="4980280" cy="49377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Telling fouling from air ingress</a:t>
            </a:r>
            <a:endParaRPr lang="en-US" sz="1400" dirty="0"/>
          </a:p>
        </p:txBody>
      </p:sp>
      <p:sp>
        <p:nvSpPr>
          <p:cNvPr id="10" name="Text 8"/>
          <p:cNvSpPr/>
          <p:nvPr/>
        </p:nvSpPr>
        <p:spPr>
          <a:xfrm>
            <a:off x="804672" y="2267712"/>
            <a:ext cx="4916272" cy="265176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Tube fouling: terminal temperature difference rises while the cooling water temperature rise falls</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Air ingress: terminal temperature difference rises with the water side holding, and dissolved oxygen follows</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Cleanliness factor computed continuously, not once a year on the day of the performance test</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Vacuum pump or ejector duty trended against estimated condenser air load</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Ball cleaning judged by the cleanliness factor it delivers, not by the ball counter</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Back pressure always read against what is achievable at today's wet bulb</a:t>
            </a:r>
            <a:endParaRPr lang="en-US" sz="1050" dirty="0"/>
          </a:p>
        </p:txBody>
      </p:sp>
      <p:sp>
        <p:nvSpPr>
          <p:cNvPr id="11" name="Shape 9"/>
          <p:cNvSpPr/>
          <p:nvPr/>
        </p:nvSpPr>
        <p:spPr>
          <a:xfrm>
            <a:off x="6233008" y="1627632"/>
            <a:ext cx="5391760" cy="3429000"/>
          </a:xfrm>
          <a:prstGeom prst="roundRect">
            <a:avLst>
              <a:gd name="adj" fmla="val 1600"/>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233008" y="1627632"/>
            <a:ext cx="5391760" cy="493776"/>
          </a:xfrm>
          <a:prstGeom prst="roundRect">
            <a:avLst>
              <a:gd name="adj" fmla="val 9259"/>
            </a:avLst>
          </a:prstGeom>
          <a:solidFill>
            <a:srgbClr val="11707F"/>
          </a:solidFill>
          <a:ln/>
        </p:spPr>
      </p:sp>
      <p:sp>
        <p:nvSpPr>
          <p:cNvPr id="13" name="Text 11"/>
          <p:cNvSpPr/>
          <p:nvPr/>
        </p:nvSpPr>
        <p:spPr>
          <a:xfrm>
            <a:off x="6452464" y="1627632"/>
            <a:ext cx="4980280" cy="49377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What you can actually change this week</a:t>
            </a:r>
            <a:endParaRPr lang="en-US" sz="1400" dirty="0"/>
          </a:p>
        </p:txBody>
      </p:sp>
      <p:sp>
        <p:nvSpPr>
          <p:cNvPr id="14" name="Text 12"/>
          <p:cNvSpPr/>
          <p:nvPr/>
        </p:nvSpPr>
        <p:spPr>
          <a:xfrm>
            <a:off x="6470752" y="2267712"/>
            <a:ext cx="4916272" cy="265176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CW pump combination against cooling water inlet temperature and unit load</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Cooling tower performance measured as approach to wet bulb, not as outlet temperature</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Fill condition, drift and water distribution — the slow losses nobody logs</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Tube cleaning scheduled by cleanliness factor rather than by calendar</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Air ingress hunted before the planned outage, so the leak is known when the unit opens</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Condenser duty checked at part load, where most of the month is actually spent</a:t>
            </a:r>
            <a:endParaRPr lang="en-US" sz="1050" dirty="0"/>
          </a:p>
        </p:txBody>
      </p:sp>
      <p:sp>
        <p:nvSpPr>
          <p:cNvPr id="15" name="Shape 13"/>
          <p:cNvSpPr/>
          <p:nvPr/>
        </p:nvSpPr>
        <p:spPr>
          <a:xfrm>
            <a:off x="566928" y="52395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2395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A 10 mmHg improvement in back pressure is worth an indicative 8 to 12 kcal/kWh on a subcritical unit. Nothing else on the station is that cheap.</a:t>
            </a:r>
            <a:endParaRPr lang="en-US" sz="13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Auxiliary power is a scheduling problem</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81.5 MU above norm in June 2026, worth ₹32.9 crore — all of it consumed inside the fence</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6. Performance optimisation</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78</a:t>
            </a:r>
            <a:endParaRPr lang="en-US" sz="950" dirty="0"/>
          </a:p>
        </p:txBody>
      </p:sp>
      <p:sp>
        <p:nvSpPr>
          <p:cNvPr id="7" name="Shape 5"/>
          <p:cNvSpPr/>
          <p:nvPr/>
        </p:nvSpPr>
        <p:spPr>
          <a:xfrm>
            <a:off x="566928"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10512"/>
            <a:ext cx="137160" cy="137160"/>
          </a:xfrm>
          <a:prstGeom prst="ellipse">
            <a:avLst/>
          </a:prstGeom>
          <a:solidFill>
            <a:srgbClr val="D96A16"/>
          </a:solidFill>
          <a:ln/>
        </p:spPr>
      </p:sp>
      <p:sp>
        <p:nvSpPr>
          <p:cNvPr id="9" name="Text 7"/>
          <p:cNvSpPr/>
          <p:nvPr/>
        </p:nvSpPr>
        <p:spPr>
          <a:xfrm>
            <a:off x="969264" y="1709928"/>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Mill combination</a:t>
            </a:r>
            <a:endParaRPr lang="en-US" sz="1450" dirty="0"/>
          </a:p>
        </p:txBody>
      </p:sp>
      <p:sp>
        <p:nvSpPr>
          <p:cNvPr id="10" name="Text 8"/>
          <p:cNvSpPr/>
          <p:nvPr/>
        </p:nvSpPr>
        <p:spPr>
          <a:xfrm>
            <a:off x="768096" y="2121408"/>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Which mills run, at what loading, on which elevations. Habit picks the combination. A search picks a better one, and re-picks it when the load moves.</a:t>
            </a:r>
            <a:endParaRPr lang="en-US" sz="1200" dirty="0"/>
          </a:p>
        </p:txBody>
      </p:sp>
      <p:sp>
        <p:nvSpPr>
          <p:cNvPr id="11" name="Shape 9"/>
          <p:cNvSpPr/>
          <p:nvPr/>
        </p:nvSpPr>
        <p:spPr>
          <a:xfrm>
            <a:off x="4326026"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4508906" y="1810512"/>
            <a:ext cx="137160" cy="137160"/>
          </a:xfrm>
          <a:prstGeom prst="ellipse">
            <a:avLst/>
          </a:prstGeom>
          <a:solidFill>
            <a:srgbClr val="D96A16"/>
          </a:solidFill>
          <a:ln/>
        </p:spPr>
      </p:sp>
      <p:sp>
        <p:nvSpPr>
          <p:cNvPr id="13" name="Text 11"/>
          <p:cNvSpPr/>
          <p:nvPr/>
        </p:nvSpPr>
        <p:spPr>
          <a:xfrm>
            <a:off x="4728362" y="1709928"/>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Fan control mode</a:t>
            </a:r>
            <a:endParaRPr lang="en-US" sz="1450" dirty="0"/>
          </a:p>
        </p:txBody>
      </p:sp>
      <p:sp>
        <p:nvSpPr>
          <p:cNvPr id="14" name="Text 12"/>
          <p:cNvSpPr/>
          <p:nvPr/>
        </p:nvSpPr>
        <p:spPr>
          <a:xfrm>
            <a:off x="4527194" y="2121408"/>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Inlet guide vanes against variable speed, and how hard the ID fan is throttling against a damper somebody set years ago and nobody has revisited.</a:t>
            </a:r>
            <a:endParaRPr lang="en-US" sz="1200" dirty="0"/>
          </a:p>
        </p:txBody>
      </p:sp>
      <p:sp>
        <p:nvSpPr>
          <p:cNvPr id="15" name="Shape 13"/>
          <p:cNvSpPr/>
          <p:nvPr/>
        </p:nvSpPr>
        <p:spPr>
          <a:xfrm>
            <a:off x="8085125"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8268005" y="1810512"/>
            <a:ext cx="137160" cy="137160"/>
          </a:xfrm>
          <a:prstGeom prst="ellipse">
            <a:avLst/>
          </a:prstGeom>
          <a:solidFill>
            <a:srgbClr val="D96A16"/>
          </a:solidFill>
          <a:ln/>
        </p:spPr>
      </p:sp>
      <p:sp>
        <p:nvSpPr>
          <p:cNvPr id="17" name="Text 15"/>
          <p:cNvSpPr/>
          <p:nvPr/>
        </p:nvSpPr>
        <p:spPr>
          <a:xfrm>
            <a:off x="8487461" y="1709928"/>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CW pump scheduling</a:t>
            </a:r>
            <a:endParaRPr lang="en-US" sz="1450" dirty="0"/>
          </a:p>
        </p:txBody>
      </p:sp>
      <p:sp>
        <p:nvSpPr>
          <p:cNvPr id="18" name="Text 16"/>
          <p:cNvSpPr/>
          <p:nvPr/>
        </p:nvSpPr>
        <p:spPr>
          <a:xfrm>
            <a:off x="8286293" y="2121408"/>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Pump count against cooling water inlet temperature and load. The right number in February is the wrong number in May, and the schedule rarely changes.</a:t>
            </a:r>
            <a:endParaRPr lang="en-US" sz="1200" dirty="0"/>
          </a:p>
        </p:txBody>
      </p:sp>
      <p:sp>
        <p:nvSpPr>
          <p:cNvPr id="19" name="Shape 17"/>
          <p:cNvSpPr/>
          <p:nvPr/>
        </p:nvSpPr>
        <p:spPr>
          <a:xfrm>
            <a:off x="566928"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749808" y="3895344"/>
            <a:ext cx="137160" cy="137160"/>
          </a:xfrm>
          <a:prstGeom prst="ellipse">
            <a:avLst/>
          </a:prstGeom>
          <a:solidFill>
            <a:srgbClr val="D96A16"/>
          </a:solidFill>
          <a:ln/>
        </p:spPr>
      </p:sp>
      <p:sp>
        <p:nvSpPr>
          <p:cNvPr id="21" name="Text 19"/>
          <p:cNvSpPr/>
          <p:nvPr/>
        </p:nvSpPr>
        <p:spPr>
          <a:xfrm>
            <a:off x="969264" y="379476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ESP field energisation</a:t>
            </a:r>
            <a:endParaRPr lang="en-US" sz="1450" dirty="0"/>
          </a:p>
        </p:txBody>
      </p:sp>
      <p:sp>
        <p:nvSpPr>
          <p:cNvPr id="22" name="Text 20"/>
          <p:cNvSpPr/>
          <p:nvPr/>
        </p:nvSpPr>
        <p:spPr>
          <a:xfrm>
            <a:off x="768096" y="4206240"/>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Fields run at reduced power or de-energised when ash loading genuinely permits, inside the emission limit and continuously verified against opacity.</a:t>
            </a:r>
            <a:endParaRPr lang="en-US" sz="1200" dirty="0"/>
          </a:p>
        </p:txBody>
      </p:sp>
      <p:sp>
        <p:nvSpPr>
          <p:cNvPr id="23" name="Shape 21"/>
          <p:cNvSpPr/>
          <p:nvPr/>
        </p:nvSpPr>
        <p:spPr>
          <a:xfrm>
            <a:off x="4326026"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4" name="Shape 22"/>
          <p:cNvSpPr/>
          <p:nvPr/>
        </p:nvSpPr>
        <p:spPr>
          <a:xfrm>
            <a:off x="4508906" y="3895344"/>
            <a:ext cx="137160" cy="137160"/>
          </a:xfrm>
          <a:prstGeom prst="ellipse">
            <a:avLst/>
          </a:prstGeom>
          <a:solidFill>
            <a:srgbClr val="D96A16"/>
          </a:solidFill>
          <a:ln/>
        </p:spPr>
      </p:sp>
      <p:sp>
        <p:nvSpPr>
          <p:cNvPr id="25" name="Text 23"/>
          <p:cNvSpPr/>
          <p:nvPr/>
        </p:nvSpPr>
        <p:spPr>
          <a:xfrm>
            <a:off x="4728362" y="379476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Compressed air</a:t>
            </a:r>
            <a:endParaRPr lang="en-US" sz="1450" dirty="0"/>
          </a:p>
        </p:txBody>
      </p:sp>
      <p:sp>
        <p:nvSpPr>
          <p:cNvPr id="26" name="Text 24"/>
          <p:cNvSpPr/>
          <p:nvPr/>
        </p:nvSpPr>
        <p:spPr>
          <a:xfrm>
            <a:off x="4527194" y="4206240"/>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Leak load, unloaded running hours and receiver pressure. The cheapest auxiliary saving on any station, and by some distance the least glamorous.</a:t>
            </a:r>
            <a:endParaRPr lang="en-US" sz="1200" dirty="0"/>
          </a:p>
        </p:txBody>
      </p:sp>
      <p:sp>
        <p:nvSpPr>
          <p:cNvPr id="27" name="Shape 25"/>
          <p:cNvSpPr/>
          <p:nvPr/>
        </p:nvSpPr>
        <p:spPr>
          <a:xfrm>
            <a:off x="8085125"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Shape 26"/>
          <p:cNvSpPr/>
          <p:nvPr/>
        </p:nvSpPr>
        <p:spPr>
          <a:xfrm>
            <a:off x="8268005" y="3895344"/>
            <a:ext cx="137160" cy="137160"/>
          </a:xfrm>
          <a:prstGeom prst="ellipse">
            <a:avLst/>
          </a:prstGeom>
          <a:solidFill>
            <a:srgbClr val="D96A16"/>
          </a:solidFill>
          <a:ln/>
        </p:spPr>
      </p:sp>
      <p:sp>
        <p:nvSpPr>
          <p:cNvPr id="29" name="Text 27"/>
          <p:cNvSpPr/>
          <p:nvPr/>
        </p:nvSpPr>
        <p:spPr>
          <a:xfrm>
            <a:off x="8487461" y="379476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Ash handling cycles</a:t>
            </a:r>
            <a:endParaRPr lang="en-US" sz="1450" dirty="0"/>
          </a:p>
        </p:txBody>
      </p:sp>
      <p:sp>
        <p:nvSpPr>
          <p:cNvPr id="30" name="Text 28"/>
          <p:cNvSpPr/>
          <p:nvPr/>
        </p:nvSpPr>
        <p:spPr>
          <a:xfrm>
            <a:off x="8286293" y="4206240"/>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Cycle frequency matched to actual ash generation rather than to a fixed timer that was set at commissioning and never questioned since.</a:t>
            </a:r>
            <a:endParaRPr lang="en-US" sz="1200" dirty="0"/>
          </a:p>
        </p:txBody>
      </p:sp>
      <p:sp>
        <p:nvSpPr>
          <p:cNvPr id="31" name="Shape 29"/>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32" name="Text 30"/>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Chandrapur 3-7 at 11.69 % against a norm of 8.67 %. Parli 6-7 at 12.41 % against 9.30 %. Nashik at 12.96 % against 10.75 %. None of that is a plant defect.</a:t>
            </a:r>
            <a:endParaRPr lang="en-US" sz="13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Lab — SIM-3 · Auxiliary power optimiser</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Ten minutes at the keyboard, on your own station's typical operating point</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6. Performance optimisation</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79</a:t>
            </a:r>
            <a:endParaRPr lang="en-US" sz="950" dirty="0"/>
          </a:p>
        </p:txBody>
      </p:sp>
      <p:sp>
        <p:nvSpPr>
          <p:cNvPr id="7" name="Shape 5"/>
          <p:cNvSpPr/>
          <p:nvPr/>
        </p:nvSpPr>
        <p:spPr>
          <a:xfrm>
            <a:off x="566928" y="1627632"/>
            <a:ext cx="11057839" cy="786384"/>
          </a:xfrm>
          <a:prstGeom prst="roundRect">
            <a:avLst>
              <a:gd name="adj" fmla="val 6977"/>
            </a:avLst>
          </a:prstGeom>
          <a:solidFill>
            <a:srgbClr val="1C2530"/>
          </a:solidFill>
          <a:ln/>
        </p:spPr>
      </p:sp>
      <p:sp>
        <p:nvSpPr>
          <p:cNvPr id="8" name="Shape 6"/>
          <p:cNvSpPr/>
          <p:nvPr/>
        </p:nvSpPr>
        <p:spPr>
          <a:xfrm>
            <a:off x="768096" y="1801368"/>
            <a:ext cx="1188720" cy="438912"/>
          </a:xfrm>
          <a:prstGeom prst="roundRect">
            <a:avLst>
              <a:gd name="adj" fmla="val 50000"/>
            </a:avLst>
          </a:prstGeom>
          <a:solidFill>
            <a:srgbClr val="D96A16"/>
          </a:solidFill>
          <a:ln/>
        </p:spPr>
      </p:sp>
      <p:sp>
        <p:nvSpPr>
          <p:cNvPr id="9" name="Text 7"/>
          <p:cNvSpPr/>
          <p:nvPr/>
        </p:nvSpPr>
        <p:spPr>
          <a:xfrm>
            <a:off x="768096" y="1801368"/>
            <a:ext cx="118872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SIM-3</a:t>
            </a:r>
            <a:endParaRPr lang="en-US" sz="1400" dirty="0"/>
          </a:p>
        </p:txBody>
      </p:sp>
      <p:sp>
        <p:nvSpPr>
          <p:cNvPr id="10" name="Text 8"/>
          <p:cNvSpPr/>
          <p:nvPr/>
        </p:nvSpPr>
        <p:spPr>
          <a:xfrm>
            <a:off x="2139696" y="1627632"/>
            <a:ext cx="7217359" cy="786384"/>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Auxiliary power optimiser</a:t>
            </a:r>
            <a:endParaRPr lang="en-US" sz="2000" dirty="0"/>
          </a:p>
        </p:txBody>
      </p:sp>
      <p:sp>
        <p:nvSpPr>
          <p:cNvPr id="11" name="Text 9"/>
          <p:cNvSpPr/>
          <p:nvPr/>
        </p:nvSpPr>
        <p:spPr>
          <a:xfrm>
            <a:off x="8881567" y="1627632"/>
            <a:ext cx="2542032" cy="786384"/>
          </a:xfrm>
          <a:prstGeom prst="rect">
            <a:avLst/>
          </a:prstGeom>
          <a:noFill/>
          <a:ln/>
        </p:spPr>
        <p:txBody>
          <a:bodyPr wrap="square" lIns="0" tIns="0" rIns="0" bIns="0" rtlCol="0" anchor="ctr"/>
          <a:lstStyle/>
          <a:p>
            <a:pPr algn="r" indent="0" marL="0">
              <a:buNone/>
            </a:pPr>
            <a:r>
              <a:rPr lang="en-US" sz="1300" b="1" dirty="0">
                <a:solidFill>
                  <a:srgbClr val="D96A16"/>
                </a:solidFill>
                <a:latin typeface="Calibri" pitchFamily="34" charset="0"/>
                <a:ea typeface="Calibri" pitchFamily="34" charset="-122"/>
                <a:cs typeface="Calibri" pitchFamily="34" charset="-120"/>
              </a:rPr>
              <a:t>10 minutes at your laptop</a:t>
            </a:r>
            <a:endParaRPr lang="en-US" sz="1300" dirty="0"/>
          </a:p>
        </p:txBody>
      </p:sp>
      <p:sp>
        <p:nvSpPr>
          <p:cNvPr id="12" name="Shape 10"/>
          <p:cNvSpPr/>
          <p:nvPr/>
        </p:nvSpPr>
        <p:spPr>
          <a:xfrm>
            <a:off x="566928" y="2578608"/>
            <a:ext cx="6038771" cy="2907792"/>
          </a:xfrm>
          <a:prstGeom prst="roundRect">
            <a:avLst>
              <a:gd name="adj" fmla="val 188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Shape 11"/>
          <p:cNvSpPr/>
          <p:nvPr/>
        </p:nvSpPr>
        <p:spPr>
          <a:xfrm>
            <a:off x="566928" y="2578608"/>
            <a:ext cx="6038771" cy="457200"/>
          </a:xfrm>
          <a:prstGeom prst="roundRect">
            <a:avLst>
              <a:gd name="adj" fmla="val 10000"/>
            </a:avLst>
          </a:prstGeom>
          <a:solidFill>
            <a:srgbClr val="2A3644"/>
          </a:solidFill>
          <a:ln/>
        </p:spPr>
      </p:sp>
      <p:sp>
        <p:nvSpPr>
          <p:cNvPr id="14" name="Text 12"/>
          <p:cNvSpPr/>
          <p:nvPr/>
        </p:nvSpPr>
        <p:spPr>
          <a:xfrm>
            <a:off x="786384" y="2578608"/>
            <a:ext cx="5627291"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Do this</a:t>
            </a:r>
            <a:endParaRPr lang="en-US" sz="1400" dirty="0"/>
          </a:p>
        </p:txBody>
      </p:sp>
      <p:sp>
        <p:nvSpPr>
          <p:cNvPr id="15" name="Text 13"/>
          <p:cNvSpPr/>
          <p:nvPr/>
        </p:nvSpPr>
        <p:spPr>
          <a:xfrm>
            <a:off x="841248" y="3163824"/>
            <a:ext cx="5508419" cy="219456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Open SIM-3. Set the unit load and the cooling water inlet temperature to the values your own station typically runs at this time of year.</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Set the mill, fan, CW pump and ESP configuration you believe your unit is running right now.</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Read the configuration the optimiser proposes against the one you entered, and check that every constraint is still satisfied.</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Press 'Adopt the optimiser's answer' and read the saving, in MU and in rupees a month.</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Raise the cooling water temperature to 38 °C, re-run, and watch the optimum CW pump count change.</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Give yourself two minutes to beat the optimiser by hand.</a:t>
            </a:r>
            <a:endParaRPr lang="en-US" sz="1100" dirty="0"/>
          </a:p>
        </p:txBody>
      </p:sp>
      <p:sp>
        <p:nvSpPr>
          <p:cNvPr id="16" name="Shape 14"/>
          <p:cNvSpPr/>
          <p:nvPr/>
        </p:nvSpPr>
        <p:spPr>
          <a:xfrm>
            <a:off x="6880019" y="2578608"/>
            <a:ext cx="4744748" cy="2907792"/>
          </a:xfrm>
          <a:prstGeom prst="roundRect">
            <a:avLst>
              <a:gd name="adj" fmla="val 188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7" name="Shape 15"/>
          <p:cNvSpPr/>
          <p:nvPr/>
        </p:nvSpPr>
        <p:spPr>
          <a:xfrm>
            <a:off x="6880019" y="2578608"/>
            <a:ext cx="4744748" cy="457200"/>
          </a:xfrm>
          <a:prstGeom prst="roundRect">
            <a:avLst>
              <a:gd name="adj" fmla="val 10000"/>
            </a:avLst>
          </a:prstGeom>
          <a:solidFill>
            <a:srgbClr val="11707F"/>
          </a:solidFill>
          <a:ln/>
        </p:spPr>
      </p:sp>
      <p:sp>
        <p:nvSpPr>
          <p:cNvPr id="18" name="Text 16"/>
          <p:cNvSpPr/>
          <p:nvPr/>
        </p:nvSpPr>
        <p:spPr>
          <a:xfrm>
            <a:off x="7099475" y="2578608"/>
            <a:ext cx="4333268"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Watch for</a:t>
            </a:r>
            <a:endParaRPr lang="en-US" sz="1400" dirty="0"/>
          </a:p>
        </p:txBody>
      </p:sp>
      <p:sp>
        <p:nvSpPr>
          <p:cNvPr id="19" name="Text 17"/>
          <p:cNvSpPr/>
          <p:nvPr/>
        </p:nvSpPr>
        <p:spPr>
          <a:xfrm>
            <a:off x="7136051" y="3163824"/>
            <a:ext cx="4232684" cy="2194560"/>
          </a:xfrm>
          <a:prstGeom prst="rect">
            <a:avLst/>
          </a:prstGeom>
          <a:noFill/>
          <a:ln/>
        </p:spPr>
        <p:txBody>
          <a:bodyPr wrap="square" lIns="0" tIns="0" rIns="0" bIns="0" rtlCol="0" anchor="t"/>
          <a:lstStyle/>
          <a:p>
            <a:pPr marL="342900" indent="-342900">
              <a:spcAft>
                <a:spcPts val="500"/>
              </a:spcAft>
              <a:buSzPct val="100000"/>
              <a:buChar char="▪"/>
            </a:pPr>
            <a:r>
              <a:rPr lang="en-US" sz="1000" dirty="0">
                <a:solidFill>
                  <a:srgbClr val="1C2530"/>
                </a:solidFill>
                <a:latin typeface="Calibri" pitchFamily="34" charset="0"/>
                <a:ea typeface="Calibri" pitchFamily="34" charset="-122"/>
                <a:cs typeface="Calibri" pitchFamily="34" charset="-120"/>
              </a:rPr>
              <a:t>The habitual configuration is rarely the cheapest one, and it is never the cheapest one at every load.</a:t>
            </a:r>
            <a:endParaRPr lang="en-US" sz="1000" dirty="0"/>
          </a:p>
          <a:p>
            <a:pPr marL="342900" indent="-342900">
              <a:spcAft>
                <a:spcPts val="500"/>
              </a:spcAft>
              <a:buSzPct val="100000"/>
              <a:buChar char="▪"/>
            </a:pPr>
            <a:r>
              <a:rPr lang="en-US" sz="1000" dirty="0">
                <a:solidFill>
                  <a:srgbClr val="1C2530"/>
                </a:solidFill>
                <a:latin typeface="Calibri" pitchFamily="34" charset="0"/>
                <a:ea typeface="Calibri" pitchFamily="34" charset="-122"/>
                <a:cs typeface="Calibri" pitchFamily="34" charset="-120"/>
              </a:rPr>
              <a:t>The optimum CW pump count moves with cooling water temperature. A February schedule is simply wrong in May.</a:t>
            </a:r>
            <a:endParaRPr lang="en-US" sz="1000" dirty="0"/>
          </a:p>
          <a:p>
            <a:pPr marL="342900" indent="-342900">
              <a:spcAft>
                <a:spcPts val="500"/>
              </a:spcAft>
              <a:buSzPct val="100000"/>
              <a:buChar char="▪"/>
            </a:pPr>
            <a:r>
              <a:rPr lang="en-US" sz="1000" dirty="0">
                <a:solidFill>
                  <a:srgbClr val="1C2530"/>
                </a:solidFill>
                <a:latin typeface="Calibri" pitchFamily="34" charset="0"/>
                <a:ea typeface="Calibri" pitchFamily="34" charset="-122"/>
                <a:cs typeface="Calibri" pitchFamily="34" charset="-120"/>
              </a:rPr>
              <a:t>The saving appears in MU and in rupees at your station's own variable charge, not as a percentage.</a:t>
            </a:r>
            <a:endParaRPr lang="en-US" sz="1000" dirty="0"/>
          </a:p>
          <a:p>
            <a:pPr marL="342900" indent="-342900">
              <a:spcAft>
                <a:spcPts val="500"/>
              </a:spcAft>
              <a:buSzPct val="100000"/>
              <a:buChar char="▪"/>
            </a:pPr>
            <a:r>
              <a:rPr lang="en-US" sz="1000" dirty="0">
                <a:solidFill>
                  <a:srgbClr val="1C2530"/>
                </a:solidFill>
                <a:latin typeface="Calibri" pitchFamily="34" charset="0"/>
                <a:ea typeface="Calibri" pitchFamily="34" charset="-122"/>
                <a:cs typeface="Calibri" pitchFamily="34" charset="-120"/>
              </a:rPr>
              <a:t>Beating a combinatorial search by hand is possible occasionally and impossible consistently.</a:t>
            </a:r>
            <a:endParaRPr lang="en-US" sz="1000" dirty="0"/>
          </a:p>
        </p:txBody>
      </p:sp>
      <p:sp>
        <p:nvSpPr>
          <p:cNvPr id="20" name="Shape 18"/>
          <p:cNvSpPr/>
          <p:nvPr/>
        </p:nvSpPr>
        <p:spPr>
          <a:xfrm>
            <a:off x="566928" y="5669280"/>
            <a:ext cx="11057839" cy="548640"/>
          </a:xfrm>
          <a:prstGeom prst="roundRect">
            <a:avLst>
              <a:gd name="adj" fmla="val 8333"/>
            </a:avLst>
          </a:prstGeom>
          <a:solidFill>
            <a:srgbClr val="FCEDE0"/>
          </a:solidFill>
          <a:ln w="12700">
            <a:solidFill>
              <a:srgbClr val="D96A16"/>
            </a:solidFill>
            <a:prstDash val="solid"/>
          </a:ln>
        </p:spPr>
      </p:sp>
      <p:sp>
        <p:nvSpPr>
          <p:cNvPr id="21" name="Text 19"/>
          <p:cNvSpPr/>
          <p:nvPr/>
        </p:nvSpPr>
        <p:spPr>
          <a:xfrm>
            <a:off x="768096" y="5669280"/>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Auxiliary power is a combinatorial scheduling problem, and a computer solves it better than habit does. The 81.5 MU the fleet burned above norm in June 2026 is largely made of exactly these choices.</a:t>
            </a:r>
            <a:endParaRPr lang="en-US" sz="13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How a soft sensor is built</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Using the coal GCV estimator as the worked example — the same shape applies to any inferred measurement</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6. Performance optimisation</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80</a:t>
            </a:r>
            <a:endParaRPr lang="en-US" sz="950" dirty="0"/>
          </a:p>
        </p:txBody>
      </p:sp>
      <p:sp>
        <p:nvSpPr>
          <p:cNvPr id="7" name="Text 5"/>
          <p:cNvSpPr/>
          <p:nvPr/>
        </p:nvSpPr>
        <p:spPr>
          <a:xfrm>
            <a:off x="566928" y="1627632"/>
            <a:ext cx="11057839" cy="201168"/>
          </a:xfrm>
          <a:prstGeom prst="rect">
            <a:avLst/>
          </a:prstGeom>
          <a:noFill/>
          <a:ln/>
        </p:spPr>
        <p:txBody>
          <a:bodyPr wrap="square" lIns="0" tIns="0" rIns="0" bIns="0" rtlCol="0" anchor="ctr"/>
          <a:lstStyle/>
          <a:p>
            <a:pPr indent="0" marL="0">
              <a:buNone/>
            </a:pPr>
            <a:r>
              <a:rPr lang="en-US" sz="1000" b="1" dirty="0">
                <a:solidFill>
                  <a:srgbClr val="5C6B7A"/>
                </a:solidFill>
                <a:latin typeface="Calibri" pitchFamily="34" charset="0"/>
                <a:ea typeface="Calibri" pitchFamily="34" charset="-122"/>
                <a:cs typeface="Calibri" pitchFamily="34" charset="-120"/>
              </a:rPr>
              <a:t>BUILD</a:t>
            </a:r>
            <a:endParaRPr lang="en-US" sz="1000" dirty="0"/>
          </a:p>
        </p:txBody>
      </p:sp>
      <p:sp>
        <p:nvSpPr>
          <p:cNvPr id="8" name="Shape 6"/>
          <p:cNvSpPr/>
          <p:nvPr/>
        </p:nvSpPr>
        <p:spPr>
          <a:xfrm>
            <a:off x="566928" y="1828800"/>
            <a:ext cx="2558720" cy="1271016"/>
          </a:xfrm>
          <a:prstGeom prst="roundRect">
            <a:avLst>
              <a:gd name="adj" fmla="val 4317"/>
            </a:avLst>
          </a:prstGeom>
          <a:solidFill>
            <a:srgbClr val="E1EFF1"/>
          </a:solidFill>
          <a:ln w="13970">
            <a:solidFill>
              <a:srgbClr val="11707F"/>
            </a:solidFill>
            <a:prstDash val="solid"/>
          </a:ln>
        </p:spPr>
      </p:sp>
      <p:sp>
        <p:nvSpPr>
          <p:cNvPr id="9" name="Text 7"/>
          <p:cNvSpPr/>
          <p:nvPr/>
        </p:nvSpPr>
        <p:spPr>
          <a:xfrm>
            <a:off x="658368" y="1883664"/>
            <a:ext cx="2375840" cy="559247"/>
          </a:xfrm>
          <a:prstGeom prst="rect">
            <a:avLst/>
          </a:prstGeom>
          <a:noFill/>
          <a:ln/>
        </p:spPr>
        <p:txBody>
          <a:bodyPr wrap="square" lIns="0" tIns="0" rIns="0" bIns="0" rtlCol="0" anchor="ctr"/>
          <a:lstStyle/>
          <a:p>
            <a:pPr algn="ctr" indent="0" marL="0">
              <a:buNone/>
            </a:pPr>
            <a:r>
              <a:rPr lang="en-US" sz="1150" b="1" dirty="0">
                <a:solidFill>
                  <a:srgbClr val="14555F"/>
                </a:solidFill>
                <a:latin typeface="Calibri" pitchFamily="34" charset="0"/>
                <a:ea typeface="Calibri" pitchFamily="34" charset="-122"/>
                <a:cs typeface="Calibri" pitchFamily="34" charset="-120"/>
              </a:rPr>
              <a:t>Laboratory results</a:t>
            </a:r>
            <a:endParaRPr lang="en-US" sz="1150" dirty="0"/>
          </a:p>
        </p:txBody>
      </p:sp>
      <p:sp>
        <p:nvSpPr>
          <p:cNvPr id="10" name="Text 8"/>
          <p:cNvSpPr/>
          <p:nvPr/>
        </p:nvSpPr>
        <p:spPr>
          <a:xfrm>
            <a:off x="649224" y="2413467"/>
            <a:ext cx="2394128"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the labels — a year of daily samples</a:t>
            </a:r>
            <a:endParaRPr lang="en-US" sz="940" dirty="0"/>
          </a:p>
        </p:txBody>
      </p:sp>
      <p:sp>
        <p:nvSpPr>
          <p:cNvPr id="11" name="Shape 9"/>
          <p:cNvSpPr/>
          <p:nvPr/>
        </p:nvSpPr>
        <p:spPr>
          <a:xfrm rot="5400000">
            <a:off x="3175940" y="2363724"/>
            <a:ext cx="155448" cy="201168"/>
          </a:xfrm>
          <a:prstGeom prst="triangle">
            <a:avLst/>
          </a:prstGeom>
          <a:solidFill>
            <a:srgbClr val="9AA9B6"/>
          </a:solidFill>
          <a:ln/>
        </p:spPr>
      </p:sp>
      <p:sp>
        <p:nvSpPr>
          <p:cNvPr id="12" name="Shape 10"/>
          <p:cNvSpPr/>
          <p:nvPr/>
        </p:nvSpPr>
        <p:spPr>
          <a:xfrm>
            <a:off x="3399968" y="1828800"/>
            <a:ext cx="2558720" cy="1271016"/>
          </a:xfrm>
          <a:prstGeom prst="roundRect">
            <a:avLst>
              <a:gd name="adj" fmla="val 4317"/>
            </a:avLst>
          </a:prstGeom>
          <a:solidFill>
            <a:srgbClr val="E1EFF1"/>
          </a:solidFill>
          <a:ln w="13970">
            <a:solidFill>
              <a:srgbClr val="11707F"/>
            </a:solidFill>
            <a:prstDash val="solid"/>
          </a:ln>
        </p:spPr>
      </p:sp>
      <p:sp>
        <p:nvSpPr>
          <p:cNvPr id="13" name="Text 11"/>
          <p:cNvSpPr/>
          <p:nvPr/>
        </p:nvSpPr>
        <p:spPr>
          <a:xfrm>
            <a:off x="3491408" y="1883664"/>
            <a:ext cx="2375840" cy="559247"/>
          </a:xfrm>
          <a:prstGeom prst="rect">
            <a:avLst/>
          </a:prstGeom>
          <a:noFill/>
          <a:ln/>
        </p:spPr>
        <p:txBody>
          <a:bodyPr wrap="square" lIns="0" tIns="0" rIns="0" bIns="0" rtlCol="0" anchor="ctr"/>
          <a:lstStyle/>
          <a:p>
            <a:pPr algn="ctr" indent="0" marL="0">
              <a:buNone/>
            </a:pPr>
            <a:r>
              <a:rPr lang="en-US" sz="1150" b="1" dirty="0">
                <a:solidFill>
                  <a:srgbClr val="14555F"/>
                </a:solidFill>
                <a:latin typeface="Calibri" pitchFamily="34" charset="0"/>
                <a:ea typeface="Calibri" pitchFamily="34" charset="-122"/>
                <a:cs typeface="Calibri" pitchFamily="34" charset="-120"/>
              </a:rPr>
              <a:t>Plant signals</a:t>
            </a:r>
            <a:endParaRPr lang="en-US" sz="1150" dirty="0"/>
          </a:p>
        </p:txBody>
      </p:sp>
      <p:sp>
        <p:nvSpPr>
          <p:cNvPr id="14" name="Text 12"/>
          <p:cNvSpPr/>
          <p:nvPr/>
        </p:nvSpPr>
        <p:spPr>
          <a:xfrm>
            <a:off x="3482264" y="2413467"/>
            <a:ext cx="2394128"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mill DP, current, PA flow, feeder, O₂</a:t>
            </a:r>
            <a:endParaRPr lang="en-US" sz="940" dirty="0"/>
          </a:p>
        </p:txBody>
      </p:sp>
      <p:sp>
        <p:nvSpPr>
          <p:cNvPr id="15" name="Shape 13"/>
          <p:cNvSpPr/>
          <p:nvPr/>
        </p:nvSpPr>
        <p:spPr>
          <a:xfrm rot="5400000">
            <a:off x="6008980" y="2363724"/>
            <a:ext cx="155448" cy="201168"/>
          </a:xfrm>
          <a:prstGeom prst="triangle">
            <a:avLst/>
          </a:prstGeom>
          <a:solidFill>
            <a:srgbClr val="9AA9B6"/>
          </a:solidFill>
          <a:ln/>
        </p:spPr>
      </p:sp>
      <p:sp>
        <p:nvSpPr>
          <p:cNvPr id="16" name="Shape 14"/>
          <p:cNvSpPr/>
          <p:nvPr/>
        </p:nvSpPr>
        <p:spPr>
          <a:xfrm>
            <a:off x="6233008" y="1828800"/>
            <a:ext cx="2558720" cy="1271016"/>
          </a:xfrm>
          <a:prstGeom prst="roundRect">
            <a:avLst>
              <a:gd name="adj" fmla="val 4317"/>
            </a:avLst>
          </a:prstGeom>
          <a:solidFill>
            <a:srgbClr val="E1EFF1"/>
          </a:solidFill>
          <a:ln w="13970">
            <a:solidFill>
              <a:srgbClr val="11707F"/>
            </a:solidFill>
            <a:prstDash val="solid"/>
          </a:ln>
        </p:spPr>
      </p:sp>
      <p:sp>
        <p:nvSpPr>
          <p:cNvPr id="17" name="Text 15"/>
          <p:cNvSpPr/>
          <p:nvPr/>
        </p:nvSpPr>
        <p:spPr>
          <a:xfrm>
            <a:off x="6324448" y="1883664"/>
            <a:ext cx="2375840" cy="559247"/>
          </a:xfrm>
          <a:prstGeom prst="rect">
            <a:avLst/>
          </a:prstGeom>
          <a:noFill/>
          <a:ln/>
        </p:spPr>
        <p:txBody>
          <a:bodyPr wrap="square" lIns="0" tIns="0" rIns="0" bIns="0" rtlCol="0" anchor="ctr"/>
          <a:lstStyle/>
          <a:p>
            <a:pPr algn="ctr" indent="0" marL="0">
              <a:buNone/>
            </a:pPr>
            <a:r>
              <a:rPr lang="en-US" sz="1150" b="1" dirty="0">
                <a:solidFill>
                  <a:srgbClr val="14555F"/>
                </a:solidFill>
                <a:latin typeface="Calibri" pitchFamily="34" charset="0"/>
                <a:ea typeface="Calibri" pitchFamily="34" charset="-122"/>
                <a:cs typeface="Calibri" pitchFamily="34" charset="-120"/>
              </a:rPr>
              <a:t>Time-align</a:t>
            </a:r>
            <a:endParaRPr lang="en-US" sz="1150" dirty="0"/>
          </a:p>
        </p:txBody>
      </p:sp>
      <p:sp>
        <p:nvSpPr>
          <p:cNvPr id="18" name="Text 16"/>
          <p:cNvSpPr/>
          <p:nvPr/>
        </p:nvSpPr>
        <p:spPr>
          <a:xfrm>
            <a:off x="6315304" y="2413467"/>
            <a:ext cx="2394128"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match each lab result to the coal actually fired</a:t>
            </a:r>
            <a:endParaRPr lang="en-US" sz="940" dirty="0"/>
          </a:p>
        </p:txBody>
      </p:sp>
      <p:sp>
        <p:nvSpPr>
          <p:cNvPr id="19" name="Shape 17"/>
          <p:cNvSpPr/>
          <p:nvPr/>
        </p:nvSpPr>
        <p:spPr>
          <a:xfrm rot="5400000">
            <a:off x="8842019" y="2363724"/>
            <a:ext cx="155448" cy="201168"/>
          </a:xfrm>
          <a:prstGeom prst="triangle">
            <a:avLst/>
          </a:prstGeom>
          <a:solidFill>
            <a:srgbClr val="9AA9B6"/>
          </a:solidFill>
          <a:ln/>
        </p:spPr>
      </p:sp>
      <p:sp>
        <p:nvSpPr>
          <p:cNvPr id="20" name="Shape 18"/>
          <p:cNvSpPr/>
          <p:nvPr/>
        </p:nvSpPr>
        <p:spPr>
          <a:xfrm>
            <a:off x="9066047" y="1828800"/>
            <a:ext cx="2558720" cy="1271016"/>
          </a:xfrm>
          <a:prstGeom prst="roundRect">
            <a:avLst>
              <a:gd name="adj" fmla="val 4317"/>
            </a:avLst>
          </a:prstGeom>
          <a:solidFill>
            <a:srgbClr val="FCEDE0"/>
          </a:solidFill>
          <a:ln w="13970">
            <a:solidFill>
              <a:srgbClr val="D96A16"/>
            </a:solidFill>
            <a:prstDash val="solid"/>
          </a:ln>
        </p:spPr>
      </p:sp>
      <p:sp>
        <p:nvSpPr>
          <p:cNvPr id="21" name="Text 19"/>
          <p:cNvSpPr/>
          <p:nvPr/>
        </p:nvSpPr>
        <p:spPr>
          <a:xfrm>
            <a:off x="9157487" y="1883664"/>
            <a:ext cx="2375840" cy="559247"/>
          </a:xfrm>
          <a:prstGeom prst="rect">
            <a:avLst/>
          </a:prstGeom>
          <a:noFill/>
          <a:ln/>
        </p:spPr>
        <p:txBody>
          <a:bodyPr wrap="square" lIns="0" tIns="0" rIns="0" bIns="0" rtlCol="0" anchor="ctr"/>
          <a:lstStyle/>
          <a:p>
            <a:pPr algn="ctr" indent="0" marL="0">
              <a:buNone/>
            </a:pPr>
            <a:r>
              <a:rPr lang="en-US" sz="1150" b="1" dirty="0">
                <a:solidFill>
                  <a:srgbClr val="8A4310"/>
                </a:solidFill>
                <a:latin typeface="Calibri" pitchFamily="34" charset="0"/>
                <a:ea typeface="Calibri" pitchFamily="34" charset="-122"/>
                <a:cs typeface="Calibri" pitchFamily="34" charset="-120"/>
              </a:rPr>
              <a:t>Fit a regression</a:t>
            </a:r>
            <a:endParaRPr lang="en-US" sz="1150" dirty="0"/>
          </a:p>
        </p:txBody>
      </p:sp>
      <p:sp>
        <p:nvSpPr>
          <p:cNvPr id="22" name="Text 20"/>
          <p:cNvSpPr/>
          <p:nvPr/>
        </p:nvSpPr>
        <p:spPr>
          <a:xfrm>
            <a:off x="9148343" y="2413467"/>
            <a:ext cx="2394128"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ridge, penalised to resist noise</a:t>
            </a:r>
            <a:endParaRPr lang="en-US" sz="940" dirty="0"/>
          </a:p>
        </p:txBody>
      </p:sp>
      <p:sp>
        <p:nvSpPr>
          <p:cNvPr id="23" name="Shape 21"/>
          <p:cNvSpPr/>
          <p:nvPr/>
        </p:nvSpPr>
        <p:spPr>
          <a:xfrm>
            <a:off x="10345407" y="3099816"/>
            <a:ext cx="0" cy="142646"/>
          </a:xfrm>
          <a:prstGeom prst="line">
            <a:avLst/>
          </a:prstGeom>
          <a:noFill/>
          <a:ln w="15240">
            <a:solidFill>
              <a:srgbClr val="9AA9B6"/>
            </a:solidFill>
            <a:prstDash val="solid"/>
          </a:ln>
        </p:spPr>
      </p:sp>
      <p:sp>
        <p:nvSpPr>
          <p:cNvPr id="24" name="Shape 22"/>
          <p:cNvSpPr/>
          <p:nvPr/>
        </p:nvSpPr>
        <p:spPr>
          <a:xfrm>
            <a:off x="1846288" y="3242462"/>
            <a:ext cx="8499119" cy="0"/>
          </a:xfrm>
          <a:prstGeom prst="line">
            <a:avLst/>
          </a:prstGeom>
          <a:noFill/>
          <a:ln w="15240">
            <a:solidFill>
              <a:srgbClr val="9AA9B6"/>
            </a:solidFill>
            <a:prstDash val="solid"/>
          </a:ln>
        </p:spPr>
      </p:sp>
      <p:sp>
        <p:nvSpPr>
          <p:cNvPr id="25" name="Shape 23"/>
          <p:cNvSpPr/>
          <p:nvPr/>
        </p:nvSpPr>
        <p:spPr>
          <a:xfrm>
            <a:off x="1846288" y="3242462"/>
            <a:ext cx="0" cy="76810"/>
          </a:xfrm>
          <a:prstGeom prst="line">
            <a:avLst/>
          </a:prstGeom>
          <a:noFill/>
          <a:ln w="15240">
            <a:solidFill>
              <a:srgbClr val="9AA9B6"/>
            </a:solidFill>
            <a:prstDash val="solid"/>
          </a:ln>
        </p:spPr>
      </p:sp>
      <p:sp>
        <p:nvSpPr>
          <p:cNvPr id="26" name="Shape 24"/>
          <p:cNvSpPr/>
          <p:nvPr/>
        </p:nvSpPr>
        <p:spPr>
          <a:xfrm rot="10800000">
            <a:off x="1754848" y="3313786"/>
            <a:ext cx="182880" cy="118872"/>
          </a:xfrm>
          <a:prstGeom prst="triangle">
            <a:avLst/>
          </a:prstGeom>
          <a:solidFill>
            <a:srgbClr val="9AA9B6"/>
          </a:solidFill>
          <a:ln/>
        </p:spPr>
      </p:sp>
      <p:sp>
        <p:nvSpPr>
          <p:cNvPr id="27" name="Text 25"/>
          <p:cNvSpPr/>
          <p:nvPr/>
        </p:nvSpPr>
        <p:spPr>
          <a:xfrm>
            <a:off x="566928" y="3374136"/>
            <a:ext cx="11057839" cy="201168"/>
          </a:xfrm>
          <a:prstGeom prst="rect">
            <a:avLst/>
          </a:prstGeom>
          <a:noFill/>
          <a:ln/>
        </p:spPr>
        <p:txBody>
          <a:bodyPr wrap="square" lIns="0" tIns="0" rIns="0" bIns="0" rtlCol="0" anchor="ctr"/>
          <a:lstStyle/>
          <a:p>
            <a:pPr indent="0" marL="0">
              <a:buNone/>
            </a:pPr>
            <a:r>
              <a:rPr lang="en-US" sz="1000" b="1" dirty="0">
                <a:solidFill>
                  <a:srgbClr val="5C6B7A"/>
                </a:solidFill>
                <a:latin typeface="Calibri" pitchFamily="34" charset="0"/>
                <a:ea typeface="Calibri" pitchFamily="34" charset="-122"/>
                <a:cs typeface="Calibri" pitchFamily="34" charset="-120"/>
              </a:rPr>
              <a:t>OPERATE</a:t>
            </a:r>
            <a:endParaRPr lang="en-US" sz="1000" dirty="0"/>
          </a:p>
        </p:txBody>
      </p:sp>
      <p:sp>
        <p:nvSpPr>
          <p:cNvPr id="28" name="Shape 26"/>
          <p:cNvSpPr/>
          <p:nvPr/>
        </p:nvSpPr>
        <p:spPr>
          <a:xfrm>
            <a:off x="566928" y="3575304"/>
            <a:ext cx="2558720" cy="1271016"/>
          </a:xfrm>
          <a:prstGeom prst="roundRect">
            <a:avLst>
              <a:gd name="adj" fmla="val 4317"/>
            </a:avLst>
          </a:prstGeom>
          <a:solidFill>
            <a:srgbClr val="FCEDE0"/>
          </a:solidFill>
          <a:ln w="13970">
            <a:solidFill>
              <a:srgbClr val="D96A16"/>
            </a:solidFill>
            <a:prstDash val="solid"/>
          </a:ln>
        </p:spPr>
      </p:sp>
      <p:sp>
        <p:nvSpPr>
          <p:cNvPr id="29" name="Text 27"/>
          <p:cNvSpPr/>
          <p:nvPr/>
        </p:nvSpPr>
        <p:spPr>
          <a:xfrm>
            <a:off x="658368" y="3630168"/>
            <a:ext cx="2375840" cy="559247"/>
          </a:xfrm>
          <a:prstGeom prst="rect">
            <a:avLst/>
          </a:prstGeom>
          <a:noFill/>
          <a:ln/>
        </p:spPr>
        <p:txBody>
          <a:bodyPr wrap="square" lIns="0" tIns="0" rIns="0" bIns="0" rtlCol="0" anchor="ctr"/>
          <a:lstStyle/>
          <a:p>
            <a:pPr algn="ctr" indent="0" marL="0">
              <a:buNone/>
            </a:pPr>
            <a:r>
              <a:rPr lang="en-US" sz="1150" b="1" dirty="0">
                <a:solidFill>
                  <a:srgbClr val="8A4310"/>
                </a:solidFill>
                <a:latin typeface="Calibri" pitchFamily="34" charset="0"/>
                <a:ea typeface="Calibri" pitchFamily="34" charset="-122"/>
                <a:cs typeface="Calibri" pitchFamily="34" charset="-120"/>
              </a:rPr>
              <a:t>Hold-out test</a:t>
            </a:r>
            <a:endParaRPr lang="en-US" sz="1150" dirty="0"/>
          </a:p>
        </p:txBody>
      </p:sp>
      <p:sp>
        <p:nvSpPr>
          <p:cNvPr id="30" name="Text 28"/>
          <p:cNvSpPr/>
          <p:nvPr/>
        </p:nvSpPr>
        <p:spPr>
          <a:xfrm>
            <a:off x="649224" y="4159971"/>
            <a:ext cx="2394128"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on samples never used in training</a:t>
            </a:r>
            <a:endParaRPr lang="en-US" sz="940" dirty="0"/>
          </a:p>
        </p:txBody>
      </p:sp>
      <p:sp>
        <p:nvSpPr>
          <p:cNvPr id="31" name="Shape 29"/>
          <p:cNvSpPr/>
          <p:nvPr/>
        </p:nvSpPr>
        <p:spPr>
          <a:xfrm rot="5400000">
            <a:off x="3175940" y="4110228"/>
            <a:ext cx="155448" cy="201168"/>
          </a:xfrm>
          <a:prstGeom prst="triangle">
            <a:avLst/>
          </a:prstGeom>
          <a:solidFill>
            <a:srgbClr val="9AA9B6"/>
          </a:solidFill>
          <a:ln/>
        </p:spPr>
      </p:sp>
      <p:sp>
        <p:nvSpPr>
          <p:cNvPr id="32" name="Shape 30"/>
          <p:cNvSpPr/>
          <p:nvPr/>
        </p:nvSpPr>
        <p:spPr>
          <a:xfrm>
            <a:off x="3399968" y="3575304"/>
            <a:ext cx="2558720" cy="1271016"/>
          </a:xfrm>
          <a:prstGeom prst="roundRect">
            <a:avLst>
              <a:gd name="adj" fmla="val 4317"/>
            </a:avLst>
          </a:prstGeom>
          <a:solidFill>
            <a:srgbClr val="F1F4F7"/>
          </a:solidFill>
          <a:ln w="13970">
            <a:solidFill>
              <a:srgbClr val="3B4A5A"/>
            </a:solidFill>
            <a:prstDash val="solid"/>
          </a:ln>
        </p:spPr>
      </p:sp>
      <p:sp>
        <p:nvSpPr>
          <p:cNvPr id="33" name="Text 31"/>
          <p:cNvSpPr/>
          <p:nvPr/>
        </p:nvSpPr>
        <p:spPr>
          <a:xfrm>
            <a:off x="3491408" y="3630168"/>
            <a:ext cx="2375840" cy="559247"/>
          </a:xfrm>
          <a:prstGeom prst="rect">
            <a:avLst/>
          </a:prstGeom>
          <a:noFill/>
          <a:ln/>
        </p:spPr>
        <p:txBody>
          <a:bodyPr wrap="square" lIns="0" tIns="0" rIns="0" bIns="0" rtlCol="0" anchor="ctr"/>
          <a:lstStyle/>
          <a:p>
            <a:pPr algn="ctr" indent="0" marL="0">
              <a:buNone/>
            </a:pPr>
            <a:r>
              <a:rPr lang="en-US" sz="1150" b="1" dirty="0">
                <a:solidFill>
                  <a:srgbClr val="1C2530"/>
                </a:solidFill>
                <a:latin typeface="Calibri" pitchFamily="34" charset="0"/>
                <a:ea typeface="Calibri" pitchFamily="34" charset="-122"/>
                <a:cs typeface="Calibri" pitchFamily="34" charset="-120"/>
              </a:rPr>
              <a:t>Report error honestly</a:t>
            </a:r>
            <a:endParaRPr lang="en-US" sz="1150" dirty="0"/>
          </a:p>
        </p:txBody>
      </p:sp>
      <p:sp>
        <p:nvSpPr>
          <p:cNvPr id="34" name="Text 32"/>
          <p:cNvSpPr/>
          <p:nvPr/>
        </p:nvSpPr>
        <p:spPr>
          <a:xfrm>
            <a:off x="3482264" y="4159971"/>
            <a:ext cx="2394128"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RMSE against laboratory scatter</a:t>
            </a:r>
            <a:endParaRPr lang="en-US" sz="940" dirty="0"/>
          </a:p>
        </p:txBody>
      </p:sp>
      <p:sp>
        <p:nvSpPr>
          <p:cNvPr id="35" name="Shape 33"/>
          <p:cNvSpPr/>
          <p:nvPr/>
        </p:nvSpPr>
        <p:spPr>
          <a:xfrm rot="5400000">
            <a:off x="6008980" y="4110228"/>
            <a:ext cx="155448" cy="201168"/>
          </a:xfrm>
          <a:prstGeom prst="triangle">
            <a:avLst/>
          </a:prstGeom>
          <a:solidFill>
            <a:srgbClr val="9AA9B6"/>
          </a:solidFill>
          <a:ln/>
        </p:spPr>
      </p:sp>
      <p:sp>
        <p:nvSpPr>
          <p:cNvPr id="36" name="Shape 34"/>
          <p:cNvSpPr/>
          <p:nvPr/>
        </p:nvSpPr>
        <p:spPr>
          <a:xfrm>
            <a:off x="6233008" y="3575304"/>
            <a:ext cx="2558720" cy="1271016"/>
          </a:xfrm>
          <a:prstGeom prst="roundRect">
            <a:avLst>
              <a:gd name="adj" fmla="val 4317"/>
            </a:avLst>
          </a:prstGeom>
          <a:solidFill>
            <a:srgbClr val="F1F4F7"/>
          </a:solidFill>
          <a:ln w="13970">
            <a:solidFill>
              <a:srgbClr val="3B4A5A"/>
            </a:solidFill>
            <a:prstDash val="solid"/>
          </a:ln>
        </p:spPr>
      </p:sp>
      <p:sp>
        <p:nvSpPr>
          <p:cNvPr id="37" name="Text 35"/>
          <p:cNvSpPr/>
          <p:nvPr/>
        </p:nvSpPr>
        <p:spPr>
          <a:xfrm>
            <a:off x="6324448" y="3630168"/>
            <a:ext cx="2375840" cy="559247"/>
          </a:xfrm>
          <a:prstGeom prst="rect">
            <a:avLst/>
          </a:prstGeom>
          <a:noFill/>
          <a:ln/>
        </p:spPr>
        <p:txBody>
          <a:bodyPr wrap="square" lIns="0" tIns="0" rIns="0" bIns="0" rtlCol="0" anchor="ctr"/>
          <a:lstStyle/>
          <a:p>
            <a:pPr algn="ctr" indent="0" marL="0">
              <a:buNone/>
            </a:pPr>
            <a:r>
              <a:rPr lang="en-US" sz="1150" b="1" dirty="0">
                <a:solidFill>
                  <a:srgbClr val="1C2530"/>
                </a:solidFill>
                <a:latin typeface="Calibri" pitchFamily="34" charset="0"/>
                <a:ea typeface="Calibri" pitchFamily="34" charset="-122"/>
                <a:cs typeface="Calibri" pitchFamily="34" charset="-120"/>
              </a:rPr>
              <a:t>Deploy with limits</a:t>
            </a:r>
            <a:endParaRPr lang="en-US" sz="1150" dirty="0"/>
          </a:p>
        </p:txBody>
      </p:sp>
      <p:sp>
        <p:nvSpPr>
          <p:cNvPr id="38" name="Text 36"/>
          <p:cNvSpPr/>
          <p:nvPr/>
        </p:nvSpPr>
        <p:spPr>
          <a:xfrm>
            <a:off x="6315304" y="4159971"/>
            <a:ext cx="2394128"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flag when inputs fall outside training range</a:t>
            </a:r>
            <a:endParaRPr lang="en-US" sz="940" dirty="0"/>
          </a:p>
        </p:txBody>
      </p:sp>
      <p:sp>
        <p:nvSpPr>
          <p:cNvPr id="39" name="Shape 37"/>
          <p:cNvSpPr/>
          <p:nvPr/>
        </p:nvSpPr>
        <p:spPr>
          <a:xfrm rot="5400000">
            <a:off x="8842019" y="4110228"/>
            <a:ext cx="155448" cy="201168"/>
          </a:xfrm>
          <a:prstGeom prst="triangle">
            <a:avLst/>
          </a:prstGeom>
          <a:solidFill>
            <a:srgbClr val="9AA9B6"/>
          </a:solidFill>
          <a:ln/>
        </p:spPr>
      </p:sp>
      <p:sp>
        <p:nvSpPr>
          <p:cNvPr id="40" name="Shape 38"/>
          <p:cNvSpPr/>
          <p:nvPr/>
        </p:nvSpPr>
        <p:spPr>
          <a:xfrm>
            <a:off x="9066047" y="3575304"/>
            <a:ext cx="2558720" cy="1271016"/>
          </a:xfrm>
          <a:prstGeom prst="roundRect">
            <a:avLst>
              <a:gd name="adj" fmla="val 4317"/>
            </a:avLst>
          </a:prstGeom>
          <a:solidFill>
            <a:srgbClr val="E4F0EA"/>
          </a:solidFill>
          <a:ln w="13970">
            <a:solidFill>
              <a:srgbClr val="256B45"/>
            </a:solidFill>
            <a:prstDash val="solid"/>
          </a:ln>
        </p:spPr>
      </p:sp>
      <p:sp>
        <p:nvSpPr>
          <p:cNvPr id="41" name="Text 39"/>
          <p:cNvSpPr/>
          <p:nvPr/>
        </p:nvSpPr>
        <p:spPr>
          <a:xfrm>
            <a:off x="9157487" y="3630168"/>
            <a:ext cx="2375840" cy="559247"/>
          </a:xfrm>
          <a:prstGeom prst="rect">
            <a:avLst/>
          </a:prstGeom>
          <a:noFill/>
          <a:ln/>
        </p:spPr>
        <p:txBody>
          <a:bodyPr wrap="square" lIns="0" tIns="0" rIns="0" bIns="0" rtlCol="0" anchor="ctr"/>
          <a:lstStyle/>
          <a:p>
            <a:pPr algn="ctr" indent="0" marL="0">
              <a:buNone/>
            </a:pPr>
            <a:r>
              <a:rPr lang="en-US" sz="1150" b="1" dirty="0">
                <a:solidFill>
                  <a:srgbClr val="1B4E32"/>
                </a:solidFill>
                <a:latin typeface="Calibri" pitchFamily="34" charset="0"/>
                <a:ea typeface="Calibri" pitchFamily="34" charset="-122"/>
                <a:cs typeface="Calibri" pitchFamily="34" charset="-120"/>
              </a:rPr>
              <a:t>Standing comparison</a:t>
            </a:r>
            <a:endParaRPr lang="en-US" sz="1150" dirty="0"/>
          </a:p>
        </p:txBody>
      </p:sp>
      <p:sp>
        <p:nvSpPr>
          <p:cNvPr id="42" name="Text 40"/>
          <p:cNvSpPr/>
          <p:nvPr/>
        </p:nvSpPr>
        <p:spPr>
          <a:xfrm>
            <a:off x="9148343" y="4159971"/>
            <a:ext cx="2394128"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every new lab result checks the model</a:t>
            </a:r>
            <a:endParaRPr lang="en-US" sz="940" dirty="0"/>
          </a:p>
        </p:txBody>
      </p:sp>
      <p:sp>
        <p:nvSpPr>
          <p:cNvPr id="43" name="Shape 41"/>
          <p:cNvSpPr/>
          <p:nvPr/>
        </p:nvSpPr>
        <p:spPr>
          <a:xfrm>
            <a:off x="566928" y="5138928"/>
            <a:ext cx="11057839" cy="420624"/>
          </a:xfrm>
          <a:prstGeom prst="roundRect">
            <a:avLst>
              <a:gd name="adj" fmla="val 10870"/>
            </a:avLst>
          </a:prstGeom>
          <a:solidFill>
            <a:srgbClr val="F4F1FA"/>
          </a:solidFill>
          <a:ln w="12700">
            <a:solidFill>
              <a:srgbClr val="8B77B8"/>
            </a:solidFill>
            <a:prstDash val="dash"/>
          </a:ln>
        </p:spPr>
      </p:sp>
      <p:sp>
        <p:nvSpPr>
          <p:cNvPr id="44" name="Text 42"/>
          <p:cNvSpPr/>
          <p:nvPr/>
        </p:nvSpPr>
        <p:spPr>
          <a:xfrm>
            <a:off x="749808" y="5138928"/>
            <a:ext cx="10692079" cy="420624"/>
          </a:xfrm>
          <a:prstGeom prst="rect">
            <a:avLst/>
          </a:prstGeom>
          <a:noFill/>
          <a:ln/>
        </p:spPr>
        <p:txBody>
          <a:bodyPr wrap="square" lIns="0" tIns="0" rIns="0" bIns="0" rtlCol="0" anchor="ctr"/>
          <a:lstStyle/>
          <a:p>
            <a:pPr indent="0" marL="0">
              <a:buNone/>
            </a:pPr>
            <a:r>
              <a:rPr lang="en-US" sz="1150" b="1" dirty="0">
                <a:solidFill>
                  <a:srgbClr val="5B4A85"/>
                </a:solidFill>
                <a:latin typeface="Calibri" pitchFamily="34" charset="0"/>
                <a:ea typeface="Calibri" pitchFamily="34" charset="-122"/>
                <a:cs typeface="Calibri" pitchFamily="34" charset="-120"/>
              </a:rPr>
              <a:t>Feedback:  </a:t>
            </a:r>
            <a:pPr indent="0" marL="0">
              <a:buNone/>
            </a:pPr>
            <a:r>
              <a:rPr lang="en-US" sz="1150" dirty="0">
                <a:solidFill>
                  <a:srgbClr val="5B4A85"/>
                </a:solidFill>
                <a:latin typeface="Calibri" pitchFamily="34" charset="0"/>
                <a:ea typeface="Calibri" pitchFamily="34" charset="-122"/>
                <a:cs typeface="Calibri" pitchFamily="34" charset="-120"/>
              </a:rPr>
              <a:t>Retrain on a change of coal source — the single biggest failure mode of a GCV soft sensor</a:t>
            </a:r>
            <a:endParaRPr lang="en-US" sz="1150" dirty="0"/>
          </a:p>
        </p:txBody>
      </p:sp>
      <p:sp>
        <p:nvSpPr>
          <p:cNvPr id="45" name="Shape 43"/>
          <p:cNvSpPr/>
          <p:nvPr/>
        </p:nvSpPr>
        <p:spPr>
          <a:xfrm>
            <a:off x="566928" y="5632704"/>
            <a:ext cx="11057839" cy="548640"/>
          </a:xfrm>
          <a:prstGeom prst="roundRect">
            <a:avLst>
              <a:gd name="adj" fmla="val 8333"/>
            </a:avLst>
          </a:prstGeom>
          <a:solidFill>
            <a:srgbClr val="FCEDE0"/>
          </a:solidFill>
          <a:ln w="12700">
            <a:solidFill>
              <a:srgbClr val="D96A16"/>
            </a:solidFill>
            <a:prstDash val="solid"/>
          </a:ln>
        </p:spPr>
      </p:sp>
      <p:sp>
        <p:nvSpPr>
          <p:cNvPr id="46" name="Text 44"/>
          <p:cNvSpPr/>
          <p:nvPr/>
        </p:nvSpPr>
        <p:spPr>
          <a:xfrm>
            <a:off x="768096" y="5632704"/>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A soft sensor never beats the laboratory it learned from. It interpolates between laboratory results — which is exactly what you need between them.</a:t>
            </a:r>
            <a:endParaRPr lang="en-US" sz="13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Soot blowing on demand, not on a timer</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heat transfer surfaces will tell you when they need cleaning — if anyone is listening</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6. Performance optimisation</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81</a:t>
            </a:r>
            <a:endParaRPr lang="en-US" sz="950" dirty="0"/>
          </a:p>
        </p:txBody>
      </p:sp>
      <p:sp>
        <p:nvSpPr>
          <p:cNvPr id="7" name="Shape 5"/>
          <p:cNvSpPr/>
          <p:nvPr/>
        </p:nvSpPr>
        <p:spPr>
          <a:xfrm>
            <a:off x="566928"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2586152" cy="566928"/>
          </a:xfrm>
          <a:prstGeom prst="roundRect">
            <a:avLst>
              <a:gd name="adj" fmla="val 9677"/>
            </a:avLst>
          </a:prstGeom>
          <a:solidFill>
            <a:srgbClr val="2A3644"/>
          </a:solidFill>
          <a:ln/>
        </p:spPr>
      </p:sp>
      <p:sp>
        <p:nvSpPr>
          <p:cNvPr id="9" name="Shape 7"/>
          <p:cNvSpPr/>
          <p:nvPr/>
        </p:nvSpPr>
        <p:spPr>
          <a:xfrm>
            <a:off x="768096" y="1746504"/>
            <a:ext cx="329184" cy="329184"/>
          </a:xfrm>
          <a:prstGeom prst="ellipse">
            <a:avLst/>
          </a:prstGeom>
          <a:solidFill>
            <a:srgbClr val="D96A16"/>
          </a:solidFill>
          <a:ln/>
        </p:spPr>
      </p:sp>
      <p:sp>
        <p:nvSpPr>
          <p:cNvPr id="10" name="Text 8"/>
          <p:cNvSpPr/>
          <p:nvPr/>
        </p:nvSpPr>
        <p:spPr>
          <a:xfrm>
            <a:off x="768096"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p:nvPr/>
        </p:nvSpPr>
        <p:spPr>
          <a:xfrm>
            <a:off x="1188720"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Estimate effectiveness online</a:t>
            </a:r>
            <a:endParaRPr lang="en-US" sz="1400" dirty="0"/>
          </a:p>
        </p:txBody>
      </p:sp>
      <p:sp>
        <p:nvSpPr>
          <p:cNvPr id="12" name="Text 10"/>
          <p:cNvSpPr/>
          <p:nvPr/>
        </p:nvSpPr>
        <p:spPr>
          <a:xfrm>
            <a:off x="786384"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Compute the heat absorbed by each surface — furnace, superheater, reheater, economiser and air heater — from gas and steam side measurements you already historise, every few minutes.</a:t>
            </a:r>
            <a:endParaRPr lang="en-US" sz="1250" dirty="0"/>
          </a:p>
        </p:txBody>
      </p:sp>
      <p:sp>
        <p:nvSpPr>
          <p:cNvPr id="13" name="Shape 11"/>
          <p:cNvSpPr/>
          <p:nvPr/>
        </p:nvSpPr>
        <p:spPr>
          <a:xfrm rot="5400000">
            <a:off x="3194228" y="1810512"/>
            <a:ext cx="155448" cy="219456"/>
          </a:xfrm>
          <a:prstGeom prst="triangle">
            <a:avLst/>
          </a:prstGeom>
          <a:solidFill>
            <a:srgbClr val="D96A16"/>
          </a:solidFill>
          <a:ln/>
        </p:spPr>
      </p:sp>
      <p:sp>
        <p:nvSpPr>
          <p:cNvPr id="14" name="Shape 12"/>
          <p:cNvSpPr/>
          <p:nvPr/>
        </p:nvSpPr>
        <p:spPr>
          <a:xfrm>
            <a:off x="3390824"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5" name="Shape 13"/>
          <p:cNvSpPr/>
          <p:nvPr/>
        </p:nvSpPr>
        <p:spPr>
          <a:xfrm>
            <a:off x="3390824" y="1627632"/>
            <a:ext cx="2586152" cy="566928"/>
          </a:xfrm>
          <a:prstGeom prst="roundRect">
            <a:avLst>
              <a:gd name="adj" fmla="val 9677"/>
            </a:avLst>
          </a:prstGeom>
          <a:solidFill>
            <a:srgbClr val="2A3644"/>
          </a:solidFill>
          <a:ln/>
        </p:spPr>
      </p:sp>
      <p:sp>
        <p:nvSpPr>
          <p:cNvPr id="16" name="Shape 14"/>
          <p:cNvSpPr/>
          <p:nvPr/>
        </p:nvSpPr>
        <p:spPr>
          <a:xfrm>
            <a:off x="3591992" y="1746504"/>
            <a:ext cx="329184" cy="329184"/>
          </a:xfrm>
          <a:prstGeom prst="ellipse">
            <a:avLst/>
          </a:prstGeom>
          <a:solidFill>
            <a:srgbClr val="D96A16"/>
          </a:solidFill>
          <a:ln/>
        </p:spPr>
      </p:sp>
      <p:sp>
        <p:nvSpPr>
          <p:cNvPr id="17" name="Text 15"/>
          <p:cNvSpPr/>
          <p:nvPr/>
        </p:nvSpPr>
        <p:spPr>
          <a:xfrm>
            <a:off x="3591992"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6"/>
          <p:cNvSpPr/>
          <p:nvPr/>
        </p:nvSpPr>
        <p:spPr>
          <a:xfrm>
            <a:off x="4012616"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Rank the surfaces by need</a:t>
            </a:r>
            <a:endParaRPr lang="en-US" sz="1400" dirty="0"/>
          </a:p>
        </p:txBody>
      </p:sp>
      <p:sp>
        <p:nvSpPr>
          <p:cNvPr id="19" name="Text 17"/>
          <p:cNvSpPr/>
          <p:nvPr/>
        </p:nvSpPr>
        <p:spPr>
          <a:xfrm>
            <a:off x="3610280"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Compare each surface against its own clean baseline at the same load and coal. The ranking, not the clock, decides which blower operates next.</a:t>
            </a:r>
            <a:endParaRPr lang="en-US" sz="1250" dirty="0"/>
          </a:p>
        </p:txBody>
      </p:sp>
      <p:sp>
        <p:nvSpPr>
          <p:cNvPr id="20" name="Shape 18"/>
          <p:cNvSpPr/>
          <p:nvPr/>
        </p:nvSpPr>
        <p:spPr>
          <a:xfrm rot="5400000">
            <a:off x="6018124" y="1810512"/>
            <a:ext cx="155448" cy="219456"/>
          </a:xfrm>
          <a:prstGeom prst="triangle">
            <a:avLst/>
          </a:prstGeom>
          <a:solidFill>
            <a:srgbClr val="D96A16"/>
          </a:solidFill>
          <a:ln/>
        </p:spPr>
      </p:sp>
      <p:sp>
        <p:nvSpPr>
          <p:cNvPr id="21" name="Shape 19"/>
          <p:cNvSpPr/>
          <p:nvPr/>
        </p:nvSpPr>
        <p:spPr>
          <a:xfrm>
            <a:off x="6214720"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2" name="Shape 20"/>
          <p:cNvSpPr/>
          <p:nvPr/>
        </p:nvSpPr>
        <p:spPr>
          <a:xfrm>
            <a:off x="6214720" y="1627632"/>
            <a:ext cx="2586152" cy="566928"/>
          </a:xfrm>
          <a:prstGeom prst="roundRect">
            <a:avLst>
              <a:gd name="adj" fmla="val 9677"/>
            </a:avLst>
          </a:prstGeom>
          <a:solidFill>
            <a:srgbClr val="2A3644"/>
          </a:solidFill>
          <a:ln/>
        </p:spPr>
      </p:sp>
      <p:sp>
        <p:nvSpPr>
          <p:cNvPr id="23" name="Shape 21"/>
          <p:cNvSpPr/>
          <p:nvPr/>
        </p:nvSpPr>
        <p:spPr>
          <a:xfrm>
            <a:off x="6415888" y="1746504"/>
            <a:ext cx="329184" cy="329184"/>
          </a:xfrm>
          <a:prstGeom prst="ellipse">
            <a:avLst/>
          </a:prstGeom>
          <a:solidFill>
            <a:srgbClr val="D96A16"/>
          </a:solidFill>
          <a:ln/>
        </p:spPr>
      </p:sp>
      <p:sp>
        <p:nvSpPr>
          <p:cNvPr id="24" name="Text 22"/>
          <p:cNvSpPr/>
          <p:nvPr/>
        </p:nvSpPr>
        <p:spPr>
          <a:xfrm>
            <a:off x="6415888"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5" name="Text 23"/>
          <p:cNvSpPr/>
          <p:nvPr/>
        </p:nvSpPr>
        <p:spPr>
          <a:xfrm>
            <a:off x="6836512"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Blow only what is dirty</a:t>
            </a:r>
            <a:endParaRPr lang="en-US" sz="1400" dirty="0"/>
          </a:p>
        </p:txBody>
      </p:sp>
      <p:sp>
        <p:nvSpPr>
          <p:cNvPr id="26" name="Text 24"/>
          <p:cNvSpPr/>
          <p:nvPr/>
        </p:nvSpPr>
        <p:spPr>
          <a:xfrm>
            <a:off x="6434176"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Sequence the blowers that will genuinely recover heat. Skip the ones that would only consume steam, erode tube surfaces and add to attemperation flow.</a:t>
            </a:r>
            <a:endParaRPr lang="en-US" sz="1250" dirty="0"/>
          </a:p>
        </p:txBody>
      </p:sp>
      <p:sp>
        <p:nvSpPr>
          <p:cNvPr id="27" name="Shape 25"/>
          <p:cNvSpPr/>
          <p:nvPr/>
        </p:nvSpPr>
        <p:spPr>
          <a:xfrm rot="5400000">
            <a:off x="8842019" y="1810512"/>
            <a:ext cx="155448" cy="219456"/>
          </a:xfrm>
          <a:prstGeom prst="triangle">
            <a:avLst/>
          </a:prstGeom>
          <a:solidFill>
            <a:srgbClr val="D96A16"/>
          </a:solidFill>
          <a:ln/>
        </p:spPr>
      </p:sp>
      <p:sp>
        <p:nvSpPr>
          <p:cNvPr id="28" name="Shape 26"/>
          <p:cNvSpPr/>
          <p:nvPr/>
        </p:nvSpPr>
        <p:spPr>
          <a:xfrm>
            <a:off x="9038615"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9" name="Shape 27"/>
          <p:cNvSpPr/>
          <p:nvPr/>
        </p:nvSpPr>
        <p:spPr>
          <a:xfrm>
            <a:off x="9038615" y="1627632"/>
            <a:ext cx="2586152" cy="566928"/>
          </a:xfrm>
          <a:prstGeom prst="roundRect">
            <a:avLst>
              <a:gd name="adj" fmla="val 9677"/>
            </a:avLst>
          </a:prstGeom>
          <a:solidFill>
            <a:srgbClr val="2A3644"/>
          </a:solidFill>
          <a:ln/>
        </p:spPr>
      </p:sp>
      <p:sp>
        <p:nvSpPr>
          <p:cNvPr id="30" name="Shape 28"/>
          <p:cNvSpPr/>
          <p:nvPr/>
        </p:nvSpPr>
        <p:spPr>
          <a:xfrm>
            <a:off x="9239783" y="1746504"/>
            <a:ext cx="329184" cy="329184"/>
          </a:xfrm>
          <a:prstGeom prst="ellipse">
            <a:avLst/>
          </a:prstGeom>
          <a:solidFill>
            <a:srgbClr val="D96A16"/>
          </a:solidFill>
          <a:ln/>
        </p:spPr>
      </p:sp>
      <p:sp>
        <p:nvSpPr>
          <p:cNvPr id="31" name="Text 29"/>
          <p:cNvSpPr/>
          <p:nvPr/>
        </p:nvSpPr>
        <p:spPr>
          <a:xfrm>
            <a:off x="9239783"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2" name="Text 30"/>
          <p:cNvSpPr/>
          <p:nvPr/>
        </p:nvSpPr>
        <p:spPr>
          <a:xfrm>
            <a:off x="9660407"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Verify, then learn</a:t>
            </a:r>
            <a:endParaRPr lang="en-US" sz="1400" dirty="0"/>
          </a:p>
        </p:txBody>
      </p:sp>
      <p:sp>
        <p:nvSpPr>
          <p:cNvPr id="33" name="Text 31"/>
          <p:cNvSpPr/>
          <p:nvPr/>
        </p:nvSpPr>
        <p:spPr>
          <a:xfrm>
            <a:off x="9258071"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Measure the recovery after each operation. A blower that recovers nothing is telling you about a mechanical defect, not about fouling.</a:t>
            </a:r>
            <a:endParaRPr lang="en-US" sz="1250" dirty="0"/>
          </a:p>
        </p:txBody>
      </p:sp>
      <p:sp>
        <p:nvSpPr>
          <p:cNvPr id="34" name="Shape 32"/>
          <p:cNvSpPr/>
          <p:nvPr/>
        </p:nvSpPr>
        <p:spPr>
          <a:xfrm>
            <a:off x="566928" y="5074920"/>
            <a:ext cx="11057839" cy="548640"/>
          </a:xfrm>
          <a:prstGeom prst="roundRect">
            <a:avLst>
              <a:gd name="adj" fmla="val 8333"/>
            </a:avLst>
          </a:prstGeom>
          <a:solidFill>
            <a:srgbClr val="FCEDE0"/>
          </a:solidFill>
          <a:ln w="12700">
            <a:solidFill>
              <a:srgbClr val="D96A16"/>
            </a:solidFill>
            <a:prstDash val="solid"/>
          </a:ln>
        </p:spPr>
      </p:sp>
      <p:sp>
        <p:nvSpPr>
          <p:cNvPr id="35" name="Text 33"/>
          <p:cNvSpPr/>
          <p:nvPr/>
        </p:nvSpPr>
        <p:spPr>
          <a:xfrm>
            <a:off x="768096" y="5074920"/>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Timer-based blowing wastes steam on clean surfaces and leaves the dirty ones alone. Both cost heat rate, and one of them also costs tube life.</a:t>
            </a:r>
            <a:endParaRPr lang="en-US" sz="13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Coal quality and the GCV soft sensor</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As-fired GCV ranges from 2,733 to 3,270 kcal/kg across our own fleet</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6. Performance optimisation</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82</a:t>
            </a:r>
            <a:endParaRPr lang="en-US" sz="950" dirty="0"/>
          </a:p>
        </p:txBody>
      </p:sp>
      <p:sp>
        <p:nvSpPr>
          <p:cNvPr id="7" name="Shape 5"/>
          <p:cNvSpPr/>
          <p:nvPr/>
        </p:nvSpPr>
        <p:spPr>
          <a:xfrm>
            <a:off x="566928"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92808"/>
            <a:ext cx="137160" cy="137160"/>
          </a:xfrm>
          <a:prstGeom prst="ellipse">
            <a:avLst/>
          </a:prstGeom>
          <a:solidFill>
            <a:srgbClr val="D96A16"/>
          </a:solidFill>
          <a:ln/>
        </p:spPr>
      </p:sp>
      <p:sp>
        <p:nvSpPr>
          <p:cNvPr id="9" name="Text 7"/>
          <p:cNvSpPr/>
          <p:nvPr/>
        </p:nvSpPr>
        <p:spPr>
          <a:xfrm>
            <a:off x="969264" y="1792224"/>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The gap the laboratory leaves</a:t>
            </a:r>
            <a:endParaRPr lang="en-US" sz="1450" dirty="0"/>
          </a:p>
        </p:txBody>
      </p:sp>
      <p:sp>
        <p:nvSpPr>
          <p:cNvPr id="10" name="Text 8"/>
          <p:cNvSpPr/>
          <p:nvPr/>
        </p:nvSpPr>
        <p:spPr>
          <a:xfrm>
            <a:off x="768096" y="2203704"/>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Bomb calorimeter results arrive hours or days later, on one sample, per rake. The mills are burning something entirely different by the time the figure lands.</a:t>
            </a:r>
            <a:endParaRPr lang="en-US" sz="1200" dirty="0"/>
          </a:p>
        </p:txBody>
      </p:sp>
      <p:sp>
        <p:nvSpPr>
          <p:cNvPr id="11" name="Shape 9"/>
          <p:cNvSpPr/>
          <p:nvPr/>
        </p:nvSpPr>
        <p:spPr>
          <a:xfrm>
            <a:off x="6205576"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388456" y="1892808"/>
            <a:ext cx="137160" cy="137160"/>
          </a:xfrm>
          <a:prstGeom prst="ellipse">
            <a:avLst/>
          </a:prstGeom>
          <a:solidFill>
            <a:srgbClr val="D96A16"/>
          </a:solidFill>
          <a:ln/>
        </p:spPr>
      </p:sp>
      <p:sp>
        <p:nvSpPr>
          <p:cNvPr id="13" name="Text 11"/>
          <p:cNvSpPr/>
          <p:nvPr/>
        </p:nvSpPr>
        <p:spPr>
          <a:xfrm>
            <a:off x="6607912" y="1792224"/>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What a soft sensor does</a:t>
            </a:r>
            <a:endParaRPr lang="en-US" sz="1450" dirty="0"/>
          </a:p>
        </p:txBody>
      </p:sp>
      <p:sp>
        <p:nvSpPr>
          <p:cNvPr id="14" name="Text 12"/>
          <p:cNvSpPr/>
          <p:nvPr/>
        </p:nvSpPr>
        <p:spPr>
          <a:xfrm>
            <a:off x="6406744" y="2203704"/>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Estimates as-fired GCV every few minutes from mill power, air flow, feeder rate, O₂ and steam generation — trained on the laboratory results themselves.</a:t>
            </a:r>
            <a:endParaRPr lang="en-US" sz="1200" dirty="0"/>
          </a:p>
        </p:txBody>
      </p:sp>
      <p:sp>
        <p:nvSpPr>
          <p:cNvPr id="15" name="Shape 13"/>
          <p:cNvSpPr/>
          <p:nvPr/>
        </p:nvSpPr>
        <p:spPr>
          <a:xfrm>
            <a:off x="566928"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749808" y="3895344"/>
            <a:ext cx="137160" cy="137160"/>
          </a:xfrm>
          <a:prstGeom prst="ellipse">
            <a:avLst/>
          </a:prstGeom>
          <a:solidFill>
            <a:srgbClr val="D96A16"/>
          </a:solidFill>
          <a:ln/>
        </p:spPr>
      </p:sp>
      <p:sp>
        <p:nvSpPr>
          <p:cNvPr id="17" name="Text 15"/>
          <p:cNvSpPr/>
          <p:nvPr/>
        </p:nvSpPr>
        <p:spPr>
          <a:xfrm>
            <a:off x="969264"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Blend against constraints</a:t>
            </a:r>
            <a:endParaRPr lang="en-US" sz="1450" dirty="0"/>
          </a:p>
        </p:txBody>
      </p:sp>
      <p:sp>
        <p:nvSpPr>
          <p:cNvPr id="18" name="Text 16"/>
          <p:cNvSpPr/>
          <p:nvPr/>
        </p:nvSpPr>
        <p:spPr>
          <a:xfrm>
            <a:off x="768096"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Chooses the blend against mill capacity, ESP loading and emission limits, not against price alone. A cheaper coal that de-rates a mill is not cheaper.</a:t>
            </a:r>
            <a:endParaRPr lang="en-US" sz="1200" dirty="0"/>
          </a:p>
        </p:txBody>
      </p:sp>
      <p:sp>
        <p:nvSpPr>
          <p:cNvPr id="19" name="Shape 17"/>
          <p:cNvSpPr/>
          <p:nvPr/>
        </p:nvSpPr>
        <p:spPr>
          <a:xfrm>
            <a:off x="6205576"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6388456" y="3895344"/>
            <a:ext cx="137160" cy="137160"/>
          </a:xfrm>
          <a:prstGeom prst="ellipse">
            <a:avLst/>
          </a:prstGeom>
          <a:solidFill>
            <a:srgbClr val="D96A16"/>
          </a:solidFill>
          <a:ln/>
        </p:spPr>
      </p:sp>
      <p:sp>
        <p:nvSpPr>
          <p:cNvPr id="21" name="Text 19"/>
          <p:cNvSpPr/>
          <p:nvPr/>
        </p:nvSpPr>
        <p:spPr>
          <a:xfrm>
            <a:off x="6607912"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Transit-loss analytics</a:t>
            </a:r>
            <a:endParaRPr lang="en-US" sz="1450" dirty="0"/>
          </a:p>
        </p:txBody>
      </p:sp>
      <p:sp>
        <p:nvSpPr>
          <p:cNvPr id="22" name="Text 20"/>
          <p:cNvSpPr/>
          <p:nvPr/>
        </p:nvSpPr>
        <p:spPr>
          <a:xfrm>
            <a:off x="6406744"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GCV loss between loading and unloading runs 619 to 941 kcal/kg. Rake-level analysis separates sampling error from genuine loss, rake by rake.</a:t>
            </a:r>
            <a:endParaRPr lang="en-US" sz="1200" dirty="0"/>
          </a:p>
        </p:txBody>
      </p:sp>
      <p:sp>
        <p:nvSpPr>
          <p:cNvPr id="23" name="Shape 21"/>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24" name="Text 22"/>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Coal is the largest line in the bill, and it is also the one number in the plant that almost nobody knows while it is being burnt.</a:t>
            </a:r>
            <a:endParaRPr lang="en-US" sz="13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What an advisory looks like at 14:20</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A 500 MW unit, the deviation attributed, and a rupee figure attached to the recommendation</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6. Performance optimisation</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83</a:t>
            </a:r>
            <a:endParaRPr lang="en-US" sz="950" dirty="0"/>
          </a:p>
        </p:txBody>
      </p:sp>
      <p:sp>
        <p:nvSpPr>
          <p:cNvPr id="7" name="Shape 5"/>
          <p:cNvSpPr/>
          <p:nvPr/>
        </p:nvSpPr>
        <p:spPr>
          <a:xfrm>
            <a:off x="1340968" y="1627632"/>
            <a:ext cx="9509760" cy="3886200"/>
          </a:xfrm>
          <a:prstGeom prst="roundRect">
            <a:avLst>
              <a:gd name="adj" fmla="val 1412"/>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1340968" y="1627632"/>
            <a:ext cx="9509760" cy="512064"/>
          </a:xfrm>
          <a:prstGeom prst="roundRect">
            <a:avLst>
              <a:gd name="adj" fmla="val 8929"/>
            </a:avLst>
          </a:prstGeom>
          <a:solidFill>
            <a:srgbClr val="1C2530"/>
          </a:solidFill>
          <a:ln/>
        </p:spPr>
      </p:sp>
      <p:sp>
        <p:nvSpPr>
          <p:cNvPr id="9" name="Text 7"/>
          <p:cNvSpPr/>
          <p:nvPr/>
        </p:nvSpPr>
        <p:spPr>
          <a:xfrm>
            <a:off x="1578712" y="1627632"/>
            <a:ext cx="9052560" cy="512064"/>
          </a:xfrm>
          <a:prstGeom prst="rect">
            <a:avLst/>
          </a:prstGeom>
          <a:noFill/>
          <a:ln/>
        </p:spPr>
        <p:txBody>
          <a:bodyPr wrap="square" lIns="0" tIns="0" rIns="0" bIns="0" rtlCol="0" anchor="ctr"/>
          <a:lstStyle/>
          <a:p>
            <a:pPr indent="0" marL="0">
              <a:buNone/>
            </a:pPr>
            <a:r>
              <a:rPr lang="en-US" sz="1300" b="1" dirty="0">
                <a:solidFill>
                  <a:srgbClr val="D96A16"/>
                </a:solidFill>
                <a:latin typeface="Courier New" pitchFamily="34" charset="0"/>
                <a:ea typeface="Courier New" pitchFamily="34" charset="-122"/>
                <a:cs typeface="Courier New" pitchFamily="34" charset="-120"/>
              </a:rPr>
              <a:t>Chandrapur Unit 8 · 500 MW · Performance advisory · 14:20</a:t>
            </a:r>
            <a:endParaRPr lang="en-US" sz="1300" dirty="0"/>
          </a:p>
        </p:txBody>
      </p:sp>
      <p:sp>
        <p:nvSpPr>
          <p:cNvPr id="10" name="Shape 8"/>
          <p:cNvSpPr/>
          <p:nvPr/>
        </p:nvSpPr>
        <p:spPr>
          <a:xfrm>
            <a:off x="1487272" y="2231136"/>
            <a:ext cx="9217152" cy="483108"/>
          </a:xfrm>
          <a:prstGeom prst="rect">
            <a:avLst/>
          </a:prstGeom>
          <a:solidFill>
            <a:srgbClr val="FBF0DC"/>
          </a:solidFill>
          <a:ln w="12700">
            <a:solidFill>
              <a:srgbClr val="FFFFFF"/>
            </a:solidFill>
            <a:prstDash val="solid"/>
          </a:ln>
        </p:spPr>
      </p:sp>
      <p:sp>
        <p:nvSpPr>
          <p:cNvPr id="11" name="Shape 9"/>
          <p:cNvSpPr/>
          <p:nvPr/>
        </p:nvSpPr>
        <p:spPr>
          <a:xfrm>
            <a:off x="1633576" y="2408682"/>
            <a:ext cx="137160" cy="137160"/>
          </a:xfrm>
          <a:prstGeom prst="ellipse">
            <a:avLst/>
          </a:prstGeom>
          <a:solidFill>
            <a:srgbClr val="9A6408"/>
          </a:solidFill>
          <a:ln/>
        </p:spPr>
      </p:sp>
      <p:sp>
        <p:nvSpPr>
          <p:cNvPr id="12" name="Text 10"/>
          <p:cNvSpPr/>
          <p:nvPr/>
        </p:nvSpPr>
        <p:spPr>
          <a:xfrm>
            <a:off x="1889608" y="2231136"/>
            <a:ext cx="2606040" cy="483108"/>
          </a:xfrm>
          <a:prstGeom prst="rect">
            <a:avLst/>
          </a:prstGeom>
          <a:noFill/>
          <a:ln/>
        </p:spPr>
        <p:txBody>
          <a:bodyPr wrap="square" lIns="0" tIns="0" rIns="0" bIns="0" rtlCol="0" anchor="ctr"/>
          <a:lstStyle/>
          <a:p>
            <a:pPr indent="0" marL="0">
              <a:buNone/>
            </a:pPr>
            <a:r>
              <a:rPr lang="en-US" sz="1250" b="1" dirty="0">
                <a:solidFill>
                  <a:srgbClr val="9A6408"/>
                </a:solidFill>
                <a:latin typeface="Calibri" pitchFamily="34" charset="0"/>
                <a:ea typeface="Calibri" pitchFamily="34" charset="-122"/>
                <a:cs typeface="Calibri" pitchFamily="34" charset="-120"/>
              </a:rPr>
              <a:t>Net heat rate</a:t>
            </a:r>
            <a:endParaRPr lang="en-US" sz="1250" dirty="0"/>
          </a:p>
        </p:txBody>
      </p:sp>
      <p:sp>
        <p:nvSpPr>
          <p:cNvPr id="13" name="Text 11"/>
          <p:cNvSpPr/>
          <p:nvPr/>
        </p:nvSpPr>
        <p:spPr>
          <a:xfrm>
            <a:off x="4541368" y="2231136"/>
            <a:ext cx="6080760" cy="48310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2,425 kcal/kWh against 2,375 normative — plus 50</a:t>
            </a:r>
            <a:endParaRPr lang="en-US" sz="1250" dirty="0"/>
          </a:p>
        </p:txBody>
      </p:sp>
      <p:sp>
        <p:nvSpPr>
          <p:cNvPr id="14" name="Shape 12"/>
          <p:cNvSpPr/>
          <p:nvPr/>
        </p:nvSpPr>
        <p:spPr>
          <a:xfrm>
            <a:off x="1487272" y="2769108"/>
            <a:ext cx="9217152" cy="483108"/>
          </a:xfrm>
          <a:prstGeom prst="rect">
            <a:avLst/>
          </a:prstGeom>
          <a:solidFill>
            <a:srgbClr val="FBF0DC"/>
          </a:solidFill>
          <a:ln w="12700">
            <a:solidFill>
              <a:srgbClr val="FFFFFF"/>
            </a:solidFill>
            <a:prstDash val="solid"/>
          </a:ln>
        </p:spPr>
      </p:sp>
      <p:sp>
        <p:nvSpPr>
          <p:cNvPr id="15" name="Shape 13"/>
          <p:cNvSpPr/>
          <p:nvPr/>
        </p:nvSpPr>
        <p:spPr>
          <a:xfrm>
            <a:off x="1633576" y="2946654"/>
            <a:ext cx="137160" cy="137160"/>
          </a:xfrm>
          <a:prstGeom prst="ellipse">
            <a:avLst/>
          </a:prstGeom>
          <a:solidFill>
            <a:srgbClr val="9A6408"/>
          </a:solidFill>
          <a:ln/>
        </p:spPr>
      </p:sp>
      <p:sp>
        <p:nvSpPr>
          <p:cNvPr id="16" name="Text 14"/>
          <p:cNvSpPr/>
          <p:nvPr/>
        </p:nvSpPr>
        <p:spPr>
          <a:xfrm>
            <a:off x="1889608" y="2769108"/>
            <a:ext cx="2606040" cy="483108"/>
          </a:xfrm>
          <a:prstGeom prst="rect">
            <a:avLst/>
          </a:prstGeom>
          <a:noFill/>
          <a:ln/>
        </p:spPr>
        <p:txBody>
          <a:bodyPr wrap="square" lIns="0" tIns="0" rIns="0" bIns="0" rtlCol="0" anchor="ctr"/>
          <a:lstStyle/>
          <a:p>
            <a:pPr indent="0" marL="0">
              <a:buNone/>
            </a:pPr>
            <a:r>
              <a:rPr lang="en-US" sz="1250" b="1" dirty="0">
                <a:solidFill>
                  <a:srgbClr val="9A6408"/>
                </a:solidFill>
                <a:latin typeface="Calibri" pitchFamily="34" charset="0"/>
                <a:ea typeface="Calibri" pitchFamily="34" charset="-122"/>
                <a:cs typeface="Calibri" pitchFamily="34" charset="-120"/>
              </a:rPr>
              <a:t>Contributor 1 · boiler and turbine</a:t>
            </a:r>
            <a:endParaRPr lang="en-US" sz="1250" dirty="0"/>
          </a:p>
        </p:txBody>
      </p:sp>
      <p:sp>
        <p:nvSpPr>
          <p:cNvPr id="17" name="Text 15"/>
          <p:cNvSpPr/>
          <p:nvPr/>
        </p:nvSpPr>
        <p:spPr>
          <a:xfrm>
            <a:off x="4541368" y="2769108"/>
            <a:ext cx="6080760" cy="48310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Gross heat rate 2,258 against 2,232 — worth about 27 kcal/kWh</a:t>
            </a:r>
            <a:endParaRPr lang="en-US" sz="1250" dirty="0"/>
          </a:p>
        </p:txBody>
      </p:sp>
      <p:sp>
        <p:nvSpPr>
          <p:cNvPr id="18" name="Shape 16"/>
          <p:cNvSpPr/>
          <p:nvPr/>
        </p:nvSpPr>
        <p:spPr>
          <a:xfrm>
            <a:off x="1487272" y="3307080"/>
            <a:ext cx="9217152" cy="483108"/>
          </a:xfrm>
          <a:prstGeom prst="rect">
            <a:avLst/>
          </a:prstGeom>
          <a:solidFill>
            <a:srgbClr val="FBF0DC"/>
          </a:solidFill>
          <a:ln w="12700">
            <a:solidFill>
              <a:srgbClr val="FFFFFF"/>
            </a:solidFill>
            <a:prstDash val="solid"/>
          </a:ln>
        </p:spPr>
      </p:sp>
      <p:sp>
        <p:nvSpPr>
          <p:cNvPr id="19" name="Shape 17"/>
          <p:cNvSpPr/>
          <p:nvPr/>
        </p:nvSpPr>
        <p:spPr>
          <a:xfrm>
            <a:off x="1633576" y="3484626"/>
            <a:ext cx="137160" cy="137160"/>
          </a:xfrm>
          <a:prstGeom prst="ellipse">
            <a:avLst/>
          </a:prstGeom>
          <a:solidFill>
            <a:srgbClr val="9A6408"/>
          </a:solidFill>
          <a:ln/>
        </p:spPr>
      </p:sp>
      <p:sp>
        <p:nvSpPr>
          <p:cNvPr id="20" name="Text 18"/>
          <p:cNvSpPr/>
          <p:nvPr/>
        </p:nvSpPr>
        <p:spPr>
          <a:xfrm>
            <a:off x="1889608" y="3307080"/>
            <a:ext cx="2606040" cy="483108"/>
          </a:xfrm>
          <a:prstGeom prst="rect">
            <a:avLst/>
          </a:prstGeom>
          <a:noFill/>
          <a:ln/>
        </p:spPr>
        <p:txBody>
          <a:bodyPr wrap="square" lIns="0" tIns="0" rIns="0" bIns="0" rtlCol="0" anchor="ctr"/>
          <a:lstStyle/>
          <a:p>
            <a:pPr indent="0" marL="0">
              <a:buNone/>
            </a:pPr>
            <a:r>
              <a:rPr lang="en-US" sz="1250" b="1" dirty="0">
                <a:solidFill>
                  <a:srgbClr val="9A6408"/>
                </a:solidFill>
                <a:latin typeface="Calibri" pitchFamily="34" charset="0"/>
                <a:ea typeface="Calibri" pitchFamily="34" charset="-122"/>
                <a:cs typeface="Calibri" pitchFamily="34" charset="-120"/>
              </a:rPr>
              <a:t>Contributor 2 · auxiliary power</a:t>
            </a:r>
            <a:endParaRPr lang="en-US" sz="1250" dirty="0"/>
          </a:p>
        </p:txBody>
      </p:sp>
      <p:sp>
        <p:nvSpPr>
          <p:cNvPr id="21" name="Text 19"/>
          <p:cNvSpPr/>
          <p:nvPr/>
        </p:nvSpPr>
        <p:spPr>
          <a:xfrm>
            <a:off x="4541368" y="3307080"/>
            <a:ext cx="6080760" cy="48310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6.90 % against a 6.00 % norm — worth about 23 kcal/kWh</a:t>
            </a:r>
            <a:endParaRPr lang="en-US" sz="1250" dirty="0"/>
          </a:p>
        </p:txBody>
      </p:sp>
      <p:sp>
        <p:nvSpPr>
          <p:cNvPr id="22" name="Shape 20"/>
          <p:cNvSpPr/>
          <p:nvPr/>
        </p:nvSpPr>
        <p:spPr>
          <a:xfrm>
            <a:off x="1487272" y="3845052"/>
            <a:ext cx="9217152" cy="483108"/>
          </a:xfrm>
          <a:prstGeom prst="rect">
            <a:avLst/>
          </a:prstGeom>
          <a:solidFill>
            <a:srgbClr val="E1EFF1"/>
          </a:solidFill>
          <a:ln w="12700">
            <a:solidFill>
              <a:srgbClr val="FFFFFF"/>
            </a:solidFill>
            <a:prstDash val="solid"/>
          </a:ln>
        </p:spPr>
      </p:sp>
      <p:sp>
        <p:nvSpPr>
          <p:cNvPr id="23" name="Shape 21"/>
          <p:cNvSpPr/>
          <p:nvPr/>
        </p:nvSpPr>
        <p:spPr>
          <a:xfrm>
            <a:off x="1633576" y="4022598"/>
            <a:ext cx="137160" cy="137160"/>
          </a:xfrm>
          <a:prstGeom prst="ellipse">
            <a:avLst/>
          </a:prstGeom>
          <a:solidFill>
            <a:srgbClr val="11707F"/>
          </a:solidFill>
          <a:ln/>
        </p:spPr>
      </p:sp>
      <p:sp>
        <p:nvSpPr>
          <p:cNvPr id="24" name="Text 22"/>
          <p:cNvSpPr/>
          <p:nvPr/>
        </p:nvSpPr>
        <p:spPr>
          <a:xfrm>
            <a:off x="1889608" y="3845052"/>
            <a:ext cx="2606040" cy="483108"/>
          </a:xfrm>
          <a:prstGeom prst="rect">
            <a:avLst/>
          </a:prstGeom>
          <a:noFill/>
          <a:ln/>
        </p:spPr>
        <p:txBody>
          <a:bodyPr wrap="square" lIns="0" tIns="0" rIns="0" bIns="0" rtlCol="0" anchor="ctr"/>
          <a:lstStyle/>
          <a:p>
            <a:pPr indent="0" marL="0">
              <a:buNone/>
            </a:pPr>
            <a:r>
              <a:rPr lang="en-US" sz="1250" b="1" dirty="0">
                <a:solidFill>
                  <a:srgbClr val="11707F"/>
                </a:solidFill>
                <a:latin typeface="Calibri" pitchFamily="34" charset="0"/>
                <a:ea typeface="Calibri" pitchFamily="34" charset="-122"/>
                <a:cs typeface="Calibri" pitchFamily="34" charset="-120"/>
              </a:rPr>
              <a:t>Largest single item</a:t>
            </a:r>
            <a:endParaRPr lang="en-US" sz="1250" dirty="0"/>
          </a:p>
        </p:txBody>
      </p:sp>
      <p:sp>
        <p:nvSpPr>
          <p:cNvPr id="25" name="Text 23"/>
          <p:cNvSpPr/>
          <p:nvPr/>
        </p:nvSpPr>
        <p:spPr>
          <a:xfrm>
            <a:off x="4541368" y="3845052"/>
            <a:ext cx="6080760" cy="48310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Condenser back pressure above its wet-bulb-corrected expectation — about 11 kcal/kWh</a:t>
            </a:r>
            <a:endParaRPr lang="en-US" sz="1250" dirty="0"/>
          </a:p>
        </p:txBody>
      </p:sp>
      <p:sp>
        <p:nvSpPr>
          <p:cNvPr id="26" name="Shape 24"/>
          <p:cNvSpPr/>
          <p:nvPr/>
        </p:nvSpPr>
        <p:spPr>
          <a:xfrm>
            <a:off x="1487272" y="4383024"/>
            <a:ext cx="9217152" cy="483108"/>
          </a:xfrm>
          <a:prstGeom prst="rect">
            <a:avLst/>
          </a:prstGeom>
          <a:solidFill>
            <a:srgbClr val="E7ECF1"/>
          </a:solidFill>
          <a:ln w="12700">
            <a:solidFill>
              <a:srgbClr val="FFFFFF"/>
            </a:solidFill>
            <a:prstDash val="solid"/>
          </a:ln>
        </p:spPr>
      </p:sp>
      <p:sp>
        <p:nvSpPr>
          <p:cNvPr id="27" name="Shape 25"/>
          <p:cNvSpPr/>
          <p:nvPr/>
        </p:nvSpPr>
        <p:spPr>
          <a:xfrm>
            <a:off x="1633576" y="4560570"/>
            <a:ext cx="137160" cy="137160"/>
          </a:xfrm>
          <a:prstGeom prst="ellipse">
            <a:avLst/>
          </a:prstGeom>
          <a:solidFill>
            <a:srgbClr val="1C2530"/>
          </a:solidFill>
          <a:ln/>
        </p:spPr>
      </p:sp>
      <p:sp>
        <p:nvSpPr>
          <p:cNvPr id="28" name="Text 26"/>
          <p:cNvSpPr/>
          <p:nvPr/>
        </p:nvSpPr>
        <p:spPr>
          <a:xfrm>
            <a:off x="1889608" y="4383024"/>
            <a:ext cx="2606040" cy="483108"/>
          </a:xfrm>
          <a:prstGeom prst="rect">
            <a:avLst/>
          </a:prstGeom>
          <a:noFill/>
          <a:ln/>
        </p:spPr>
        <p:txBody>
          <a:bodyPr wrap="square" lIns="0" tIns="0" rIns="0" bIns="0" rtlCol="0" anchor="ctr"/>
          <a:lstStyle/>
          <a:p>
            <a:pPr indent="0" marL="0">
              <a:buNone/>
            </a:pPr>
            <a:r>
              <a:rPr lang="en-US" sz="1250" b="1" dirty="0">
                <a:solidFill>
                  <a:srgbClr val="1C2530"/>
                </a:solidFill>
                <a:latin typeface="Calibri" pitchFamily="34" charset="0"/>
                <a:ea typeface="Calibri" pitchFamily="34" charset="-122"/>
                <a:cs typeface="Calibri" pitchFamily="34" charset="-120"/>
              </a:rPr>
              <a:t>Recommended action</a:t>
            </a:r>
            <a:endParaRPr lang="en-US" sz="1250" dirty="0"/>
          </a:p>
        </p:txBody>
      </p:sp>
      <p:sp>
        <p:nvSpPr>
          <p:cNvPr id="29" name="Text 27"/>
          <p:cNvSpPr/>
          <p:nvPr/>
        </p:nvSpPr>
        <p:spPr>
          <a:xfrm>
            <a:off x="4541368" y="4383024"/>
            <a:ext cx="6080760" cy="48310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Run condenser ball cleaning this shift; review CW pump count at present cooling water temperature</a:t>
            </a:r>
            <a:endParaRPr lang="en-US" sz="1250" dirty="0"/>
          </a:p>
        </p:txBody>
      </p:sp>
      <p:sp>
        <p:nvSpPr>
          <p:cNvPr id="30" name="Shape 28"/>
          <p:cNvSpPr/>
          <p:nvPr/>
        </p:nvSpPr>
        <p:spPr>
          <a:xfrm>
            <a:off x="1487272" y="4920996"/>
            <a:ext cx="9217152" cy="483108"/>
          </a:xfrm>
          <a:prstGeom prst="rect">
            <a:avLst/>
          </a:prstGeom>
          <a:solidFill>
            <a:srgbClr val="E4F0EA"/>
          </a:solidFill>
          <a:ln w="12700">
            <a:solidFill>
              <a:srgbClr val="FFFFFF"/>
            </a:solidFill>
            <a:prstDash val="solid"/>
          </a:ln>
        </p:spPr>
      </p:sp>
      <p:sp>
        <p:nvSpPr>
          <p:cNvPr id="31" name="Shape 29"/>
          <p:cNvSpPr/>
          <p:nvPr/>
        </p:nvSpPr>
        <p:spPr>
          <a:xfrm>
            <a:off x="1633576" y="5098542"/>
            <a:ext cx="137160" cy="137160"/>
          </a:xfrm>
          <a:prstGeom prst="ellipse">
            <a:avLst/>
          </a:prstGeom>
          <a:solidFill>
            <a:srgbClr val="256B45"/>
          </a:solidFill>
          <a:ln/>
        </p:spPr>
      </p:sp>
      <p:sp>
        <p:nvSpPr>
          <p:cNvPr id="32" name="Text 30"/>
          <p:cNvSpPr/>
          <p:nvPr/>
        </p:nvSpPr>
        <p:spPr>
          <a:xfrm>
            <a:off x="1889608" y="4920996"/>
            <a:ext cx="2606040" cy="483108"/>
          </a:xfrm>
          <a:prstGeom prst="rect">
            <a:avLst/>
          </a:prstGeom>
          <a:noFill/>
          <a:ln/>
        </p:spPr>
        <p:txBody>
          <a:bodyPr wrap="square" lIns="0" tIns="0" rIns="0" bIns="0" rtlCol="0" anchor="ctr"/>
          <a:lstStyle/>
          <a:p>
            <a:pPr indent="0" marL="0">
              <a:buNone/>
            </a:pPr>
            <a:r>
              <a:rPr lang="en-US" sz="1250" b="1" dirty="0">
                <a:solidFill>
                  <a:srgbClr val="256B45"/>
                </a:solidFill>
                <a:latin typeface="Calibri" pitchFamily="34" charset="0"/>
                <a:ea typeface="Calibri" pitchFamily="34" charset="-122"/>
                <a:cs typeface="Calibri" pitchFamily="34" charset="-120"/>
              </a:rPr>
              <a:t>Value if actioned</a:t>
            </a:r>
            <a:endParaRPr lang="en-US" sz="1250" dirty="0"/>
          </a:p>
        </p:txBody>
      </p:sp>
      <p:sp>
        <p:nvSpPr>
          <p:cNvPr id="33" name="Text 31"/>
          <p:cNvSpPr/>
          <p:nvPr/>
        </p:nvSpPr>
        <p:spPr>
          <a:xfrm>
            <a:off x="4541368" y="4920996"/>
            <a:ext cx="6080760" cy="48310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About 8 kcal/kWh — roughly ₹27 lakh a month on this unit at its own cost of heat</a:t>
            </a:r>
            <a:endParaRPr lang="en-US" sz="1250" dirty="0"/>
          </a:p>
        </p:txBody>
      </p:sp>
      <p:sp>
        <p:nvSpPr>
          <p:cNvPr id="34" name="Shape 32"/>
          <p:cNvSpPr/>
          <p:nvPr/>
        </p:nvSpPr>
        <p:spPr>
          <a:xfrm>
            <a:off x="566928" y="5678424"/>
            <a:ext cx="11057839" cy="548640"/>
          </a:xfrm>
          <a:prstGeom prst="roundRect">
            <a:avLst>
              <a:gd name="adj" fmla="val 8333"/>
            </a:avLst>
          </a:prstGeom>
          <a:solidFill>
            <a:srgbClr val="FCEDE0"/>
          </a:solidFill>
          <a:ln w="12700">
            <a:solidFill>
              <a:srgbClr val="D96A16"/>
            </a:solidFill>
            <a:prstDash val="solid"/>
          </a:ln>
        </p:spPr>
      </p:sp>
      <p:sp>
        <p:nvSpPr>
          <p:cNvPr id="35" name="Text 33"/>
          <p:cNvSpPr/>
          <p:nvPr/>
        </p:nvSpPr>
        <p:spPr>
          <a:xfrm>
            <a:off x="768096" y="5678424"/>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Advisory means the operator decides. Closed-loop means the system acts within limits you set. Know which one you are buying.</a:t>
            </a:r>
            <a:endParaRPr lang="en-US" sz="13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Where the money is at your station</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Block five close — and the answer is different at every one of the thirteen groups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6. Performance optimisation</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84</a:t>
            </a:r>
            <a:endParaRPr lang="en-US" sz="950" dirty="0"/>
          </a:p>
        </p:txBody>
      </p:sp>
      <p:sp>
        <p:nvSpPr>
          <p:cNvPr id="7" name="Shape 5"/>
          <p:cNvSpPr/>
          <p:nvPr/>
        </p:nvSpPr>
        <p:spPr>
          <a:xfrm>
            <a:off x="566928"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92808"/>
            <a:ext cx="137160" cy="137160"/>
          </a:xfrm>
          <a:prstGeom prst="ellipse">
            <a:avLst/>
          </a:prstGeom>
          <a:solidFill>
            <a:srgbClr val="D96A16"/>
          </a:solidFill>
          <a:ln/>
        </p:spPr>
      </p:sp>
      <p:sp>
        <p:nvSpPr>
          <p:cNvPr id="9" name="Text 7"/>
          <p:cNvSpPr/>
          <p:nvPr/>
        </p:nvSpPr>
        <p:spPr>
          <a:xfrm>
            <a:off x="969264" y="1792224"/>
            <a:ext cx="485226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If auxiliary power is your whole problem</a:t>
            </a:r>
            <a:endParaRPr lang="en-US" sz="1450" dirty="0"/>
          </a:p>
        </p:txBody>
      </p:sp>
      <p:sp>
        <p:nvSpPr>
          <p:cNvPr id="10" name="Text 8"/>
          <p:cNvSpPr/>
          <p:nvPr/>
        </p:nvSpPr>
        <p:spPr>
          <a:xfrm>
            <a:off x="768096" y="2404872"/>
            <a:ext cx="5016856" cy="960120"/>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Nashik, Khaperkheda 5, Chandrapur 3-7 and Parli 8 all beat their gross heat-rate norm. Every kcal of their penalty is auxiliary. Start with SIM-3.</a:t>
            </a:r>
            <a:endParaRPr lang="en-US" sz="1200" dirty="0"/>
          </a:p>
        </p:txBody>
      </p:sp>
      <p:sp>
        <p:nvSpPr>
          <p:cNvPr id="11" name="Shape 9"/>
          <p:cNvSpPr/>
          <p:nvPr/>
        </p:nvSpPr>
        <p:spPr>
          <a:xfrm>
            <a:off x="6205576"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388456" y="1892808"/>
            <a:ext cx="137160" cy="137160"/>
          </a:xfrm>
          <a:prstGeom prst="ellipse">
            <a:avLst/>
          </a:prstGeom>
          <a:solidFill>
            <a:srgbClr val="D96A16"/>
          </a:solidFill>
          <a:ln/>
        </p:spPr>
      </p:sp>
      <p:sp>
        <p:nvSpPr>
          <p:cNvPr id="13" name="Text 11"/>
          <p:cNvSpPr/>
          <p:nvPr/>
        </p:nvSpPr>
        <p:spPr>
          <a:xfrm>
            <a:off x="6607912" y="1792224"/>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If it is boiler and turbine</a:t>
            </a:r>
            <a:endParaRPr lang="en-US" sz="1450" dirty="0"/>
          </a:p>
        </p:txBody>
      </p:sp>
      <p:sp>
        <p:nvSpPr>
          <p:cNvPr id="14" name="Text 12"/>
          <p:cNvSpPr/>
          <p:nvPr/>
        </p:nvSpPr>
        <p:spPr>
          <a:xfrm>
            <a:off x="6406744" y="2203704"/>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Koradi 8-10 carries a 176 kcal/kWh gross gap, Paras 3-4 89 kcal/kWh and Koradi 6 56 kcal/kWh. Start with combustion, condenser and air heater.</a:t>
            </a:r>
            <a:endParaRPr lang="en-US" sz="1200" dirty="0"/>
          </a:p>
        </p:txBody>
      </p:sp>
      <p:sp>
        <p:nvSpPr>
          <p:cNvPr id="15" name="Shape 13"/>
          <p:cNvSpPr/>
          <p:nvPr/>
        </p:nvSpPr>
        <p:spPr>
          <a:xfrm>
            <a:off x="566928"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749808" y="3895344"/>
            <a:ext cx="137160" cy="137160"/>
          </a:xfrm>
          <a:prstGeom prst="ellipse">
            <a:avLst/>
          </a:prstGeom>
          <a:solidFill>
            <a:srgbClr val="D96A16"/>
          </a:solidFill>
          <a:ln/>
        </p:spPr>
      </p:sp>
      <p:sp>
        <p:nvSpPr>
          <p:cNvPr id="17" name="Text 15"/>
          <p:cNvSpPr/>
          <p:nvPr/>
        </p:nvSpPr>
        <p:spPr>
          <a:xfrm>
            <a:off x="969264"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If it is both</a:t>
            </a:r>
            <a:endParaRPr lang="en-US" sz="1450" dirty="0"/>
          </a:p>
        </p:txBody>
      </p:sp>
      <p:sp>
        <p:nvSpPr>
          <p:cNvPr id="18" name="Text 16"/>
          <p:cNvSpPr/>
          <p:nvPr/>
        </p:nvSpPr>
        <p:spPr>
          <a:xfrm>
            <a:off x="768096"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Bhusawal, Khaperkheda 1-4, Chandrapur 8-9 and Parli 6-7 carry both. Do the decomposition first and stop guessing which half is the larger one.</a:t>
            </a:r>
            <a:endParaRPr lang="en-US" sz="1200" dirty="0"/>
          </a:p>
        </p:txBody>
      </p:sp>
      <p:sp>
        <p:nvSpPr>
          <p:cNvPr id="19" name="Shape 17"/>
          <p:cNvSpPr/>
          <p:nvPr/>
        </p:nvSpPr>
        <p:spPr>
          <a:xfrm>
            <a:off x="6205576"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6388456" y="3895344"/>
            <a:ext cx="137160" cy="137160"/>
          </a:xfrm>
          <a:prstGeom prst="ellipse">
            <a:avLst/>
          </a:prstGeom>
          <a:solidFill>
            <a:srgbClr val="D96A16"/>
          </a:solidFill>
          <a:ln/>
        </p:spPr>
      </p:sp>
      <p:sp>
        <p:nvSpPr>
          <p:cNvPr id="21" name="Text 19"/>
          <p:cNvSpPr/>
          <p:nvPr/>
        </p:nvSpPr>
        <p:spPr>
          <a:xfrm>
            <a:off x="6607912"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The Monday version</a:t>
            </a:r>
            <a:endParaRPr lang="en-US" sz="1450" dirty="0"/>
          </a:p>
        </p:txBody>
      </p:sp>
      <p:sp>
        <p:nvSpPr>
          <p:cNvPr id="22" name="Text 20"/>
          <p:cNvSpPr/>
          <p:nvPr/>
        </p:nvSpPr>
        <p:spPr>
          <a:xfrm>
            <a:off x="6406744"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One unit, one month of historian data, one decomposed loss account. No purchase order and no vendor is required to produce that.</a:t>
            </a:r>
            <a:endParaRPr lang="en-US" sz="1200" dirty="0"/>
          </a:p>
        </p:txBody>
      </p:sp>
      <p:sp>
        <p:nvSpPr>
          <p:cNvPr id="23" name="Shape 21"/>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24" name="Text 22"/>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₹56 crore of net heat-rate gap and ₹33 crore of excess auxiliary power in a single month. Both are addressable with data this company already owns.</a:t>
            </a:r>
            <a:endParaRPr lang="en-US" sz="13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1C2530"/>
        </a:solidFill>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D96A16"/>
          </a:solidFill>
          <a:ln/>
        </p:spPr>
      </p:sp>
      <p:sp>
        <p:nvSpPr>
          <p:cNvPr id="3" name="Text 1"/>
          <p:cNvSpPr/>
          <p:nvPr/>
        </p:nvSpPr>
        <p:spPr>
          <a:xfrm>
            <a:off x="9052560" y="822960"/>
            <a:ext cx="2377440" cy="2011680"/>
          </a:xfrm>
          <a:prstGeom prst="rect">
            <a:avLst/>
          </a:prstGeom>
          <a:noFill/>
          <a:ln/>
        </p:spPr>
        <p:txBody>
          <a:bodyPr wrap="square" lIns="0" tIns="0" rIns="0" bIns="0" rtlCol="0" anchor="ctr"/>
          <a:lstStyle/>
          <a:p>
            <a:pPr algn="r" indent="0" marL="0">
              <a:buNone/>
            </a:pPr>
            <a:r>
              <a:rPr lang="en-US" sz="13200" b="1" dirty="0">
                <a:solidFill>
                  <a:srgbClr val="2C3B4B"/>
                </a:solidFill>
                <a:latin typeface="Cambria" pitchFamily="34" charset="0"/>
                <a:ea typeface="Cambria" pitchFamily="34" charset="-122"/>
                <a:cs typeface="Cambria" pitchFamily="34" charset="-120"/>
              </a:rPr>
              <a:t>7</a:t>
            </a:r>
            <a:endParaRPr lang="en-US" sz="13200" dirty="0"/>
          </a:p>
        </p:txBody>
      </p:sp>
      <p:sp>
        <p:nvSpPr>
          <p:cNvPr id="4" name="Text 2"/>
          <p:cNvSpPr/>
          <p:nvPr/>
        </p:nvSpPr>
        <p:spPr>
          <a:xfrm>
            <a:off x="1051560" y="1920240"/>
            <a:ext cx="9601200" cy="310896"/>
          </a:xfrm>
          <a:prstGeom prst="rect">
            <a:avLst/>
          </a:prstGeom>
          <a:noFill/>
          <a:ln/>
        </p:spPr>
        <p:txBody>
          <a:bodyPr wrap="square" lIns="0" tIns="0" rIns="0" bIns="0" rtlCol="0" anchor="ctr"/>
          <a:lstStyle/>
          <a:p>
            <a:pPr indent="0" marL="0">
              <a:buNone/>
            </a:pPr>
            <a:r>
              <a:rPr lang="en-US" sz="1250" b="1" spc="220" kern="0" dirty="0">
                <a:solidFill>
                  <a:srgbClr val="D96A16"/>
                </a:solidFill>
                <a:latin typeface="Calibri" pitchFamily="34" charset="0"/>
                <a:ea typeface="Calibri" pitchFamily="34" charset="-122"/>
                <a:cs typeface="Calibri" pitchFamily="34" charset="-120"/>
              </a:rPr>
              <a:t>SESSION</a:t>
            </a:r>
            <a:endParaRPr lang="en-US" sz="1250" dirty="0"/>
          </a:p>
        </p:txBody>
      </p:sp>
      <p:sp>
        <p:nvSpPr>
          <p:cNvPr id="5" name="Text 3"/>
          <p:cNvSpPr/>
          <p:nvPr/>
        </p:nvSpPr>
        <p:spPr>
          <a:xfrm>
            <a:off x="1051560" y="2212848"/>
            <a:ext cx="804672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Generative AI, RAG and agents</a:t>
            </a:r>
            <a:endParaRPr lang="en-US" sz="4000" dirty="0"/>
          </a:p>
        </p:txBody>
      </p:sp>
      <p:sp>
        <p:nvSpPr>
          <p:cNvPr id="6" name="Text 4"/>
          <p:cNvSpPr/>
          <p:nvPr/>
        </p:nvSpPr>
        <p:spPr>
          <a:xfrm>
            <a:off x="1051560" y="3529584"/>
            <a:ext cx="8778240" cy="603504"/>
          </a:xfrm>
          <a:prstGeom prst="rect">
            <a:avLst/>
          </a:prstGeom>
          <a:noFill/>
          <a:ln/>
        </p:spPr>
        <p:txBody>
          <a:bodyPr wrap="square" lIns="0" tIns="0" rIns="0" bIns="0" rtlCol="0" anchor="t"/>
          <a:lstStyle/>
          <a:p>
            <a:pPr indent="0" marL="0">
              <a:buNone/>
            </a:pPr>
            <a:r>
              <a:rPr lang="en-US" sz="1500" dirty="0">
                <a:solidFill>
                  <a:srgbClr val="A9B8C6"/>
                </a:solidFill>
                <a:latin typeface="Calibri" pitchFamily="34" charset="0"/>
                <a:ea typeface="Calibri" pitchFamily="34" charset="-122"/>
                <a:cs typeface="Calibri" pitchFamily="34" charset="-120"/>
              </a:rPr>
              <a:t>Turning thirty years of manuals, SOPs and RCA reports into something you can ask a question</a:t>
            </a:r>
            <a:endParaRPr lang="en-US" sz="1500" dirty="0"/>
          </a:p>
        </p:txBody>
      </p:sp>
      <p:sp>
        <p:nvSpPr>
          <p:cNvPr id="7" name="Shape 5"/>
          <p:cNvSpPr/>
          <p:nvPr/>
        </p:nvSpPr>
        <p:spPr>
          <a:xfrm>
            <a:off x="1078992" y="4315968"/>
            <a:ext cx="118872" cy="118872"/>
          </a:xfrm>
          <a:prstGeom prst="ellipse">
            <a:avLst/>
          </a:prstGeom>
          <a:solidFill>
            <a:srgbClr val="D96A16"/>
          </a:solidFill>
          <a:ln/>
        </p:spPr>
      </p:sp>
      <p:sp>
        <p:nvSpPr>
          <p:cNvPr id="8" name="Text 6"/>
          <p:cNvSpPr/>
          <p:nvPr/>
        </p:nvSpPr>
        <p:spPr>
          <a:xfrm>
            <a:off x="1389888" y="4224528"/>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What a language model is, and why it is confident when wrong</a:t>
            </a:r>
            <a:endParaRPr lang="en-US" sz="1250" dirty="0"/>
          </a:p>
        </p:txBody>
      </p:sp>
      <p:sp>
        <p:nvSpPr>
          <p:cNvPr id="9" name="Shape 7"/>
          <p:cNvSpPr/>
          <p:nvPr/>
        </p:nvSpPr>
        <p:spPr>
          <a:xfrm>
            <a:off x="1078992" y="4718304"/>
            <a:ext cx="118872" cy="118872"/>
          </a:xfrm>
          <a:prstGeom prst="ellipse">
            <a:avLst/>
          </a:prstGeom>
          <a:solidFill>
            <a:srgbClr val="D96A16"/>
          </a:solidFill>
          <a:ln/>
        </p:spPr>
      </p:sp>
      <p:sp>
        <p:nvSpPr>
          <p:cNvPr id="10" name="Text 8"/>
          <p:cNvSpPr/>
          <p:nvPr/>
        </p:nvSpPr>
        <p:spPr>
          <a:xfrm>
            <a:off x="1389888" y="4626864"/>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The RAG pipeline, end to end, with citations</a:t>
            </a:r>
            <a:endParaRPr lang="en-US" sz="1250" dirty="0"/>
          </a:p>
        </p:txBody>
      </p:sp>
      <p:sp>
        <p:nvSpPr>
          <p:cNvPr id="11" name="Shape 9"/>
          <p:cNvSpPr/>
          <p:nvPr/>
        </p:nvSpPr>
        <p:spPr>
          <a:xfrm>
            <a:off x="1078992" y="5120640"/>
            <a:ext cx="118872" cy="118872"/>
          </a:xfrm>
          <a:prstGeom prst="ellipse">
            <a:avLst/>
          </a:prstGeom>
          <a:solidFill>
            <a:srgbClr val="D96A16"/>
          </a:solidFill>
          <a:ln/>
        </p:spPr>
      </p:sp>
      <p:sp>
        <p:nvSpPr>
          <p:cNvPr id="12" name="Text 10"/>
          <p:cNvSpPr/>
          <p:nvPr/>
        </p:nvSpPr>
        <p:spPr>
          <a:xfrm>
            <a:off x="1389888" y="5029200"/>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From assistant to agent — the reason-act-observe loop</a:t>
            </a:r>
            <a:endParaRPr lang="en-US" sz="1250" dirty="0"/>
          </a:p>
        </p:txBody>
      </p:sp>
      <p:sp>
        <p:nvSpPr>
          <p:cNvPr id="13" name="Shape 11"/>
          <p:cNvSpPr/>
          <p:nvPr/>
        </p:nvSpPr>
        <p:spPr>
          <a:xfrm>
            <a:off x="1078992" y="5522976"/>
            <a:ext cx="118872" cy="118872"/>
          </a:xfrm>
          <a:prstGeom prst="ellipse">
            <a:avLst/>
          </a:prstGeom>
          <a:solidFill>
            <a:srgbClr val="D96A16"/>
          </a:solidFill>
          <a:ln/>
        </p:spPr>
      </p:sp>
      <p:sp>
        <p:nvSpPr>
          <p:cNvPr id="14" name="Text 12"/>
          <p:cNvSpPr/>
          <p:nvPr/>
        </p:nvSpPr>
        <p:spPr>
          <a:xfrm>
            <a:off x="1389888" y="5431536"/>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Where it will let you down, and what to never use it for</a:t>
            </a:r>
            <a:endParaRPr lang="en-US" sz="1250" dirty="0"/>
          </a:p>
        </p:txBody>
      </p:sp>
      <p:sp>
        <p:nvSpPr>
          <p:cNvPr id="15" name="Shape 13"/>
          <p:cNvSpPr/>
          <p:nvPr/>
        </p:nvSpPr>
        <p:spPr>
          <a:xfrm>
            <a:off x="9281160" y="4224528"/>
            <a:ext cx="1965960" cy="859536"/>
          </a:xfrm>
          <a:prstGeom prst="roundRect">
            <a:avLst>
              <a:gd name="adj" fmla="val 6383"/>
            </a:avLst>
          </a:prstGeom>
          <a:solidFill>
            <a:srgbClr val="2A3644"/>
          </a:solidFill>
          <a:ln w="12700">
            <a:solidFill>
              <a:srgbClr val="D96A16"/>
            </a:solidFill>
            <a:prstDash val="solid"/>
          </a:ln>
        </p:spPr>
      </p:sp>
      <p:sp>
        <p:nvSpPr>
          <p:cNvPr id="16" name="Text 14"/>
          <p:cNvSpPr/>
          <p:nvPr/>
        </p:nvSpPr>
        <p:spPr>
          <a:xfrm>
            <a:off x="9281160" y="4334256"/>
            <a:ext cx="1965960" cy="384048"/>
          </a:xfrm>
          <a:prstGeom prst="rect">
            <a:avLst/>
          </a:prstGeom>
          <a:noFill/>
          <a:ln/>
        </p:spPr>
        <p:txBody>
          <a:bodyPr wrap="square" lIns="0" tIns="0" rIns="0" bIns="0" rtlCol="0" anchor="ctr"/>
          <a:lstStyle/>
          <a:p>
            <a:pPr algn="ctr" indent="0" marL="0">
              <a:buNone/>
            </a:pPr>
            <a:r>
              <a:rPr lang="en-US" sz="1600" b="1" dirty="0">
                <a:solidFill>
                  <a:srgbClr val="D96A16"/>
                </a:solidFill>
                <a:latin typeface="Cambria" pitchFamily="34" charset="0"/>
                <a:ea typeface="Cambria" pitchFamily="34" charset="-122"/>
                <a:cs typeface="Cambria" pitchFamily="34" charset="-120"/>
              </a:rPr>
              <a:t>15:55 – 16:28</a:t>
            </a:r>
            <a:endParaRPr lang="en-US" sz="1600" dirty="0"/>
          </a:p>
        </p:txBody>
      </p:sp>
      <p:sp>
        <p:nvSpPr>
          <p:cNvPr id="17" name="Text 15"/>
          <p:cNvSpPr/>
          <p:nvPr/>
        </p:nvSpPr>
        <p:spPr>
          <a:xfrm>
            <a:off x="9281160" y="4700016"/>
            <a:ext cx="1965960" cy="310896"/>
          </a:xfrm>
          <a:prstGeom prst="rect">
            <a:avLst/>
          </a:prstGeom>
          <a:noFill/>
          <a:ln/>
        </p:spPr>
        <p:txBody>
          <a:bodyPr wrap="square" lIns="0" tIns="0" rIns="0" bIns="0" rtlCol="0" anchor="ctr"/>
          <a:lstStyle/>
          <a:p>
            <a:pPr algn="ctr" indent="0" marL="0">
              <a:buNone/>
            </a:pPr>
            <a:r>
              <a:rPr lang="en-US" sz="1100" dirty="0">
                <a:solidFill>
                  <a:srgbClr val="9BAAB8"/>
                </a:solidFill>
                <a:latin typeface="Calibri" pitchFamily="34" charset="0"/>
                <a:ea typeface="Calibri" pitchFamily="34" charset="-122"/>
                <a:cs typeface="Calibri" pitchFamily="34" charset="-120"/>
              </a:rPr>
              <a:t>33 minutes</a:t>
            </a:r>
            <a:endParaRPr lang="en-US" sz="1100" dirty="0"/>
          </a:p>
        </p:txBody>
      </p:sp>
      <p:sp>
        <p:nvSpPr>
          <p:cNvPr id="18" name="Text 16"/>
          <p:cNvSpPr/>
          <p:nvPr/>
        </p:nvSpPr>
        <p:spPr>
          <a:xfrm>
            <a:off x="1051560" y="5797296"/>
            <a:ext cx="9601200" cy="329184"/>
          </a:xfrm>
          <a:prstGeom prst="rect">
            <a:avLst/>
          </a:prstGeom>
          <a:noFill/>
          <a:ln/>
        </p:spPr>
        <p:txBody>
          <a:bodyPr wrap="square" lIns="0" tIns="0" rIns="0" bIns="0" rtlCol="0" anchor="ctr"/>
          <a:lstStyle/>
          <a:p>
            <a:pPr indent="0" marL="0">
              <a:buNone/>
            </a:pPr>
            <a:r>
              <a:rPr lang="en-US" sz="1200" i="1" dirty="0">
                <a:solidFill>
                  <a:srgbClr val="86C0C9"/>
                </a:solidFill>
                <a:latin typeface="Calibri" pitchFamily="34" charset="0"/>
                <a:ea typeface="Calibri" pitchFamily="34" charset="-122"/>
                <a:cs typeface="Calibri" pitchFamily="34" charset="-120"/>
              </a:rPr>
              <a:t>Hands-on: SIM-7 and SIM-8</a:t>
            </a:r>
            <a:endParaRPr lang="en-US" sz="1200" dirty="0"/>
          </a:p>
        </p:txBody>
      </p:sp>
      <p:sp>
        <p:nvSpPr>
          <p:cNvPr id="19" name="Text 17"/>
          <p:cNvSpPr/>
          <p:nvPr/>
        </p:nvSpPr>
        <p:spPr>
          <a:xfrm>
            <a:off x="11140135" y="6419088"/>
            <a:ext cx="502920" cy="274320"/>
          </a:xfrm>
          <a:prstGeom prst="rect">
            <a:avLst/>
          </a:prstGeom>
          <a:noFill/>
          <a:ln/>
        </p:spPr>
        <p:txBody>
          <a:bodyPr wrap="square" lIns="0" tIns="0" rIns="0" bIns="0" rtlCol="0" anchor="ctr"/>
          <a:lstStyle/>
          <a:p>
            <a:pPr algn="r" indent="0" marL="0">
              <a:buNone/>
            </a:pPr>
            <a:r>
              <a:rPr lang="en-US" sz="950" dirty="0">
                <a:solidFill>
                  <a:srgbClr val="5E6E7C"/>
                </a:solidFill>
                <a:latin typeface="Calibri" pitchFamily="34" charset="0"/>
                <a:ea typeface="Calibri" pitchFamily="34" charset="-122"/>
                <a:cs typeface="Calibri" pitchFamily="34" charset="-120"/>
              </a:rPr>
              <a:t>85</a:t>
            </a:r>
            <a:endParaRPr lang="en-US" sz="9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What a language model actually is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Next-token prediction — and why it sounds most confident exactly when it is wrong</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7. Generative AI, RAG and agents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86</a:t>
            </a:r>
            <a:endParaRPr lang="en-US" sz="950" dirty="0"/>
          </a:p>
        </p:txBody>
      </p:sp>
      <p:sp>
        <p:nvSpPr>
          <p:cNvPr id="7" name="Shape 5"/>
          <p:cNvSpPr/>
          <p:nvPr/>
        </p:nvSpPr>
        <p:spPr>
          <a:xfrm>
            <a:off x="566928" y="1627632"/>
            <a:ext cx="5382616" cy="3886200"/>
          </a:xfrm>
          <a:prstGeom prst="roundRect">
            <a:avLst>
              <a:gd name="adj" fmla="val 141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841248" y="1847088"/>
            <a:ext cx="4833976" cy="292608"/>
          </a:xfrm>
          <a:prstGeom prst="rect">
            <a:avLst/>
          </a:prstGeom>
          <a:noFill/>
          <a:ln/>
        </p:spPr>
        <p:txBody>
          <a:bodyPr wrap="square" lIns="0" tIns="0" rIns="0" bIns="0" rtlCol="0" anchor="ctr"/>
          <a:lstStyle/>
          <a:p>
            <a:pPr indent="0" marL="0">
              <a:buNone/>
            </a:pPr>
            <a:r>
              <a:rPr lang="en-US" sz="1150" b="1" spc="120" kern="0" dirty="0">
                <a:solidFill>
                  <a:srgbClr val="3B4A5A"/>
                </a:solidFill>
                <a:latin typeface="Calibri" pitchFamily="34" charset="0"/>
                <a:ea typeface="Calibri" pitchFamily="34" charset="-122"/>
                <a:cs typeface="Calibri" pitchFamily="34" charset="-120"/>
              </a:rPr>
              <a:t>WHAT IT IS — A MODEL OF LANGUAGE</a:t>
            </a:r>
            <a:endParaRPr lang="en-US" sz="1150" dirty="0"/>
          </a:p>
        </p:txBody>
      </p:sp>
      <p:sp>
        <p:nvSpPr>
          <p:cNvPr id="9" name="Text 7"/>
          <p:cNvSpPr/>
          <p:nvPr/>
        </p:nvSpPr>
        <p:spPr>
          <a:xfrm>
            <a:off x="841248" y="2176272"/>
            <a:ext cx="4833976" cy="1170432"/>
          </a:xfrm>
          <a:prstGeom prst="rect">
            <a:avLst/>
          </a:prstGeom>
          <a:noFill/>
          <a:ln/>
        </p:spPr>
        <p:txBody>
          <a:bodyPr wrap="square" lIns="0" tIns="0" rIns="0" bIns="0" rtlCol="0" anchor="t"/>
          <a:lstStyle/>
          <a:p>
            <a:pPr indent="0" marL="0">
              <a:buNone/>
            </a:pPr>
            <a:r>
              <a:rPr lang="en-US" sz="2700" b="1" dirty="0">
                <a:solidFill>
                  <a:srgbClr val="1C2530"/>
                </a:solidFill>
                <a:latin typeface="Cambria" pitchFamily="34" charset="0"/>
                <a:ea typeface="Cambria" pitchFamily="34" charset="-122"/>
                <a:cs typeface="Cambria" pitchFamily="34" charset="-120"/>
              </a:rPr>
              <a:t>A very good guess at the next word</a:t>
            </a:r>
            <a:endParaRPr lang="en-US" sz="2700" dirty="0"/>
          </a:p>
        </p:txBody>
      </p:sp>
      <p:sp>
        <p:nvSpPr>
          <p:cNvPr id="10" name="Text 8"/>
          <p:cNvSpPr/>
          <p:nvPr/>
        </p:nvSpPr>
        <p:spPr>
          <a:xfrm>
            <a:off x="841248" y="3547872"/>
            <a:ext cx="4833976" cy="1856232"/>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It was trained on an enormous quantity of text to predict what word comes next. Everything it does — summarising, drafting, explaining, translating between Marathi and English — is that single operation repeated. It has learned the shape of technical writing extremely well.</a:t>
            </a:r>
            <a:endParaRPr lang="en-US" sz="1350" dirty="0"/>
          </a:p>
        </p:txBody>
      </p:sp>
      <p:sp>
        <p:nvSpPr>
          <p:cNvPr id="11" name="Shape 9"/>
          <p:cNvSpPr/>
          <p:nvPr/>
        </p:nvSpPr>
        <p:spPr>
          <a:xfrm>
            <a:off x="6242152" y="1627632"/>
            <a:ext cx="5382616" cy="3886200"/>
          </a:xfrm>
          <a:prstGeom prst="roundRect">
            <a:avLst>
              <a:gd name="adj" fmla="val 1412"/>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10"/>
          <p:cNvSpPr/>
          <p:nvPr/>
        </p:nvSpPr>
        <p:spPr>
          <a:xfrm>
            <a:off x="6516472" y="1847088"/>
            <a:ext cx="4833976" cy="292608"/>
          </a:xfrm>
          <a:prstGeom prst="rect">
            <a:avLst/>
          </a:prstGeom>
          <a:noFill/>
          <a:ln/>
        </p:spPr>
        <p:txBody>
          <a:bodyPr wrap="square" lIns="0" tIns="0" rIns="0" bIns="0" rtlCol="0" anchor="ctr"/>
          <a:lstStyle/>
          <a:p>
            <a:pPr indent="0" marL="0">
              <a:buNone/>
            </a:pPr>
            <a:r>
              <a:rPr lang="en-US" sz="1150" b="1" spc="120" kern="0" dirty="0">
                <a:solidFill>
                  <a:srgbClr val="D96A16"/>
                </a:solidFill>
                <a:latin typeface="Calibri" pitchFamily="34" charset="0"/>
                <a:ea typeface="Calibri" pitchFamily="34" charset="-122"/>
                <a:cs typeface="Calibri" pitchFamily="34" charset="-120"/>
              </a:rPr>
              <a:t>WHAT IT IS NOT — A SOURCE OF TRUTH</a:t>
            </a:r>
            <a:endParaRPr lang="en-US" sz="1150" dirty="0"/>
          </a:p>
        </p:txBody>
      </p:sp>
      <p:sp>
        <p:nvSpPr>
          <p:cNvPr id="13" name="Text 11"/>
          <p:cNvSpPr/>
          <p:nvPr/>
        </p:nvSpPr>
        <p:spPr>
          <a:xfrm>
            <a:off x="6516472" y="2176272"/>
            <a:ext cx="4833976" cy="1170432"/>
          </a:xfrm>
          <a:prstGeom prst="rect">
            <a:avLst/>
          </a:prstGeom>
          <a:noFill/>
          <a:ln/>
        </p:spPr>
        <p:txBody>
          <a:bodyPr wrap="square" lIns="0" tIns="0" rIns="0" bIns="0" rtlCol="0" anchor="t"/>
          <a:lstStyle/>
          <a:p>
            <a:pPr indent="0" marL="0">
              <a:buNone/>
            </a:pPr>
            <a:r>
              <a:rPr lang="en-US" sz="2700" b="1" dirty="0">
                <a:solidFill>
                  <a:srgbClr val="1C2530"/>
                </a:solidFill>
                <a:latin typeface="Cambria" pitchFamily="34" charset="0"/>
                <a:ea typeface="Cambria" pitchFamily="34" charset="-122"/>
                <a:cs typeface="Cambria" pitchFamily="34" charset="-120"/>
              </a:rPr>
              <a:t>It has no idea what is true</a:t>
            </a:r>
            <a:endParaRPr lang="en-US" sz="2700" dirty="0"/>
          </a:p>
        </p:txBody>
      </p:sp>
      <p:sp>
        <p:nvSpPr>
          <p:cNvPr id="14" name="Text 12"/>
          <p:cNvSpPr/>
          <p:nvPr/>
        </p:nvSpPr>
        <p:spPr>
          <a:xfrm>
            <a:off x="6516472" y="3547872"/>
            <a:ext cx="4833976" cy="1856232"/>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There is no database inside it and no lookup step. A plausible sentence and a correct sentence feel identical to it, so it produces both in the same fluent, confident, well-formatted English. Fluency is not evidence. Confidence is not accuracy.</a:t>
            </a:r>
            <a:endParaRPr lang="en-US" sz="1350" dirty="0"/>
          </a:p>
        </p:txBody>
      </p:sp>
      <p:sp>
        <p:nvSpPr>
          <p:cNvPr id="15" name="Shape 13"/>
          <p:cNvSpPr/>
          <p:nvPr/>
        </p:nvSpPr>
        <p:spPr>
          <a:xfrm>
            <a:off x="566928" y="56967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6967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A brilliant assistant and a terrible authority. Treat every unsourced answer as a draft written by somebody who has never seen your plant.</a:t>
            </a:r>
            <a:endParaRPr lang="en-US" sz="13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plant knowledge problem</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Everything you need to answer a question at two in the morning, and none of it findable</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7. Generative AI, RAG and agents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87</a:t>
            </a:r>
            <a:endParaRPr lang="en-US" sz="950" dirty="0"/>
          </a:p>
        </p:txBody>
      </p:sp>
      <p:sp>
        <p:nvSpPr>
          <p:cNvPr id="7" name="Shape 5"/>
          <p:cNvSpPr/>
          <p:nvPr/>
        </p:nvSpPr>
        <p:spPr>
          <a:xfrm>
            <a:off x="566928"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10512"/>
            <a:ext cx="137160" cy="137160"/>
          </a:xfrm>
          <a:prstGeom prst="ellipse">
            <a:avLst/>
          </a:prstGeom>
          <a:solidFill>
            <a:srgbClr val="D96A16"/>
          </a:solidFill>
          <a:ln/>
        </p:spPr>
      </p:sp>
      <p:sp>
        <p:nvSpPr>
          <p:cNvPr id="9" name="Text 7"/>
          <p:cNvSpPr/>
          <p:nvPr/>
        </p:nvSpPr>
        <p:spPr>
          <a:xfrm>
            <a:off x="969264" y="1709928"/>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OEM manuals</a:t>
            </a:r>
            <a:endParaRPr lang="en-US" sz="1450" dirty="0"/>
          </a:p>
        </p:txBody>
      </p:sp>
      <p:sp>
        <p:nvSpPr>
          <p:cNvPr id="10" name="Text 8"/>
          <p:cNvSpPr/>
          <p:nvPr/>
        </p:nvSpPr>
        <p:spPr>
          <a:xfrm>
            <a:off x="768096" y="2121408"/>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Thousands of pages per package, across several vendors and several decades. Searchable only by whoever remembers which volume it was in.</a:t>
            </a:r>
            <a:endParaRPr lang="en-US" sz="1200" dirty="0"/>
          </a:p>
        </p:txBody>
      </p:sp>
      <p:sp>
        <p:nvSpPr>
          <p:cNvPr id="11" name="Shape 9"/>
          <p:cNvSpPr/>
          <p:nvPr/>
        </p:nvSpPr>
        <p:spPr>
          <a:xfrm>
            <a:off x="4326026"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4508906" y="1810512"/>
            <a:ext cx="137160" cy="137160"/>
          </a:xfrm>
          <a:prstGeom prst="ellipse">
            <a:avLst/>
          </a:prstGeom>
          <a:solidFill>
            <a:srgbClr val="D96A16"/>
          </a:solidFill>
          <a:ln/>
        </p:spPr>
      </p:sp>
      <p:sp>
        <p:nvSpPr>
          <p:cNvPr id="13" name="Text 11"/>
          <p:cNvSpPr/>
          <p:nvPr/>
        </p:nvSpPr>
        <p:spPr>
          <a:xfrm>
            <a:off x="4728362" y="1709928"/>
            <a:ext cx="297271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SOPs and operating instructions</a:t>
            </a:r>
            <a:endParaRPr lang="en-US" sz="1450" dirty="0"/>
          </a:p>
        </p:txBody>
      </p:sp>
      <p:sp>
        <p:nvSpPr>
          <p:cNvPr id="14" name="Text 12"/>
          <p:cNvSpPr/>
          <p:nvPr/>
        </p:nvSpPr>
        <p:spPr>
          <a:xfrm>
            <a:off x="4527194" y="2322576"/>
            <a:ext cx="3137306" cy="1042416"/>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Written, revised, superseded. The current version and three obsolete ones sit in the same folder with almost the same file name.</a:t>
            </a:r>
            <a:endParaRPr lang="en-US" sz="1200" dirty="0"/>
          </a:p>
        </p:txBody>
      </p:sp>
      <p:sp>
        <p:nvSpPr>
          <p:cNvPr id="15" name="Shape 13"/>
          <p:cNvSpPr/>
          <p:nvPr/>
        </p:nvSpPr>
        <p:spPr>
          <a:xfrm>
            <a:off x="8085125"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8268005" y="1810512"/>
            <a:ext cx="137160" cy="137160"/>
          </a:xfrm>
          <a:prstGeom prst="ellipse">
            <a:avLst/>
          </a:prstGeom>
          <a:solidFill>
            <a:srgbClr val="D96A16"/>
          </a:solidFill>
          <a:ln/>
        </p:spPr>
      </p:sp>
      <p:sp>
        <p:nvSpPr>
          <p:cNvPr id="17" name="Text 15"/>
          <p:cNvSpPr/>
          <p:nvPr/>
        </p:nvSpPr>
        <p:spPr>
          <a:xfrm>
            <a:off x="8487461" y="1709928"/>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RCA and trip reports</a:t>
            </a:r>
            <a:endParaRPr lang="en-US" sz="1450" dirty="0"/>
          </a:p>
        </p:txBody>
      </p:sp>
      <p:sp>
        <p:nvSpPr>
          <p:cNvPr id="18" name="Text 16"/>
          <p:cNvSpPr/>
          <p:nvPr/>
        </p:nvSpPr>
        <p:spPr>
          <a:xfrm>
            <a:off x="8286293" y="2121408"/>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The most valuable documents on the station. Written once, filed, and almost never read again by anyone outside the original committee.</a:t>
            </a:r>
            <a:endParaRPr lang="en-US" sz="1200" dirty="0"/>
          </a:p>
        </p:txBody>
      </p:sp>
      <p:sp>
        <p:nvSpPr>
          <p:cNvPr id="19" name="Shape 17"/>
          <p:cNvSpPr/>
          <p:nvPr/>
        </p:nvSpPr>
        <p:spPr>
          <a:xfrm>
            <a:off x="566928"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749808" y="3895344"/>
            <a:ext cx="137160" cy="137160"/>
          </a:xfrm>
          <a:prstGeom prst="ellipse">
            <a:avLst/>
          </a:prstGeom>
          <a:solidFill>
            <a:srgbClr val="D96A16"/>
          </a:solidFill>
          <a:ln/>
        </p:spPr>
      </p:sp>
      <p:sp>
        <p:nvSpPr>
          <p:cNvPr id="21" name="Text 19"/>
          <p:cNvSpPr/>
          <p:nvPr/>
        </p:nvSpPr>
        <p:spPr>
          <a:xfrm>
            <a:off x="969264" y="379476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Defect and work-order history</a:t>
            </a:r>
            <a:endParaRPr lang="en-US" sz="1450" dirty="0"/>
          </a:p>
        </p:txBody>
      </p:sp>
      <p:sp>
        <p:nvSpPr>
          <p:cNvPr id="22" name="Text 20"/>
          <p:cNvSpPr/>
          <p:nvPr/>
        </p:nvSpPr>
        <p:spPr>
          <a:xfrm>
            <a:off x="768096" y="4206240"/>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Years of CMMS free text. Every fault this station has ever had is in there, in a form nobody can count or sort.</a:t>
            </a:r>
            <a:endParaRPr lang="en-US" sz="1200" dirty="0"/>
          </a:p>
        </p:txBody>
      </p:sp>
      <p:sp>
        <p:nvSpPr>
          <p:cNvPr id="23" name="Shape 21"/>
          <p:cNvSpPr/>
          <p:nvPr/>
        </p:nvSpPr>
        <p:spPr>
          <a:xfrm>
            <a:off x="4326026"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4" name="Shape 22"/>
          <p:cNvSpPr/>
          <p:nvPr/>
        </p:nvSpPr>
        <p:spPr>
          <a:xfrm>
            <a:off x="4508906" y="3895344"/>
            <a:ext cx="137160" cy="137160"/>
          </a:xfrm>
          <a:prstGeom prst="ellipse">
            <a:avLst/>
          </a:prstGeom>
          <a:solidFill>
            <a:srgbClr val="D96A16"/>
          </a:solidFill>
          <a:ln/>
        </p:spPr>
      </p:sp>
      <p:sp>
        <p:nvSpPr>
          <p:cNvPr id="25" name="Text 23"/>
          <p:cNvSpPr/>
          <p:nvPr/>
        </p:nvSpPr>
        <p:spPr>
          <a:xfrm>
            <a:off x="4728362" y="3794760"/>
            <a:ext cx="297271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Drawings and protection settings</a:t>
            </a:r>
            <a:endParaRPr lang="en-US" sz="1450" dirty="0"/>
          </a:p>
        </p:txBody>
      </p:sp>
      <p:sp>
        <p:nvSpPr>
          <p:cNvPr id="26" name="Text 24"/>
          <p:cNvSpPr/>
          <p:nvPr/>
        </p:nvSpPr>
        <p:spPr>
          <a:xfrm>
            <a:off x="4527194" y="4407408"/>
            <a:ext cx="3137306" cy="1042416"/>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P&amp;IDs, single-line diagrams, relay settings, interlock schemes — the highest-consequence documents, held under the strictest version control.</a:t>
            </a:r>
            <a:endParaRPr lang="en-US" sz="1200" dirty="0"/>
          </a:p>
        </p:txBody>
      </p:sp>
      <p:sp>
        <p:nvSpPr>
          <p:cNvPr id="27" name="Shape 25"/>
          <p:cNvSpPr/>
          <p:nvPr/>
        </p:nvSpPr>
        <p:spPr>
          <a:xfrm>
            <a:off x="8085125"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Shape 26"/>
          <p:cNvSpPr/>
          <p:nvPr/>
        </p:nvSpPr>
        <p:spPr>
          <a:xfrm>
            <a:off x="8268005" y="3895344"/>
            <a:ext cx="137160" cy="137160"/>
          </a:xfrm>
          <a:prstGeom prst="ellipse">
            <a:avLst/>
          </a:prstGeom>
          <a:solidFill>
            <a:srgbClr val="D96A16"/>
          </a:solidFill>
          <a:ln/>
        </p:spPr>
      </p:sp>
      <p:sp>
        <p:nvSpPr>
          <p:cNvPr id="29" name="Text 27"/>
          <p:cNvSpPr/>
          <p:nvPr/>
        </p:nvSpPr>
        <p:spPr>
          <a:xfrm>
            <a:off x="8487461" y="379476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Tacit knowledge</a:t>
            </a:r>
            <a:endParaRPr lang="en-US" sz="1450" dirty="0"/>
          </a:p>
        </p:txBody>
      </p:sp>
      <p:sp>
        <p:nvSpPr>
          <p:cNvPr id="30" name="Text 28"/>
          <p:cNvSpPr/>
          <p:nvPr/>
        </p:nvSpPr>
        <p:spPr>
          <a:xfrm>
            <a:off x="8286293" y="4206240"/>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The engineer who knows why that damper has been at 40 per cent since 2014. That knowledge walks out of the gate on the day he retires.</a:t>
            </a:r>
            <a:endParaRPr lang="en-US" sz="1200" dirty="0"/>
          </a:p>
        </p:txBody>
      </p:sp>
      <p:sp>
        <p:nvSpPr>
          <p:cNvPr id="31" name="Shape 29"/>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32" name="Text 30"/>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None of this is a data problem. All of it is a language problem — and language is the one thing this technology is genuinely good at.</a:t>
            </a:r>
            <a:endParaRPr lang="en-US" sz="13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Three ways to make a model know your plant</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Prompting, retrieval and fine-tuning — and only one of them belongs in a power station</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7. Generative AI, RAG and agents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88</a:t>
            </a:r>
            <a:endParaRPr lang="en-US" sz="950" dirty="0"/>
          </a:p>
        </p:txBody>
      </p:sp>
      <p:graphicFrame>
        <p:nvGraphicFramePr>
          <p:cNvPr id="89" name="Table 0"/>
          <p:cNvGraphicFramePr>
            <a:graphicFrameLocks noGrp="1"/>
          </p:cNvGraphicFramePr>
          <p:nvPr>
            <p:extLst>
              <p:ext uri="{D42A27DB-BD31-4B8C-83A1-F6EECF244321}">
                <p14:modId xmlns:p14="http://schemas.microsoft.com/office/powerpoint/2010/main" val="1579011935"/>
              </p:ext>
            </p:extLst>
          </p:nvPr>
        </p:nvGraphicFramePr>
        <p:xfrm>
          <a:off x="566928" y="1828800"/>
          <a:ext cx="11057839" cy="914400"/>
        </p:xfrm>
        <a:graphic>
          <a:graphicData uri="http://schemas.openxmlformats.org/drawingml/2006/table">
            <a:tbl>
              <a:tblPr/>
              <a:tblGrid>
                <a:gridCol w="1597087"/>
                <a:gridCol w="3904001"/>
                <a:gridCol w="2705625"/>
                <a:gridCol w="2851126"/>
              </a:tblGrid>
              <a:tr h="731520">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Approach</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What it needs</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When knowledge updates</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When it is the right choice</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r>
              <a:tr h="731520">
                <a:tc>
                  <a:txBody>
                    <a:bodyPr/>
                    <a:lstStyle/>
                    <a:p>
                      <a:pPr algn="l" indent="0" marL="0">
                        <a:buNone/>
                      </a:pPr>
                      <a:r>
                        <a:rPr lang="en-US" sz="1350" b="1" dirty="0">
                          <a:solidFill>
                            <a:srgbClr val="1C2530"/>
                          </a:solidFill>
                          <a:latin typeface="Calibri" pitchFamily="34" charset="0"/>
                          <a:ea typeface="Calibri" pitchFamily="34" charset="-122"/>
                          <a:cs typeface="Calibri" pitchFamily="34" charset="-120"/>
                        </a:rPr>
                        <a:t>Prompting</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50" dirty="0">
                          <a:solidFill>
                            <a:srgbClr val="1C2530"/>
                          </a:solidFill>
                          <a:latin typeface="Calibri" pitchFamily="34" charset="0"/>
                          <a:ea typeface="Calibri" pitchFamily="34" charset="-122"/>
                          <a:cs typeface="Calibri" pitchFamily="34" charset="-120"/>
                        </a:rPr>
                        <a:t>You paste the relevant text into the question yourself</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50" dirty="0">
                          <a:solidFill>
                            <a:srgbClr val="1C2530"/>
                          </a:solidFill>
                          <a:latin typeface="Calibri" pitchFamily="34" charset="0"/>
                          <a:ea typeface="Calibri" pitchFamily="34" charset="-122"/>
                          <a:cs typeface="Calibri" pitchFamily="34" charset="-120"/>
                        </a:rPr>
                        <a:t>Only what you pasted, only this time</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50" dirty="0">
                          <a:solidFill>
                            <a:srgbClr val="1C2530"/>
                          </a:solidFill>
                          <a:latin typeface="Calibri" pitchFamily="34" charset="0"/>
                          <a:ea typeface="Calibri" pitchFamily="34" charset="-122"/>
                          <a:cs typeface="Calibri" pitchFamily="34" charset="-120"/>
                        </a:rPr>
                        <a:t>One-off questions on a document already open in front of you</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731520">
                <a:tc>
                  <a:txBody>
                    <a:bodyPr/>
                    <a:lstStyle/>
                    <a:p>
                      <a:pPr algn="l" indent="0" marL="0">
                        <a:buNone/>
                      </a:pPr>
                      <a:r>
                        <a:rPr lang="en-US" sz="1350" b="1" dirty="0">
                          <a:solidFill>
                            <a:srgbClr val="1C2530"/>
                          </a:solidFill>
                          <a:latin typeface="Calibri" pitchFamily="34" charset="0"/>
                          <a:ea typeface="Calibri" pitchFamily="34" charset="-122"/>
                          <a:cs typeface="Calibri" pitchFamily="34" charset="-120"/>
                        </a:rPr>
                        <a:t>Retrieval (RAG)</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C2530"/>
                          </a:solidFill>
                          <a:latin typeface="Calibri" pitchFamily="34" charset="0"/>
                          <a:ea typeface="Calibri" pitchFamily="34" charset="-122"/>
                          <a:cs typeface="Calibri" pitchFamily="34" charset="-120"/>
                        </a:rPr>
                        <a:t>Your documents, indexed and tagged with unit, revision and date</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C2530"/>
                          </a:solidFill>
                          <a:latin typeface="Calibri" pitchFamily="34" charset="0"/>
                          <a:ea typeface="Calibri" pitchFamily="34" charset="-122"/>
                          <a:cs typeface="Calibri" pitchFamily="34" charset="-120"/>
                        </a:rPr>
                        <a:t>The moment you re-index a revised document</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C2530"/>
                          </a:solidFill>
                          <a:latin typeface="Calibri" pitchFamily="34" charset="0"/>
                          <a:ea typeface="Calibri" pitchFamily="34" charset="-122"/>
                          <a:cs typeface="Calibri" pitchFamily="34" charset="-120"/>
                        </a:rPr>
                        <a:t>Almost always — this is the answer for a power station</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731520">
                <a:tc>
                  <a:txBody>
                    <a:bodyPr/>
                    <a:lstStyle/>
                    <a:p>
                      <a:pPr algn="l" indent="0" marL="0">
                        <a:buNone/>
                      </a:pPr>
                      <a:r>
                        <a:rPr lang="en-US" sz="1350" b="1" dirty="0">
                          <a:solidFill>
                            <a:srgbClr val="1C2530"/>
                          </a:solidFill>
                          <a:latin typeface="Calibri" pitchFamily="34" charset="0"/>
                          <a:ea typeface="Calibri" pitchFamily="34" charset="-122"/>
                          <a:cs typeface="Calibri" pitchFamily="34" charset="-120"/>
                        </a:rPr>
                        <a:t>Fine-tuning</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50" dirty="0">
                          <a:solidFill>
                            <a:srgbClr val="1C2530"/>
                          </a:solidFill>
                          <a:latin typeface="Calibri" pitchFamily="34" charset="0"/>
                          <a:ea typeface="Calibri" pitchFamily="34" charset="-122"/>
                          <a:cs typeface="Calibri" pitchFamily="34" charset="-120"/>
                        </a:rPr>
                        <a:t>Thousands of curated question-and-answer pairs, and GPU time</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50" dirty="0">
                          <a:solidFill>
                            <a:srgbClr val="1C2530"/>
                          </a:solidFill>
                          <a:latin typeface="Calibri" pitchFamily="34" charset="0"/>
                          <a:ea typeface="Calibri" pitchFamily="34" charset="-122"/>
                          <a:cs typeface="Calibri" pitchFamily="34" charset="-120"/>
                        </a:rPr>
                        <a:t>Never, until you retrain and re-validate the whole model</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50" dirty="0">
                          <a:solidFill>
                            <a:srgbClr val="1C2530"/>
                          </a:solidFill>
                          <a:latin typeface="Calibri" pitchFamily="34" charset="0"/>
                          <a:ea typeface="Calibri" pitchFamily="34" charset="-122"/>
                          <a:cs typeface="Calibri" pitchFamily="34" charset="-120"/>
                        </a:rPr>
                        <a:t>Almost never — for tone and format, not for facts</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bl>
          </a:graphicData>
        </a:graphic>
      </p:graphicFrame>
      <p:sp>
        <p:nvSpPr>
          <p:cNvPr id="8" name="Shape 5"/>
          <p:cNvSpPr/>
          <p:nvPr/>
        </p:nvSpPr>
        <p:spPr>
          <a:xfrm>
            <a:off x="566928" y="4919472"/>
            <a:ext cx="11057839" cy="548640"/>
          </a:xfrm>
          <a:prstGeom prst="roundRect">
            <a:avLst>
              <a:gd name="adj" fmla="val 8333"/>
            </a:avLst>
          </a:prstGeom>
          <a:solidFill>
            <a:srgbClr val="FCEDE0"/>
          </a:solidFill>
          <a:ln w="12700">
            <a:solidFill>
              <a:srgbClr val="D96A16"/>
            </a:solidFill>
            <a:prstDash val="solid"/>
          </a:ln>
        </p:spPr>
      </p:sp>
      <p:sp>
        <p:nvSpPr>
          <p:cNvPr id="9" name="Text 6"/>
          <p:cNvSpPr/>
          <p:nvPr/>
        </p:nvSpPr>
        <p:spPr>
          <a:xfrm>
            <a:off x="768096" y="491947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Fine-tuning teaches a model how to speak. Retrieval teaches it what is true today. Your revision-control problem is a retrieval problem.</a:t>
            </a:r>
            <a:endParaRPr lang="en-US" sz="13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RAG, explained properly</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Search first, then answer — and show the passage the answer came from</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7. Generative AI, RAG and agents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89</a:t>
            </a:r>
            <a:endParaRPr lang="en-US" sz="950" dirty="0"/>
          </a:p>
        </p:txBody>
      </p:sp>
      <p:sp>
        <p:nvSpPr>
          <p:cNvPr id="7" name="Shape 5"/>
          <p:cNvSpPr/>
          <p:nvPr/>
        </p:nvSpPr>
        <p:spPr>
          <a:xfrm>
            <a:off x="566928"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2586152" cy="566928"/>
          </a:xfrm>
          <a:prstGeom prst="roundRect">
            <a:avLst>
              <a:gd name="adj" fmla="val 9677"/>
            </a:avLst>
          </a:prstGeom>
          <a:solidFill>
            <a:srgbClr val="2A3644"/>
          </a:solidFill>
          <a:ln/>
        </p:spPr>
      </p:sp>
      <p:sp>
        <p:nvSpPr>
          <p:cNvPr id="9" name="Shape 7"/>
          <p:cNvSpPr/>
          <p:nvPr/>
        </p:nvSpPr>
        <p:spPr>
          <a:xfrm>
            <a:off x="768096" y="1746504"/>
            <a:ext cx="329184" cy="329184"/>
          </a:xfrm>
          <a:prstGeom prst="ellipse">
            <a:avLst/>
          </a:prstGeom>
          <a:solidFill>
            <a:srgbClr val="D96A16"/>
          </a:solidFill>
          <a:ln/>
        </p:spPr>
      </p:sp>
      <p:sp>
        <p:nvSpPr>
          <p:cNvPr id="10" name="Text 8"/>
          <p:cNvSpPr/>
          <p:nvPr/>
        </p:nvSpPr>
        <p:spPr>
          <a:xfrm>
            <a:off x="768096"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p:nvPr/>
        </p:nvSpPr>
        <p:spPr>
          <a:xfrm>
            <a:off x="1188720"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Index your documents</a:t>
            </a:r>
            <a:endParaRPr lang="en-US" sz="1400" dirty="0"/>
          </a:p>
        </p:txBody>
      </p:sp>
      <p:sp>
        <p:nvSpPr>
          <p:cNvPr id="12" name="Text 10"/>
          <p:cNvSpPr/>
          <p:nvPr/>
        </p:nvSpPr>
        <p:spPr>
          <a:xfrm>
            <a:off x="786384"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Manuals, SOPs, RCA and trip reports are split into passages. Each passage is tagged with station, unit, document number, revision and effective date, and stored so it can be searched by meaning.</a:t>
            </a:r>
            <a:endParaRPr lang="en-US" sz="1250" dirty="0"/>
          </a:p>
        </p:txBody>
      </p:sp>
      <p:sp>
        <p:nvSpPr>
          <p:cNvPr id="13" name="Shape 11"/>
          <p:cNvSpPr/>
          <p:nvPr/>
        </p:nvSpPr>
        <p:spPr>
          <a:xfrm rot="5400000">
            <a:off x="3194228" y="1810512"/>
            <a:ext cx="155448" cy="219456"/>
          </a:xfrm>
          <a:prstGeom prst="triangle">
            <a:avLst/>
          </a:prstGeom>
          <a:solidFill>
            <a:srgbClr val="D96A16"/>
          </a:solidFill>
          <a:ln/>
        </p:spPr>
      </p:sp>
      <p:sp>
        <p:nvSpPr>
          <p:cNvPr id="14" name="Shape 12"/>
          <p:cNvSpPr/>
          <p:nvPr/>
        </p:nvSpPr>
        <p:spPr>
          <a:xfrm>
            <a:off x="3390824"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5" name="Shape 13"/>
          <p:cNvSpPr/>
          <p:nvPr/>
        </p:nvSpPr>
        <p:spPr>
          <a:xfrm>
            <a:off x="3390824" y="1627632"/>
            <a:ext cx="2586152" cy="566928"/>
          </a:xfrm>
          <a:prstGeom prst="roundRect">
            <a:avLst>
              <a:gd name="adj" fmla="val 9677"/>
            </a:avLst>
          </a:prstGeom>
          <a:solidFill>
            <a:srgbClr val="2A3644"/>
          </a:solidFill>
          <a:ln/>
        </p:spPr>
      </p:sp>
      <p:sp>
        <p:nvSpPr>
          <p:cNvPr id="16" name="Shape 14"/>
          <p:cNvSpPr/>
          <p:nvPr/>
        </p:nvSpPr>
        <p:spPr>
          <a:xfrm>
            <a:off x="3591992" y="1746504"/>
            <a:ext cx="329184" cy="329184"/>
          </a:xfrm>
          <a:prstGeom prst="ellipse">
            <a:avLst/>
          </a:prstGeom>
          <a:solidFill>
            <a:srgbClr val="D96A16"/>
          </a:solidFill>
          <a:ln/>
        </p:spPr>
      </p:sp>
      <p:sp>
        <p:nvSpPr>
          <p:cNvPr id="17" name="Text 15"/>
          <p:cNvSpPr/>
          <p:nvPr/>
        </p:nvSpPr>
        <p:spPr>
          <a:xfrm>
            <a:off x="3591992"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6"/>
          <p:cNvSpPr/>
          <p:nvPr/>
        </p:nvSpPr>
        <p:spPr>
          <a:xfrm>
            <a:off x="4012616"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Ask in plain language</a:t>
            </a:r>
            <a:endParaRPr lang="en-US" sz="1400" dirty="0"/>
          </a:p>
        </p:txBody>
      </p:sp>
      <p:sp>
        <p:nvSpPr>
          <p:cNvPr id="19" name="Text 17"/>
          <p:cNvSpPr/>
          <p:nvPr/>
        </p:nvSpPr>
        <p:spPr>
          <a:xfrm>
            <a:off x="3610280"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The engineer types the question the way they would ask a colleague. No document number, no keyword syntax, no need to know which manual holds the answer.</a:t>
            </a:r>
            <a:endParaRPr lang="en-US" sz="1250" dirty="0"/>
          </a:p>
        </p:txBody>
      </p:sp>
      <p:sp>
        <p:nvSpPr>
          <p:cNvPr id="20" name="Shape 18"/>
          <p:cNvSpPr/>
          <p:nvPr/>
        </p:nvSpPr>
        <p:spPr>
          <a:xfrm rot="5400000">
            <a:off x="6018124" y="1810512"/>
            <a:ext cx="155448" cy="219456"/>
          </a:xfrm>
          <a:prstGeom prst="triangle">
            <a:avLst/>
          </a:prstGeom>
          <a:solidFill>
            <a:srgbClr val="D96A16"/>
          </a:solidFill>
          <a:ln/>
        </p:spPr>
      </p:sp>
      <p:sp>
        <p:nvSpPr>
          <p:cNvPr id="21" name="Shape 19"/>
          <p:cNvSpPr/>
          <p:nvPr/>
        </p:nvSpPr>
        <p:spPr>
          <a:xfrm>
            <a:off x="6214720"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2" name="Shape 20"/>
          <p:cNvSpPr/>
          <p:nvPr/>
        </p:nvSpPr>
        <p:spPr>
          <a:xfrm>
            <a:off x="6214720" y="1627632"/>
            <a:ext cx="2586152" cy="566928"/>
          </a:xfrm>
          <a:prstGeom prst="roundRect">
            <a:avLst>
              <a:gd name="adj" fmla="val 9677"/>
            </a:avLst>
          </a:prstGeom>
          <a:solidFill>
            <a:srgbClr val="2A3644"/>
          </a:solidFill>
          <a:ln/>
        </p:spPr>
      </p:sp>
      <p:sp>
        <p:nvSpPr>
          <p:cNvPr id="23" name="Shape 21"/>
          <p:cNvSpPr/>
          <p:nvPr/>
        </p:nvSpPr>
        <p:spPr>
          <a:xfrm>
            <a:off x="6415888" y="1746504"/>
            <a:ext cx="329184" cy="329184"/>
          </a:xfrm>
          <a:prstGeom prst="ellipse">
            <a:avLst/>
          </a:prstGeom>
          <a:solidFill>
            <a:srgbClr val="D96A16"/>
          </a:solidFill>
          <a:ln/>
        </p:spPr>
      </p:sp>
      <p:sp>
        <p:nvSpPr>
          <p:cNvPr id="24" name="Text 22"/>
          <p:cNvSpPr/>
          <p:nvPr/>
        </p:nvSpPr>
        <p:spPr>
          <a:xfrm>
            <a:off x="6415888"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5" name="Text 23"/>
          <p:cNvSpPr/>
          <p:nvPr/>
        </p:nvSpPr>
        <p:spPr>
          <a:xfrm>
            <a:off x="6836512"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Search before answering</a:t>
            </a:r>
            <a:endParaRPr lang="en-US" sz="1400" dirty="0"/>
          </a:p>
        </p:txBody>
      </p:sp>
      <p:sp>
        <p:nvSpPr>
          <p:cNvPr id="26" name="Text 24"/>
          <p:cNvSpPr/>
          <p:nvPr/>
        </p:nvSpPr>
        <p:spPr>
          <a:xfrm>
            <a:off x="6434176"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The system retrieves the handful of passages most likely to contain the answer, filtered to the station and unit you asked about, and places them in front of the model.</a:t>
            </a:r>
            <a:endParaRPr lang="en-US" sz="1250" dirty="0"/>
          </a:p>
        </p:txBody>
      </p:sp>
      <p:sp>
        <p:nvSpPr>
          <p:cNvPr id="27" name="Shape 25"/>
          <p:cNvSpPr/>
          <p:nvPr/>
        </p:nvSpPr>
        <p:spPr>
          <a:xfrm rot="5400000">
            <a:off x="8842019" y="1810512"/>
            <a:ext cx="155448" cy="219456"/>
          </a:xfrm>
          <a:prstGeom prst="triangle">
            <a:avLst/>
          </a:prstGeom>
          <a:solidFill>
            <a:srgbClr val="D96A16"/>
          </a:solidFill>
          <a:ln/>
        </p:spPr>
      </p:sp>
      <p:sp>
        <p:nvSpPr>
          <p:cNvPr id="28" name="Shape 26"/>
          <p:cNvSpPr/>
          <p:nvPr/>
        </p:nvSpPr>
        <p:spPr>
          <a:xfrm>
            <a:off x="9038615"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9" name="Shape 27"/>
          <p:cNvSpPr/>
          <p:nvPr/>
        </p:nvSpPr>
        <p:spPr>
          <a:xfrm>
            <a:off x="9038615" y="1627632"/>
            <a:ext cx="2586152" cy="566928"/>
          </a:xfrm>
          <a:prstGeom prst="roundRect">
            <a:avLst>
              <a:gd name="adj" fmla="val 9677"/>
            </a:avLst>
          </a:prstGeom>
          <a:solidFill>
            <a:srgbClr val="2A3644"/>
          </a:solidFill>
          <a:ln/>
        </p:spPr>
      </p:sp>
      <p:sp>
        <p:nvSpPr>
          <p:cNvPr id="30" name="Shape 28"/>
          <p:cNvSpPr/>
          <p:nvPr/>
        </p:nvSpPr>
        <p:spPr>
          <a:xfrm>
            <a:off x="9239783" y="1746504"/>
            <a:ext cx="329184" cy="329184"/>
          </a:xfrm>
          <a:prstGeom prst="ellipse">
            <a:avLst/>
          </a:prstGeom>
          <a:solidFill>
            <a:srgbClr val="D96A16"/>
          </a:solidFill>
          <a:ln/>
        </p:spPr>
      </p:sp>
      <p:sp>
        <p:nvSpPr>
          <p:cNvPr id="31" name="Text 29"/>
          <p:cNvSpPr/>
          <p:nvPr/>
        </p:nvSpPr>
        <p:spPr>
          <a:xfrm>
            <a:off x="9239783"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2" name="Text 30"/>
          <p:cNvSpPr/>
          <p:nvPr/>
        </p:nvSpPr>
        <p:spPr>
          <a:xfrm>
            <a:off x="9660407"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Answer from those passages only</a:t>
            </a:r>
            <a:endParaRPr lang="en-US" sz="1400" dirty="0"/>
          </a:p>
        </p:txBody>
      </p:sp>
      <p:sp>
        <p:nvSpPr>
          <p:cNvPr id="33" name="Text 31"/>
          <p:cNvSpPr/>
          <p:nvPr/>
        </p:nvSpPr>
        <p:spPr>
          <a:xfrm>
            <a:off x="9258071"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The model is instructed to answer from what was retrieved, to cite each source, and to say that it does not know when the passages do not contain the answer.</a:t>
            </a:r>
            <a:endParaRPr lang="en-US" sz="1250" dirty="0"/>
          </a:p>
        </p:txBody>
      </p:sp>
      <p:sp>
        <p:nvSpPr>
          <p:cNvPr id="34" name="Shape 32"/>
          <p:cNvSpPr/>
          <p:nvPr/>
        </p:nvSpPr>
        <p:spPr>
          <a:xfrm>
            <a:off x="566928" y="5074920"/>
            <a:ext cx="11057839" cy="548640"/>
          </a:xfrm>
          <a:prstGeom prst="roundRect">
            <a:avLst>
              <a:gd name="adj" fmla="val 8333"/>
            </a:avLst>
          </a:prstGeom>
          <a:solidFill>
            <a:srgbClr val="FCEDE0"/>
          </a:solidFill>
          <a:ln w="12700">
            <a:solidFill>
              <a:srgbClr val="D96A16"/>
            </a:solidFill>
            <a:prstDash val="solid"/>
          </a:ln>
        </p:spPr>
      </p:sp>
      <p:sp>
        <p:nvSpPr>
          <p:cNvPr id="35" name="Text 33"/>
          <p:cNvSpPr/>
          <p:nvPr/>
        </p:nvSpPr>
        <p:spPr>
          <a:xfrm>
            <a:off x="768096" y="5074920"/>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An answer you cannot trace is an answer you cannot use. The citation is not decoration — it is the entire control.</a:t>
            </a:r>
            <a:endParaRPr lang="en-US" sz="13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Metadata matters more than the model</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failure is never 'the AI was stupid'. It is 'the AI answered about the wrong unit'.</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7. Generative AI, RAG and agents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90</a:t>
            </a:r>
            <a:endParaRPr lang="en-US" sz="950" dirty="0"/>
          </a:p>
        </p:txBody>
      </p:sp>
      <p:sp>
        <p:nvSpPr>
          <p:cNvPr id="7" name="Shape 5"/>
          <p:cNvSpPr/>
          <p:nvPr/>
        </p:nvSpPr>
        <p:spPr>
          <a:xfrm>
            <a:off x="566928"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92808"/>
            <a:ext cx="137160" cy="137160"/>
          </a:xfrm>
          <a:prstGeom prst="ellipse">
            <a:avLst/>
          </a:prstGeom>
          <a:solidFill>
            <a:srgbClr val="D96A16"/>
          </a:solidFill>
          <a:ln/>
        </p:spPr>
      </p:sp>
      <p:sp>
        <p:nvSpPr>
          <p:cNvPr id="9" name="Text 7"/>
          <p:cNvSpPr/>
          <p:nvPr/>
        </p:nvSpPr>
        <p:spPr>
          <a:xfrm>
            <a:off x="969264" y="1792224"/>
            <a:ext cx="485226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Station and unit on every chunk</a:t>
            </a:r>
            <a:endParaRPr lang="en-US" sz="1450" dirty="0"/>
          </a:p>
        </p:txBody>
      </p:sp>
      <p:sp>
        <p:nvSpPr>
          <p:cNvPr id="10" name="Text 8"/>
          <p:cNvSpPr/>
          <p:nvPr/>
        </p:nvSpPr>
        <p:spPr>
          <a:xfrm>
            <a:off x="768096" y="2404872"/>
            <a:ext cx="5016856" cy="960120"/>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Koradi Unit 8 and Koradi Unit 10 are not the same machine. Without a unit tag the retriever cannot tell them apart, and it will not try.</a:t>
            </a:r>
            <a:endParaRPr lang="en-US" sz="1200" dirty="0"/>
          </a:p>
        </p:txBody>
      </p:sp>
      <p:sp>
        <p:nvSpPr>
          <p:cNvPr id="11" name="Shape 9"/>
          <p:cNvSpPr/>
          <p:nvPr/>
        </p:nvSpPr>
        <p:spPr>
          <a:xfrm>
            <a:off x="6205576"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388456" y="1892808"/>
            <a:ext cx="137160" cy="137160"/>
          </a:xfrm>
          <a:prstGeom prst="ellipse">
            <a:avLst/>
          </a:prstGeom>
          <a:solidFill>
            <a:srgbClr val="D96A16"/>
          </a:solidFill>
          <a:ln/>
        </p:spPr>
      </p:sp>
      <p:sp>
        <p:nvSpPr>
          <p:cNvPr id="13" name="Text 11"/>
          <p:cNvSpPr/>
          <p:nvPr/>
        </p:nvSpPr>
        <p:spPr>
          <a:xfrm>
            <a:off x="6607912" y="1792224"/>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Revision and effective date</a:t>
            </a:r>
            <a:endParaRPr lang="en-US" sz="1450" dirty="0"/>
          </a:p>
        </p:txBody>
      </p:sp>
      <p:sp>
        <p:nvSpPr>
          <p:cNvPr id="14" name="Text 12"/>
          <p:cNvSpPr/>
          <p:nvPr/>
        </p:nvSpPr>
        <p:spPr>
          <a:xfrm>
            <a:off x="6406744" y="2203704"/>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A superseded SOP retrieves exactly as well as the current one. Unless the revision is on the passage, the model quotes whichever reads better.</a:t>
            </a:r>
            <a:endParaRPr lang="en-US" sz="1200" dirty="0"/>
          </a:p>
        </p:txBody>
      </p:sp>
      <p:sp>
        <p:nvSpPr>
          <p:cNvPr id="15" name="Shape 13"/>
          <p:cNvSpPr/>
          <p:nvPr/>
        </p:nvSpPr>
        <p:spPr>
          <a:xfrm>
            <a:off x="566928"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749808" y="3895344"/>
            <a:ext cx="137160" cy="137160"/>
          </a:xfrm>
          <a:prstGeom prst="ellipse">
            <a:avLst/>
          </a:prstGeom>
          <a:solidFill>
            <a:srgbClr val="D96A16"/>
          </a:solidFill>
          <a:ln/>
        </p:spPr>
      </p:sp>
      <p:sp>
        <p:nvSpPr>
          <p:cNvPr id="17" name="Text 15"/>
          <p:cNvSpPr/>
          <p:nvPr/>
        </p:nvSpPr>
        <p:spPr>
          <a:xfrm>
            <a:off x="969264"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Document class and status</a:t>
            </a:r>
            <a:endParaRPr lang="en-US" sz="1450" dirty="0"/>
          </a:p>
        </p:txBody>
      </p:sp>
      <p:sp>
        <p:nvSpPr>
          <p:cNvPr id="18" name="Text 16"/>
          <p:cNvSpPr/>
          <p:nvPr/>
        </p:nvSpPr>
        <p:spPr>
          <a:xfrm>
            <a:off x="768096"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Manual, SOP, trip report, drawing, circular — and current, superseded or withdrawn. A withdrawn procedure must never surface as an answer.</a:t>
            </a:r>
            <a:endParaRPr lang="en-US" sz="1200" dirty="0"/>
          </a:p>
        </p:txBody>
      </p:sp>
      <p:sp>
        <p:nvSpPr>
          <p:cNvPr id="19" name="Shape 17"/>
          <p:cNvSpPr/>
          <p:nvPr/>
        </p:nvSpPr>
        <p:spPr>
          <a:xfrm>
            <a:off x="6205576"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6388456" y="3895344"/>
            <a:ext cx="137160" cy="137160"/>
          </a:xfrm>
          <a:prstGeom prst="ellipse">
            <a:avLst/>
          </a:prstGeom>
          <a:solidFill>
            <a:srgbClr val="D96A16"/>
          </a:solidFill>
          <a:ln/>
        </p:spPr>
      </p:sp>
      <p:sp>
        <p:nvSpPr>
          <p:cNvPr id="21" name="Text 19"/>
          <p:cNvSpPr/>
          <p:nvPr/>
        </p:nvSpPr>
        <p:spPr>
          <a:xfrm>
            <a:off x="6607912"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The concrete failure</a:t>
            </a:r>
            <a:endParaRPr lang="en-US" sz="1450" dirty="0"/>
          </a:p>
        </p:txBody>
      </p:sp>
      <p:sp>
        <p:nvSpPr>
          <p:cNvPr id="22" name="Text 20"/>
          <p:cNvSpPr/>
          <p:nvPr/>
        </p:nvSpPr>
        <p:spPr>
          <a:xfrm>
            <a:off x="6406744"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You ask about the Unit 4 boiler feed pump and receive the Unit 3 answer: correctly cited, fluently written, and completely wrong for your machine.</a:t>
            </a:r>
            <a:endParaRPr lang="en-US" sz="1200" dirty="0"/>
          </a:p>
        </p:txBody>
      </p:sp>
      <p:sp>
        <p:nvSpPr>
          <p:cNvPr id="23" name="Shape 21"/>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24" name="Text 22"/>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Ninety per cent of the engineering in a plant retrieval system is metadata and version control. The model is the easy part.</a:t>
            </a:r>
            <a:endParaRPr lang="en-US" sz="13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Lab — SIM-7 · Retrieval over plant documents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Ten minutes at the keyboard, on an indexed corpus of plant documents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7. Generative AI, RAG and agents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91</a:t>
            </a:r>
            <a:endParaRPr lang="en-US" sz="950" dirty="0"/>
          </a:p>
        </p:txBody>
      </p:sp>
      <p:sp>
        <p:nvSpPr>
          <p:cNvPr id="7" name="Shape 5"/>
          <p:cNvSpPr/>
          <p:nvPr/>
        </p:nvSpPr>
        <p:spPr>
          <a:xfrm>
            <a:off x="566928" y="1627632"/>
            <a:ext cx="11057839" cy="786384"/>
          </a:xfrm>
          <a:prstGeom prst="roundRect">
            <a:avLst>
              <a:gd name="adj" fmla="val 6977"/>
            </a:avLst>
          </a:prstGeom>
          <a:solidFill>
            <a:srgbClr val="1C2530"/>
          </a:solidFill>
          <a:ln/>
        </p:spPr>
      </p:sp>
      <p:sp>
        <p:nvSpPr>
          <p:cNvPr id="8" name="Shape 6"/>
          <p:cNvSpPr/>
          <p:nvPr/>
        </p:nvSpPr>
        <p:spPr>
          <a:xfrm>
            <a:off x="768096" y="1801368"/>
            <a:ext cx="1188720" cy="438912"/>
          </a:xfrm>
          <a:prstGeom prst="roundRect">
            <a:avLst>
              <a:gd name="adj" fmla="val 50000"/>
            </a:avLst>
          </a:prstGeom>
          <a:solidFill>
            <a:srgbClr val="D96A16"/>
          </a:solidFill>
          <a:ln/>
        </p:spPr>
      </p:sp>
      <p:sp>
        <p:nvSpPr>
          <p:cNvPr id="9" name="Text 7"/>
          <p:cNvSpPr/>
          <p:nvPr/>
        </p:nvSpPr>
        <p:spPr>
          <a:xfrm>
            <a:off x="768096" y="1801368"/>
            <a:ext cx="118872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SIM-7</a:t>
            </a:r>
            <a:endParaRPr lang="en-US" sz="1400" dirty="0"/>
          </a:p>
        </p:txBody>
      </p:sp>
      <p:sp>
        <p:nvSpPr>
          <p:cNvPr id="10" name="Text 8"/>
          <p:cNvSpPr/>
          <p:nvPr/>
        </p:nvSpPr>
        <p:spPr>
          <a:xfrm>
            <a:off x="2139696" y="1627632"/>
            <a:ext cx="7217359" cy="786384"/>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RAG over plant documents</a:t>
            </a:r>
            <a:endParaRPr lang="en-US" sz="2000" dirty="0"/>
          </a:p>
        </p:txBody>
      </p:sp>
      <p:sp>
        <p:nvSpPr>
          <p:cNvPr id="11" name="Text 9"/>
          <p:cNvSpPr/>
          <p:nvPr/>
        </p:nvSpPr>
        <p:spPr>
          <a:xfrm>
            <a:off x="8881567" y="1627632"/>
            <a:ext cx="2542032" cy="786384"/>
          </a:xfrm>
          <a:prstGeom prst="rect">
            <a:avLst/>
          </a:prstGeom>
          <a:noFill/>
          <a:ln/>
        </p:spPr>
        <p:txBody>
          <a:bodyPr wrap="square" lIns="0" tIns="0" rIns="0" bIns="0" rtlCol="0" anchor="ctr"/>
          <a:lstStyle/>
          <a:p>
            <a:pPr algn="r" indent="0" marL="0">
              <a:buNone/>
            </a:pPr>
            <a:r>
              <a:rPr lang="en-US" sz="1300" b="1" dirty="0">
                <a:solidFill>
                  <a:srgbClr val="D96A16"/>
                </a:solidFill>
                <a:latin typeface="Calibri" pitchFamily="34" charset="0"/>
                <a:ea typeface="Calibri" pitchFamily="34" charset="-122"/>
                <a:cs typeface="Calibri" pitchFamily="34" charset="-120"/>
              </a:rPr>
              <a:t>10 minutes at your laptop</a:t>
            </a:r>
            <a:endParaRPr lang="en-US" sz="1300" dirty="0"/>
          </a:p>
        </p:txBody>
      </p:sp>
      <p:sp>
        <p:nvSpPr>
          <p:cNvPr id="12" name="Shape 10"/>
          <p:cNvSpPr/>
          <p:nvPr/>
        </p:nvSpPr>
        <p:spPr>
          <a:xfrm>
            <a:off x="566928" y="2578608"/>
            <a:ext cx="6038771" cy="2907792"/>
          </a:xfrm>
          <a:prstGeom prst="roundRect">
            <a:avLst>
              <a:gd name="adj" fmla="val 188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Shape 11"/>
          <p:cNvSpPr/>
          <p:nvPr/>
        </p:nvSpPr>
        <p:spPr>
          <a:xfrm>
            <a:off x="566928" y="2578608"/>
            <a:ext cx="6038771" cy="457200"/>
          </a:xfrm>
          <a:prstGeom prst="roundRect">
            <a:avLst>
              <a:gd name="adj" fmla="val 10000"/>
            </a:avLst>
          </a:prstGeom>
          <a:solidFill>
            <a:srgbClr val="2A3644"/>
          </a:solidFill>
          <a:ln/>
        </p:spPr>
      </p:sp>
      <p:sp>
        <p:nvSpPr>
          <p:cNvPr id="14" name="Text 12"/>
          <p:cNvSpPr/>
          <p:nvPr/>
        </p:nvSpPr>
        <p:spPr>
          <a:xfrm>
            <a:off x="786384" y="2578608"/>
            <a:ext cx="5627291"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Do this</a:t>
            </a:r>
            <a:endParaRPr lang="en-US" sz="1400" dirty="0"/>
          </a:p>
        </p:txBody>
      </p:sp>
      <p:sp>
        <p:nvSpPr>
          <p:cNvPr id="15" name="Text 13"/>
          <p:cNvSpPr/>
          <p:nvPr/>
        </p:nvSpPr>
        <p:spPr>
          <a:xfrm>
            <a:off x="841248" y="3163824"/>
            <a:ext cx="5508419" cy="219456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Open SIM-7 and run the default ID fan question. Before you read the answer, read the retrieved passages and their similarity scores.</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Now read the answer and check every sentence of it against the passages it cites.</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Switch 'Grounded' off and ask the same question. Compare the invented answer with the cited one, line by line.</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Turn hybrid search off and search for a document code. Watch pure meaning-based search fail on an exact string.</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Filter by station and unit, then re-run a question that was previously answered from another unit's document.</a:t>
            </a:r>
            <a:endParaRPr lang="en-US" sz="1100" dirty="0"/>
          </a:p>
        </p:txBody>
      </p:sp>
      <p:sp>
        <p:nvSpPr>
          <p:cNvPr id="16" name="Shape 14"/>
          <p:cNvSpPr/>
          <p:nvPr/>
        </p:nvSpPr>
        <p:spPr>
          <a:xfrm>
            <a:off x="6880019" y="2578608"/>
            <a:ext cx="4744748" cy="2907792"/>
          </a:xfrm>
          <a:prstGeom prst="roundRect">
            <a:avLst>
              <a:gd name="adj" fmla="val 188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7" name="Shape 15"/>
          <p:cNvSpPr/>
          <p:nvPr/>
        </p:nvSpPr>
        <p:spPr>
          <a:xfrm>
            <a:off x="6880019" y="2578608"/>
            <a:ext cx="4744748" cy="457200"/>
          </a:xfrm>
          <a:prstGeom prst="roundRect">
            <a:avLst>
              <a:gd name="adj" fmla="val 10000"/>
            </a:avLst>
          </a:prstGeom>
          <a:solidFill>
            <a:srgbClr val="11707F"/>
          </a:solidFill>
          <a:ln/>
        </p:spPr>
      </p:sp>
      <p:sp>
        <p:nvSpPr>
          <p:cNvPr id="18" name="Text 16"/>
          <p:cNvSpPr/>
          <p:nvPr/>
        </p:nvSpPr>
        <p:spPr>
          <a:xfrm>
            <a:off x="7099475" y="2578608"/>
            <a:ext cx="4333268"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Watch for</a:t>
            </a:r>
            <a:endParaRPr lang="en-US" sz="1400" dirty="0"/>
          </a:p>
        </p:txBody>
      </p:sp>
      <p:sp>
        <p:nvSpPr>
          <p:cNvPr id="19" name="Text 17"/>
          <p:cNvSpPr/>
          <p:nvPr/>
        </p:nvSpPr>
        <p:spPr>
          <a:xfrm>
            <a:off x="7136051" y="3163824"/>
            <a:ext cx="4232684" cy="2194560"/>
          </a:xfrm>
          <a:prstGeom prst="rect">
            <a:avLst/>
          </a:prstGeom>
          <a:noFill/>
          <a:ln/>
        </p:spPr>
        <p:txBody>
          <a:bodyPr wrap="square" lIns="0" tIns="0" rIns="0" bIns="0" rtlCol="0" anchor="t"/>
          <a:lstStyle/>
          <a:p>
            <a:pPr marL="342900" indent="-342900">
              <a:spcAft>
                <a:spcPts val="500"/>
              </a:spcAft>
              <a:buSzPct val="100000"/>
              <a:buChar char="▪"/>
            </a:pPr>
            <a:r>
              <a:rPr lang="en-US" sz="1000" dirty="0">
                <a:solidFill>
                  <a:srgbClr val="1C2530"/>
                </a:solidFill>
                <a:latin typeface="Calibri" pitchFamily="34" charset="0"/>
                <a:ea typeface="Calibri" pitchFamily="34" charset="-122"/>
                <a:cs typeface="Calibri" pitchFamily="34" charset="-120"/>
              </a:rPr>
              <a:t>The retrieval step happens first and is completely visible. Nothing is magic once you can read the passages yourself.</a:t>
            </a:r>
            <a:endParaRPr lang="en-US" sz="1000" dirty="0"/>
          </a:p>
          <a:p>
            <a:pPr marL="342900" indent="-342900">
              <a:spcAft>
                <a:spcPts val="500"/>
              </a:spcAft>
              <a:buSzPct val="100000"/>
              <a:buChar char="▪"/>
            </a:pPr>
            <a:r>
              <a:rPr lang="en-US" sz="1000" dirty="0">
                <a:solidFill>
                  <a:srgbClr val="1C2530"/>
                </a:solidFill>
                <a:latin typeface="Calibri" pitchFamily="34" charset="0"/>
                <a:ea typeface="Calibri" pitchFamily="34" charset="-122"/>
                <a:cs typeface="Calibri" pitchFamily="34" charset="-120"/>
              </a:rPr>
              <a:t>Ungrounded, the model writes a confident, plausible, well-structured answer with no source and at least one invention in it.</a:t>
            </a:r>
            <a:endParaRPr lang="en-US" sz="1000" dirty="0"/>
          </a:p>
          <a:p>
            <a:pPr marL="342900" indent="-342900">
              <a:spcAft>
                <a:spcPts val="500"/>
              </a:spcAft>
              <a:buSzPct val="100000"/>
              <a:buChar char="▪"/>
            </a:pPr>
            <a:r>
              <a:rPr lang="en-US" sz="1000" dirty="0">
                <a:solidFill>
                  <a:srgbClr val="1C2530"/>
                </a:solidFill>
                <a:latin typeface="Calibri" pitchFamily="34" charset="0"/>
                <a:ea typeface="Calibri" pitchFamily="34" charset="-122"/>
                <a:cs typeface="Calibri" pitchFamily="34" charset="-120"/>
              </a:rPr>
              <a:t>Meaning-based search alone cannot find an exact document code. Keyword matching is still needed alongside it.</a:t>
            </a:r>
            <a:endParaRPr lang="en-US" sz="1000" dirty="0"/>
          </a:p>
          <a:p>
            <a:pPr marL="342900" indent="-342900">
              <a:spcAft>
                <a:spcPts val="500"/>
              </a:spcAft>
              <a:buSzPct val="100000"/>
              <a:buChar char="▪"/>
            </a:pPr>
            <a:r>
              <a:rPr lang="en-US" sz="1000" dirty="0">
                <a:solidFill>
                  <a:srgbClr val="1C2530"/>
                </a:solidFill>
                <a:latin typeface="Calibri" pitchFamily="34" charset="0"/>
                <a:ea typeface="Calibri" pitchFamily="34" charset="-122"/>
                <a:cs typeface="Calibri" pitchFamily="34" charset="-120"/>
              </a:rPr>
              <a:t>The unit filter is the thing that stops a Unit 3 passage answering a Unit 4 question.</a:t>
            </a:r>
            <a:endParaRPr lang="en-US" sz="1000" dirty="0"/>
          </a:p>
        </p:txBody>
      </p:sp>
      <p:sp>
        <p:nvSpPr>
          <p:cNvPr id="20" name="Shape 18"/>
          <p:cNvSpPr/>
          <p:nvPr/>
        </p:nvSpPr>
        <p:spPr>
          <a:xfrm>
            <a:off x="566928" y="5669280"/>
            <a:ext cx="11057839" cy="548640"/>
          </a:xfrm>
          <a:prstGeom prst="roundRect">
            <a:avLst>
              <a:gd name="adj" fmla="val 8333"/>
            </a:avLst>
          </a:prstGeom>
          <a:solidFill>
            <a:srgbClr val="FCEDE0"/>
          </a:solidFill>
          <a:ln w="12700">
            <a:solidFill>
              <a:srgbClr val="D96A16"/>
            </a:solidFill>
            <a:prstDash val="solid"/>
          </a:ln>
        </p:spPr>
      </p:sp>
      <p:sp>
        <p:nvSpPr>
          <p:cNvPr id="21" name="Text 19"/>
          <p:cNvSpPr/>
          <p:nvPr/>
        </p:nvSpPr>
        <p:spPr>
          <a:xfrm>
            <a:off x="768096" y="5669280"/>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The difference between an ungrounded chatbot answer and a retrieval-grounded answer with citations is not a matter of degree. One can be checked in thirty seconds. The other cannot be checked at all.</a:t>
            </a:r>
            <a:endParaRPr lang="en-US" sz="13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RAG pipeline, end to end</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What happens between an engineer's question and a cited answer</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7. Generative AI, RAG and agents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92</a:t>
            </a:r>
            <a:endParaRPr lang="en-US" sz="950" dirty="0"/>
          </a:p>
        </p:txBody>
      </p:sp>
      <p:sp>
        <p:nvSpPr>
          <p:cNvPr id="7" name="Text 5"/>
          <p:cNvSpPr/>
          <p:nvPr/>
        </p:nvSpPr>
        <p:spPr>
          <a:xfrm>
            <a:off x="566928" y="1627632"/>
            <a:ext cx="11057839" cy="201168"/>
          </a:xfrm>
          <a:prstGeom prst="rect">
            <a:avLst/>
          </a:prstGeom>
          <a:noFill/>
          <a:ln/>
        </p:spPr>
        <p:txBody>
          <a:bodyPr wrap="square" lIns="0" tIns="0" rIns="0" bIns="0" rtlCol="0" anchor="ctr"/>
          <a:lstStyle/>
          <a:p>
            <a:pPr indent="0" marL="0">
              <a:buNone/>
            </a:pPr>
            <a:r>
              <a:rPr lang="en-US" sz="1000" b="1" dirty="0">
                <a:solidFill>
                  <a:srgbClr val="5C6B7A"/>
                </a:solidFill>
                <a:latin typeface="Calibri" pitchFamily="34" charset="0"/>
                <a:ea typeface="Calibri" pitchFamily="34" charset="-122"/>
                <a:cs typeface="Calibri" pitchFamily="34" charset="-120"/>
              </a:rPr>
              <a:t>INDEXING — once per document, then on revision</a:t>
            </a:r>
            <a:endParaRPr lang="en-US" sz="1000" dirty="0"/>
          </a:p>
        </p:txBody>
      </p:sp>
      <p:sp>
        <p:nvSpPr>
          <p:cNvPr id="8" name="Shape 6"/>
          <p:cNvSpPr/>
          <p:nvPr/>
        </p:nvSpPr>
        <p:spPr>
          <a:xfrm>
            <a:off x="566928" y="1828800"/>
            <a:ext cx="1992112" cy="1271016"/>
          </a:xfrm>
          <a:prstGeom prst="roundRect">
            <a:avLst>
              <a:gd name="adj" fmla="val 4317"/>
            </a:avLst>
          </a:prstGeom>
          <a:solidFill>
            <a:srgbClr val="E1EFF1"/>
          </a:solidFill>
          <a:ln w="13970">
            <a:solidFill>
              <a:srgbClr val="11707F"/>
            </a:solidFill>
            <a:prstDash val="solid"/>
          </a:ln>
        </p:spPr>
      </p:sp>
      <p:sp>
        <p:nvSpPr>
          <p:cNvPr id="9" name="Text 7"/>
          <p:cNvSpPr/>
          <p:nvPr/>
        </p:nvSpPr>
        <p:spPr>
          <a:xfrm>
            <a:off x="658368" y="1883664"/>
            <a:ext cx="1809232" cy="559247"/>
          </a:xfrm>
          <a:prstGeom prst="rect">
            <a:avLst/>
          </a:prstGeom>
          <a:noFill/>
          <a:ln/>
        </p:spPr>
        <p:txBody>
          <a:bodyPr wrap="square" lIns="0" tIns="0" rIns="0" bIns="0" rtlCol="0" anchor="ctr"/>
          <a:lstStyle/>
          <a:p>
            <a:pPr algn="ctr" indent="0" marL="0">
              <a:buNone/>
            </a:pPr>
            <a:r>
              <a:rPr lang="en-US" sz="1150" b="1" dirty="0">
                <a:solidFill>
                  <a:srgbClr val="14555F"/>
                </a:solidFill>
                <a:latin typeface="Calibri" pitchFamily="34" charset="0"/>
                <a:ea typeface="Calibri" pitchFamily="34" charset="-122"/>
                <a:cs typeface="Calibri" pitchFamily="34" charset="-120"/>
              </a:rPr>
              <a:t>Documents</a:t>
            </a:r>
            <a:endParaRPr lang="en-US" sz="1150" dirty="0"/>
          </a:p>
        </p:txBody>
      </p:sp>
      <p:sp>
        <p:nvSpPr>
          <p:cNvPr id="10" name="Text 8"/>
          <p:cNvSpPr/>
          <p:nvPr/>
        </p:nvSpPr>
        <p:spPr>
          <a:xfrm>
            <a:off x="649224" y="2413467"/>
            <a:ext cx="1827520"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manuals, SOPs, RCA and trip reports, SAP text</a:t>
            </a:r>
            <a:endParaRPr lang="en-US" sz="940" dirty="0"/>
          </a:p>
        </p:txBody>
      </p:sp>
      <p:sp>
        <p:nvSpPr>
          <p:cNvPr id="11" name="Shape 9"/>
          <p:cNvSpPr/>
          <p:nvPr/>
        </p:nvSpPr>
        <p:spPr>
          <a:xfrm rot="5400000">
            <a:off x="2609332" y="2363724"/>
            <a:ext cx="155448" cy="201168"/>
          </a:xfrm>
          <a:prstGeom prst="triangle">
            <a:avLst/>
          </a:prstGeom>
          <a:solidFill>
            <a:srgbClr val="9AA9B6"/>
          </a:solidFill>
          <a:ln/>
        </p:spPr>
      </p:sp>
      <p:sp>
        <p:nvSpPr>
          <p:cNvPr id="12" name="Shape 10"/>
          <p:cNvSpPr/>
          <p:nvPr/>
        </p:nvSpPr>
        <p:spPr>
          <a:xfrm>
            <a:off x="2833360" y="1828800"/>
            <a:ext cx="1992112" cy="1271016"/>
          </a:xfrm>
          <a:prstGeom prst="roundRect">
            <a:avLst>
              <a:gd name="adj" fmla="val 4317"/>
            </a:avLst>
          </a:prstGeom>
          <a:solidFill>
            <a:srgbClr val="E1EFF1"/>
          </a:solidFill>
          <a:ln w="13970">
            <a:solidFill>
              <a:srgbClr val="11707F"/>
            </a:solidFill>
            <a:prstDash val="solid"/>
          </a:ln>
        </p:spPr>
      </p:sp>
      <p:sp>
        <p:nvSpPr>
          <p:cNvPr id="13" name="Text 11"/>
          <p:cNvSpPr/>
          <p:nvPr/>
        </p:nvSpPr>
        <p:spPr>
          <a:xfrm>
            <a:off x="2924800" y="1883664"/>
            <a:ext cx="1809232" cy="559247"/>
          </a:xfrm>
          <a:prstGeom prst="rect">
            <a:avLst/>
          </a:prstGeom>
          <a:noFill/>
          <a:ln/>
        </p:spPr>
        <p:txBody>
          <a:bodyPr wrap="square" lIns="0" tIns="0" rIns="0" bIns="0" rtlCol="0" anchor="ctr"/>
          <a:lstStyle/>
          <a:p>
            <a:pPr algn="ctr" indent="0" marL="0">
              <a:buNone/>
            </a:pPr>
            <a:r>
              <a:rPr lang="en-US" sz="1150" b="1" dirty="0">
                <a:solidFill>
                  <a:srgbClr val="14555F"/>
                </a:solidFill>
                <a:latin typeface="Calibri" pitchFamily="34" charset="0"/>
                <a:ea typeface="Calibri" pitchFamily="34" charset="-122"/>
                <a:cs typeface="Calibri" pitchFamily="34" charset="-120"/>
              </a:rPr>
              <a:t>OCR where needed</a:t>
            </a:r>
            <a:endParaRPr lang="en-US" sz="1150" dirty="0"/>
          </a:p>
        </p:txBody>
      </p:sp>
      <p:sp>
        <p:nvSpPr>
          <p:cNvPr id="14" name="Text 12"/>
          <p:cNvSpPr/>
          <p:nvPr/>
        </p:nvSpPr>
        <p:spPr>
          <a:xfrm>
            <a:off x="2915656" y="2413467"/>
            <a:ext cx="1827520"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scanned drawings and old reports</a:t>
            </a:r>
            <a:endParaRPr lang="en-US" sz="940" dirty="0"/>
          </a:p>
        </p:txBody>
      </p:sp>
      <p:sp>
        <p:nvSpPr>
          <p:cNvPr id="15" name="Shape 13"/>
          <p:cNvSpPr/>
          <p:nvPr/>
        </p:nvSpPr>
        <p:spPr>
          <a:xfrm rot="5400000">
            <a:off x="4875764" y="2363724"/>
            <a:ext cx="155448" cy="201168"/>
          </a:xfrm>
          <a:prstGeom prst="triangle">
            <a:avLst/>
          </a:prstGeom>
          <a:solidFill>
            <a:srgbClr val="9AA9B6"/>
          </a:solidFill>
          <a:ln/>
        </p:spPr>
      </p:sp>
      <p:sp>
        <p:nvSpPr>
          <p:cNvPr id="16" name="Shape 14"/>
          <p:cNvSpPr/>
          <p:nvPr/>
        </p:nvSpPr>
        <p:spPr>
          <a:xfrm>
            <a:off x="5099792" y="1828800"/>
            <a:ext cx="1992112" cy="1271016"/>
          </a:xfrm>
          <a:prstGeom prst="roundRect">
            <a:avLst>
              <a:gd name="adj" fmla="val 4317"/>
            </a:avLst>
          </a:prstGeom>
          <a:solidFill>
            <a:srgbClr val="E1EFF1"/>
          </a:solidFill>
          <a:ln w="13970">
            <a:solidFill>
              <a:srgbClr val="11707F"/>
            </a:solidFill>
            <a:prstDash val="solid"/>
          </a:ln>
        </p:spPr>
      </p:sp>
      <p:sp>
        <p:nvSpPr>
          <p:cNvPr id="17" name="Text 15"/>
          <p:cNvSpPr/>
          <p:nvPr/>
        </p:nvSpPr>
        <p:spPr>
          <a:xfrm>
            <a:off x="5191232" y="1883664"/>
            <a:ext cx="1809232" cy="559247"/>
          </a:xfrm>
          <a:prstGeom prst="rect">
            <a:avLst/>
          </a:prstGeom>
          <a:noFill/>
          <a:ln/>
        </p:spPr>
        <p:txBody>
          <a:bodyPr wrap="square" lIns="0" tIns="0" rIns="0" bIns="0" rtlCol="0" anchor="ctr"/>
          <a:lstStyle/>
          <a:p>
            <a:pPr algn="ctr" indent="0" marL="0">
              <a:buNone/>
            </a:pPr>
            <a:r>
              <a:rPr lang="en-US" sz="1150" b="1" dirty="0">
                <a:solidFill>
                  <a:srgbClr val="14555F"/>
                </a:solidFill>
                <a:latin typeface="Calibri" pitchFamily="34" charset="0"/>
                <a:ea typeface="Calibri" pitchFamily="34" charset="-122"/>
                <a:cs typeface="Calibri" pitchFamily="34" charset="-120"/>
              </a:rPr>
              <a:t>Chunk</a:t>
            </a:r>
            <a:endParaRPr lang="en-US" sz="1150" dirty="0"/>
          </a:p>
        </p:txBody>
      </p:sp>
      <p:sp>
        <p:nvSpPr>
          <p:cNvPr id="18" name="Text 16"/>
          <p:cNvSpPr/>
          <p:nvPr/>
        </p:nvSpPr>
        <p:spPr>
          <a:xfrm>
            <a:off x="5182088" y="2413467"/>
            <a:ext cx="1827520"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passage-sized pieces that stand alone</a:t>
            </a:r>
            <a:endParaRPr lang="en-US" sz="940" dirty="0"/>
          </a:p>
        </p:txBody>
      </p:sp>
      <p:sp>
        <p:nvSpPr>
          <p:cNvPr id="19" name="Shape 17"/>
          <p:cNvSpPr/>
          <p:nvPr/>
        </p:nvSpPr>
        <p:spPr>
          <a:xfrm rot="5400000">
            <a:off x="7142196" y="2363724"/>
            <a:ext cx="155448" cy="201168"/>
          </a:xfrm>
          <a:prstGeom prst="triangle">
            <a:avLst/>
          </a:prstGeom>
          <a:solidFill>
            <a:srgbClr val="9AA9B6"/>
          </a:solidFill>
          <a:ln/>
        </p:spPr>
      </p:sp>
      <p:sp>
        <p:nvSpPr>
          <p:cNvPr id="20" name="Shape 18"/>
          <p:cNvSpPr/>
          <p:nvPr/>
        </p:nvSpPr>
        <p:spPr>
          <a:xfrm>
            <a:off x="7366224" y="1828800"/>
            <a:ext cx="1992112" cy="1271016"/>
          </a:xfrm>
          <a:prstGeom prst="roundRect">
            <a:avLst>
              <a:gd name="adj" fmla="val 4317"/>
            </a:avLst>
          </a:prstGeom>
          <a:solidFill>
            <a:srgbClr val="E1EFF1"/>
          </a:solidFill>
          <a:ln w="13970">
            <a:solidFill>
              <a:srgbClr val="11707F"/>
            </a:solidFill>
            <a:prstDash val="solid"/>
          </a:ln>
        </p:spPr>
      </p:sp>
      <p:sp>
        <p:nvSpPr>
          <p:cNvPr id="21" name="Text 19"/>
          <p:cNvSpPr/>
          <p:nvPr/>
        </p:nvSpPr>
        <p:spPr>
          <a:xfrm>
            <a:off x="7457664" y="1883664"/>
            <a:ext cx="1809232" cy="559247"/>
          </a:xfrm>
          <a:prstGeom prst="rect">
            <a:avLst/>
          </a:prstGeom>
          <a:noFill/>
          <a:ln/>
        </p:spPr>
        <p:txBody>
          <a:bodyPr wrap="square" lIns="0" tIns="0" rIns="0" bIns="0" rtlCol="0" anchor="ctr"/>
          <a:lstStyle/>
          <a:p>
            <a:pPr algn="ctr" indent="0" marL="0">
              <a:buNone/>
            </a:pPr>
            <a:r>
              <a:rPr lang="en-US" sz="1150" b="1" dirty="0">
                <a:solidFill>
                  <a:srgbClr val="14555F"/>
                </a:solidFill>
                <a:latin typeface="Calibri" pitchFamily="34" charset="0"/>
                <a:ea typeface="Calibri" pitchFamily="34" charset="-122"/>
                <a:cs typeface="Calibri" pitchFamily="34" charset="-120"/>
              </a:rPr>
              <a:t>Attach metadata</a:t>
            </a:r>
            <a:endParaRPr lang="en-US" sz="1150" dirty="0"/>
          </a:p>
        </p:txBody>
      </p:sp>
      <p:sp>
        <p:nvSpPr>
          <p:cNvPr id="22" name="Text 20"/>
          <p:cNvSpPr/>
          <p:nvPr/>
        </p:nvSpPr>
        <p:spPr>
          <a:xfrm>
            <a:off x="7448520" y="2413467"/>
            <a:ext cx="1827520"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station, unit, document, revision, date</a:t>
            </a:r>
            <a:endParaRPr lang="en-US" sz="940" dirty="0"/>
          </a:p>
        </p:txBody>
      </p:sp>
      <p:sp>
        <p:nvSpPr>
          <p:cNvPr id="23" name="Shape 21"/>
          <p:cNvSpPr/>
          <p:nvPr/>
        </p:nvSpPr>
        <p:spPr>
          <a:xfrm rot="5400000">
            <a:off x="9408627" y="2363724"/>
            <a:ext cx="155448" cy="201168"/>
          </a:xfrm>
          <a:prstGeom prst="triangle">
            <a:avLst/>
          </a:prstGeom>
          <a:solidFill>
            <a:srgbClr val="9AA9B6"/>
          </a:solidFill>
          <a:ln/>
        </p:spPr>
      </p:sp>
      <p:sp>
        <p:nvSpPr>
          <p:cNvPr id="24" name="Shape 22"/>
          <p:cNvSpPr/>
          <p:nvPr/>
        </p:nvSpPr>
        <p:spPr>
          <a:xfrm>
            <a:off x="9632655" y="1828800"/>
            <a:ext cx="1992112" cy="1271016"/>
          </a:xfrm>
          <a:prstGeom prst="roundRect">
            <a:avLst>
              <a:gd name="adj" fmla="val 4317"/>
            </a:avLst>
          </a:prstGeom>
          <a:solidFill>
            <a:srgbClr val="FCEDE0"/>
          </a:solidFill>
          <a:ln w="13970">
            <a:solidFill>
              <a:srgbClr val="D96A16"/>
            </a:solidFill>
            <a:prstDash val="solid"/>
          </a:ln>
        </p:spPr>
      </p:sp>
      <p:sp>
        <p:nvSpPr>
          <p:cNvPr id="25" name="Text 23"/>
          <p:cNvSpPr/>
          <p:nvPr/>
        </p:nvSpPr>
        <p:spPr>
          <a:xfrm>
            <a:off x="9724095" y="1883664"/>
            <a:ext cx="1809232" cy="559247"/>
          </a:xfrm>
          <a:prstGeom prst="rect">
            <a:avLst/>
          </a:prstGeom>
          <a:noFill/>
          <a:ln/>
        </p:spPr>
        <p:txBody>
          <a:bodyPr wrap="square" lIns="0" tIns="0" rIns="0" bIns="0" rtlCol="0" anchor="ctr"/>
          <a:lstStyle/>
          <a:p>
            <a:pPr algn="ctr" indent="0" marL="0">
              <a:buNone/>
            </a:pPr>
            <a:r>
              <a:rPr lang="en-US" sz="1150" b="1" dirty="0">
                <a:solidFill>
                  <a:srgbClr val="8A4310"/>
                </a:solidFill>
                <a:latin typeface="Calibri" pitchFamily="34" charset="0"/>
                <a:ea typeface="Calibri" pitchFamily="34" charset="-122"/>
                <a:cs typeface="Calibri" pitchFamily="34" charset="-120"/>
              </a:rPr>
              <a:t>Embed and index</a:t>
            </a:r>
            <a:endParaRPr lang="en-US" sz="1150" dirty="0"/>
          </a:p>
        </p:txBody>
      </p:sp>
      <p:sp>
        <p:nvSpPr>
          <p:cNvPr id="26" name="Text 24"/>
          <p:cNvSpPr/>
          <p:nvPr/>
        </p:nvSpPr>
        <p:spPr>
          <a:xfrm>
            <a:off x="9714951" y="2413467"/>
            <a:ext cx="1827520"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stored in your own system</a:t>
            </a:r>
            <a:endParaRPr lang="en-US" sz="940" dirty="0"/>
          </a:p>
        </p:txBody>
      </p:sp>
      <p:sp>
        <p:nvSpPr>
          <p:cNvPr id="27" name="Shape 25"/>
          <p:cNvSpPr/>
          <p:nvPr/>
        </p:nvSpPr>
        <p:spPr>
          <a:xfrm>
            <a:off x="10628711" y="3099816"/>
            <a:ext cx="0" cy="142646"/>
          </a:xfrm>
          <a:prstGeom prst="line">
            <a:avLst/>
          </a:prstGeom>
          <a:noFill/>
          <a:ln w="15240">
            <a:solidFill>
              <a:srgbClr val="9AA9B6"/>
            </a:solidFill>
            <a:prstDash val="solid"/>
          </a:ln>
        </p:spPr>
      </p:sp>
      <p:sp>
        <p:nvSpPr>
          <p:cNvPr id="28" name="Shape 26"/>
          <p:cNvSpPr/>
          <p:nvPr/>
        </p:nvSpPr>
        <p:spPr>
          <a:xfrm>
            <a:off x="1562984" y="3242462"/>
            <a:ext cx="9065727" cy="0"/>
          </a:xfrm>
          <a:prstGeom prst="line">
            <a:avLst/>
          </a:prstGeom>
          <a:noFill/>
          <a:ln w="15240">
            <a:solidFill>
              <a:srgbClr val="9AA9B6"/>
            </a:solidFill>
            <a:prstDash val="solid"/>
          </a:ln>
        </p:spPr>
      </p:sp>
      <p:sp>
        <p:nvSpPr>
          <p:cNvPr id="29" name="Shape 27"/>
          <p:cNvSpPr/>
          <p:nvPr/>
        </p:nvSpPr>
        <p:spPr>
          <a:xfrm>
            <a:off x="1562984" y="3242462"/>
            <a:ext cx="0" cy="76810"/>
          </a:xfrm>
          <a:prstGeom prst="line">
            <a:avLst/>
          </a:prstGeom>
          <a:noFill/>
          <a:ln w="15240">
            <a:solidFill>
              <a:srgbClr val="9AA9B6"/>
            </a:solidFill>
            <a:prstDash val="solid"/>
          </a:ln>
        </p:spPr>
      </p:sp>
      <p:sp>
        <p:nvSpPr>
          <p:cNvPr id="30" name="Shape 28"/>
          <p:cNvSpPr/>
          <p:nvPr/>
        </p:nvSpPr>
        <p:spPr>
          <a:xfrm rot="10800000">
            <a:off x="1471544" y="3313786"/>
            <a:ext cx="182880" cy="118872"/>
          </a:xfrm>
          <a:prstGeom prst="triangle">
            <a:avLst/>
          </a:prstGeom>
          <a:solidFill>
            <a:srgbClr val="9AA9B6"/>
          </a:solidFill>
          <a:ln/>
        </p:spPr>
      </p:sp>
      <p:sp>
        <p:nvSpPr>
          <p:cNvPr id="31" name="Text 29"/>
          <p:cNvSpPr/>
          <p:nvPr/>
        </p:nvSpPr>
        <p:spPr>
          <a:xfrm>
            <a:off x="566928" y="3374136"/>
            <a:ext cx="11057839" cy="201168"/>
          </a:xfrm>
          <a:prstGeom prst="rect">
            <a:avLst/>
          </a:prstGeom>
          <a:noFill/>
          <a:ln/>
        </p:spPr>
        <p:txBody>
          <a:bodyPr wrap="square" lIns="0" tIns="0" rIns="0" bIns="0" rtlCol="0" anchor="ctr"/>
          <a:lstStyle/>
          <a:p>
            <a:pPr indent="0" marL="0">
              <a:buNone/>
            </a:pPr>
            <a:r>
              <a:rPr lang="en-US" sz="1000" b="1" dirty="0">
                <a:solidFill>
                  <a:srgbClr val="5C6B7A"/>
                </a:solidFill>
                <a:latin typeface="Calibri" pitchFamily="34" charset="0"/>
                <a:ea typeface="Calibri" pitchFamily="34" charset="-122"/>
                <a:cs typeface="Calibri" pitchFamily="34" charset="-120"/>
              </a:rPr>
              <a:t>ANSWERING — every question</a:t>
            </a:r>
            <a:endParaRPr lang="en-US" sz="1000" dirty="0"/>
          </a:p>
        </p:txBody>
      </p:sp>
      <p:sp>
        <p:nvSpPr>
          <p:cNvPr id="32" name="Shape 30"/>
          <p:cNvSpPr/>
          <p:nvPr/>
        </p:nvSpPr>
        <p:spPr>
          <a:xfrm>
            <a:off x="566928" y="3575304"/>
            <a:ext cx="1992112" cy="1271016"/>
          </a:xfrm>
          <a:prstGeom prst="roundRect">
            <a:avLst>
              <a:gd name="adj" fmla="val 4317"/>
            </a:avLst>
          </a:prstGeom>
          <a:solidFill>
            <a:srgbClr val="E4F0EA"/>
          </a:solidFill>
          <a:ln w="13970">
            <a:solidFill>
              <a:srgbClr val="256B45"/>
            </a:solidFill>
            <a:prstDash val="solid"/>
          </a:ln>
        </p:spPr>
      </p:sp>
      <p:sp>
        <p:nvSpPr>
          <p:cNvPr id="33" name="Text 31"/>
          <p:cNvSpPr/>
          <p:nvPr/>
        </p:nvSpPr>
        <p:spPr>
          <a:xfrm>
            <a:off x="658368" y="3630168"/>
            <a:ext cx="1809232" cy="559247"/>
          </a:xfrm>
          <a:prstGeom prst="rect">
            <a:avLst/>
          </a:prstGeom>
          <a:noFill/>
          <a:ln/>
        </p:spPr>
        <p:txBody>
          <a:bodyPr wrap="square" lIns="0" tIns="0" rIns="0" bIns="0" rtlCol="0" anchor="ctr"/>
          <a:lstStyle/>
          <a:p>
            <a:pPr algn="ctr" indent="0" marL="0">
              <a:buNone/>
            </a:pPr>
            <a:r>
              <a:rPr lang="en-US" sz="1150" b="1" dirty="0">
                <a:solidFill>
                  <a:srgbClr val="1B4E32"/>
                </a:solidFill>
                <a:latin typeface="Calibri" pitchFamily="34" charset="0"/>
                <a:ea typeface="Calibri" pitchFamily="34" charset="-122"/>
                <a:cs typeface="Calibri" pitchFamily="34" charset="-120"/>
              </a:rPr>
              <a:t>Question</a:t>
            </a:r>
            <a:endParaRPr lang="en-US" sz="1150" dirty="0"/>
          </a:p>
        </p:txBody>
      </p:sp>
      <p:sp>
        <p:nvSpPr>
          <p:cNvPr id="34" name="Text 32"/>
          <p:cNvSpPr/>
          <p:nvPr/>
        </p:nvSpPr>
        <p:spPr>
          <a:xfrm>
            <a:off x="649224" y="4159971"/>
            <a:ext cx="1827520"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"HP heater level high on Unit 4 — what do I check?"</a:t>
            </a:r>
            <a:endParaRPr lang="en-US" sz="940" dirty="0"/>
          </a:p>
        </p:txBody>
      </p:sp>
      <p:sp>
        <p:nvSpPr>
          <p:cNvPr id="35" name="Shape 33"/>
          <p:cNvSpPr/>
          <p:nvPr/>
        </p:nvSpPr>
        <p:spPr>
          <a:xfrm rot="5400000">
            <a:off x="2609332" y="4110228"/>
            <a:ext cx="155448" cy="201168"/>
          </a:xfrm>
          <a:prstGeom prst="triangle">
            <a:avLst/>
          </a:prstGeom>
          <a:solidFill>
            <a:srgbClr val="9AA9B6"/>
          </a:solidFill>
          <a:ln/>
        </p:spPr>
      </p:sp>
      <p:sp>
        <p:nvSpPr>
          <p:cNvPr id="36" name="Shape 34"/>
          <p:cNvSpPr/>
          <p:nvPr/>
        </p:nvSpPr>
        <p:spPr>
          <a:xfrm>
            <a:off x="2833360" y="3575304"/>
            <a:ext cx="1992112" cy="1271016"/>
          </a:xfrm>
          <a:prstGeom prst="roundRect">
            <a:avLst>
              <a:gd name="adj" fmla="val 4317"/>
            </a:avLst>
          </a:prstGeom>
          <a:solidFill>
            <a:srgbClr val="FCEDE0"/>
          </a:solidFill>
          <a:ln w="13970">
            <a:solidFill>
              <a:srgbClr val="D96A16"/>
            </a:solidFill>
            <a:prstDash val="solid"/>
          </a:ln>
        </p:spPr>
      </p:sp>
      <p:sp>
        <p:nvSpPr>
          <p:cNvPr id="37" name="Text 35"/>
          <p:cNvSpPr/>
          <p:nvPr/>
        </p:nvSpPr>
        <p:spPr>
          <a:xfrm>
            <a:off x="2924800" y="3630168"/>
            <a:ext cx="1809232" cy="559247"/>
          </a:xfrm>
          <a:prstGeom prst="rect">
            <a:avLst/>
          </a:prstGeom>
          <a:noFill/>
          <a:ln/>
        </p:spPr>
        <p:txBody>
          <a:bodyPr wrap="square" lIns="0" tIns="0" rIns="0" bIns="0" rtlCol="0" anchor="ctr"/>
          <a:lstStyle/>
          <a:p>
            <a:pPr algn="ctr" indent="0" marL="0">
              <a:buNone/>
            </a:pPr>
            <a:r>
              <a:rPr lang="en-US" sz="1150" b="1" dirty="0">
                <a:solidFill>
                  <a:srgbClr val="8A4310"/>
                </a:solidFill>
                <a:latin typeface="Calibri" pitchFamily="34" charset="0"/>
                <a:ea typeface="Calibri" pitchFamily="34" charset="-122"/>
                <a:cs typeface="Calibri" pitchFamily="34" charset="-120"/>
              </a:rPr>
              <a:t>Hybrid search</a:t>
            </a:r>
            <a:endParaRPr lang="en-US" sz="1150" dirty="0"/>
          </a:p>
        </p:txBody>
      </p:sp>
      <p:sp>
        <p:nvSpPr>
          <p:cNvPr id="38" name="Text 36"/>
          <p:cNvSpPr/>
          <p:nvPr/>
        </p:nvSpPr>
        <p:spPr>
          <a:xfrm>
            <a:off x="2915656" y="4159971"/>
            <a:ext cx="1827520"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keyword for tag numbers, semantic for meaning</a:t>
            </a:r>
            <a:endParaRPr lang="en-US" sz="940" dirty="0"/>
          </a:p>
        </p:txBody>
      </p:sp>
      <p:sp>
        <p:nvSpPr>
          <p:cNvPr id="39" name="Shape 37"/>
          <p:cNvSpPr/>
          <p:nvPr/>
        </p:nvSpPr>
        <p:spPr>
          <a:xfrm rot="5400000">
            <a:off x="4875764" y="4110228"/>
            <a:ext cx="155448" cy="201168"/>
          </a:xfrm>
          <a:prstGeom prst="triangle">
            <a:avLst/>
          </a:prstGeom>
          <a:solidFill>
            <a:srgbClr val="9AA9B6"/>
          </a:solidFill>
          <a:ln/>
        </p:spPr>
      </p:sp>
      <p:sp>
        <p:nvSpPr>
          <p:cNvPr id="40" name="Shape 38"/>
          <p:cNvSpPr/>
          <p:nvPr/>
        </p:nvSpPr>
        <p:spPr>
          <a:xfrm>
            <a:off x="5099792" y="3575304"/>
            <a:ext cx="1992112" cy="1271016"/>
          </a:xfrm>
          <a:prstGeom prst="roundRect">
            <a:avLst>
              <a:gd name="adj" fmla="val 4317"/>
            </a:avLst>
          </a:prstGeom>
          <a:solidFill>
            <a:srgbClr val="FCEDE0"/>
          </a:solidFill>
          <a:ln w="13970">
            <a:solidFill>
              <a:srgbClr val="D96A16"/>
            </a:solidFill>
            <a:prstDash val="solid"/>
          </a:ln>
        </p:spPr>
      </p:sp>
      <p:sp>
        <p:nvSpPr>
          <p:cNvPr id="41" name="Text 39"/>
          <p:cNvSpPr/>
          <p:nvPr/>
        </p:nvSpPr>
        <p:spPr>
          <a:xfrm>
            <a:off x="5191232" y="3630168"/>
            <a:ext cx="1809232" cy="559247"/>
          </a:xfrm>
          <a:prstGeom prst="rect">
            <a:avLst/>
          </a:prstGeom>
          <a:noFill/>
          <a:ln/>
        </p:spPr>
        <p:txBody>
          <a:bodyPr wrap="square" lIns="0" tIns="0" rIns="0" bIns="0" rtlCol="0" anchor="ctr"/>
          <a:lstStyle/>
          <a:p>
            <a:pPr algn="ctr" indent="0" marL="0">
              <a:buNone/>
            </a:pPr>
            <a:r>
              <a:rPr lang="en-US" sz="1150" b="1" dirty="0">
                <a:solidFill>
                  <a:srgbClr val="8A4310"/>
                </a:solidFill>
                <a:latin typeface="Calibri" pitchFamily="34" charset="0"/>
                <a:ea typeface="Calibri" pitchFamily="34" charset="-122"/>
                <a:cs typeface="Calibri" pitchFamily="34" charset="-120"/>
              </a:rPr>
              <a:t>Filter by metadata</a:t>
            </a:r>
            <a:endParaRPr lang="en-US" sz="1150" dirty="0"/>
          </a:p>
        </p:txBody>
      </p:sp>
      <p:sp>
        <p:nvSpPr>
          <p:cNvPr id="42" name="Text 40"/>
          <p:cNvSpPr/>
          <p:nvPr/>
        </p:nvSpPr>
        <p:spPr>
          <a:xfrm>
            <a:off x="5182088" y="4159971"/>
            <a:ext cx="1827520"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this unit, this station, current revision</a:t>
            </a:r>
            <a:endParaRPr lang="en-US" sz="940" dirty="0"/>
          </a:p>
        </p:txBody>
      </p:sp>
      <p:sp>
        <p:nvSpPr>
          <p:cNvPr id="43" name="Shape 41"/>
          <p:cNvSpPr/>
          <p:nvPr/>
        </p:nvSpPr>
        <p:spPr>
          <a:xfrm rot="5400000">
            <a:off x="7142196" y="4110228"/>
            <a:ext cx="155448" cy="201168"/>
          </a:xfrm>
          <a:prstGeom prst="triangle">
            <a:avLst/>
          </a:prstGeom>
          <a:solidFill>
            <a:srgbClr val="9AA9B6"/>
          </a:solidFill>
          <a:ln/>
        </p:spPr>
      </p:sp>
      <p:sp>
        <p:nvSpPr>
          <p:cNvPr id="44" name="Shape 42"/>
          <p:cNvSpPr/>
          <p:nvPr/>
        </p:nvSpPr>
        <p:spPr>
          <a:xfrm>
            <a:off x="7366224" y="3575304"/>
            <a:ext cx="1992112" cy="1271016"/>
          </a:xfrm>
          <a:prstGeom prst="roundRect">
            <a:avLst>
              <a:gd name="adj" fmla="val 4317"/>
            </a:avLst>
          </a:prstGeom>
          <a:solidFill>
            <a:srgbClr val="FCEDE0"/>
          </a:solidFill>
          <a:ln w="13970">
            <a:solidFill>
              <a:srgbClr val="D96A16"/>
            </a:solidFill>
            <a:prstDash val="solid"/>
          </a:ln>
        </p:spPr>
      </p:sp>
      <p:sp>
        <p:nvSpPr>
          <p:cNvPr id="45" name="Text 43"/>
          <p:cNvSpPr/>
          <p:nvPr/>
        </p:nvSpPr>
        <p:spPr>
          <a:xfrm>
            <a:off x="7457664" y="3630168"/>
            <a:ext cx="1809232" cy="559247"/>
          </a:xfrm>
          <a:prstGeom prst="rect">
            <a:avLst/>
          </a:prstGeom>
          <a:noFill/>
          <a:ln/>
        </p:spPr>
        <p:txBody>
          <a:bodyPr wrap="square" lIns="0" tIns="0" rIns="0" bIns="0" rtlCol="0" anchor="ctr"/>
          <a:lstStyle/>
          <a:p>
            <a:pPr algn="ctr" indent="0" marL="0">
              <a:buNone/>
            </a:pPr>
            <a:r>
              <a:rPr lang="en-US" sz="1150" b="1" dirty="0">
                <a:solidFill>
                  <a:srgbClr val="8A4310"/>
                </a:solidFill>
                <a:latin typeface="Calibri" pitchFamily="34" charset="0"/>
                <a:ea typeface="Calibri" pitchFamily="34" charset="-122"/>
                <a:cs typeface="Calibri" pitchFamily="34" charset="-120"/>
              </a:rPr>
              <a:t>Re-rank</a:t>
            </a:r>
            <a:endParaRPr lang="en-US" sz="1150" dirty="0"/>
          </a:p>
        </p:txBody>
      </p:sp>
      <p:sp>
        <p:nvSpPr>
          <p:cNvPr id="46" name="Text 44"/>
          <p:cNvSpPr/>
          <p:nvPr/>
        </p:nvSpPr>
        <p:spPr>
          <a:xfrm>
            <a:off x="7448520" y="4159971"/>
            <a:ext cx="1827520"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best few passages, not the most</a:t>
            </a:r>
            <a:endParaRPr lang="en-US" sz="940" dirty="0"/>
          </a:p>
        </p:txBody>
      </p:sp>
      <p:sp>
        <p:nvSpPr>
          <p:cNvPr id="47" name="Shape 45"/>
          <p:cNvSpPr/>
          <p:nvPr/>
        </p:nvSpPr>
        <p:spPr>
          <a:xfrm rot="5400000">
            <a:off x="9408627" y="4110228"/>
            <a:ext cx="155448" cy="201168"/>
          </a:xfrm>
          <a:prstGeom prst="triangle">
            <a:avLst/>
          </a:prstGeom>
          <a:solidFill>
            <a:srgbClr val="9AA9B6"/>
          </a:solidFill>
          <a:ln/>
        </p:spPr>
      </p:sp>
      <p:sp>
        <p:nvSpPr>
          <p:cNvPr id="48" name="Shape 46"/>
          <p:cNvSpPr/>
          <p:nvPr/>
        </p:nvSpPr>
        <p:spPr>
          <a:xfrm>
            <a:off x="9632655" y="3575304"/>
            <a:ext cx="1992112" cy="1271016"/>
          </a:xfrm>
          <a:prstGeom prst="roundRect">
            <a:avLst>
              <a:gd name="adj" fmla="val 4317"/>
            </a:avLst>
          </a:prstGeom>
          <a:solidFill>
            <a:srgbClr val="F1F4F7"/>
          </a:solidFill>
          <a:ln w="13970">
            <a:solidFill>
              <a:srgbClr val="3B4A5A"/>
            </a:solidFill>
            <a:prstDash val="solid"/>
          </a:ln>
        </p:spPr>
      </p:sp>
      <p:sp>
        <p:nvSpPr>
          <p:cNvPr id="49" name="Text 47"/>
          <p:cNvSpPr/>
          <p:nvPr/>
        </p:nvSpPr>
        <p:spPr>
          <a:xfrm>
            <a:off x="9724095" y="3630168"/>
            <a:ext cx="1809232" cy="559247"/>
          </a:xfrm>
          <a:prstGeom prst="rect">
            <a:avLst/>
          </a:prstGeom>
          <a:noFill/>
          <a:ln/>
        </p:spPr>
        <p:txBody>
          <a:bodyPr wrap="square" lIns="0" tIns="0" rIns="0" bIns="0" rtlCol="0" anchor="ctr"/>
          <a:lstStyle/>
          <a:p>
            <a:pPr algn="ctr" indent="0" marL="0">
              <a:buNone/>
            </a:pPr>
            <a:r>
              <a:rPr lang="en-US" sz="1150" b="1" dirty="0">
                <a:solidFill>
                  <a:srgbClr val="1C2530"/>
                </a:solidFill>
                <a:latin typeface="Calibri" pitchFamily="34" charset="0"/>
                <a:ea typeface="Calibri" pitchFamily="34" charset="-122"/>
                <a:cs typeface="Calibri" pitchFamily="34" charset="-120"/>
              </a:rPr>
              <a:t>Answer with citations</a:t>
            </a:r>
            <a:endParaRPr lang="en-US" sz="1150" dirty="0"/>
          </a:p>
        </p:txBody>
      </p:sp>
      <p:sp>
        <p:nvSpPr>
          <p:cNvPr id="50" name="Text 48"/>
          <p:cNvSpPr/>
          <p:nvPr/>
        </p:nvSpPr>
        <p:spPr>
          <a:xfrm>
            <a:off x="9714951" y="4159971"/>
            <a:ext cx="1827520"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only from those passages</a:t>
            </a:r>
            <a:endParaRPr lang="en-US" sz="940" dirty="0"/>
          </a:p>
        </p:txBody>
      </p:sp>
      <p:sp>
        <p:nvSpPr>
          <p:cNvPr id="51" name="Shape 49"/>
          <p:cNvSpPr/>
          <p:nvPr/>
        </p:nvSpPr>
        <p:spPr>
          <a:xfrm>
            <a:off x="566928" y="5138928"/>
            <a:ext cx="11057839" cy="420624"/>
          </a:xfrm>
          <a:prstGeom prst="roundRect">
            <a:avLst>
              <a:gd name="adj" fmla="val 10870"/>
            </a:avLst>
          </a:prstGeom>
          <a:solidFill>
            <a:srgbClr val="F4F1FA"/>
          </a:solidFill>
          <a:ln w="12700">
            <a:solidFill>
              <a:srgbClr val="8B77B8"/>
            </a:solidFill>
            <a:prstDash val="dash"/>
          </a:ln>
        </p:spPr>
      </p:sp>
      <p:sp>
        <p:nvSpPr>
          <p:cNvPr id="52" name="Text 50"/>
          <p:cNvSpPr/>
          <p:nvPr/>
        </p:nvSpPr>
        <p:spPr>
          <a:xfrm>
            <a:off x="749808" y="5138928"/>
            <a:ext cx="10692079" cy="420624"/>
          </a:xfrm>
          <a:prstGeom prst="rect">
            <a:avLst/>
          </a:prstGeom>
          <a:noFill/>
          <a:ln/>
        </p:spPr>
        <p:txBody>
          <a:bodyPr wrap="square" lIns="0" tIns="0" rIns="0" bIns="0" rtlCol="0" anchor="ctr"/>
          <a:lstStyle/>
          <a:p>
            <a:pPr indent="0" marL="0">
              <a:buNone/>
            </a:pPr>
            <a:r>
              <a:rPr lang="en-US" sz="1150" b="1" dirty="0">
                <a:solidFill>
                  <a:srgbClr val="5B4A85"/>
                </a:solidFill>
                <a:latin typeface="Calibri" pitchFamily="34" charset="0"/>
                <a:ea typeface="Calibri" pitchFamily="34" charset="-122"/>
                <a:cs typeface="Calibri" pitchFamily="34" charset="-120"/>
              </a:rPr>
              <a:t>Feedback:  </a:t>
            </a:r>
            <a:pPr indent="0" marL="0">
              <a:buNone/>
            </a:pPr>
            <a:r>
              <a:rPr lang="en-US" sz="1150" dirty="0">
                <a:solidFill>
                  <a:srgbClr val="5B4A85"/>
                </a:solidFill>
                <a:latin typeface="Calibri" pitchFamily="34" charset="0"/>
                <a:ea typeface="Calibri" pitchFamily="34" charset="-122"/>
                <a:cs typeface="Calibri" pitchFamily="34" charset="-120"/>
              </a:rPr>
              <a:t>A superseded revision must leave the index the day it is superseded — version control is your job, not the model's</a:t>
            </a:r>
            <a:endParaRPr lang="en-US" sz="1150" dirty="0"/>
          </a:p>
        </p:txBody>
      </p:sp>
      <p:sp>
        <p:nvSpPr>
          <p:cNvPr id="53" name="Shape 51"/>
          <p:cNvSpPr/>
          <p:nvPr/>
        </p:nvSpPr>
        <p:spPr>
          <a:xfrm>
            <a:off x="566928" y="5632704"/>
            <a:ext cx="11057839" cy="548640"/>
          </a:xfrm>
          <a:prstGeom prst="roundRect">
            <a:avLst>
              <a:gd name="adj" fmla="val 8333"/>
            </a:avLst>
          </a:prstGeom>
          <a:solidFill>
            <a:srgbClr val="FCEDE0"/>
          </a:solidFill>
          <a:ln w="12700">
            <a:solidFill>
              <a:srgbClr val="D96A16"/>
            </a:solidFill>
            <a:prstDash val="solid"/>
          </a:ln>
        </p:spPr>
      </p:sp>
      <p:sp>
        <p:nvSpPr>
          <p:cNvPr id="54" name="Text 52"/>
          <p:cNvSpPr/>
          <p:nvPr/>
        </p:nvSpPr>
        <p:spPr>
          <a:xfrm>
            <a:off x="768096" y="5632704"/>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The language model appears in exactly one box, at the very end. Everything that determines whether the answer is trustworthy happens before it.</a:t>
            </a:r>
            <a:endParaRPr lang="en-US" sz="13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Practical uses in our own workflow</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Eight things worth trying, none of which touch a control system</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7. Generative AI, RAG and agents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93</a:t>
            </a:r>
            <a:endParaRPr lang="en-US" sz="950" dirty="0"/>
          </a:p>
        </p:txBody>
      </p:sp>
      <p:sp>
        <p:nvSpPr>
          <p:cNvPr id="7" name="Shape 5"/>
          <p:cNvSpPr/>
          <p:nvPr/>
        </p:nvSpPr>
        <p:spPr>
          <a:xfrm>
            <a:off x="566928" y="1627632"/>
            <a:ext cx="2599868"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10512"/>
            <a:ext cx="137160" cy="137160"/>
          </a:xfrm>
          <a:prstGeom prst="ellipse">
            <a:avLst/>
          </a:prstGeom>
          <a:solidFill>
            <a:srgbClr val="D96A16"/>
          </a:solidFill>
          <a:ln/>
        </p:spPr>
      </p:sp>
      <p:sp>
        <p:nvSpPr>
          <p:cNvPr id="9" name="Text 7"/>
          <p:cNvSpPr/>
          <p:nvPr/>
        </p:nvSpPr>
        <p:spPr>
          <a:xfrm>
            <a:off x="969264" y="1709928"/>
            <a:ext cx="2032940" cy="347472"/>
          </a:xfrm>
          <a:prstGeom prst="rect">
            <a:avLst/>
          </a:prstGeom>
          <a:noFill/>
          <a:ln/>
        </p:spPr>
        <p:txBody>
          <a:bodyPr wrap="square" lIns="0" tIns="0" rIns="0" bIns="0" rtlCol="0" anchor="t"/>
          <a:lstStyle/>
          <a:p>
            <a:pPr indent="0" marL="0">
              <a:buNone/>
            </a:pPr>
            <a:r>
              <a:rPr lang="en-US" sz="1250" b="1" dirty="0">
                <a:solidFill>
                  <a:srgbClr val="1C2530"/>
                </a:solidFill>
                <a:latin typeface="Calibri" pitchFamily="34" charset="0"/>
                <a:ea typeface="Calibri" pitchFamily="34" charset="-122"/>
                <a:cs typeface="Calibri" pitchFamily="34" charset="-120"/>
              </a:rPr>
              <a:t>Shift handover drafting</a:t>
            </a:r>
            <a:endParaRPr lang="en-US" sz="1250" dirty="0"/>
          </a:p>
        </p:txBody>
      </p:sp>
      <p:sp>
        <p:nvSpPr>
          <p:cNvPr id="10" name="Text 8"/>
          <p:cNvSpPr/>
          <p:nvPr/>
        </p:nvSpPr>
        <p:spPr>
          <a:xfrm>
            <a:off x="768096" y="2121408"/>
            <a:ext cx="2197532" cy="1243584"/>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Drafted from the log, the alarm list and work in progress. The outgoing engineer corrects it and signs it. Ten minutes recovered, every shift.</a:t>
            </a:r>
            <a:endParaRPr lang="en-US" sz="1050" dirty="0"/>
          </a:p>
        </p:txBody>
      </p:sp>
      <p:sp>
        <p:nvSpPr>
          <p:cNvPr id="11" name="Shape 9"/>
          <p:cNvSpPr/>
          <p:nvPr/>
        </p:nvSpPr>
        <p:spPr>
          <a:xfrm>
            <a:off x="3386252" y="1627632"/>
            <a:ext cx="2599868"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3569132" y="1810512"/>
            <a:ext cx="137160" cy="137160"/>
          </a:xfrm>
          <a:prstGeom prst="ellipse">
            <a:avLst/>
          </a:prstGeom>
          <a:solidFill>
            <a:srgbClr val="D96A16"/>
          </a:solidFill>
          <a:ln/>
        </p:spPr>
      </p:sp>
      <p:sp>
        <p:nvSpPr>
          <p:cNvPr id="13" name="Text 11"/>
          <p:cNvSpPr/>
          <p:nvPr/>
        </p:nvSpPr>
        <p:spPr>
          <a:xfrm>
            <a:off x="3788588" y="1709928"/>
            <a:ext cx="2032940" cy="347472"/>
          </a:xfrm>
          <a:prstGeom prst="rect">
            <a:avLst/>
          </a:prstGeom>
          <a:noFill/>
          <a:ln/>
        </p:spPr>
        <p:txBody>
          <a:bodyPr wrap="square" lIns="0" tIns="0" rIns="0" bIns="0" rtlCol="0" anchor="t"/>
          <a:lstStyle/>
          <a:p>
            <a:pPr indent="0" marL="0">
              <a:buNone/>
            </a:pPr>
            <a:r>
              <a:rPr lang="en-US" sz="1250" b="1" dirty="0">
                <a:solidFill>
                  <a:srgbClr val="1C2530"/>
                </a:solidFill>
                <a:latin typeface="Calibri" pitchFamily="34" charset="0"/>
                <a:ea typeface="Calibri" pitchFamily="34" charset="-122"/>
                <a:cs typeface="Calibri" pitchFamily="34" charset="-120"/>
              </a:rPr>
              <a:t>Trip report first drafts</a:t>
            </a:r>
            <a:endParaRPr lang="en-US" sz="1250" dirty="0"/>
          </a:p>
        </p:txBody>
      </p:sp>
      <p:sp>
        <p:nvSpPr>
          <p:cNvPr id="14" name="Text 12"/>
          <p:cNvSpPr/>
          <p:nvPr/>
        </p:nvSpPr>
        <p:spPr>
          <a:xfrm>
            <a:off x="3587420" y="2121408"/>
            <a:ext cx="2197532" cy="1243584"/>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Sequence of events, protections operated and plant response assembled into a first draft within the hour, while the committee is still being formed.</a:t>
            </a:r>
            <a:endParaRPr lang="en-US" sz="1050" dirty="0"/>
          </a:p>
        </p:txBody>
      </p:sp>
      <p:sp>
        <p:nvSpPr>
          <p:cNvPr id="15" name="Shape 13"/>
          <p:cNvSpPr/>
          <p:nvPr/>
        </p:nvSpPr>
        <p:spPr>
          <a:xfrm>
            <a:off x="6205576" y="1627632"/>
            <a:ext cx="2599868"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6388456" y="1810512"/>
            <a:ext cx="137160" cy="137160"/>
          </a:xfrm>
          <a:prstGeom prst="ellipse">
            <a:avLst/>
          </a:prstGeom>
          <a:solidFill>
            <a:srgbClr val="D96A16"/>
          </a:solidFill>
          <a:ln/>
        </p:spPr>
      </p:sp>
      <p:sp>
        <p:nvSpPr>
          <p:cNvPr id="17" name="Text 15"/>
          <p:cNvSpPr/>
          <p:nvPr/>
        </p:nvSpPr>
        <p:spPr>
          <a:xfrm>
            <a:off x="6607912" y="1709928"/>
            <a:ext cx="2032940" cy="548640"/>
          </a:xfrm>
          <a:prstGeom prst="rect">
            <a:avLst/>
          </a:prstGeom>
          <a:noFill/>
          <a:ln/>
        </p:spPr>
        <p:txBody>
          <a:bodyPr wrap="square" lIns="0" tIns="0" rIns="0" bIns="0" rtlCol="0" anchor="t"/>
          <a:lstStyle/>
          <a:p>
            <a:pPr indent="0" marL="0">
              <a:buNone/>
            </a:pPr>
            <a:r>
              <a:rPr lang="en-US" sz="1250" b="1" dirty="0">
                <a:solidFill>
                  <a:srgbClr val="1C2530"/>
                </a:solidFill>
                <a:latin typeface="Calibri" pitchFamily="34" charset="0"/>
                <a:ea typeface="Calibri" pitchFamily="34" charset="-122"/>
                <a:cs typeface="Calibri" pitchFamily="34" charset="-120"/>
              </a:rPr>
              <a:t>Troubleshooting assistant</a:t>
            </a:r>
            <a:endParaRPr lang="en-US" sz="1250" dirty="0"/>
          </a:p>
        </p:txBody>
      </p:sp>
      <p:sp>
        <p:nvSpPr>
          <p:cNvPr id="18" name="Text 16"/>
          <p:cNvSpPr/>
          <p:nvPr/>
        </p:nvSpPr>
        <p:spPr>
          <a:xfrm>
            <a:off x="6406744" y="2322576"/>
            <a:ext cx="2197532" cy="1042416"/>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Describe the symptom in plain language and receive the relevant manual sections, past defects and previous RCAs, with citations, in one place.</a:t>
            </a:r>
            <a:endParaRPr lang="en-US" sz="1050" dirty="0"/>
          </a:p>
        </p:txBody>
      </p:sp>
      <p:sp>
        <p:nvSpPr>
          <p:cNvPr id="19" name="Shape 17"/>
          <p:cNvSpPr/>
          <p:nvPr/>
        </p:nvSpPr>
        <p:spPr>
          <a:xfrm>
            <a:off x="9024899" y="1627632"/>
            <a:ext cx="2599868"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9207779" y="1810512"/>
            <a:ext cx="137160" cy="137160"/>
          </a:xfrm>
          <a:prstGeom prst="ellipse">
            <a:avLst/>
          </a:prstGeom>
          <a:solidFill>
            <a:srgbClr val="D96A16"/>
          </a:solidFill>
          <a:ln/>
        </p:spPr>
      </p:sp>
      <p:sp>
        <p:nvSpPr>
          <p:cNvPr id="21" name="Text 19"/>
          <p:cNvSpPr/>
          <p:nvPr/>
        </p:nvSpPr>
        <p:spPr>
          <a:xfrm>
            <a:off x="9427235" y="1709928"/>
            <a:ext cx="2032940" cy="548640"/>
          </a:xfrm>
          <a:prstGeom prst="rect">
            <a:avLst/>
          </a:prstGeom>
          <a:noFill/>
          <a:ln/>
        </p:spPr>
        <p:txBody>
          <a:bodyPr wrap="square" lIns="0" tIns="0" rIns="0" bIns="0" rtlCol="0" anchor="t"/>
          <a:lstStyle/>
          <a:p>
            <a:pPr indent="0" marL="0">
              <a:buNone/>
            </a:pPr>
            <a:r>
              <a:rPr lang="en-US" sz="1250" b="1" dirty="0">
                <a:solidFill>
                  <a:srgbClr val="1C2530"/>
                </a:solidFill>
                <a:latin typeface="Calibri" pitchFamily="34" charset="0"/>
                <a:ea typeface="Calibri" pitchFamily="34" charset="-122"/>
                <a:cs typeface="Calibri" pitchFamily="34" charset="-120"/>
              </a:rPr>
              <a:t>Precedent search across the fleet</a:t>
            </a:r>
            <a:endParaRPr lang="en-US" sz="1250" dirty="0"/>
          </a:p>
        </p:txBody>
      </p:sp>
      <p:sp>
        <p:nvSpPr>
          <p:cNvPr id="22" name="Text 20"/>
          <p:cNvSpPr/>
          <p:nvPr/>
        </p:nvSpPr>
        <p:spPr>
          <a:xfrm>
            <a:off x="9226067" y="2322576"/>
            <a:ext cx="2197532" cy="1042416"/>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Has this failure happened at another station? Today that question needs a phone call and some luck. It should need a search box.</a:t>
            </a:r>
            <a:endParaRPr lang="en-US" sz="1050" dirty="0"/>
          </a:p>
        </p:txBody>
      </p:sp>
      <p:sp>
        <p:nvSpPr>
          <p:cNvPr id="23" name="Shape 21"/>
          <p:cNvSpPr/>
          <p:nvPr/>
        </p:nvSpPr>
        <p:spPr>
          <a:xfrm>
            <a:off x="566928" y="3712464"/>
            <a:ext cx="2599868"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4" name="Shape 22"/>
          <p:cNvSpPr/>
          <p:nvPr/>
        </p:nvSpPr>
        <p:spPr>
          <a:xfrm>
            <a:off x="749808" y="3895344"/>
            <a:ext cx="137160" cy="137160"/>
          </a:xfrm>
          <a:prstGeom prst="ellipse">
            <a:avLst/>
          </a:prstGeom>
          <a:solidFill>
            <a:srgbClr val="D96A16"/>
          </a:solidFill>
          <a:ln/>
        </p:spPr>
      </p:sp>
      <p:sp>
        <p:nvSpPr>
          <p:cNvPr id="25" name="Text 23"/>
          <p:cNvSpPr/>
          <p:nvPr/>
        </p:nvSpPr>
        <p:spPr>
          <a:xfrm>
            <a:off x="969264" y="3794760"/>
            <a:ext cx="2032940" cy="548640"/>
          </a:xfrm>
          <a:prstGeom prst="rect">
            <a:avLst/>
          </a:prstGeom>
          <a:noFill/>
          <a:ln/>
        </p:spPr>
        <p:txBody>
          <a:bodyPr wrap="square" lIns="0" tIns="0" rIns="0" bIns="0" rtlCol="0" anchor="t"/>
          <a:lstStyle/>
          <a:p>
            <a:pPr indent="0" marL="0">
              <a:buNone/>
            </a:pPr>
            <a:r>
              <a:rPr lang="en-US" sz="1250" b="1" dirty="0">
                <a:solidFill>
                  <a:srgbClr val="1C2530"/>
                </a:solidFill>
                <a:latin typeface="Calibri" pitchFamily="34" charset="0"/>
                <a:ea typeface="Calibri" pitchFamily="34" charset="-122"/>
                <a:cs typeface="Calibri" pitchFamily="34" charset="-120"/>
              </a:rPr>
              <a:t>Work-order text into a taxonomy</a:t>
            </a:r>
            <a:endParaRPr lang="en-US" sz="1250" dirty="0"/>
          </a:p>
        </p:txBody>
      </p:sp>
      <p:sp>
        <p:nvSpPr>
          <p:cNvPr id="26" name="Text 24"/>
          <p:cNvSpPr/>
          <p:nvPr/>
        </p:nvSpPr>
        <p:spPr>
          <a:xfrm>
            <a:off x="768096" y="4407408"/>
            <a:ext cx="2197532" cy="1042416"/>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Years of free-text CMMS entries classified by equipment, failure mode and cause — turning unreadable text into countable reliability data.</a:t>
            </a:r>
            <a:endParaRPr lang="en-US" sz="1050" dirty="0"/>
          </a:p>
        </p:txBody>
      </p:sp>
      <p:sp>
        <p:nvSpPr>
          <p:cNvPr id="27" name="Shape 25"/>
          <p:cNvSpPr/>
          <p:nvPr/>
        </p:nvSpPr>
        <p:spPr>
          <a:xfrm>
            <a:off x="3386252" y="3712464"/>
            <a:ext cx="2599868"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Shape 26"/>
          <p:cNvSpPr/>
          <p:nvPr/>
        </p:nvSpPr>
        <p:spPr>
          <a:xfrm>
            <a:off x="3569132" y="3895344"/>
            <a:ext cx="137160" cy="137160"/>
          </a:xfrm>
          <a:prstGeom prst="ellipse">
            <a:avLst/>
          </a:prstGeom>
          <a:solidFill>
            <a:srgbClr val="D96A16"/>
          </a:solidFill>
          <a:ln/>
        </p:spPr>
      </p:sp>
      <p:sp>
        <p:nvSpPr>
          <p:cNvPr id="29" name="Text 27"/>
          <p:cNvSpPr/>
          <p:nvPr/>
        </p:nvSpPr>
        <p:spPr>
          <a:xfrm>
            <a:off x="3788588" y="3794760"/>
            <a:ext cx="2032940" cy="347472"/>
          </a:xfrm>
          <a:prstGeom prst="rect">
            <a:avLst/>
          </a:prstGeom>
          <a:noFill/>
          <a:ln/>
        </p:spPr>
        <p:txBody>
          <a:bodyPr wrap="square" lIns="0" tIns="0" rIns="0" bIns="0" rtlCol="0" anchor="t"/>
          <a:lstStyle/>
          <a:p>
            <a:pPr indent="0" marL="0">
              <a:buNone/>
            </a:pPr>
            <a:r>
              <a:rPr lang="en-US" sz="1250" b="1" dirty="0">
                <a:solidFill>
                  <a:srgbClr val="1C2530"/>
                </a:solidFill>
                <a:latin typeface="Calibri" pitchFamily="34" charset="0"/>
                <a:ea typeface="Calibri" pitchFamily="34" charset="-122"/>
                <a:cs typeface="Calibri" pitchFamily="34" charset="-120"/>
              </a:rPr>
              <a:t>Specification drafting</a:t>
            </a:r>
            <a:endParaRPr lang="en-US" sz="1250" dirty="0"/>
          </a:p>
        </p:txBody>
      </p:sp>
      <p:sp>
        <p:nvSpPr>
          <p:cNvPr id="30" name="Text 28"/>
          <p:cNvSpPr/>
          <p:nvPr/>
        </p:nvSpPr>
        <p:spPr>
          <a:xfrm>
            <a:off x="3587420" y="4206240"/>
            <a:ext cx="2197532" cy="1243584"/>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First-cut technical specifications and tender clauses assembled from your own earlier documents, so house style and referenced standards survive.</a:t>
            </a:r>
            <a:endParaRPr lang="en-US" sz="1050" dirty="0"/>
          </a:p>
        </p:txBody>
      </p:sp>
      <p:sp>
        <p:nvSpPr>
          <p:cNvPr id="31" name="Shape 29"/>
          <p:cNvSpPr/>
          <p:nvPr/>
        </p:nvSpPr>
        <p:spPr>
          <a:xfrm>
            <a:off x="6205576" y="3712464"/>
            <a:ext cx="2599868"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2" name="Shape 30"/>
          <p:cNvSpPr/>
          <p:nvPr/>
        </p:nvSpPr>
        <p:spPr>
          <a:xfrm>
            <a:off x="6388456" y="3895344"/>
            <a:ext cx="137160" cy="137160"/>
          </a:xfrm>
          <a:prstGeom prst="ellipse">
            <a:avLst/>
          </a:prstGeom>
          <a:solidFill>
            <a:srgbClr val="D96A16"/>
          </a:solidFill>
          <a:ln/>
        </p:spPr>
      </p:sp>
      <p:sp>
        <p:nvSpPr>
          <p:cNvPr id="33" name="Text 31"/>
          <p:cNvSpPr/>
          <p:nvPr/>
        </p:nvSpPr>
        <p:spPr>
          <a:xfrm>
            <a:off x="6607912" y="3794760"/>
            <a:ext cx="2032940" cy="548640"/>
          </a:xfrm>
          <a:prstGeom prst="rect">
            <a:avLst/>
          </a:prstGeom>
          <a:noFill/>
          <a:ln/>
        </p:spPr>
        <p:txBody>
          <a:bodyPr wrap="square" lIns="0" tIns="0" rIns="0" bIns="0" rtlCol="0" anchor="t"/>
          <a:lstStyle/>
          <a:p>
            <a:pPr indent="0" marL="0">
              <a:buNone/>
            </a:pPr>
            <a:r>
              <a:rPr lang="en-US" sz="1250" b="1" dirty="0">
                <a:solidFill>
                  <a:srgbClr val="1C2530"/>
                </a:solidFill>
                <a:latin typeface="Calibri" pitchFamily="34" charset="0"/>
                <a:ea typeface="Calibri" pitchFamily="34" charset="-122"/>
                <a:cs typeface="Calibri" pitchFamily="34" charset="-120"/>
              </a:rPr>
              <a:t>Marathi and English safety communication</a:t>
            </a:r>
            <a:endParaRPr lang="en-US" sz="1250" dirty="0"/>
          </a:p>
        </p:txBody>
      </p:sp>
      <p:sp>
        <p:nvSpPr>
          <p:cNvPr id="34" name="Text 32"/>
          <p:cNvSpPr/>
          <p:nvPr/>
        </p:nvSpPr>
        <p:spPr>
          <a:xfrm>
            <a:off x="6406744" y="4407408"/>
            <a:ext cx="2197532" cy="1042416"/>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Toolbox talks, safety circulars and site instructions in both languages, so nothing important is understood only by those who read English.</a:t>
            </a:r>
            <a:endParaRPr lang="en-US" sz="1050" dirty="0"/>
          </a:p>
        </p:txBody>
      </p:sp>
      <p:sp>
        <p:nvSpPr>
          <p:cNvPr id="35" name="Shape 33"/>
          <p:cNvSpPr/>
          <p:nvPr/>
        </p:nvSpPr>
        <p:spPr>
          <a:xfrm>
            <a:off x="9024899" y="3712464"/>
            <a:ext cx="2599868"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6" name="Shape 34"/>
          <p:cNvSpPr/>
          <p:nvPr/>
        </p:nvSpPr>
        <p:spPr>
          <a:xfrm>
            <a:off x="9207779" y="3895344"/>
            <a:ext cx="137160" cy="137160"/>
          </a:xfrm>
          <a:prstGeom prst="ellipse">
            <a:avLst/>
          </a:prstGeom>
          <a:solidFill>
            <a:srgbClr val="D96A16"/>
          </a:solidFill>
          <a:ln/>
        </p:spPr>
      </p:sp>
      <p:sp>
        <p:nvSpPr>
          <p:cNvPr id="37" name="Text 35"/>
          <p:cNvSpPr/>
          <p:nvPr/>
        </p:nvSpPr>
        <p:spPr>
          <a:xfrm>
            <a:off x="9427235" y="3794760"/>
            <a:ext cx="2032940" cy="548640"/>
          </a:xfrm>
          <a:prstGeom prst="rect">
            <a:avLst/>
          </a:prstGeom>
          <a:noFill/>
          <a:ln/>
        </p:spPr>
        <p:txBody>
          <a:bodyPr wrap="square" lIns="0" tIns="0" rIns="0" bIns="0" rtlCol="0" anchor="t"/>
          <a:lstStyle/>
          <a:p>
            <a:pPr indent="0" marL="0">
              <a:buNone/>
            </a:pPr>
            <a:r>
              <a:rPr lang="en-US" sz="1250" b="1" dirty="0">
                <a:solidFill>
                  <a:srgbClr val="1C2530"/>
                </a:solidFill>
                <a:latin typeface="Calibri" pitchFamily="34" charset="0"/>
                <a:ea typeface="Calibri" pitchFamily="34" charset="-122"/>
                <a:cs typeface="Calibri" pitchFamily="34" charset="-120"/>
              </a:rPr>
              <a:t>Summarising inspection reports</a:t>
            </a:r>
            <a:endParaRPr lang="en-US" sz="1250" dirty="0"/>
          </a:p>
        </p:txBody>
      </p:sp>
      <p:sp>
        <p:nvSpPr>
          <p:cNvPr id="38" name="Text 36"/>
          <p:cNvSpPr/>
          <p:nvPr/>
        </p:nvSpPr>
        <p:spPr>
          <a:xfrm>
            <a:off x="9226067" y="4407408"/>
            <a:ext cx="2197532" cy="1042416"/>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Overhaul and inspection reports condensed into findings, actions and open points, with every point traceable to the paragraph it came from.</a:t>
            </a:r>
            <a:endParaRPr lang="en-US" sz="1050" dirty="0"/>
          </a:p>
        </p:txBody>
      </p:sp>
      <p:sp>
        <p:nvSpPr>
          <p:cNvPr id="39" name="Shape 37"/>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40" name="Text 38"/>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Every one of these produces a draft for an engineer to check. None of them produces a decision. That distinction is the whole safety case.</a:t>
            </a:r>
            <a:endParaRPr lang="en-US" sz="13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Why we cannot explain 57.85 per cent</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Tying language back to the June 2026 numbers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7. Generative AI, RAG and agents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94</a:t>
            </a:r>
            <a:endParaRPr lang="en-US" sz="950" dirty="0"/>
          </a:p>
        </p:txBody>
      </p:sp>
      <p:sp>
        <p:nvSpPr>
          <p:cNvPr id="7" name="Shape 5"/>
          <p:cNvSpPr/>
          <p:nvPr/>
        </p:nvSpPr>
        <p:spPr>
          <a:xfrm>
            <a:off x="566928" y="1627632"/>
            <a:ext cx="5382616" cy="3886200"/>
          </a:xfrm>
          <a:prstGeom prst="roundRect">
            <a:avLst>
              <a:gd name="adj" fmla="val 141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841248" y="1847088"/>
            <a:ext cx="4833976" cy="292608"/>
          </a:xfrm>
          <a:prstGeom prst="rect">
            <a:avLst/>
          </a:prstGeom>
          <a:noFill/>
          <a:ln/>
        </p:spPr>
        <p:txBody>
          <a:bodyPr wrap="square" lIns="0" tIns="0" rIns="0" bIns="0" rtlCol="0" anchor="ctr"/>
          <a:lstStyle/>
          <a:p>
            <a:pPr indent="0" marL="0">
              <a:buNone/>
            </a:pPr>
            <a:r>
              <a:rPr lang="en-US" sz="1150" b="1" spc="120" kern="0" dirty="0">
                <a:solidFill>
                  <a:srgbClr val="3B4A5A"/>
                </a:solidFill>
                <a:latin typeface="Calibri" pitchFamily="34" charset="0"/>
                <a:ea typeface="Calibri" pitchFamily="34" charset="-122"/>
                <a:cs typeface="Calibri" pitchFamily="34" charset="-120"/>
              </a:rPr>
              <a:t>THE RELIABILITY QUESTION</a:t>
            </a:r>
            <a:endParaRPr lang="en-US" sz="1150" dirty="0"/>
          </a:p>
        </p:txBody>
      </p:sp>
      <p:sp>
        <p:nvSpPr>
          <p:cNvPr id="9" name="Text 7"/>
          <p:cNvSpPr/>
          <p:nvPr/>
        </p:nvSpPr>
        <p:spPr>
          <a:xfrm>
            <a:off x="841248" y="2176272"/>
            <a:ext cx="4833976" cy="1170432"/>
          </a:xfrm>
          <a:prstGeom prst="rect">
            <a:avLst/>
          </a:prstGeom>
          <a:noFill/>
          <a:ln/>
        </p:spPr>
        <p:txBody>
          <a:bodyPr wrap="square" lIns="0" tIns="0" rIns="0" bIns="0" rtlCol="0" anchor="t"/>
          <a:lstStyle/>
          <a:p>
            <a:pPr indent="0" marL="0">
              <a:buNone/>
            </a:pPr>
            <a:r>
              <a:rPr lang="en-US" sz="2700" b="1" dirty="0">
                <a:solidFill>
                  <a:srgbClr val="1C2530"/>
                </a:solidFill>
                <a:latin typeface="Cambria" pitchFamily="34" charset="0"/>
                <a:ea typeface="Cambria" pitchFamily="34" charset="-122"/>
                <a:cs typeface="Cambria" pitchFamily="34" charset="-120"/>
              </a:rPr>
              <a:t>Why was availability 57.85 %?</a:t>
            </a:r>
            <a:endParaRPr lang="en-US" sz="2700" dirty="0"/>
          </a:p>
        </p:txBody>
      </p:sp>
      <p:sp>
        <p:nvSpPr>
          <p:cNvPr id="10" name="Text 8"/>
          <p:cNvSpPr/>
          <p:nvPr/>
        </p:nvSpPr>
        <p:spPr>
          <a:xfrm>
            <a:off x="841248" y="3547872"/>
            <a:ext cx="4833976" cy="1856232"/>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Khaperkheda Units 1-4 ran at 57.85 per cent availability in June 2026 and Chandrapur 3-7 at 64.88 per cent. Between them they carry ₹45.69 crore of the fixed-charge disallowance. Nobody can currently say which failure modes account for how much of it.</a:t>
            </a:r>
            <a:endParaRPr lang="en-US" sz="1350" dirty="0"/>
          </a:p>
        </p:txBody>
      </p:sp>
      <p:sp>
        <p:nvSpPr>
          <p:cNvPr id="11" name="Shape 9"/>
          <p:cNvSpPr/>
          <p:nvPr/>
        </p:nvSpPr>
        <p:spPr>
          <a:xfrm>
            <a:off x="6242152" y="1627632"/>
            <a:ext cx="5382616" cy="3886200"/>
          </a:xfrm>
          <a:prstGeom prst="roundRect">
            <a:avLst>
              <a:gd name="adj" fmla="val 1412"/>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10"/>
          <p:cNvSpPr/>
          <p:nvPr/>
        </p:nvSpPr>
        <p:spPr>
          <a:xfrm>
            <a:off x="6516472" y="1847088"/>
            <a:ext cx="4833976" cy="292608"/>
          </a:xfrm>
          <a:prstGeom prst="rect">
            <a:avLst/>
          </a:prstGeom>
          <a:noFill/>
          <a:ln/>
        </p:spPr>
        <p:txBody>
          <a:bodyPr wrap="square" lIns="0" tIns="0" rIns="0" bIns="0" rtlCol="0" anchor="ctr"/>
          <a:lstStyle/>
          <a:p>
            <a:pPr indent="0" marL="0">
              <a:buNone/>
            </a:pPr>
            <a:r>
              <a:rPr lang="en-US" sz="1150" b="1" spc="120" kern="0" dirty="0">
                <a:solidFill>
                  <a:srgbClr val="D96A16"/>
                </a:solidFill>
                <a:latin typeface="Calibri" pitchFamily="34" charset="0"/>
                <a:ea typeface="Calibri" pitchFamily="34" charset="-122"/>
                <a:cs typeface="Calibri" pitchFamily="34" charset="-120"/>
              </a:rPr>
              <a:t>WHY WE CANNOT ANSWER IT</a:t>
            </a:r>
            <a:endParaRPr lang="en-US" sz="1150" dirty="0"/>
          </a:p>
        </p:txBody>
      </p:sp>
      <p:sp>
        <p:nvSpPr>
          <p:cNvPr id="13" name="Text 11"/>
          <p:cNvSpPr/>
          <p:nvPr/>
        </p:nvSpPr>
        <p:spPr>
          <a:xfrm>
            <a:off x="6516472" y="2176272"/>
            <a:ext cx="4833976" cy="1170432"/>
          </a:xfrm>
          <a:prstGeom prst="rect">
            <a:avLst/>
          </a:prstGeom>
          <a:noFill/>
          <a:ln/>
        </p:spPr>
        <p:txBody>
          <a:bodyPr wrap="square" lIns="0" tIns="0" rIns="0" bIns="0" rtlCol="0" anchor="t"/>
          <a:lstStyle/>
          <a:p>
            <a:pPr indent="0" marL="0">
              <a:buNone/>
            </a:pPr>
            <a:r>
              <a:rPr lang="en-US" sz="2700" b="1" dirty="0">
                <a:solidFill>
                  <a:srgbClr val="1C2530"/>
                </a:solidFill>
                <a:latin typeface="Cambria" pitchFamily="34" charset="0"/>
                <a:ea typeface="Cambria" pitchFamily="34" charset="-122"/>
                <a:cs typeface="Cambria" pitchFamily="34" charset="-120"/>
              </a:rPr>
              <a:t>The history is free text</a:t>
            </a:r>
            <a:endParaRPr lang="en-US" sz="2700" dirty="0"/>
          </a:p>
        </p:txBody>
      </p:sp>
      <p:sp>
        <p:nvSpPr>
          <p:cNvPr id="14" name="Text 12"/>
          <p:cNvSpPr/>
          <p:nvPr/>
        </p:nvSpPr>
        <p:spPr>
          <a:xfrm>
            <a:off x="6516472" y="3547872"/>
            <a:ext cx="4833976" cy="1856232"/>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Every one of those outages is recorded — in work orders, log books and trip reports, written by different people in different words over many years. You cannot count what has never been classified, and a Pareto chart of unclassified text does not exist.</a:t>
            </a:r>
            <a:endParaRPr lang="en-US" sz="1350" dirty="0"/>
          </a:p>
        </p:txBody>
      </p:sp>
      <p:sp>
        <p:nvSpPr>
          <p:cNvPr id="15" name="Shape 13"/>
          <p:cNvSpPr/>
          <p:nvPr/>
        </p:nvSpPr>
        <p:spPr>
          <a:xfrm>
            <a:off x="566928" y="56967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6967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Structuring that history is a language problem, not a reliability problem. Solve the language problem and the reliability analysis becomes ordinary engineering.</a:t>
            </a:r>
            <a:endParaRPr lang="en-US" sz="13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From assistant to agent</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A model given tools, a goal, and permission to decide the order of the calls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7. Generative AI, RAG and agents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95</a:t>
            </a:r>
            <a:endParaRPr lang="en-US" sz="950" dirty="0"/>
          </a:p>
        </p:txBody>
      </p:sp>
      <p:sp>
        <p:nvSpPr>
          <p:cNvPr id="7" name="Shape 5"/>
          <p:cNvSpPr/>
          <p:nvPr/>
        </p:nvSpPr>
        <p:spPr>
          <a:xfrm>
            <a:off x="566928"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2586152" cy="566928"/>
          </a:xfrm>
          <a:prstGeom prst="roundRect">
            <a:avLst>
              <a:gd name="adj" fmla="val 9677"/>
            </a:avLst>
          </a:prstGeom>
          <a:solidFill>
            <a:srgbClr val="2A3644"/>
          </a:solidFill>
          <a:ln/>
        </p:spPr>
      </p:sp>
      <p:sp>
        <p:nvSpPr>
          <p:cNvPr id="9" name="Shape 7"/>
          <p:cNvSpPr/>
          <p:nvPr/>
        </p:nvSpPr>
        <p:spPr>
          <a:xfrm>
            <a:off x="768096" y="1746504"/>
            <a:ext cx="329184" cy="329184"/>
          </a:xfrm>
          <a:prstGeom prst="ellipse">
            <a:avLst/>
          </a:prstGeom>
          <a:solidFill>
            <a:srgbClr val="D96A16"/>
          </a:solidFill>
          <a:ln/>
        </p:spPr>
      </p:sp>
      <p:sp>
        <p:nvSpPr>
          <p:cNvPr id="10" name="Text 8"/>
          <p:cNvSpPr/>
          <p:nvPr/>
        </p:nvSpPr>
        <p:spPr>
          <a:xfrm>
            <a:off x="768096"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p:nvPr/>
        </p:nvSpPr>
        <p:spPr>
          <a:xfrm>
            <a:off x="1188720"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Reason</a:t>
            </a:r>
            <a:endParaRPr lang="en-US" sz="1400" dirty="0"/>
          </a:p>
        </p:txBody>
      </p:sp>
      <p:sp>
        <p:nvSpPr>
          <p:cNvPr id="12" name="Text 10"/>
          <p:cNvSpPr/>
          <p:nvPr/>
        </p:nvSpPr>
        <p:spPr>
          <a:xfrm>
            <a:off x="786384"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Given a goal — find out why Unit 8 ID fan vibration is rising — the agent decides what it needs to know first and which tool will tell it. That decision is not scripted by anyone.</a:t>
            </a:r>
            <a:endParaRPr lang="en-US" sz="1250" dirty="0"/>
          </a:p>
        </p:txBody>
      </p:sp>
      <p:sp>
        <p:nvSpPr>
          <p:cNvPr id="13" name="Shape 11"/>
          <p:cNvSpPr/>
          <p:nvPr/>
        </p:nvSpPr>
        <p:spPr>
          <a:xfrm rot="5400000">
            <a:off x="3194228" y="1810512"/>
            <a:ext cx="155448" cy="219456"/>
          </a:xfrm>
          <a:prstGeom prst="triangle">
            <a:avLst/>
          </a:prstGeom>
          <a:solidFill>
            <a:srgbClr val="D96A16"/>
          </a:solidFill>
          <a:ln/>
        </p:spPr>
      </p:sp>
      <p:sp>
        <p:nvSpPr>
          <p:cNvPr id="14" name="Shape 12"/>
          <p:cNvSpPr/>
          <p:nvPr/>
        </p:nvSpPr>
        <p:spPr>
          <a:xfrm>
            <a:off x="3390824"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5" name="Shape 13"/>
          <p:cNvSpPr/>
          <p:nvPr/>
        </p:nvSpPr>
        <p:spPr>
          <a:xfrm>
            <a:off x="3390824" y="1627632"/>
            <a:ext cx="2586152" cy="566928"/>
          </a:xfrm>
          <a:prstGeom prst="roundRect">
            <a:avLst>
              <a:gd name="adj" fmla="val 9677"/>
            </a:avLst>
          </a:prstGeom>
          <a:solidFill>
            <a:srgbClr val="2A3644"/>
          </a:solidFill>
          <a:ln/>
        </p:spPr>
      </p:sp>
      <p:sp>
        <p:nvSpPr>
          <p:cNvPr id="16" name="Shape 14"/>
          <p:cNvSpPr/>
          <p:nvPr/>
        </p:nvSpPr>
        <p:spPr>
          <a:xfrm>
            <a:off x="3591992" y="1746504"/>
            <a:ext cx="329184" cy="329184"/>
          </a:xfrm>
          <a:prstGeom prst="ellipse">
            <a:avLst/>
          </a:prstGeom>
          <a:solidFill>
            <a:srgbClr val="D96A16"/>
          </a:solidFill>
          <a:ln/>
        </p:spPr>
      </p:sp>
      <p:sp>
        <p:nvSpPr>
          <p:cNvPr id="17" name="Text 15"/>
          <p:cNvSpPr/>
          <p:nvPr/>
        </p:nvSpPr>
        <p:spPr>
          <a:xfrm>
            <a:off x="3591992"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6"/>
          <p:cNvSpPr/>
          <p:nvPr/>
        </p:nvSpPr>
        <p:spPr>
          <a:xfrm>
            <a:off x="4012616"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Act</a:t>
            </a:r>
            <a:endParaRPr lang="en-US" sz="1400" dirty="0"/>
          </a:p>
        </p:txBody>
      </p:sp>
      <p:sp>
        <p:nvSpPr>
          <p:cNvPr id="19" name="Text 17"/>
          <p:cNvSpPr/>
          <p:nvPr/>
        </p:nvSpPr>
        <p:spPr>
          <a:xfrm>
            <a:off x="3610280"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It calls one tool: a historian query, a CMMS lookup, a performance calculation, a document search. One call at a time, and every call is written into a visible trace.</a:t>
            </a:r>
            <a:endParaRPr lang="en-US" sz="1250" dirty="0"/>
          </a:p>
        </p:txBody>
      </p:sp>
      <p:sp>
        <p:nvSpPr>
          <p:cNvPr id="20" name="Shape 18"/>
          <p:cNvSpPr/>
          <p:nvPr/>
        </p:nvSpPr>
        <p:spPr>
          <a:xfrm rot="5400000">
            <a:off x="6018124" y="1810512"/>
            <a:ext cx="155448" cy="219456"/>
          </a:xfrm>
          <a:prstGeom prst="triangle">
            <a:avLst/>
          </a:prstGeom>
          <a:solidFill>
            <a:srgbClr val="D96A16"/>
          </a:solidFill>
          <a:ln/>
        </p:spPr>
      </p:sp>
      <p:sp>
        <p:nvSpPr>
          <p:cNvPr id="21" name="Shape 19"/>
          <p:cNvSpPr/>
          <p:nvPr/>
        </p:nvSpPr>
        <p:spPr>
          <a:xfrm>
            <a:off x="6214720"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2" name="Shape 20"/>
          <p:cNvSpPr/>
          <p:nvPr/>
        </p:nvSpPr>
        <p:spPr>
          <a:xfrm>
            <a:off x="6214720" y="1627632"/>
            <a:ext cx="2586152" cy="566928"/>
          </a:xfrm>
          <a:prstGeom prst="roundRect">
            <a:avLst>
              <a:gd name="adj" fmla="val 9677"/>
            </a:avLst>
          </a:prstGeom>
          <a:solidFill>
            <a:srgbClr val="2A3644"/>
          </a:solidFill>
          <a:ln/>
        </p:spPr>
      </p:sp>
      <p:sp>
        <p:nvSpPr>
          <p:cNvPr id="23" name="Shape 21"/>
          <p:cNvSpPr/>
          <p:nvPr/>
        </p:nvSpPr>
        <p:spPr>
          <a:xfrm>
            <a:off x="6415888" y="1746504"/>
            <a:ext cx="329184" cy="329184"/>
          </a:xfrm>
          <a:prstGeom prst="ellipse">
            <a:avLst/>
          </a:prstGeom>
          <a:solidFill>
            <a:srgbClr val="D96A16"/>
          </a:solidFill>
          <a:ln/>
        </p:spPr>
      </p:sp>
      <p:sp>
        <p:nvSpPr>
          <p:cNvPr id="24" name="Text 22"/>
          <p:cNvSpPr/>
          <p:nvPr/>
        </p:nvSpPr>
        <p:spPr>
          <a:xfrm>
            <a:off x="6415888"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5" name="Text 23"/>
          <p:cNvSpPr/>
          <p:nvPr/>
        </p:nvSpPr>
        <p:spPr>
          <a:xfrm>
            <a:off x="6836512"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Observe</a:t>
            </a:r>
            <a:endParaRPr lang="en-US" sz="1400" dirty="0"/>
          </a:p>
        </p:txBody>
      </p:sp>
      <p:sp>
        <p:nvSpPr>
          <p:cNvPr id="26" name="Text 24"/>
          <p:cNvSpPr/>
          <p:nvPr/>
        </p:nvSpPr>
        <p:spPr>
          <a:xfrm>
            <a:off x="6434176"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It reads the result and updates its plan. A flat vibration trend sends it somewhere quite different from a rising one. This is where an agent stops resembling a script.</a:t>
            </a:r>
            <a:endParaRPr lang="en-US" sz="1250" dirty="0"/>
          </a:p>
        </p:txBody>
      </p:sp>
      <p:sp>
        <p:nvSpPr>
          <p:cNvPr id="27" name="Shape 25"/>
          <p:cNvSpPr/>
          <p:nvPr/>
        </p:nvSpPr>
        <p:spPr>
          <a:xfrm rot="5400000">
            <a:off x="8842019" y="1810512"/>
            <a:ext cx="155448" cy="219456"/>
          </a:xfrm>
          <a:prstGeom prst="triangle">
            <a:avLst/>
          </a:prstGeom>
          <a:solidFill>
            <a:srgbClr val="D96A16"/>
          </a:solidFill>
          <a:ln/>
        </p:spPr>
      </p:sp>
      <p:sp>
        <p:nvSpPr>
          <p:cNvPr id="28" name="Shape 26"/>
          <p:cNvSpPr/>
          <p:nvPr/>
        </p:nvSpPr>
        <p:spPr>
          <a:xfrm>
            <a:off x="9038615"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9" name="Shape 27"/>
          <p:cNvSpPr/>
          <p:nvPr/>
        </p:nvSpPr>
        <p:spPr>
          <a:xfrm>
            <a:off x="9038615" y="1627632"/>
            <a:ext cx="2586152" cy="566928"/>
          </a:xfrm>
          <a:prstGeom prst="roundRect">
            <a:avLst>
              <a:gd name="adj" fmla="val 9677"/>
            </a:avLst>
          </a:prstGeom>
          <a:solidFill>
            <a:srgbClr val="2A3644"/>
          </a:solidFill>
          <a:ln/>
        </p:spPr>
      </p:sp>
      <p:sp>
        <p:nvSpPr>
          <p:cNvPr id="30" name="Shape 28"/>
          <p:cNvSpPr/>
          <p:nvPr/>
        </p:nvSpPr>
        <p:spPr>
          <a:xfrm>
            <a:off x="9239783" y="1746504"/>
            <a:ext cx="329184" cy="329184"/>
          </a:xfrm>
          <a:prstGeom prst="ellipse">
            <a:avLst/>
          </a:prstGeom>
          <a:solidFill>
            <a:srgbClr val="D96A16"/>
          </a:solidFill>
          <a:ln/>
        </p:spPr>
      </p:sp>
      <p:sp>
        <p:nvSpPr>
          <p:cNvPr id="31" name="Text 29"/>
          <p:cNvSpPr/>
          <p:nvPr/>
        </p:nvSpPr>
        <p:spPr>
          <a:xfrm>
            <a:off x="9239783"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2" name="Text 30"/>
          <p:cNvSpPr/>
          <p:nvPr/>
        </p:nvSpPr>
        <p:spPr>
          <a:xfrm>
            <a:off x="9660407"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Repeat, then stop at the gate</a:t>
            </a:r>
            <a:endParaRPr lang="en-US" sz="1400" dirty="0"/>
          </a:p>
        </p:txBody>
      </p:sp>
      <p:sp>
        <p:nvSpPr>
          <p:cNvPr id="33" name="Text 31"/>
          <p:cNvSpPr/>
          <p:nvPr/>
        </p:nvSpPr>
        <p:spPr>
          <a:xfrm>
            <a:off x="9258071"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It loops until it has an answer or runs out of steps, then puts its finding, its evidence and its proposed action in front of a human who approves or refuses.</a:t>
            </a:r>
            <a:endParaRPr lang="en-US" sz="1250" dirty="0"/>
          </a:p>
        </p:txBody>
      </p:sp>
      <p:sp>
        <p:nvSpPr>
          <p:cNvPr id="34" name="Shape 32"/>
          <p:cNvSpPr/>
          <p:nvPr/>
        </p:nvSpPr>
        <p:spPr>
          <a:xfrm>
            <a:off x="566928" y="5074920"/>
            <a:ext cx="11057839" cy="548640"/>
          </a:xfrm>
          <a:prstGeom prst="roundRect">
            <a:avLst>
              <a:gd name="adj" fmla="val 8333"/>
            </a:avLst>
          </a:prstGeom>
          <a:solidFill>
            <a:srgbClr val="FCEDE0"/>
          </a:solidFill>
          <a:ln w="12700">
            <a:solidFill>
              <a:srgbClr val="D96A16"/>
            </a:solidFill>
            <a:prstDash val="solid"/>
          </a:ln>
        </p:spPr>
      </p:sp>
      <p:sp>
        <p:nvSpPr>
          <p:cNvPr id="35" name="Text 33"/>
          <p:cNvSpPr/>
          <p:nvPr/>
        </p:nvSpPr>
        <p:spPr>
          <a:xfrm>
            <a:off x="768096" y="5074920"/>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A chatbot answers. A script follows a fixed path. An agent chooses the path — which is precisely why it must stop at a human gate before anything is actioned.</a:t>
            </a:r>
            <a:endParaRPr lang="en-US" sz="13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What a tool is, for a power station</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An agent is only as safe as the narrowest tool you hand it</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7. Generative AI, RAG and agents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96</a:t>
            </a:r>
            <a:endParaRPr lang="en-US" sz="950" dirty="0"/>
          </a:p>
        </p:txBody>
      </p:sp>
      <p:graphicFrame>
        <p:nvGraphicFramePr>
          <p:cNvPr id="97" name="Table 0"/>
          <p:cNvGraphicFramePr>
            <a:graphicFrameLocks noGrp="1"/>
          </p:cNvGraphicFramePr>
          <p:nvPr>
            <p:extLst>
              <p:ext uri="{D42A27DB-BD31-4B8C-83A1-F6EECF244321}">
                <p14:modId xmlns:p14="http://schemas.microsoft.com/office/powerpoint/2010/main" val="1579011935"/>
              </p:ext>
            </p:extLst>
          </p:nvPr>
        </p:nvGraphicFramePr>
        <p:xfrm>
          <a:off x="566928" y="1828800"/>
          <a:ext cx="11057839" cy="914400"/>
        </p:xfrm>
        <a:graphic>
          <a:graphicData uri="http://schemas.openxmlformats.org/drawingml/2006/table">
            <a:tbl>
              <a:tblPr/>
              <a:tblGrid>
                <a:gridCol w="1969883"/>
                <a:gridCol w="3798007"/>
                <a:gridCol w="1491948"/>
                <a:gridCol w="3798002"/>
              </a:tblGrid>
              <a:tr h="7315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Tool</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What it does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Access level</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Why it is drawn this way</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Historian query</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Fetches tag trends for a plant item over a stated period</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Read-only</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No mechanism exists to write anything back to the historian</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CMMS lookup</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Finds defect history, open work orders and spares for that item</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Read-only</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Raising or closing a work order stays a human act</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Performance calculation</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Runs your own heat-rate and loss model on the retrieved data</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Compute only</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Touches no plant system and holds no plant credentials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Document search</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Retrieves manual, SOP and RCA passages with citations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Read-only</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The corpus is a copy; the agent cannot alter a document</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bl>
          </a:graphicData>
        </a:graphic>
      </p:graphicFrame>
      <p:sp>
        <p:nvSpPr>
          <p:cNvPr id="8" name="Shape 5"/>
          <p:cNvSpPr/>
          <p:nvPr/>
        </p:nvSpPr>
        <p:spPr>
          <a:xfrm>
            <a:off x="566928" y="5650992"/>
            <a:ext cx="11057839" cy="548640"/>
          </a:xfrm>
          <a:prstGeom prst="roundRect">
            <a:avLst>
              <a:gd name="adj" fmla="val 8333"/>
            </a:avLst>
          </a:prstGeom>
          <a:solidFill>
            <a:srgbClr val="FCEDE0"/>
          </a:solidFill>
          <a:ln w="12700">
            <a:solidFill>
              <a:srgbClr val="D96A16"/>
            </a:solidFill>
            <a:prstDash val="solid"/>
          </a:ln>
        </p:spPr>
      </p:sp>
      <p:sp>
        <p:nvSpPr>
          <p:cNvPr id="9" name="Text 6"/>
          <p:cNvSpPr/>
          <p:nvPr/>
        </p:nvSpPr>
        <p:spPr>
          <a:xfrm>
            <a:off x="768096" y="565099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Read-only is safe. Write-capable — a report generator that files the report, a tool that raises the work order or moves a setpoint — is a permission, not a convenience, and it needs a human at the gate every single time.</a:t>
            </a:r>
            <a:endParaRPr lang="en-US" sz="13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Lab — SIM-8 · Agentic work-order assistant</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Ten minutes at the keyboard, on the Koradi Unit 8 ID fan scenario</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7. Generative AI, RAG and agents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97</a:t>
            </a:r>
            <a:endParaRPr lang="en-US" sz="950" dirty="0"/>
          </a:p>
        </p:txBody>
      </p:sp>
      <p:sp>
        <p:nvSpPr>
          <p:cNvPr id="7" name="Shape 5"/>
          <p:cNvSpPr/>
          <p:nvPr/>
        </p:nvSpPr>
        <p:spPr>
          <a:xfrm>
            <a:off x="566928" y="1627632"/>
            <a:ext cx="11057839" cy="786384"/>
          </a:xfrm>
          <a:prstGeom prst="roundRect">
            <a:avLst>
              <a:gd name="adj" fmla="val 6977"/>
            </a:avLst>
          </a:prstGeom>
          <a:solidFill>
            <a:srgbClr val="1C2530"/>
          </a:solidFill>
          <a:ln/>
        </p:spPr>
      </p:sp>
      <p:sp>
        <p:nvSpPr>
          <p:cNvPr id="8" name="Shape 6"/>
          <p:cNvSpPr/>
          <p:nvPr/>
        </p:nvSpPr>
        <p:spPr>
          <a:xfrm>
            <a:off x="768096" y="1801368"/>
            <a:ext cx="1188720" cy="438912"/>
          </a:xfrm>
          <a:prstGeom prst="roundRect">
            <a:avLst>
              <a:gd name="adj" fmla="val 50000"/>
            </a:avLst>
          </a:prstGeom>
          <a:solidFill>
            <a:srgbClr val="D96A16"/>
          </a:solidFill>
          <a:ln/>
        </p:spPr>
      </p:sp>
      <p:sp>
        <p:nvSpPr>
          <p:cNvPr id="9" name="Text 7"/>
          <p:cNvSpPr/>
          <p:nvPr/>
        </p:nvSpPr>
        <p:spPr>
          <a:xfrm>
            <a:off x="768096" y="1801368"/>
            <a:ext cx="118872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SIM-8</a:t>
            </a:r>
            <a:endParaRPr lang="en-US" sz="1400" dirty="0"/>
          </a:p>
        </p:txBody>
      </p:sp>
      <p:sp>
        <p:nvSpPr>
          <p:cNvPr id="10" name="Text 8"/>
          <p:cNvSpPr/>
          <p:nvPr/>
        </p:nvSpPr>
        <p:spPr>
          <a:xfrm>
            <a:off x="2139696" y="1627632"/>
            <a:ext cx="7217359" cy="786384"/>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Agentic AI work-order assistant</a:t>
            </a:r>
            <a:endParaRPr lang="en-US" sz="2000" dirty="0"/>
          </a:p>
        </p:txBody>
      </p:sp>
      <p:sp>
        <p:nvSpPr>
          <p:cNvPr id="11" name="Text 9"/>
          <p:cNvSpPr/>
          <p:nvPr/>
        </p:nvSpPr>
        <p:spPr>
          <a:xfrm>
            <a:off x="8881567" y="1627632"/>
            <a:ext cx="2542032" cy="786384"/>
          </a:xfrm>
          <a:prstGeom prst="rect">
            <a:avLst/>
          </a:prstGeom>
          <a:noFill/>
          <a:ln/>
        </p:spPr>
        <p:txBody>
          <a:bodyPr wrap="square" lIns="0" tIns="0" rIns="0" bIns="0" rtlCol="0" anchor="ctr"/>
          <a:lstStyle/>
          <a:p>
            <a:pPr algn="r" indent="0" marL="0">
              <a:buNone/>
            </a:pPr>
            <a:r>
              <a:rPr lang="en-US" sz="1300" b="1" dirty="0">
                <a:solidFill>
                  <a:srgbClr val="D96A16"/>
                </a:solidFill>
                <a:latin typeface="Calibri" pitchFamily="34" charset="0"/>
                <a:ea typeface="Calibri" pitchFamily="34" charset="-122"/>
                <a:cs typeface="Calibri" pitchFamily="34" charset="-120"/>
              </a:rPr>
              <a:t>10 minutes at your laptop</a:t>
            </a:r>
            <a:endParaRPr lang="en-US" sz="1300" dirty="0"/>
          </a:p>
        </p:txBody>
      </p:sp>
      <p:sp>
        <p:nvSpPr>
          <p:cNvPr id="12" name="Shape 10"/>
          <p:cNvSpPr/>
          <p:nvPr/>
        </p:nvSpPr>
        <p:spPr>
          <a:xfrm>
            <a:off x="566928" y="2578608"/>
            <a:ext cx="6038771" cy="2907792"/>
          </a:xfrm>
          <a:prstGeom prst="roundRect">
            <a:avLst>
              <a:gd name="adj" fmla="val 188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Shape 11"/>
          <p:cNvSpPr/>
          <p:nvPr/>
        </p:nvSpPr>
        <p:spPr>
          <a:xfrm>
            <a:off x="566928" y="2578608"/>
            <a:ext cx="6038771" cy="457200"/>
          </a:xfrm>
          <a:prstGeom prst="roundRect">
            <a:avLst>
              <a:gd name="adj" fmla="val 10000"/>
            </a:avLst>
          </a:prstGeom>
          <a:solidFill>
            <a:srgbClr val="2A3644"/>
          </a:solidFill>
          <a:ln/>
        </p:spPr>
      </p:sp>
      <p:sp>
        <p:nvSpPr>
          <p:cNvPr id="14" name="Text 12"/>
          <p:cNvSpPr/>
          <p:nvPr/>
        </p:nvSpPr>
        <p:spPr>
          <a:xfrm>
            <a:off x="786384" y="2578608"/>
            <a:ext cx="5627291"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Do this</a:t>
            </a:r>
            <a:endParaRPr lang="en-US" sz="1400" dirty="0"/>
          </a:p>
        </p:txBody>
      </p:sp>
      <p:sp>
        <p:nvSpPr>
          <p:cNvPr id="15" name="Text 13"/>
          <p:cNvSpPr/>
          <p:nvPr/>
        </p:nvSpPr>
        <p:spPr>
          <a:xfrm>
            <a:off x="841248" y="3163824"/>
            <a:ext cx="5508419" cy="219456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Open SIM-8 and start the Koradi Unit 8 ID fan scenario. Step it forward one tool call at a time — do not press run-all.</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At each step read the agent's stated reasoning before you look at what the tool returned, and decide whether you would have made the same call.</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Continue to the approval gate. Read the proposed work order, its evidence and its priority, then approve or refuse it yourself.</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Tick 'grant write access' and read the warning that appears. Do not skim it.</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Re-run with one tool disabled and watch the agent's plan change around the missing information.</a:t>
            </a:r>
            <a:endParaRPr lang="en-US" sz="1100" dirty="0"/>
          </a:p>
        </p:txBody>
      </p:sp>
      <p:sp>
        <p:nvSpPr>
          <p:cNvPr id="16" name="Shape 14"/>
          <p:cNvSpPr/>
          <p:nvPr/>
        </p:nvSpPr>
        <p:spPr>
          <a:xfrm>
            <a:off x="6880019" y="2578608"/>
            <a:ext cx="4744748" cy="2907792"/>
          </a:xfrm>
          <a:prstGeom prst="roundRect">
            <a:avLst>
              <a:gd name="adj" fmla="val 188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7" name="Shape 15"/>
          <p:cNvSpPr/>
          <p:nvPr/>
        </p:nvSpPr>
        <p:spPr>
          <a:xfrm>
            <a:off x="6880019" y="2578608"/>
            <a:ext cx="4744748" cy="457200"/>
          </a:xfrm>
          <a:prstGeom prst="roundRect">
            <a:avLst>
              <a:gd name="adj" fmla="val 10000"/>
            </a:avLst>
          </a:prstGeom>
          <a:solidFill>
            <a:srgbClr val="11707F"/>
          </a:solidFill>
          <a:ln/>
        </p:spPr>
      </p:sp>
      <p:sp>
        <p:nvSpPr>
          <p:cNvPr id="18" name="Text 16"/>
          <p:cNvSpPr/>
          <p:nvPr/>
        </p:nvSpPr>
        <p:spPr>
          <a:xfrm>
            <a:off x="7099475" y="2578608"/>
            <a:ext cx="4333268"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Watch for</a:t>
            </a:r>
            <a:endParaRPr lang="en-US" sz="1400" dirty="0"/>
          </a:p>
        </p:txBody>
      </p:sp>
      <p:sp>
        <p:nvSpPr>
          <p:cNvPr id="19" name="Text 17"/>
          <p:cNvSpPr/>
          <p:nvPr/>
        </p:nvSpPr>
        <p:spPr>
          <a:xfrm>
            <a:off x="7136051" y="3163824"/>
            <a:ext cx="4232684" cy="219456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The plan is not fixed. What the historian returns changes which tool the agent reaches for next.</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Every call, every result and every inference is on the screen. An agent whose trace you cannot audit is not deployable.</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The approval gate is where engineering judgement lives, and it is the only place it lives.</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With write access granted, the same trace that was advice becomes an instruction. The warning is not boilerplate.</a:t>
            </a:r>
            <a:endParaRPr lang="en-US" sz="1050" dirty="0"/>
          </a:p>
        </p:txBody>
      </p:sp>
      <p:sp>
        <p:nvSpPr>
          <p:cNvPr id="20" name="Shape 18"/>
          <p:cNvSpPr/>
          <p:nvPr/>
        </p:nvSpPr>
        <p:spPr>
          <a:xfrm>
            <a:off x="566928" y="5669280"/>
            <a:ext cx="11057839" cy="548640"/>
          </a:xfrm>
          <a:prstGeom prst="roundRect">
            <a:avLst>
              <a:gd name="adj" fmla="val 8333"/>
            </a:avLst>
          </a:prstGeom>
          <a:solidFill>
            <a:srgbClr val="FCEDE0"/>
          </a:solidFill>
          <a:ln w="12700">
            <a:solidFill>
              <a:srgbClr val="D96A16"/>
            </a:solidFill>
            <a:prstDash val="solid"/>
          </a:ln>
        </p:spPr>
      </p:sp>
      <p:sp>
        <p:nvSpPr>
          <p:cNvPr id="21" name="Text 19"/>
          <p:cNvSpPr/>
          <p:nvPr/>
        </p:nvSpPr>
        <p:spPr>
          <a:xfrm>
            <a:off x="768096" y="5669280"/>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An agent is a planner that calls tools. The visible trace is what makes it reviewable and the human approval gate is what makes it deployable. Neither of the two is optional.</a:t>
            </a:r>
            <a:endParaRPr lang="en-US" sz="13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agent loop</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Reason, act, observe, repeat — and where the loop is required to stop</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7. Generative AI, RAG and agents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98</a:t>
            </a:r>
            <a:endParaRPr lang="en-US" sz="950" dirty="0"/>
          </a:p>
        </p:txBody>
      </p:sp>
      <p:sp>
        <p:nvSpPr>
          <p:cNvPr id="7" name="Text 5"/>
          <p:cNvSpPr/>
          <p:nvPr/>
        </p:nvSpPr>
        <p:spPr>
          <a:xfrm>
            <a:off x="566928" y="1627632"/>
            <a:ext cx="11057839" cy="201168"/>
          </a:xfrm>
          <a:prstGeom prst="rect">
            <a:avLst/>
          </a:prstGeom>
          <a:noFill/>
          <a:ln/>
        </p:spPr>
        <p:txBody>
          <a:bodyPr wrap="square" lIns="0" tIns="0" rIns="0" bIns="0" rtlCol="0" anchor="ctr"/>
          <a:lstStyle/>
          <a:p>
            <a:pPr indent="0" marL="0">
              <a:buNone/>
            </a:pPr>
            <a:r>
              <a:rPr lang="en-US" sz="1000" b="1" dirty="0">
                <a:solidFill>
                  <a:srgbClr val="5C6B7A"/>
                </a:solidFill>
                <a:latin typeface="Calibri" pitchFamily="34" charset="0"/>
                <a:ea typeface="Calibri" pitchFamily="34" charset="-122"/>
                <a:cs typeface="Calibri" pitchFamily="34" charset="-120"/>
              </a:rPr>
              <a:t>THE LOOP — repeats until the agent has enough</a:t>
            </a:r>
            <a:endParaRPr lang="en-US" sz="1000" dirty="0"/>
          </a:p>
        </p:txBody>
      </p:sp>
      <p:sp>
        <p:nvSpPr>
          <p:cNvPr id="8" name="Shape 6"/>
          <p:cNvSpPr/>
          <p:nvPr/>
        </p:nvSpPr>
        <p:spPr>
          <a:xfrm>
            <a:off x="566928" y="1828800"/>
            <a:ext cx="2558720" cy="1271016"/>
          </a:xfrm>
          <a:prstGeom prst="roundRect">
            <a:avLst>
              <a:gd name="adj" fmla="val 4317"/>
            </a:avLst>
          </a:prstGeom>
          <a:solidFill>
            <a:srgbClr val="E4F0EA"/>
          </a:solidFill>
          <a:ln w="13970">
            <a:solidFill>
              <a:srgbClr val="256B45"/>
            </a:solidFill>
            <a:prstDash val="solid"/>
          </a:ln>
        </p:spPr>
      </p:sp>
      <p:sp>
        <p:nvSpPr>
          <p:cNvPr id="9" name="Text 7"/>
          <p:cNvSpPr/>
          <p:nvPr/>
        </p:nvSpPr>
        <p:spPr>
          <a:xfrm>
            <a:off x="658368" y="1883664"/>
            <a:ext cx="2375840" cy="559247"/>
          </a:xfrm>
          <a:prstGeom prst="rect">
            <a:avLst/>
          </a:prstGeom>
          <a:noFill/>
          <a:ln/>
        </p:spPr>
        <p:txBody>
          <a:bodyPr wrap="square" lIns="0" tIns="0" rIns="0" bIns="0" rtlCol="0" anchor="ctr"/>
          <a:lstStyle/>
          <a:p>
            <a:pPr algn="ctr" indent="0" marL="0">
              <a:buNone/>
            </a:pPr>
            <a:r>
              <a:rPr lang="en-US" sz="1150" b="1" dirty="0">
                <a:solidFill>
                  <a:srgbClr val="1B4E32"/>
                </a:solidFill>
                <a:latin typeface="Calibri" pitchFamily="34" charset="0"/>
                <a:ea typeface="Calibri" pitchFamily="34" charset="-122"/>
                <a:cs typeface="Calibri" pitchFamily="34" charset="-120"/>
              </a:rPr>
              <a:t>Goal</a:t>
            </a:r>
            <a:endParaRPr lang="en-US" sz="1150" dirty="0"/>
          </a:p>
        </p:txBody>
      </p:sp>
      <p:sp>
        <p:nvSpPr>
          <p:cNvPr id="10" name="Text 8"/>
          <p:cNvSpPr/>
          <p:nvPr/>
        </p:nvSpPr>
        <p:spPr>
          <a:xfrm>
            <a:off x="649224" y="2413467"/>
            <a:ext cx="2394128"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triage this residual advisory</a:t>
            </a:r>
            <a:endParaRPr lang="en-US" sz="940" dirty="0"/>
          </a:p>
        </p:txBody>
      </p:sp>
      <p:sp>
        <p:nvSpPr>
          <p:cNvPr id="11" name="Shape 9"/>
          <p:cNvSpPr/>
          <p:nvPr/>
        </p:nvSpPr>
        <p:spPr>
          <a:xfrm rot="5400000">
            <a:off x="3175940" y="2363724"/>
            <a:ext cx="155448" cy="201168"/>
          </a:xfrm>
          <a:prstGeom prst="triangle">
            <a:avLst/>
          </a:prstGeom>
          <a:solidFill>
            <a:srgbClr val="9AA9B6"/>
          </a:solidFill>
          <a:ln/>
        </p:spPr>
      </p:sp>
      <p:sp>
        <p:nvSpPr>
          <p:cNvPr id="12" name="Shape 10"/>
          <p:cNvSpPr/>
          <p:nvPr/>
        </p:nvSpPr>
        <p:spPr>
          <a:xfrm>
            <a:off x="3399968" y="1828800"/>
            <a:ext cx="2558720" cy="1271016"/>
          </a:xfrm>
          <a:prstGeom prst="roundRect">
            <a:avLst>
              <a:gd name="adj" fmla="val 4317"/>
            </a:avLst>
          </a:prstGeom>
          <a:solidFill>
            <a:srgbClr val="FCEDE0"/>
          </a:solidFill>
          <a:ln w="13970">
            <a:solidFill>
              <a:srgbClr val="D96A16"/>
            </a:solidFill>
            <a:prstDash val="solid"/>
          </a:ln>
        </p:spPr>
      </p:sp>
      <p:sp>
        <p:nvSpPr>
          <p:cNvPr id="13" name="Text 11"/>
          <p:cNvSpPr/>
          <p:nvPr/>
        </p:nvSpPr>
        <p:spPr>
          <a:xfrm>
            <a:off x="3491408" y="1883664"/>
            <a:ext cx="2375840" cy="559247"/>
          </a:xfrm>
          <a:prstGeom prst="rect">
            <a:avLst/>
          </a:prstGeom>
          <a:noFill/>
          <a:ln/>
        </p:spPr>
        <p:txBody>
          <a:bodyPr wrap="square" lIns="0" tIns="0" rIns="0" bIns="0" rtlCol="0" anchor="ctr"/>
          <a:lstStyle/>
          <a:p>
            <a:pPr algn="ctr" indent="0" marL="0">
              <a:buNone/>
            </a:pPr>
            <a:r>
              <a:rPr lang="en-US" sz="1150" b="1" dirty="0">
                <a:solidFill>
                  <a:srgbClr val="8A4310"/>
                </a:solidFill>
                <a:latin typeface="Calibri" pitchFamily="34" charset="0"/>
                <a:ea typeface="Calibri" pitchFamily="34" charset="-122"/>
                <a:cs typeface="Calibri" pitchFamily="34" charset="-120"/>
              </a:rPr>
              <a:t>Reason</a:t>
            </a:r>
            <a:endParaRPr lang="en-US" sz="1150" dirty="0"/>
          </a:p>
        </p:txBody>
      </p:sp>
      <p:sp>
        <p:nvSpPr>
          <p:cNvPr id="14" name="Text 12"/>
          <p:cNvSpPr/>
          <p:nvPr/>
        </p:nvSpPr>
        <p:spPr>
          <a:xfrm>
            <a:off x="3482264" y="2413467"/>
            <a:ext cx="2394128"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what do I need to know next?</a:t>
            </a:r>
            <a:endParaRPr lang="en-US" sz="940" dirty="0"/>
          </a:p>
        </p:txBody>
      </p:sp>
      <p:sp>
        <p:nvSpPr>
          <p:cNvPr id="15" name="Shape 13"/>
          <p:cNvSpPr/>
          <p:nvPr/>
        </p:nvSpPr>
        <p:spPr>
          <a:xfrm rot="5400000">
            <a:off x="6008980" y="2363724"/>
            <a:ext cx="155448" cy="201168"/>
          </a:xfrm>
          <a:prstGeom prst="triangle">
            <a:avLst/>
          </a:prstGeom>
          <a:solidFill>
            <a:srgbClr val="9AA9B6"/>
          </a:solidFill>
          <a:ln/>
        </p:spPr>
      </p:sp>
      <p:sp>
        <p:nvSpPr>
          <p:cNvPr id="16" name="Shape 14"/>
          <p:cNvSpPr/>
          <p:nvPr/>
        </p:nvSpPr>
        <p:spPr>
          <a:xfrm>
            <a:off x="6233008" y="1828800"/>
            <a:ext cx="2558720" cy="1271016"/>
          </a:xfrm>
          <a:prstGeom prst="roundRect">
            <a:avLst>
              <a:gd name="adj" fmla="val 4317"/>
            </a:avLst>
          </a:prstGeom>
          <a:solidFill>
            <a:srgbClr val="FCEDE0"/>
          </a:solidFill>
          <a:ln w="13970">
            <a:solidFill>
              <a:srgbClr val="D96A16"/>
            </a:solidFill>
            <a:prstDash val="solid"/>
          </a:ln>
        </p:spPr>
      </p:sp>
      <p:sp>
        <p:nvSpPr>
          <p:cNvPr id="17" name="Text 15"/>
          <p:cNvSpPr/>
          <p:nvPr/>
        </p:nvSpPr>
        <p:spPr>
          <a:xfrm>
            <a:off x="6324448" y="1883664"/>
            <a:ext cx="2375840" cy="559247"/>
          </a:xfrm>
          <a:prstGeom prst="rect">
            <a:avLst/>
          </a:prstGeom>
          <a:noFill/>
          <a:ln/>
        </p:spPr>
        <p:txBody>
          <a:bodyPr wrap="square" lIns="0" tIns="0" rIns="0" bIns="0" rtlCol="0" anchor="ctr"/>
          <a:lstStyle/>
          <a:p>
            <a:pPr algn="ctr" indent="0" marL="0">
              <a:buNone/>
            </a:pPr>
            <a:r>
              <a:rPr lang="en-US" sz="1150" b="1" dirty="0">
                <a:solidFill>
                  <a:srgbClr val="8A4310"/>
                </a:solidFill>
                <a:latin typeface="Calibri" pitchFamily="34" charset="0"/>
                <a:ea typeface="Calibri" pitchFamily="34" charset="-122"/>
                <a:cs typeface="Calibri" pitchFamily="34" charset="-120"/>
              </a:rPr>
              <a:t>Choose a tool</a:t>
            </a:r>
            <a:endParaRPr lang="en-US" sz="1150" dirty="0"/>
          </a:p>
        </p:txBody>
      </p:sp>
      <p:sp>
        <p:nvSpPr>
          <p:cNvPr id="18" name="Text 16"/>
          <p:cNvSpPr/>
          <p:nvPr/>
        </p:nvSpPr>
        <p:spPr>
          <a:xfrm>
            <a:off x="6315304" y="2413467"/>
            <a:ext cx="2394128"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historian, CMMS, documents, calculation</a:t>
            </a:r>
            <a:endParaRPr lang="en-US" sz="940" dirty="0"/>
          </a:p>
        </p:txBody>
      </p:sp>
      <p:sp>
        <p:nvSpPr>
          <p:cNvPr id="19" name="Shape 17"/>
          <p:cNvSpPr/>
          <p:nvPr/>
        </p:nvSpPr>
        <p:spPr>
          <a:xfrm rot="5400000">
            <a:off x="8842019" y="2363724"/>
            <a:ext cx="155448" cy="201168"/>
          </a:xfrm>
          <a:prstGeom prst="triangle">
            <a:avLst/>
          </a:prstGeom>
          <a:solidFill>
            <a:srgbClr val="9AA9B6"/>
          </a:solidFill>
          <a:ln/>
        </p:spPr>
      </p:sp>
      <p:sp>
        <p:nvSpPr>
          <p:cNvPr id="20" name="Shape 18"/>
          <p:cNvSpPr/>
          <p:nvPr/>
        </p:nvSpPr>
        <p:spPr>
          <a:xfrm>
            <a:off x="9066047" y="1828800"/>
            <a:ext cx="2558720" cy="1271016"/>
          </a:xfrm>
          <a:prstGeom prst="roundRect">
            <a:avLst>
              <a:gd name="adj" fmla="val 4317"/>
            </a:avLst>
          </a:prstGeom>
          <a:solidFill>
            <a:srgbClr val="FCEDE0"/>
          </a:solidFill>
          <a:ln w="13970">
            <a:solidFill>
              <a:srgbClr val="D96A16"/>
            </a:solidFill>
            <a:prstDash val="solid"/>
          </a:ln>
        </p:spPr>
      </p:sp>
      <p:sp>
        <p:nvSpPr>
          <p:cNvPr id="21" name="Text 19"/>
          <p:cNvSpPr/>
          <p:nvPr/>
        </p:nvSpPr>
        <p:spPr>
          <a:xfrm>
            <a:off x="9157487" y="1883664"/>
            <a:ext cx="2375840" cy="559247"/>
          </a:xfrm>
          <a:prstGeom prst="rect">
            <a:avLst/>
          </a:prstGeom>
          <a:noFill/>
          <a:ln/>
        </p:spPr>
        <p:txBody>
          <a:bodyPr wrap="square" lIns="0" tIns="0" rIns="0" bIns="0" rtlCol="0" anchor="ctr"/>
          <a:lstStyle/>
          <a:p>
            <a:pPr algn="ctr" indent="0" marL="0">
              <a:buNone/>
            </a:pPr>
            <a:r>
              <a:rPr lang="en-US" sz="1150" b="1" dirty="0">
                <a:solidFill>
                  <a:srgbClr val="8A4310"/>
                </a:solidFill>
                <a:latin typeface="Calibri" pitchFamily="34" charset="0"/>
                <a:ea typeface="Calibri" pitchFamily="34" charset="-122"/>
                <a:cs typeface="Calibri" pitchFamily="34" charset="-120"/>
              </a:rPr>
              <a:t>Act</a:t>
            </a:r>
            <a:endParaRPr lang="en-US" sz="1150" dirty="0"/>
          </a:p>
        </p:txBody>
      </p:sp>
      <p:sp>
        <p:nvSpPr>
          <p:cNvPr id="22" name="Text 20"/>
          <p:cNvSpPr/>
          <p:nvPr/>
        </p:nvSpPr>
        <p:spPr>
          <a:xfrm>
            <a:off x="9148343" y="2413467"/>
            <a:ext cx="2394128"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the call is made with read-only credentials</a:t>
            </a:r>
            <a:endParaRPr lang="en-US" sz="940" dirty="0"/>
          </a:p>
        </p:txBody>
      </p:sp>
      <p:sp>
        <p:nvSpPr>
          <p:cNvPr id="23" name="Shape 21"/>
          <p:cNvSpPr/>
          <p:nvPr/>
        </p:nvSpPr>
        <p:spPr>
          <a:xfrm>
            <a:off x="10345407" y="3099816"/>
            <a:ext cx="0" cy="142646"/>
          </a:xfrm>
          <a:prstGeom prst="line">
            <a:avLst/>
          </a:prstGeom>
          <a:noFill/>
          <a:ln w="15240">
            <a:solidFill>
              <a:srgbClr val="9AA9B6"/>
            </a:solidFill>
            <a:prstDash val="solid"/>
          </a:ln>
        </p:spPr>
      </p:sp>
      <p:sp>
        <p:nvSpPr>
          <p:cNvPr id="24" name="Shape 22"/>
          <p:cNvSpPr/>
          <p:nvPr/>
        </p:nvSpPr>
        <p:spPr>
          <a:xfrm>
            <a:off x="1846288" y="3242462"/>
            <a:ext cx="8499119" cy="0"/>
          </a:xfrm>
          <a:prstGeom prst="line">
            <a:avLst/>
          </a:prstGeom>
          <a:noFill/>
          <a:ln w="15240">
            <a:solidFill>
              <a:srgbClr val="9AA9B6"/>
            </a:solidFill>
            <a:prstDash val="solid"/>
          </a:ln>
        </p:spPr>
      </p:sp>
      <p:sp>
        <p:nvSpPr>
          <p:cNvPr id="25" name="Shape 23"/>
          <p:cNvSpPr/>
          <p:nvPr/>
        </p:nvSpPr>
        <p:spPr>
          <a:xfrm>
            <a:off x="1846288" y="3242462"/>
            <a:ext cx="0" cy="76810"/>
          </a:xfrm>
          <a:prstGeom prst="line">
            <a:avLst/>
          </a:prstGeom>
          <a:noFill/>
          <a:ln w="15240">
            <a:solidFill>
              <a:srgbClr val="9AA9B6"/>
            </a:solidFill>
            <a:prstDash val="solid"/>
          </a:ln>
        </p:spPr>
      </p:sp>
      <p:sp>
        <p:nvSpPr>
          <p:cNvPr id="26" name="Shape 24"/>
          <p:cNvSpPr/>
          <p:nvPr/>
        </p:nvSpPr>
        <p:spPr>
          <a:xfrm rot="10800000">
            <a:off x="1754848" y="3313786"/>
            <a:ext cx="182880" cy="118872"/>
          </a:xfrm>
          <a:prstGeom prst="triangle">
            <a:avLst/>
          </a:prstGeom>
          <a:solidFill>
            <a:srgbClr val="9AA9B6"/>
          </a:solidFill>
          <a:ln/>
        </p:spPr>
      </p:sp>
      <p:sp>
        <p:nvSpPr>
          <p:cNvPr id="27" name="Text 25"/>
          <p:cNvSpPr/>
          <p:nvPr/>
        </p:nvSpPr>
        <p:spPr>
          <a:xfrm>
            <a:off x="566928" y="3374136"/>
            <a:ext cx="11057839" cy="201168"/>
          </a:xfrm>
          <a:prstGeom prst="rect">
            <a:avLst/>
          </a:prstGeom>
          <a:noFill/>
          <a:ln/>
        </p:spPr>
        <p:txBody>
          <a:bodyPr wrap="square" lIns="0" tIns="0" rIns="0" bIns="0" rtlCol="0" anchor="ctr"/>
          <a:lstStyle/>
          <a:p>
            <a:pPr indent="0" marL="0">
              <a:buNone/>
            </a:pPr>
            <a:r>
              <a:rPr lang="en-US" sz="1000" b="1" dirty="0">
                <a:solidFill>
                  <a:srgbClr val="5C6B7A"/>
                </a:solidFill>
                <a:latin typeface="Calibri" pitchFamily="34" charset="0"/>
                <a:ea typeface="Calibri" pitchFamily="34" charset="-122"/>
                <a:cs typeface="Calibri" pitchFamily="34" charset="-120"/>
              </a:rPr>
              <a:t>THE STOP</a:t>
            </a:r>
            <a:endParaRPr lang="en-US" sz="1000" dirty="0"/>
          </a:p>
        </p:txBody>
      </p:sp>
      <p:sp>
        <p:nvSpPr>
          <p:cNvPr id="28" name="Shape 26"/>
          <p:cNvSpPr/>
          <p:nvPr/>
        </p:nvSpPr>
        <p:spPr>
          <a:xfrm>
            <a:off x="566928" y="3575304"/>
            <a:ext cx="2558720" cy="1271016"/>
          </a:xfrm>
          <a:prstGeom prst="roundRect">
            <a:avLst>
              <a:gd name="adj" fmla="val 4317"/>
            </a:avLst>
          </a:prstGeom>
          <a:solidFill>
            <a:srgbClr val="FCEDE0"/>
          </a:solidFill>
          <a:ln w="13970">
            <a:solidFill>
              <a:srgbClr val="D96A16"/>
            </a:solidFill>
            <a:prstDash val="solid"/>
          </a:ln>
        </p:spPr>
      </p:sp>
      <p:sp>
        <p:nvSpPr>
          <p:cNvPr id="29" name="Text 27"/>
          <p:cNvSpPr/>
          <p:nvPr/>
        </p:nvSpPr>
        <p:spPr>
          <a:xfrm>
            <a:off x="658368" y="3630168"/>
            <a:ext cx="2375840" cy="559247"/>
          </a:xfrm>
          <a:prstGeom prst="rect">
            <a:avLst/>
          </a:prstGeom>
          <a:noFill/>
          <a:ln/>
        </p:spPr>
        <p:txBody>
          <a:bodyPr wrap="square" lIns="0" tIns="0" rIns="0" bIns="0" rtlCol="0" anchor="ctr"/>
          <a:lstStyle/>
          <a:p>
            <a:pPr algn="ctr" indent="0" marL="0">
              <a:buNone/>
            </a:pPr>
            <a:r>
              <a:rPr lang="en-US" sz="1150" b="1" dirty="0">
                <a:solidFill>
                  <a:srgbClr val="8A4310"/>
                </a:solidFill>
                <a:latin typeface="Calibri" pitchFamily="34" charset="0"/>
                <a:ea typeface="Calibri" pitchFamily="34" charset="-122"/>
                <a:cs typeface="Calibri" pitchFamily="34" charset="-120"/>
              </a:rPr>
              <a:t>Observe</a:t>
            </a:r>
            <a:endParaRPr lang="en-US" sz="1150" dirty="0"/>
          </a:p>
        </p:txBody>
      </p:sp>
      <p:sp>
        <p:nvSpPr>
          <p:cNvPr id="30" name="Text 28"/>
          <p:cNvSpPr/>
          <p:nvPr/>
        </p:nvSpPr>
        <p:spPr>
          <a:xfrm>
            <a:off x="649224" y="4159971"/>
            <a:ext cx="2394128"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what came back, and does it fit?</a:t>
            </a:r>
            <a:endParaRPr lang="en-US" sz="940" dirty="0"/>
          </a:p>
        </p:txBody>
      </p:sp>
      <p:sp>
        <p:nvSpPr>
          <p:cNvPr id="31" name="Shape 29"/>
          <p:cNvSpPr/>
          <p:nvPr/>
        </p:nvSpPr>
        <p:spPr>
          <a:xfrm rot="5400000">
            <a:off x="3175940" y="4110228"/>
            <a:ext cx="155448" cy="201168"/>
          </a:xfrm>
          <a:prstGeom prst="triangle">
            <a:avLst/>
          </a:prstGeom>
          <a:solidFill>
            <a:srgbClr val="9AA9B6"/>
          </a:solidFill>
          <a:ln/>
        </p:spPr>
      </p:sp>
      <p:sp>
        <p:nvSpPr>
          <p:cNvPr id="32" name="Shape 30"/>
          <p:cNvSpPr/>
          <p:nvPr/>
        </p:nvSpPr>
        <p:spPr>
          <a:xfrm>
            <a:off x="3399968" y="3575304"/>
            <a:ext cx="2558720" cy="1271016"/>
          </a:xfrm>
          <a:prstGeom prst="roundRect">
            <a:avLst>
              <a:gd name="adj" fmla="val 4317"/>
            </a:avLst>
          </a:prstGeom>
          <a:solidFill>
            <a:srgbClr val="FCEDE0"/>
          </a:solidFill>
          <a:ln w="13970">
            <a:solidFill>
              <a:srgbClr val="D96A16"/>
            </a:solidFill>
            <a:prstDash val="solid"/>
          </a:ln>
        </p:spPr>
      </p:sp>
      <p:sp>
        <p:nvSpPr>
          <p:cNvPr id="33" name="Text 31"/>
          <p:cNvSpPr/>
          <p:nvPr/>
        </p:nvSpPr>
        <p:spPr>
          <a:xfrm>
            <a:off x="3491408" y="3630168"/>
            <a:ext cx="2375840" cy="559247"/>
          </a:xfrm>
          <a:prstGeom prst="rect">
            <a:avLst/>
          </a:prstGeom>
          <a:noFill/>
          <a:ln/>
        </p:spPr>
        <p:txBody>
          <a:bodyPr wrap="square" lIns="0" tIns="0" rIns="0" bIns="0" rtlCol="0" anchor="ctr"/>
          <a:lstStyle/>
          <a:p>
            <a:pPr algn="ctr" indent="0" marL="0">
              <a:buNone/>
            </a:pPr>
            <a:r>
              <a:rPr lang="en-US" sz="1150" b="1" dirty="0">
                <a:solidFill>
                  <a:srgbClr val="8A4310"/>
                </a:solidFill>
                <a:latin typeface="Calibri" pitchFamily="34" charset="0"/>
                <a:ea typeface="Calibri" pitchFamily="34" charset="-122"/>
                <a:cs typeface="Calibri" pitchFamily="34" charset="-120"/>
              </a:rPr>
              <a:t>Enough?</a:t>
            </a:r>
            <a:endParaRPr lang="en-US" sz="1150" dirty="0"/>
          </a:p>
        </p:txBody>
      </p:sp>
      <p:sp>
        <p:nvSpPr>
          <p:cNvPr id="34" name="Text 32"/>
          <p:cNvSpPr/>
          <p:nvPr/>
        </p:nvSpPr>
        <p:spPr>
          <a:xfrm>
            <a:off x="3482264" y="4159971"/>
            <a:ext cx="2394128"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if not, loop back and ask the next question</a:t>
            </a:r>
            <a:endParaRPr lang="en-US" sz="940" dirty="0"/>
          </a:p>
        </p:txBody>
      </p:sp>
      <p:sp>
        <p:nvSpPr>
          <p:cNvPr id="35" name="Shape 33"/>
          <p:cNvSpPr/>
          <p:nvPr/>
        </p:nvSpPr>
        <p:spPr>
          <a:xfrm rot="5400000">
            <a:off x="6008980" y="4110228"/>
            <a:ext cx="155448" cy="201168"/>
          </a:xfrm>
          <a:prstGeom prst="triangle">
            <a:avLst/>
          </a:prstGeom>
          <a:solidFill>
            <a:srgbClr val="9AA9B6"/>
          </a:solidFill>
          <a:ln/>
        </p:spPr>
      </p:sp>
      <p:sp>
        <p:nvSpPr>
          <p:cNvPr id="36" name="Shape 34"/>
          <p:cNvSpPr/>
          <p:nvPr/>
        </p:nvSpPr>
        <p:spPr>
          <a:xfrm>
            <a:off x="6233008" y="3575304"/>
            <a:ext cx="2558720" cy="1271016"/>
          </a:xfrm>
          <a:prstGeom prst="roundRect">
            <a:avLst>
              <a:gd name="adj" fmla="val 4317"/>
            </a:avLst>
          </a:prstGeom>
          <a:solidFill>
            <a:srgbClr val="F1F4F7"/>
          </a:solidFill>
          <a:ln w="13970">
            <a:solidFill>
              <a:srgbClr val="3B4A5A"/>
            </a:solidFill>
            <a:prstDash val="solid"/>
          </a:ln>
        </p:spPr>
      </p:sp>
      <p:sp>
        <p:nvSpPr>
          <p:cNvPr id="37" name="Text 35"/>
          <p:cNvSpPr/>
          <p:nvPr/>
        </p:nvSpPr>
        <p:spPr>
          <a:xfrm>
            <a:off x="6324448" y="3630168"/>
            <a:ext cx="2375840" cy="559247"/>
          </a:xfrm>
          <a:prstGeom prst="rect">
            <a:avLst/>
          </a:prstGeom>
          <a:noFill/>
          <a:ln/>
        </p:spPr>
        <p:txBody>
          <a:bodyPr wrap="square" lIns="0" tIns="0" rIns="0" bIns="0" rtlCol="0" anchor="ctr"/>
          <a:lstStyle/>
          <a:p>
            <a:pPr algn="ctr" indent="0" marL="0">
              <a:buNone/>
            </a:pPr>
            <a:r>
              <a:rPr lang="en-US" sz="1150" b="1" dirty="0">
                <a:solidFill>
                  <a:srgbClr val="1C2530"/>
                </a:solidFill>
                <a:latin typeface="Calibri" pitchFamily="34" charset="0"/>
                <a:ea typeface="Calibri" pitchFamily="34" charset="-122"/>
                <a:cs typeface="Calibri" pitchFamily="34" charset="-120"/>
              </a:rPr>
              <a:t>Draft the output</a:t>
            </a:r>
            <a:endParaRPr lang="en-US" sz="1150" dirty="0"/>
          </a:p>
        </p:txBody>
      </p:sp>
      <p:sp>
        <p:nvSpPr>
          <p:cNvPr id="38" name="Text 36"/>
          <p:cNvSpPr/>
          <p:nvPr/>
        </p:nvSpPr>
        <p:spPr>
          <a:xfrm>
            <a:off x="6315304" y="4159971"/>
            <a:ext cx="2394128"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work order, advisory note, report</a:t>
            </a:r>
            <a:endParaRPr lang="en-US" sz="940" dirty="0"/>
          </a:p>
        </p:txBody>
      </p:sp>
      <p:sp>
        <p:nvSpPr>
          <p:cNvPr id="39" name="Shape 37"/>
          <p:cNvSpPr/>
          <p:nvPr/>
        </p:nvSpPr>
        <p:spPr>
          <a:xfrm rot="5400000">
            <a:off x="8842019" y="4110228"/>
            <a:ext cx="155448" cy="201168"/>
          </a:xfrm>
          <a:prstGeom prst="triangle">
            <a:avLst/>
          </a:prstGeom>
          <a:solidFill>
            <a:srgbClr val="9AA9B6"/>
          </a:solidFill>
          <a:ln/>
        </p:spPr>
      </p:sp>
      <p:sp>
        <p:nvSpPr>
          <p:cNvPr id="40" name="Shape 38"/>
          <p:cNvSpPr/>
          <p:nvPr/>
        </p:nvSpPr>
        <p:spPr>
          <a:xfrm>
            <a:off x="9066047" y="3575304"/>
            <a:ext cx="2558720" cy="1271016"/>
          </a:xfrm>
          <a:prstGeom prst="roundRect">
            <a:avLst>
              <a:gd name="adj" fmla="val 4317"/>
            </a:avLst>
          </a:prstGeom>
          <a:solidFill>
            <a:srgbClr val="E4F0EA"/>
          </a:solidFill>
          <a:ln w="13970">
            <a:solidFill>
              <a:srgbClr val="256B45"/>
            </a:solidFill>
            <a:prstDash val="solid"/>
          </a:ln>
        </p:spPr>
      </p:sp>
      <p:sp>
        <p:nvSpPr>
          <p:cNvPr id="41" name="Text 39"/>
          <p:cNvSpPr/>
          <p:nvPr/>
        </p:nvSpPr>
        <p:spPr>
          <a:xfrm>
            <a:off x="9157487" y="3630168"/>
            <a:ext cx="2375840" cy="559247"/>
          </a:xfrm>
          <a:prstGeom prst="rect">
            <a:avLst/>
          </a:prstGeom>
          <a:noFill/>
          <a:ln/>
        </p:spPr>
        <p:txBody>
          <a:bodyPr wrap="square" lIns="0" tIns="0" rIns="0" bIns="0" rtlCol="0" anchor="ctr"/>
          <a:lstStyle/>
          <a:p>
            <a:pPr algn="ctr" indent="0" marL="0">
              <a:buNone/>
            </a:pPr>
            <a:r>
              <a:rPr lang="en-US" sz="1150" b="1" dirty="0">
                <a:solidFill>
                  <a:srgbClr val="1B4E32"/>
                </a:solidFill>
                <a:latin typeface="Calibri" pitchFamily="34" charset="0"/>
                <a:ea typeface="Calibri" pitchFamily="34" charset="-122"/>
                <a:cs typeface="Calibri" pitchFamily="34" charset="-120"/>
              </a:rPr>
              <a:t>HUMAN APPROVAL GATE</a:t>
            </a:r>
            <a:endParaRPr lang="en-US" sz="1150" dirty="0"/>
          </a:p>
        </p:txBody>
      </p:sp>
      <p:sp>
        <p:nvSpPr>
          <p:cNvPr id="42" name="Text 40"/>
          <p:cNvSpPr/>
          <p:nvPr/>
        </p:nvSpPr>
        <p:spPr>
          <a:xfrm>
            <a:off x="9148343" y="4159971"/>
            <a:ext cx="2394128"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a named engineer signs, or does not</a:t>
            </a:r>
            <a:endParaRPr lang="en-US" sz="940" dirty="0"/>
          </a:p>
        </p:txBody>
      </p:sp>
      <p:sp>
        <p:nvSpPr>
          <p:cNvPr id="43" name="Shape 41"/>
          <p:cNvSpPr/>
          <p:nvPr/>
        </p:nvSpPr>
        <p:spPr>
          <a:xfrm>
            <a:off x="566928" y="5138928"/>
            <a:ext cx="11057839" cy="420624"/>
          </a:xfrm>
          <a:prstGeom prst="roundRect">
            <a:avLst>
              <a:gd name="adj" fmla="val 10870"/>
            </a:avLst>
          </a:prstGeom>
          <a:solidFill>
            <a:srgbClr val="F4F1FA"/>
          </a:solidFill>
          <a:ln w="12700">
            <a:solidFill>
              <a:srgbClr val="8B77B8"/>
            </a:solidFill>
            <a:prstDash val="dash"/>
          </a:ln>
        </p:spPr>
      </p:sp>
      <p:sp>
        <p:nvSpPr>
          <p:cNvPr id="44" name="Text 42"/>
          <p:cNvSpPr/>
          <p:nvPr/>
        </p:nvSpPr>
        <p:spPr>
          <a:xfrm>
            <a:off x="749808" y="5138928"/>
            <a:ext cx="10692079" cy="420624"/>
          </a:xfrm>
          <a:prstGeom prst="rect">
            <a:avLst/>
          </a:prstGeom>
          <a:noFill/>
          <a:ln/>
        </p:spPr>
        <p:txBody>
          <a:bodyPr wrap="square" lIns="0" tIns="0" rIns="0" bIns="0" rtlCol="0" anchor="ctr"/>
          <a:lstStyle/>
          <a:p>
            <a:pPr indent="0" marL="0">
              <a:buNone/>
            </a:pPr>
            <a:r>
              <a:rPr lang="en-US" sz="1150" b="1" dirty="0">
                <a:solidFill>
                  <a:srgbClr val="5B4A85"/>
                </a:solidFill>
                <a:latin typeface="Calibri" pitchFamily="34" charset="0"/>
                <a:ea typeface="Calibri" pitchFamily="34" charset="-122"/>
                <a:cs typeface="Calibri" pitchFamily="34" charset="-120"/>
              </a:rPr>
              <a:t>Feedback:  </a:t>
            </a:r>
            <a:pPr indent="0" marL="0">
              <a:buNone/>
            </a:pPr>
            <a:r>
              <a:rPr lang="en-US" sz="1150" dirty="0">
                <a:solidFill>
                  <a:srgbClr val="5B4A85"/>
                </a:solidFill>
                <a:latin typeface="Calibri" pitchFamily="34" charset="0"/>
                <a:ea typeface="Calibri" pitchFamily="34" charset="-122"/>
                <a:cs typeface="Calibri" pitchFamily="34" charset="-120"/>
              </a:rPr>
              <a:t>Every loop iteration and every tool call is logged, so the reasoning can be reconstructed afterwards</a:t>
            </a:r>
            <a:endParaRPr lang="en-US" sz="1150" dirty="0"/>
          </a:p>
        </p:txBody>
      </p:sp>
      <p:sp>
        <p:nvSpPr>
          <p:cNvPr id="45" name="Shape 43"/>
          <p:cNvSpPr/>
          <p:nvPr/>
        </p:nvSpPr>
        <p:spPr>
          <a:xfrm>
            <a:off x="566928" y="5632704"/>
            <a:ext cx="11057839" cy="548640"/>
          </a:xfrm>
          <a:prstGeom prst="roundRect">
            <a:avLst>
              <a:gd name="adj" fmla="val 8333"/>
            </a:avLst>
          </a:prstGeom>
          <a:solidFill>
            <a:srgbClr val="FCEDE0"/>
          </a:solidFill>
          <a:ln w="12700">
            <a:solidFill>
              <a:srgbClr val="D96A16"/>
            </a:solidFill>
            <a:prstDash val="solid"/>
          </a:ln>
        </p:spPr>
      </p:sp>
      <p:sp>
        <p:nvSpPr>
          <p:cNvPr id="46" name="Text 44"/>
          <p:cNvSpPr/>
          <p:nvPr/>
        </p:nvSpPr>
        <p:spPr>
          <a:xfrm>
            <a:off x="768096" y="5632704"/>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The loop is what makes it an agent. The gate is what makes it acceptable in a power station.</a:t>
            </a:r>
            <a:endParaRPr lang="en-US" sz="13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Where it will let you down</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Five failure modes, every one of them seen in practice, none of them fixed by a better model</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7. Generative AI, RAG and agents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99</a:t>
            </a:r>
            <a:endParaRPr lang="en-US" sz="950" dirty="0"/>
          </a:p>
        </p:txBody>
      </p:sp>
      <p:sp>
        <p:nvSpPr>
          <p:cNvPr id="7" name="Shape 5"/>
          <p:cNvSpPr/>
          <p:nvPr/>
        </p:nvSpPr>
        <p:spPr>
          <a:xfrm>
            <a:off x="566928" y="1627632"/>
            <a:ext cx="11057839" cy="649224"/>
          </a:xfrm>
          <a:prstGeom prst="roundRect">
            <a:avLst>
              <a:gd name="adj" fmla="val 845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31520" y="1760220"/>
            <a:ext cx="2331720" cy="402336"/>
          </a:xfrm>
          <a:prstGeom prst="roundRect">
            <a:avLst>
              <a:gd name="adj" fmla="val 13636"/>
            </a:avLst>
          </a:prstGeom>
          <a:solidFill>
            <a:srgbClr val="F9E7E5"/>
          </a:solidFill>
          <a:ln w="9525">
            <a:solidFill>
              <a:srgbClr val="A8261E"/>
            </a:solidFill>
            <a:prstDash val="solid"/>
          </a:ln>
        </p:spPr>
      </p:sp>
      <p:sp>
        <p:nvSpPr>
          <p:cNvPr id="9" name="Text 7"/>
          <p:cNvSpPr/>
          <p:nvPr/>
        </p:nvSpPr>
        <p:spPr>
          <a:xfrm>
            <a:off x="731520" y="1760220"/>
            <a:ext cx="2331720" cy="402336"/>
          </a:xfrm>
          <a:prstGeom prst="rect">
            <a:avLst/>
          </a:prstGeom>
          <a:noFill/>
          <a:ln/>
        </p:spPr>
        <p:txBody>
          <a:bodyPr wrap="square" lIns="0" tIns="0" rIns="0" bIns="0" rtlCol="0" anchor="ctr"/>
          <a:lstStyle/>
          <a:p>
            <a:pPr algn="ctr" indent="0" marL="0">
              <a:buNone/>
            </a:pPr>
            <a:r>
              <a:rPr lang="en-US" sz="1200" b="1" dirty="0">
                <a:solidFill>
                  <a:srgbClr val="A8261E"/>
                </a:solidFill>
                <a:latin typeface="Calibri" pitchFamily="34" charset="0"/>
                <a:ea typeface="Calibri" pitchFamily="34" charset="-122"/>
                <a:cs typeface="Calibri" pitchFamily="34" charset="-120"/>
              </a:rPr>
              <a:t>Confident and wrong</a:t>
            </a:r>
            <a:endParaRPr lang="en-US" sz="1200" dirty="0"/>
          </a:p>
        </p:txBody>
      </p:sp>
      <p:sp>
        <p:nvSpPr>
          <p:cNvPr id="10" name="Text 8"/>
          <p:cNvSpPr/>
          <p:nvPr/>
        </p:nvSpPr>
        <p:spPr>
          <a:xfrm>
            <a:off x="3264408" y="1627632"/>
            <a:ext cx="8177479" cy="649224"/>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It will invent a clause number, a setting or a torque value in fluent English and cite nothing at all. Grounding and citations reduce this sharply. Nothing eliminates it.</a:t>
            </a:r>
            <a:endParaRPr lang="en-US" sz="1250" dirty="0"/>
          </a:p>
        </p:txBody>
      </p:sp>
      <p:sp>
        <p:nvSpPr>
          <p:cNvPr id="11" name="Shape 9"/>
          <p:cNvSpPr/>
          <p:nvPr/>
        </p:nvSpPr>
        <p:spPr>
          <a:xfrm>
            <a:off x="566928" y="2368296"/>
            <a:ext cx="11057839" cy="649224"/>
          </a:xfrm>
          <a:prstGeom prst="roundRect">
            <a:avLst>
              <a:gd name="adj" fmla="val 845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731520" y="2500884"/>
            <a:ext cx="2331720" cy="402336"/>
          </a:xfrm>
          <a:prstGeom prst="roundRect">
            <a:avLst>
              <a:gd name="adj" fmla="val 13636"/>
            </a:avLst>
          </a:prstGeom>
          <a:solidFill>
            <a:srgbClr val="F9E7E5"/>
          </a:solidFill>
          <a:ln w="9525">
            <a:solidFill>
              <a:srgbClr val="A8261E"/>
            </a:solidFill>
            <a:prstDash val="solid"/>
          </a:ln>
        </p:spPr>
      </p:sp>
      <p:sp>
        <p:nvSpPr>
          <p:cNvPr id="13" name="Text 11"/>
          <p:cNvSpPr/>
          <p:nvPr/>
        </p:nvSpPr>
        <p:spPr>
          <a:xfrm>
            <a:off x="731520" y="2500884"/>
            <a:ext cx="2331720" cy="402336"/>
          </a:xfrm>
          <a:prstGeom prst="rect">
            <a:avLst/>
          </a:prstGeom>
          <a:noFill/>
          <a:ln/>
        </p:spPr>
        <p:txBody>
          <a:bodyPr wrap="square" lIns="0" tIns="0" rIns="0" bIns="0" rtlCol="0" anchor="ctr"/>
          <a:lstStyle/>
          <a:p>
            <a:pPr algn="ctr" indent="0" marL="0">
              <a:buNone/>
            </a:pPr>
            <a:r>
              <a:rPr lang="en-US" sz="1200" b="1" dirty="0">
                <a:solidFill>
                  <a:srgbClr val="A8261E"/>
                </a:solidFill>
                <a:latin typeface="Calibri" pitchFamily="34" charset="0"/>
                <a:ea typeface="Calibri" pitchFamily="34" charset="-122"/>
                <a:cs typeface="Calibri" pitchFamily="34" charset="-120"/>
              </a:rPr>
              <a:t>Version and unit drift</a:t>
            </a:r>
            <a:endParaRPr lang="en-US" sz="1200" dirty="0"/>
          </a:p>
        </p:txBody>
      </p:sp>
      <p:sp>
        <p:nvSpPr>
          <p:cNvPr id="14" name="Text 12"/>
          <p:cNvSpPr/>
          <p:nvPr/>
        </p:nvSpPr>
        <p:spPr>
          <a:xfrm>
            <a:off x="3264408" y="2368296"/>
            <a:ext cx="8177479" cy="649224"/>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A superseded SOP or another unit's manual retrieves just as well as the correct one. Without revision and unit metadata you get correct answers to the wrong question.</a:t>
            </a:r>
            <a:endParaRPr lang="en-US" sz="1250" dirty="0"/>
          </a:p>
        </p:txBody>
      </p:sp>
      <p:sp>
        <p:nvSpPr>
          <p:cNvPr id="15" name="Shape 13"/>
          <p:cNvSpPr/>
          <p:nvPr/>
        </p:nvSpPr>
        <p:spPr>
          <a:xfrm>
            <a:off x="566928" y="3108960"/>
            <a:ext cx="11057839" cy="649224"/>
          </a:xfrm>
          <a:prstGeom prst="roundRect">
            <a:avLst>
              <a:gd name="adj" fmla="val 845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731520" y="3241548"/>
            <a:ext cx="2331720" cy="402336"/>
          </a:xfrm>
          <a:prstGeom prst="roundRect">
            <a:avLst>
              <a:gd name="adj" fmla="val 13636"/>
            </a:avLst>
          </a:prstGeom>
          <a:solidFill>
            <a:srgbClr val="F9E7E5"/>
          </a:solidFill>
          <a:ln w="9525">
            <a:solidFill>
              <a:srgbClr val="A8261E"/>
            </a:solidFill>
            <a:prstDash val="solid"/>
          </a:ln>
        </p:spPr>
      </p:sp>
      <p:sp>
        <p:nvSpPr>
          <p:cNvPr id="17" name="Text 15"/>
          <p:cNvSpPr/>
          <p:nvPr/>
        </p:nvSpPr>
        <p:spPr>
          <a:xfrm>
            <a:off x="731520" y="3241548"/>
            <a:ext cx="2331720" cy="402336"/>
          </a:xfrm>
          <a:prstGeom prst="rect">
            <a:avLst/>
          </a:prstGeom>
          <a:noFill/>
          <a:ln/>
        </p:spPr>
        <p:txBody>
          <a:bodyPr wrap="square" lIns="0" tIns="0" rIns="0" bIns="0" rtlCol="0" anchor="ctr"/>
          <a:lstStyle/>
          <a:p>
            <a:pPr algn="ctr" indent="0" marL="0">
              <a:buNone/>
            </a:pPr>
            <a:r>
              <a:rPr lang="en-US" sz="1200" b="1" dirty="0">
                <a:solidFill>
                  <a:srgbClr val="A8261E"/>
                </a:solidFill>
                <a:latin typeface="Calibri" pitchFamily="34" charset="0"/>
                <a:ea typeface="Calibri" pitchFamily="34" charset="-122"/>
                <a:cs typeface="Calibri" pitchFamily="34" charset="-120"/>
              </a:rPr>
              <a:t>It cannot do sums</a:t>
            </a:r>
            <a:endParaRPr lang="en-US" sz="1200" dirty="0"/>
          </a:p>
        </p:txBody>
      </p:sp>
      <p:sp>
        <p:nvSpPr>
          <p:cNvPr id="18" name="Text 16"/>
          <p:cNvSpPr/>
          <p:nvPr/>
        </p:nvSpPr>
        <p:spPr>
          <a:xfrm>
            <a:off x="3264408" y="3108960"/>
            <a:ext cx="8177479" cy="649224"/>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A language model predicts text, not arithmetic. Any heat rate, efficiency or rupee figure must be produced by a calculation tool and checked — never lifted from the prose.</a:t>
            </a:r>
            <a:endParaRPr lang="en-US" sz="1250" dirty="0"/>
          </a:p>
        </p:txBody>
      </p:sp>
      <p:sp>
        <p:nvSpPr>
          <p:cNvPr id="19" name="Shape 17"/>
          <p:cNvSpPr/>
          <p:nvPr/>
        </p:nvSpPr>
        <p:spPr>
          <a:xfrm>
            <a:off x="566928" y="3849624"/>
            <a:ext cx="11057839" cy="649224"/>
          </a:xfrm>
          <a:prstGeom prst="roundRect">
            <a:avLst>
              <a:gd name="adj" fmla="val 845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731520" y="3982212"/>
            <a:ext cx="2331720" cy="402336"/>
          </a:xfrm>
          <a:prstGeom prst="roundRect">
            <a:avLst>
              <a:gd name="adj" fmla="val 13636"/>
            </a:avLst>
          </a:prstGeom>
          <a:solidFill>
            <a:srgbClr val="F9E7E5"/>
          </a:solidFill>
          <a:ln w="9525">
            <a:solidFill>
              <a:srgbClr val="A8261E"/>
            </a:solidFill>
            <a:prstDash val="solid"/>
          </a:ln>
        </p:spPr>
      </p:sp>
      <p:sp>
        <p:nvSpPr>
          <p:cNvPr id="21" name="Text 19"/>
          <p:cNvSpPr/>
          <p:nvPr/>
        </p:nvSpPr>
        <p:spPr>
          <a:xfrm>
            <a:off x="731520" y="3982212"/>
            <a:ext cx="2331720" cy="402336"/>
          </a:xfrm>
          <a:prstGeom prst="rect">
            <a:avLst/>
          </a:prstGeom>
          <a:noFill/>
          <a:ln/>
        </p:spPr>
        <p:txBody>
          <a:bodyPr wrap="square" lIns="0" tIns="0" rIns="0" bIns="0" rtlCol="0" anchor="ctr"/>
          <a:lstStyle/>
          <a:p>
            <a:pPr algn="ctr" indent="0" marL="0">
              <a:buNone/>
            </a:pPr>
            <a:r>
              <a:rPr lang="en-US" sz="1200" b="1" dirty="0">
                <a:solidFill>
                  <a:srgbClr val="A8261E"/>
                </a:solidFill>
                <a:latin typeface="Calibri" pitchFamily="34" charset="0"/>
                <a:ea typeface="Calibri" pitchFamily="34" charset="-122"/>
                <a:cs typeface="Calibri" pitchFamily="34" charset="-120"/>
              </a:rPr>
              <a:t>Prompt injection</a:t>
            </a:r>
            <a:endParaRPr lang="en-US" sz="1200" dirty="0"/>
          </a:p>
        </p:txBody>
      </p:sp>
      <p:sp>
        <p:nvSpPr>
          <p:cNvPr id="22" name="Text 20"/>
          <p:cNvSpPr/>
          <p:nvPr/>
        </p:nvSpPr>
        <p:spPr>
          <a:xfrm>
            <a:off x="3264408" y="3849624"/>
            <a:ext cx="8177479" cy="649224"/>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Text inside an ingested document can carry instructions the model will follow. A scanned circular is not a trusted input, and an agent with write access makes that dangerous.</a:t>
            </a:r>
            <a:endParaRPr lang="en-US" sz="1250" dirty="0"/>
          </a:p>
        </p:txBody>
      </p:sp>
      <p:sp>
        <p:nvSpPr>
          <p:cNvPr id="23" name="Shape 21"/>
          <p:cNvSpPr/>
          <p:nvPr/>
        </p:nvSpPr>
        <p:spPr>
          <a:xfrm>
            <a:off x="566928" y="4590288"/>
            <a:ext cx="11057839" cy="649224"/>
          </a:xfrm>
          <a:prstGeom prst="roundRect">
            <a:avLst>
              <a:gd name="adj" fmla="val 845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4" name="Shape 22"/>
          <p:cNvSpPr/>
          <p:nvPr/>
        </p:nvSpPr>
        <p:spPr>
          <a:xfrm>
            <a:off x="731520" y="4722876"/>
            <a:ext cx="2331720" cy="402336"/>
          </a:xfrm>
          <a:prstGeom prst="roundRect">
            <a:avLst>
              <a:gd name="adj" fmla="val 13636"/>
            </a:avLst>
          </a:prstGeom>
          <a:solidFill>
            <a:srgbClr val="F9E7E5"/>
          </a:solidFill>
          <a:ln w="9525">
            <a:solidFill>
              <a:srgbClr val="A8261E"/>
            </a:solidFill>
            <a:prstDash val="solid"/>
          </a:ln>
        </p:spPr>
      </p:sp>
      <p:sp>
        <p:nvSpPr>
          <p:cNvPr id="25" name="Text 23"/>
          <p:cNvSpPr/>
          <p:nvPr/>
        </p:nvSpPr>
        <p:spPr>
          <a:xfrm>
            <a:off x="731520" y="4722876"/>
            <a:ext cx="2331720" cy="402336"/>
          </a:xfrm>
          <a:prstGeom prst="rect">
            <a:avLst/>
          </a:prstGeom>
          <a:noFill/>
          <a:ln/>
        </p:spPr>
        <p:txBody>
          <a:bodyPr wrap="square" lIns="0" tIns="0" rIns="0" bIns="0" rtlCol="0" anchor="ctr"/>
          <a:lstStyle/>
          <a:p>
            <a:pPr algn="ctr" indent="0" marL="0">
              <a:buNone/>
            </a:pPr>
            <a:r>
              <a:rPr lang="en-US" sz="1200" b="1" dirty="0">
                <a:solidFill>
                  <a:srgbClr val="A8261E"/>
                </a:solidFill>
                <a:latin typeface="Calibri" pitchFamily="34" charset="0"/>
                <a:ea typeface="Calibri" pitchFamily="34" charset="-122"/>
                <a:cs typeface="Calibri" pitchFamily="34" charset="-120"/>
              </a:rPr>
              <a:t>Confidentiality</a:t>
            </a:r>
            <a:endParaRPr lang="en-US" sz="1200" dirty="0"/>
          </a:p>
        </p:txBody>
      </p:sp>
      <p:sp>
        <p:nvSpPr>
          <p:cNvPr id="26" name="Text 24"/>
          <p:cNvSpPr/>
          <p:nvPr/>
        </p:nvSpPr>
        <p:spPr>
          <a:xfrm>
            <a:off x="3264408" y="4590288"/>
            <a:ext cx="8177479" cy="649224"/>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Plant drawings, protection settings, tender papers and commercial data leaving the company through a public service is a breach, whatever the privacy statement claims.</a:t>
            </a:r>
            <a:endParaRPr lang="en-US" sz="1250" dirty="0"/>
          </a:p>
        </p:txBody>
      </p:sp>
      <p:sp>
        <p:nvSpPr>
          <p:cNvPr id="27" name="Shape 25"/>
          <p:cNvSpPr/>
          <p:nvPr/>
        </p:nvSpPr>
        <p:spPr>
          <a:xfrm>
            <a:off x="566928" y="5404104"/>
            <a:ext cx="11057839" cy="786384"/>
          </a:xfrm>
          <a:prstGeom prst="roundRect">
            <a:avLst>
              <a:gd name="adj" fmla="val 5814"/>
            </a:avLst>
          </a:prstGeom>
          <a:solidFill>
            <a:srgbClr val="A8261E"/>
          </a:solidFill>
          <a:ln w="12700">
            <a:solidFill>
              <a:srgbClr val="A8261E"/>
            </a:solidFill>
            <a:prstDash val="solid"/>
          </a:ln>
        </p:spPr>
      </p:sp>
      <p:sp>
        <p:nvSpPr>
          <p:cNvPr id="28" name="Text 26"/>
          <p:cNvSpPr/>
          <p:nvPr/>
        </p:nvSpPr>
        <p:spPr>
          <a:xfrm>
            <a:off x="804672" y="5404104"/>
            <a:ext cx="10582351" cy="78638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Never use a language model for: protection settings · clearance and permit decisions · safety-critical procedure changes · statutory returns without verification · anything reaching the plant without an engineer's signature</a:t>
            </a:r>
            <a:endParaRPr lang="en-US" sz="12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What to try on your own documents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Block six close — four things that need no purchase order</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7. Generative AI, RAG and agents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100</a:t>
            </a:r>
            <a:endParaRPr lang="en-US" sz="950" dirty="0"/>
          </a:p>
        </p:txBody>
      </p:sp>
      <p:sp>
        <p:nvSpPr>
          <p:cNvPr id="7" name="Shape 5"/>
          <p:cNvSpPr/>
          <p:nvPr/>
        </p:nvSpPr>
        <p:spPr>
          <a:xfrm>
            <a:off x="566928"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92808"/>
            <a:ext cx="137160" cy="137160"/>
          </a:xfrm>
          <a:prstGeom prst="ellipse">
            <a:avLst/>
          </a:prstGeom>
          <a:solidFill>
            <a:srgbClr val="D96A16"/>
          </a:solidFill>
          <a:ln/>
        </p:spPr>
      </p:sp>
      <p:sp>
        <p:nvSpPr>
          <p:cNvPr id="9" name="Text 7"/>
          <p:cNvSpPr/>
          <p:nvPr/>
        </p:nvSpPr>
        <p:spPr>
          <a:xfrm>
            <a:off x="969264" y="1792224"/>
            <a:ext cx="485226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Pick one corpus, not all of them</a:t>
            </a:r>
            <a:endParaRPr lang="en-US" sz="1450" dirty="0"/>
          </a:p>
        </p:txBody>
      </p:sp>
      <p:sp>
        <p:nvSpPr>
          <p:cNvPr id="10" name="Text 8"/>
          <p:cNvSpPr/>
          <p:nvPr/>
        </p:nvSpPr>
        <p:spPr>
          <a:xfrm>
            <a:off x="768096" y="2404872"/>
            <a:ext cx="5016856" cy="960120"/>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One package's manuals, its SOPs and its last five RCAs. Small, current and version-controlled. A corpus you can trust beats a large one you cannot.</a:t>
            </a:r>
            <a:endParaRPr lang="en-US" sz="1200" dirty="0"/>
          </a:p>
        </p:txBody>
      </p:sp>
      <p:sp>
        <p:nvSpPr>
          <p:cNvPr id="11" name="Shape 9"/>
          <p:cNvSpPr/>
          <p:nvPr/>
        </p:nvSpPr>
        <p:spPr>
          <a:xfrm>
            <a:off x="6205576"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388456" y="1892808"/>
            <a:ext cx="137160" cy="137160"/>
          </a:xfrm>
          <a:prstGeom prst="ellipse">
            <a:avLst/>
          </a:prstGeom>
          <a:solidFill>
            <a:srgbClr val="D96A16"/>
          </a:solidFill>
          <a:ln/>
        </p:spPr>
      </p:sp>
      <p:sp>
        <p:nvSpPr>
          <p:cNvPr id="13" name="Text 11"/>
          <p:cNvSpPr/>
          <p:nvPr/>
        </p:nvSpPr>
        <p:spPr>
          <a:xfrm>
            <a:off x="6607912" y="1792224"/>
            <a:ext cx="485226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Fix the metadata before the model</a:t>
            </a:r>
            <a:endParaRPr lang="en-US" sz="1450" dirty="0"/>
          </a:p>
        </p:txBody>
      </p:sp>
      <p:sp>
        <p:nvSpPr>
          <p:cNvPr id="14" name="Text 12"/>
          <p:cNvSpPr/>
          <p:nvPr/>
        </p:nvSpPr>
        <p:spPr>
          <a:xfrm>
            <a:off x="6406744" y="2404872"/>
            <a:ext cx="5016856" cy="960120"/>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Station, unit, document number, revision, effective date, status. Tag fifty documents by hand and you will learn more than from any vendor demonstration.</a:t>
            </a:r>
            <a:endParaRPr lang="en-US" sz="1200" dirty="0"/>
          </a:p>
        </p:txBody>
      </p:sp>
      <p:sp>
        <p:nvSpPr>
          <p:cNvPr id="15" name="Shape 13"/>
          <p:cNvSpPr/>
          <p:nvPr/>
        </p:nvSpPr>
        <p:spPr>
          <a:xfrm>
            <a:off x="566928"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749808" y="3895344"/>
            <a:ext cx="137160" cy="137160"/>
          </a:xfrm>
          <a:prstGeom prst="ellipse">
            <a:avLst/>
          </a:prstGeom>
          <a:solidFill>
            <a:srgbClr val="D96A16"/>
          </a:solidFill>
          <a:ln/>
        </p:spPr>
      </p:sp>
      <p:sp>
        <p:nvSpPr>
          <p:cNvPr id="17" name="Text 15"/>
          <p:cNvSpPr/>
          <p:nvPr/>
        </p:nvSpPr>
        <p:spPr>
          <a:xfrm>
            <a:off x="969264" y="3794760"/>
            <a:ext cx="485226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Test with questions you already know</a:t>
            </a:r>
            <a:endParaRPr lang="en-US" sz="1450" dirty="0"/>
          </a:p>
        </p:txBody>
      </p:sp>
      <p:sp>
        <p:nvSpPr>
          <p:cNvPr id="18" name="Text 16"/>
          <p:cNvSpPr/>
          <p:nvPr/>
        </p:nvSpPr>
        <p:spPr>
          <a:xfrm>
            <a:off x="768096" y="4407408"/>
            <a:ext cx="5016856" cy="960120"/>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Ask twenty questions whose answers you know, from your own documents. Count how many come back cited and correct. That number is your business case.</a:t>
            </a:r>
            <a:endParaRPr lang="en-US" sz="1200" dirty="0"/>
          </a:p>
        </p:txBody>
      </p:sp>
      <p:sp>
        <p:nvSpPr>
          <p:cNvPr id="19" name="Shape 17"/>
          <p:cNvSpPr/>
          <p:nvPr/>
        </p:nvSpPr>
        <p:spPr>
          <a:xfrm>
            <a:off x="6205576"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6388456" y="3895344"/>
            <a:ext cx="137160" cy="137160"/>
          </a:xfrm>
          <a:prstGeom prst="ellipse">
            <a:avLst/>
          </a:prstGeom>
          <a:solidFill>
            <a:srgbClr val="D96A16"/>
          </a:solidFill>
          <a:ln/>
        </p:spPr>
      </p:sp>
      <p:sp>
        <p:nvSpPr>
          <p:cNvPr id="21" name="Text 19"/>
          <p:cNvSpPr/>
          <p:nvPr/>
        </p:nvSpPr>
        <p:spPr>
          <a:xfrm>
            <a:off x="6607912" y="3794760"/>
            <a:ext cx="485226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Structure one year of work orders</a:t>
            </a:r>
            <a:endParaRPr lang="en-US" sz="1450" dirty="0"/>
          </a:p>
        </p:txBody>
      </p:sp>
      <p:sp>
        <p:nvSpPr>
          <p:cNvPr id="22" name="Text 20"/>
          <p:cNvSpPr/>
          <p:nvPr/>
        </p:nvSpPr>
        <p:spPr>
          <a:xfrm>
            <a:off x="6406744" y="4407408"/>
            <a:ext cx="5016856" cy="960120"/>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Take one unit's CMMS free text and classify it by failure mode. The Pareto chart at the end is the one nobody in this company currently has.</a:t>
            </a:r>
            <a:endParaRPr lang="en-US" sz="1200" dirty="0"/>
          </a:p>
        </p:txBody>
      </p:sp>
      <p:sp>
        <p:nvSpPr>
          <p:cNvPr id="23" name="Shape 21"/>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24" name="Text 22"/>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Retrieval over your own documents is the cheapest, safest and fastest-returning AI project available to this company — and it begins with a filing exercise, not a model.</a:t>
            </a:r>
            <a:endParaRPr lang="en-US" sz="13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1C2530"/>
        </a:solidFill>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D96A16"/>
          </a:solidFill>
          <a:ln/>
        </p:spPr>
      </p:sp>
      <p:sp>
        <p:nvSpPr>
          <p:cNvPr id="3" name="Text 1"/>
          <p:cNvSpPr/>
          <p:nvPr/>
        </p:nvSpPr>
        <p:spPr>
          <a:xfrm>
            <a:off x="9052560" y="822960"/>
            <a:ext cx="2377440" cy="2011680"/>
          </a:xfrm>
          <a:prstGeom prst="rect">
            <a:avLst/>
          </a:prstGeom>
          <a:noFill/>
          <a:ln/>
        </p:spPr>
        <p:txBody>
          <a:bodyPr wrap="square" lIns="0" tIns="0" rIns="0" bIns="0" rtlCol="0" anchor="ctr"/>
          <a:lstStyle/>
          <a:p>
            <a:pPr algn="r" indent="0" marL="0">
              <a:buNone/>
            </a:pPr>
            <a:r>
              <a:rPr lang="en-US" sz="13200" b="1" dirty="0">
                <a:solidFill>
                  <a:srgbClr val="2C3B4B"/>
                </a:solidFill>
                <a:latin typeface="Cambria" pitchFamily="34" charset="0"/>
                <a:ea typeface="Cambria" pitchFamily="34" charset="-122"/>
                <a:cs typeface="Cambria" pitchFamily="34" charset="-120"/>
              </a:rPr>
              <a:t>8</a:t>
            </a:r>
            <a:endParaRPr lang="en-US" sz="13200" dirty="0"/>
          </a:p>
        </p:txBody>
      </p:sp>
      <p:sp>
        <p:nvSpPr>
          <p:cNvPr id="4" name="Text 2"/>
          <p:cNvSpPr/>
          <p:nvPr/>
        </p:nvSpPr>
        <p:spPr>
          <a:xfrm>
            <a:off x="1051560" y="1920240"/>
            <a:ext cx="9601200" cy="310896"/>
          </a:xfrm>
          <a:prstGeom prst="rect">
            <a:avLst/>
          </a:prstGeom>
          <a:noFill/>
          <a:ln/>
        </p:spPr>
        <p:txBody>
          <a:bodyPr wrap="square" lIns="0" tIns="0" rIns="0" bIns="0" rtlCol="0" anchor="ctr"/>
          <a:lstStyle/>
          <a:p>
            <a:pPr indent="0" marL="0">
              <a:buNone/>
            </a:pPr>
            <a:r>
              <a:rPr lang="en-US" sz="1250" b="1" spc="220" kern="0" dirty="0">
                <a:solidFill>
                  <a:srgbClr val="D96A16"/>
                </a:solidFill>
                <a:latin typeface="Calibri" pitchFamily="34" charset="0"/>
                <a:ea typeface="Calibri" pitchFamily="34" charset="-122"/>
                <a:cs typeface="Calibri" pitchFamily="34" charset="-120"/>
              </a:rPr>
              <a:t>SESSION</a:t>
            </a:r>
            <a:endParaRPr lang="en-US" sz="1250" dirty="0"/>
          </a:p>
        </p:txBody>
      </p:sp>
      <p:sp>
        <p:nvSpPr>
          <p:cNvPr id="5" name="Text 3"/>
          <p:cNvSpPr/>
          <p:nvPr/>
        </p:nvSpPr>
        <p:spPr>
          <a:xfrm>
            <a:off x="1051560" y="2212848"/>
            <a:ext cx="804672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Computer vision and emerging applications</a:t>
            </a:r>
            <a:endParaRPr lang="en-US" sz="4000" dirty="0"/>
          </a:p>
        </p:txBody>
      </p:sp>
      <p:sp>
        <p:nvSpPr>
          <p:cNvPr id="6" name="Text 4"/>
          <p:cNvSpPr/>
          <p:nvPr/>
        </p:nvSpPr>
        <p:spPr>
          <a:xfrm>
            <a:off x="1051560" y="3529584"/>
            <a:ext cx="8778240" cy="603504"/>
          </a:xfrm>
          <a:prstGeom prst="rect">
            <a:avLst/>
          </a:prstGeom>
          <a:noFill/>
          <a:ln/>
        </p:spPr>
        <p:txBody>
          <a:bodyPr wrap="square" lIns="0" tIns="0" rIns="0" bIns="0" rtlCol="0" anchor="t"/>
          <a:lstStyle/>
          <a:p>
            <a:pPr indent="0" marL="0">
              <a:buNone/>
            </a:pPr>
            <a:r>
              <a:rPr lang="en-US" sz="1500" dirty="0">
                <a:solidFill>
                  <a:srgbClr val="A9B8C6"/>
                </a:solidFill>
                <a:latin typeface="Calibri" pitchFamily="34" charset="0"/>
                <a:ea typeface="Calibri" pitchFamily="34" charset="-122"/>
                <a:cs typeface="Calibri" pitchFamily="34" charset="-120"/>
              </a:rPr>
              <a:t>Thermal, CCTV, drones and acoustics — and an honest maturity rating for everything else</a:t>
            </a:r>
            <a:endParaRPr lang="en-US" sz="1500" dirty="0"/>
          </a:p>
        </p:txBody>
      </p:sp>
      <p:sp>
        <p:nvSpPr>
          <p:cNvPr id="7" name="Shape 5"/>
          <p:cNvSpPr/>
          <p:nvPr/>
        </p:nvSpPr>
        <p:spPr>
          <a:xfrm>
            <a:off x="1078992" y="4315968"/>
            <a:ext cx="118872" cy="118872"/>
          </a:xfrm>
          <a:prstGeom prst="ellipse">
            <a:avLst/>
          </a:prstGeom>
          <a:solidFill>
            <a:srgbClr val="D96A16"/>
          </a:solidFill>
          <a:ln/>
        </p:spPr>
      </p:sp>
      <p:sp>
        <p:nvSpPr>
          <p:cNvPr id="8" name="Text 6"/>
          <p:cNvSpPr/>
          <p:nvPr/>
        </p:nvSpPr>
        <p:spPr>
          <a:xfrm>
            <a:off x="1389888" y="4224528"/>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Vision in the plant, from switchgear to conveyor belts</a:t>
            </a:r>
            <a:endParaRPr lang="en-US" sz="1250" dirty="0"/>
          </a:p>
        </p:txBody>
      </p:sp>
      <p:sp>
        <p:nvSpPr>
          <p:cNvPr id="9" name="Shape 7"/>
          <p:cNvSpPr/>
          <p:nvPr/>
        </p:nvSpPr>
        <p:spPr>
          <a:xfrm>
            <a:off x="1078992" y="4718304"/>
            <a:ext cx="118872" cy="118872"/>
          </a:xfrm>
          <a:prstGeom prst="ellipse">
            <a:avLst/>
          </a:prstGeom>
          <a:solidFill>
            <a:srgbClr val="D96A16"/>
          </a:solidFill>
          <a:ln/>
        </p:spPr>
      </p:sp>
      <p:sp>
        <p:nvSpPr>
          <p:cNvPr id="10" name="Text 8"/>
          <p:cNvSpPr/>
          <p:nvPr/>
        </p:nvSpPr>
        <p:spPr>
          <a:xfrm>
            <a:off x="1389888" y="4626864"/>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What a vision model needs from you</a:t>
            </a:r>
            <a:endParaRPr lang="en-US" sz="1250" dirty="0"/>
          </a:p>
        </p:txBody>
      </p:sp>
      <p:sp>
        <p:nvSpPr>
          <p:cNvPr id="11" name="Shape 9"/>
          <p:cNvSpPr/>
          <p:nvPr/>
        </p:nvSpPr>
        <p:spPr>
          <a:xfrm>
            <a:off x="1078992" y="5120640"/>
            <a:ext cx="118872" cy="118872"/>
          </a:xfrm>
          <a:prstGeom prst="ellipse">
            <a:avLst/>
          </a:prstGeom>
          <a:solidFill>
            <a:srgbClr val="D96A16"/>
          </a:solidFill>
          <a:ln/>
        </p:spPr>
      </p:sp>
      <p:sp>
        <p:nvSpPr>
          <p:cNvPr id="12" name="Text 10"/>
          <p:cNvSpPr/>
          <p:nvPr/>
        </p:nvSpPr>
        <p:spPr>
          <a:xfrm>
            <a:off x="1389888" y="5029200"/>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Acoustic and ultrasonic methods</a:t>
            </a:r>
            <a:endParaRPr lang="en-US" sz="1250" dirty="0"/>
          </a:p>
        </p:txBody>
      </p:sp>
      <p:sp>
        <p:nvSpPr>
          <p:cNvPr id="13" name="Shape 11"/>
          <p:cNvSpPr/>
          <p:nvPr/>
        </p:nvSpPr>
        <p:spPr>
          <a:xfrm>
            <a:off x="1078992" y="5522976"/>
            <a:ext cx="118872" cy="118872"/>
          </a:xfrm>
          <a:prstGeom prst="ellipse">
            <a:avLst/>
          </a:prstGeom>
          <a:solidFill>
            <a:srgbClr val="D96A16"/>
          </a:solidFill>
          <a:ln/>
        </p:spPr>
      </p:sp>
      <p:sp>
        <p:nvSpPr>
          <p:cNvPr id="14" name="Text 12"/>
          <p:cNvSpPr/>
          <p:nvPr/>
        </p:nvSpPr>
        <p:spPr>
          <a:xfrm>
            <a:off x="1389888" y="5431536"/>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Proven, Emerging, Experimental — and how to tell</a:t>
            </a:r>
            <a:endParaRPr lang="en-US" sz="1250" dirty="0"/>
          </a:p>
        </p:txBody>
      </p:sp>
      <p:sp>
        <p:nvSpPr>
          <p:cNvPr id="15" name="Shape 13"/>
          <p:cNvSpPr/>
          <p:nvPr/>
        </p:nvSpPr>
        <p:spPr>
          <a:xfrm>
            <a:off x="9281160" y="4224528"/>
            <a:ext cx="1965960" cy="859536"/>
          </a:xfrm>
          <a:prstGeom prst="roundRect">
            <a:avLst>
              <a:gd name="adj" fmla="val 6383"/>
            </a:avLst>
          </a:prstGeom>
          <a:solidFill>
            <a:srgbClr val="2A3644"/>
          </a:solidFill>
          <a:ln w="12700">
            <a:solidFill>
              <a:srgbClr val="D96A16"/>
            </a:solidFill>
            <a:prstDash val="solid"/>
          </a:ln>
        </p:spPr>
      </p:sp>
      <p:sp>
        <p:nvSpPr>
          <p:cNvPr id="16" name="Text 14"/>
          <p:cNvSpPr/>
          <p:nvPr/>
        </p:nvSpPr>
        <p:spPr>
          <a:xfrm>
            <a:off x="9281160" y="4334256"/>
            <a:ext cx="1965960" cy="384048"/>
          </a:xfrm>
          <a:prstGeom prst="rect">
            <a:avLst/>
          </a:prstGeom>
          <a:noFill/>
          <a:ln/>
        </p:spPr>
        <p:txBody>
          <a:bodyPr wrap="square" lIns="0" tIns="0" rIns="0" bIns="0" rtlCol="0" anchor="ctr"/>
          <a:lstStyle/>
          <a:p>
            <a:pPr algn="ctr" indent="0" marL="0">
              <a:buNone/>
            </a:pPr>
            <a:r>
              <a:rPr lang="en-US" sz="1600" b="1" dirty="0">
                <a:solidFill>
                  <a:srgbClr val="D96A16"/>
                </a:solidFill>
                <a:latin typeface="Cambria" pitchFamily="34" charset="0"/>
                <a:ea typeface="Cambria" pitchFamily="34" charset="-122"/>
                <a:cs typeface="Cambria" pitchFamily="34" charset="-120"/>
              </a:rPr>
              <a:t>16:28 – 16:40</a:t>
            </a:r>
            <a:endParaRPr lang="en-US" sz="1600" dirty="0"/>
          </a:p>
        </p:txBody>
      </p:sp>
      <p:sp>
        <p:nvSpPr>
          <p:cNvPr id="17" name="Text 15"/>
          <p:cNvSpPr/>
          <p:nvPr/>
        </p:nvSpPr>
        <p:spPr>
          <a:xfrm>
            <a:off x="9281160" y="4700016"/>
            <a:ext cx="1965960" cy="310896"/>
          </a:xfrm>
          <a:prstGeom prst="rect">
            <a:avLst/>
          </a:prstGeom>
          <a:noFill/>
          <a:ln/>
        </p:spPr>
        <p:txBody>
          <a:bodyPr wrap="square" lIns="0" tIns="0" rIns="0" bIns="0" rtlCol="0" anchor="ctr"/>
          <a:lstStyle/>
          <a:p>
            <a:pPr algn="ctr" indent="0" marL="0">
              <a:buNone/>
            </a:pPr>
            <a:r>
              <a:rPr lang="en-US" sz="1100" dirty="0">
                <a:solidFill>
                  <a:srgbClr val="9BAAB8"/>
                </a:solidFill>
                <a:latin typeface="Calibri" pitchFamily="34" charset="0"/>
                <a:ea typeface="Calibri" pitchFamily="34" charset="-122"/>
                <a:cs typeface="Calibri" pitchFamily="34" charset="-120"/>
              </a:rPr>
              <a:t>12 minutes</a:t>
            </a:r>
            <a:endParaRPr lang="en-US" sz="1100" dirty="0"/>
          </a:p>
        </p:txBody>
      </p:sp>
      <p:sp>
        <p:nvSpPr>
          <p:cNvPr id="18" name="Text 16"/>
          <p:cNvSpPr/>
          <p:nvPr/>
        </p:nvSpPr>
        <p:spPr>
          <a:xfrm>
            <a:off x="11140135" y="6419088"/>
            <a:ext cx="502920" cy="274320"/>
          </a:xfrm>
          <a:prstGeom prst="rect">
            <a:avLst/>
          </a:prstGeom>
          <a:noFill/>
          <a:ln/>
        </p:spPr>
        <p:txBody>
          <a:bodyPr wrap="square" lIns="0" tIns="0" rIns="0" bIns="0" rtlCol="0" anchor="ctr"/>
          <a:lstStyle/>
          <a:p>
            <a:pPr algn="r" indent="0" marL="0">
              <a:buNone/>
            </a:pPr>
            <a:r>
              <a:rPr lang="en-US" sz="950" dirty="0">
                <a:solidFill>
                  <a:srgbClr val="5E6E7C"/>
                </a:solidFill>
                <a:latin typeface="Calibri" pitchFamily="34" charset="0"/>
                <a:ea typeface="Calibri" pitchFamily="34" charset="-122"/>
                <a:cs typeface="Calibri" pitchFamily="34" charset="-120"/>
              </a:rPr>
              <a:t>101</a:t>
            </a:r>
            <a:endParaRPr lang="en-US" sz="9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Computer vision in the plant</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Six places a camera earns its keep — and one boundary that decides whether the programme survives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8. Vision and emerging</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102</a:t>
            </a:r>
            <a:endParaRPr lang="en-US" sz="950" dirty="0"/>
          </a:p>
        </p:txBody>
      </p:sp>
      <p:sp>
        <p:nvSpPr>
          <p:cNvPr id="7" name="Shape 5"/>
          <p:cNvSpPr/>
          <p:nvPr/>
        </p:nvSpPr>
        <p:spPr>
          <a:xfrm>
            <a:off x="566928"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10512"/>
            <a:ext cx="137160" cy="137160"/>
          </a:xfrm>
          <a:prstGeom prst="ellipse">
            <a:avLst/>
          </a:prstGeom>
          <a:solidFill>
            <a:srgbClr val="D96A16"/>
          </a:solidFill>
          <a:ln/>
        </p:spPr>
      </p:sp>
      <p:sp>
        <p:nvSpPr>
          <p:cNvPr id="9" name="Text 7"/>
          <p:cNvSpPr/>
          <p:nvPr/>
        </p:nvSpPr>
        <p:spPr>
          <a:xfrm>
            <a:off x="969264" y="1709928"/>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Thermal on electrical plant</a:t>
            </a:r>
            <a:endParaRPr lang="en-US" sz="1450" dirty="0"/>
          </a:p>
        </p:txBody>
      </p:sp>
      <p:sp>
        <p:nvSpPr>
          <p:cNvPr id="10" name="Text 8"/>
          <p:cNvSpPr/>
          <p:nvPr/>
        </p:nvSpPr>
        <p:spPr>
          <a:xfrm>
            <a:off x="768096" y="2121408"/>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Switchgear, busduct joints, cable terminations and transformer bushings. A loose or degrading connection appears as heat long before it fails.</a:t>
            </a:r>
            <a:endParaRPr lang="en-US" sz="1200" dirty="0"/>
          </a:p>
        </p:txBody>
      </p:sp>
      <p:sp>
        <p:nvSpPr>
          <p:cNvPr id="11" name="Shape 9"/>
          <p:cNvSpPr/>
          <p:nvPr/>
        </p:nvSpPr>
        <p:spPr>
          <a:xfrm>
            <a:off x="4326026"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4508906" y="1810512"/>
            <a:ext cx="137160" cy="137160"/>
          </a:xfrm>
          <a:prstGeom prst="ellipse">
            <a:avLst/>
          </a:prstGeom>
          <a:solidFill>
            <a:srgbClr val="D96A16"/>
          </a:solidFill>
          <a:ln/>
        </p:spPr>
      </p:sp>
      <p:sp>
        <p:nvSpPr>
          <p:cNvPr id="13" name="Text 11"/>
          <p:cNvSpPr/>
          <p:nvPr/>
        </p:nvSpPr>
        <p:spPr>
          <a:xfrm>
            <a:off x="4728362" y="1709928"/>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Thermal on boiler and coal</a:t>
            </a:r>
            <a:endParaRPr lang="en-US" sz="1450" dirty="0"/>
          </a:p>
        </p:txBody>
      </p:sp>
      <p:sp>
        <p:nvSpPr>
          <p:cNvPr id="14" name="Text 12"/>
          <p:cNvSpPr/>
          <p:nvPr/>
        </p:nvSpPr>
        <p:spPr>
          <a:xfrm>
            <a:off x="4527194" y="2121408"/>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Casing and duct insulation loss, refractory condition, air preheater hot spots, and spontaneous combustion developing inside the coal stockpile.</a:t>
            </a:r>
            <a:endParaRPr lang="en-US" sz="1200" dirty="0"/>
          </a:p>
        </p:txBody>
      </p:sp>
      <p:sp>
        <p:nvSpPr>
          <p:cNvPr id="15" name="Shape 13"/>
          <p:cNvSpPr/>
          <p:nvPr/>
        </p:nvSpPr>
        <p:spPr>
          <a:xfrm>
            <a:off x="8085125"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8268005" y="1810512"/>
            <a:ext cx="137160" cy="137160"/>
          </a:xfrm>
          <a:prstGeom prst="ellipse">
            <a:avLst/>
          </a:prstGeom>
          <a:solidFill>
            <a:srgbClr val="D96A16"/>
          </a:solidFill>
          <a:ln/>
        </p:spPr>
      </p:sp>
      <p:sp>
        <p:nvSpPr>
          <p:cNvPr id="17" name="Text 15"/>
          <p:cNvSpPr/>
          <p:nvPr/>
        </p:nvSpPr>
        <p:spPr>
          <a:xfrm>
            <a:off x="8487461" y="1709928"/>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Conveyors and CHP</a:t>
            </a:r>
            <a:endParaRPr lang="en-US" sz="1450" dirty="0"/>
          </a:p>
        </p:txBody>
      </p:sp>
      <p:sp>
        <p:nvSpPr>
          <p:cNvPr id="18" name="Text 16"/>
          <p:cNvSpPr/>
          <p:nvPr/>
        </p:nvSpPr>
        <p:spPr>
          <a:xfrm>
            <a:off x="8286293" y="2121408"/>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Belt tear and misalignment, chute spillage, idler condition and foreign objects — the failures that stop coal reaching the bunkers.</a:t>
            </a:r>
            <a:endParaRPr lang="en-US" sz="1200" dirty="0"/>
          </a:p>
        </p:txBody>
      </p:sp>
      <p:sp>
        <p:nvSpPr>
          <p:cNvPr id="19" name="Shape 17"/>
          <p:cNvSpPr/>
          <p:nvPr/>
        </p:nvSpPr>
        <p:spPr>
          <a:xfrm>
            <a:off x="566928"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749808" y="3895344"/>
            <a:ext cx="137160" cy="137160"/>
          </a:xfrm>
          <a:prstGeom prst="ellipse">
            <a:avLst/>
          </a:prstGeom>
          <a:solidFill>
            <a:srgbClr val="D96A16"/>
          </a:solidFill>
          <a:ln/>
        </p:spPr>
      </p:sp>
      <p:sp>
        <p:nvSpPr>
          <p:cNvPr id="21" name="Text 19"/>
          <p:cNvSpPr/>
          <p:nvPr/>
        </p:nvSpPr>
        <p:spPr>
          <a:xfrm>
            <a:off x="969264" y="379476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Leak detection</a:t>
            </a:r>
            <a:endParaRPr lang="en-US" sz="1450" dirty="0"/>
          </a:p>
        </p:txBody>
      </p:sp>
      <p:sp>
        <p:nvSpPr>
          <p:cNvPr id="22" name="Text 20"/>
          <p:cNvSpPr/>
          <p:nvPr/>
        </p:nvSpPr>
        <p:spPr>
          <a:xfrm>
            <a:off x="768096" y="4206240"/>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Steam and oil leaks picked up on camera, including areas people rarely walk: roof levels, bunker floors and duct runs behind plant.</a:t>
            </a:r>
            <a:endParaRPr lang="en-US" sz="1200" dirty="0"/>
          </a:p>
        </p:txBody>
      </p:sp>
      <p:sp>
        <p:nvSpPr>
          <p:cNvPr id="23" name="Shape 21"/>
          <p:cNvSpPr/>
          <p:nvPr/>
        </p:nvSpPr>
        <p:spPr>
          <a:xfrm>
            <a:off x="4326026"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4" name="Shape 22"/>
          <p:cNvSpPr/>
          <p:nvPr/>
        </p:nvSpPr>
        <p:spPr>
          <a:xfrm>
            <a:off x="4508906" y="3895344"/>
            <a:ext cx="137160" cy="137160"/>
          </a:xfrm>
          <a:prstGeom prst="ellipse">
            <a:avLst/>
          </a:prstGeom>
          <a:solidFill>
            <a:srgbClr val="D96A16"/>
          </a:solidFill>
          <a:ln/>
        </p:spPr>
      </p:sp>
      <p:sp>
        <p:nvSpPr>
          <p:cNvPr id="25" name="Text 23"/>
          <p:cNvSpPr/>
          <p:nvPr/>
        </p:nvSpPr>
        <p:spPr>
          <a:xfrm>
            <a:off x="4728362" y="379476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Drones and crawlers</a:t>
            </a:r>
            <a:endParaRPr lang="en-US" sz="1450" dirty="0"/>
          </a:p>
        </p:txBody>
      </p:sp>
      <p:sp>
        <p:nvSpPr>
          <p:cNvPr id="26" name="Text 24"/>
          <p:cNvSpPr/>
          <p:nvPr/>
        </p:nvSpPr>
        <p:spPr>
          <a:xfrm>
            <a:off x="4527194" y="4206240"/>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Chimney and flue liner, cooling tower shell, ash dyke survey, and stockpile volume by photogrammetry. Subject to DGCA permissions.</a:t>
            </a:r>
            <a:endParaRPr lang="en-US" sz="1200" dirty="0"/>
          </a:p>
        </p:txBody>
      </p:sp>
      <p:sp>
        <p:nvSpPr>
          <p:cNvPr id="27" name="Shape 25"/>
          <p:cNvSpPr/>
          <p:nvPr/>
        </p:nvSpPr>
        <p:spPr>
          <a:xfrm>
            <a:off x="8085125"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Shape 26"/>
          <p:cNvSpPr/>
          <p:nvPr/>
        </p:nvSpPr>
        <p:spPr>
          <a:xfrm>
            <a:off x="8268005" y="3895344"/>
            <a:ext cx="137160" cy="137160"/>
          </a:xfrm>
          <a:prstGeom prst="ellipse">
            <a:avLst/>
          </a:prstGeom>
          <a:solidFill>
            <a:srgbClr val="D96A16"/>
          </a:solidFill>
          <a:ln/>
        </p:spPr>
      </p:sp>
      <p:sp>
        <p:nvSpPr>
          <p:cNvPr id="29" name="Text 27"/>
          <p:cNvSpPr/>
          <p:nvPr/>
        </p:nvSpPr>
        <p:spPr>
          <a:xfrm>
            <a:off x="8487461" y="379476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Safety and zones</a:t>
            </a:r>
            <a:endParaRPr lang="en-US" sz="1450" dirty="0"/>
          </a:p>
        </p:txBody>
      </p:sp>
      <p:sp>
        <p:nvSpPr>
          <p:cNvPr id="30" name="Text 28"/>
          <p:cNvSpPr/>
          <p:nvPr/>
        </p:nvSpPr>
        <p:spPr>
          <a:xfrm>
            <a:off x="8286293" y="4206240"/>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Restricted-area intrusion, hot-work monitoring and man-down detection. Monitor zones and equipment — never individual behaviour.</a:t>
            </a:r>
            <a:endParaRPr lang="en-US" sz="1200" dirty="0"/>
          </a:p>
        </p:txBody>
      </p:sp>
      <p:sp>
        <p:nvSpPr>
          <p:cNvPr id="31" name="Shape 29"/>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32" name="Text 30"/>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Monitor zones and equipment, not individuals. Behaviour monitoring raises privacy and industrial-relations issues that will sink the programme before it delivers anything.</a:t>
            </a:r>
            <a:endParaRPr lang="en-US" sz="13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What a vision model actually needs from you</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unglamorous work that decides whether a camera project delivers or embarrasses you</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8. Vision and emerging</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103</a:t>
            </a:r>
            <a:endParaRPr lang="en-US" sz="950" dirty="0"/>
          </a:p>
        </p:txBody>
      </p:sp>
      <p:sp>
        <p:nvSpPr>
          <p:cNvPr id="7" name="Shape 5"/>
          <p:cNvSpPr/>
          <p:nvPr/>
        </p:nvSpPr>
        <p:spPr>
          <a:xfrm>
            <a:off x="566928" y="1627632"/>
            <a:ext cx="5391760" cy="3429000"/>
          </a:xfrm>
          <a:prstGeom prst="roundRect">
            <a:avLst>
              <a:gd name="adj" fmla="val 1600"/>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5391760" cy="493776"/>
          </a:xfrm>
          <a:prstGeom prst="roundRect">
            <a:avLst>
              <a:gd name="adj" fmla="val 9259"/>
            </a:avLst>
          </a:prstGeom>
          <a:solidFill>
            <a:srgbClr val="2A3644"/>
          </a:solidFill>
          <a:ln/>
        </p:spPr>
      </p:sp>
      <p:sp>
        <p:nvSpPr>
          <p:cNvPr id="9" name="Text 7"/>
          <p:cNvSpPr/>
          <p:nvPr/>
        </p:nvSpPr>
        <p:spPr>
          <a:xfrm>
            <a:off x="786384" y="1627632"/>
            <a:ext cx="4980280" cy="49377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What the model needs</a:t>
            </a:r>
            <a:endParaRPr lang="en-US" sz="1400" dirty="0"/>
          </a:p>
        </p:txBody>
      </p:sp>
      <p:sp>
        <p:nvSpPr>
          <p:cNvPr id="10" name="Text 8"/>
          <p:cNvSpPr/>
          <p:nvPr/>
        </p:nvSpPr>
        <p:spPr>
          <a:xfrm>
            <a:off x="804672" y="2267712"/>
            <a:ext cx="4916272" cy="265176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Labelled images — several hundred to a few thousand, marked by somebody who knows the plant</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Examples of the fault, not only of normal — and faults are rare by definition</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Camera placement fixed, framed on the asset, and not moved after training</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Lighting that is consistent, or a thermal camera that does not care about light</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Lens cleaning, condensation and coal dust treated as a maintenance task with an owner</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A named engineer to review and correct wrong detections weekly for the first few months</a:t>
            </a:r>
            <a:endParaRPr lang="en-US" sz="1050" dirty="0"/>
          </a:p>
        </p:txBody>
      </p:sp>
      <p:sp>
        <p:nvSpPr>
          <p:cNvPr id="11" name="Shape 9"/>
          <p:cNvSpPr/>
          <p:nvPr/>
        </p:nvSpPr>
        <p:spPr>
          <a:xfrm>
            <a:off x="6233008" y="1627632"/>
            <a:ext cx="5391760" cy="3429000"/>
          </a:xfrm>
          <a:prstGeom prst="roundRect">
            <a:avLst>
              <a:gd name="adj" fmla="val 1600"/>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233008" y="1627632"/>
            <a:ext cx="5391760" cy="493776"/>
          </a:xfrm>
          <a:prstGeom prst="roundRect">
            <a:avLst>
              <a:gd name="adj" fmla="val 9259"/>
            </a:avLst>
          </a:prstGeom>
          <a:solidFill>
            <a:srgbClr val="11707F"/>
          </a:solidFill>
          <a:ln/>
        </p:spPr>
      </p:sp>
      <p:sp>
        <p:nvSpPr>
          <p:cNvPr id="13" name="Text 11"/>
          <p:cNvSpPr/>
          <p:nvPr/>
        </p:nvSpPr>
        <p:spPr>
          <a:xfrm>
            <a:off x="6452464" y="1627632"/>
            <a:ext cx="4980280" cy="49377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What people get wrong</a:t>
            </a:r>
            <a:endParaRPr lang="en-US" sz="1400" dirty="0"/>
          </a:p>
        </p:txBody>
      </p:sp>
      <p:sp>
        <p:nvSpPr>
          <p:cNvPr id="14" name="Text 12"/>
          <p:cNvSpPr/>
          <p:nvPr/>
        </p:nvSpPr>
        <p:spPr>
          <a:xfrm>
            <a:off x="6470752" y="2267712"/>
            <a:ext cx="4916272" cy="265176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Assuming a model bought for another station will work here — it will not</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Different camera, angle, lighting or equipment means re-labelling, not reconfiguration</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Expecting the demonstration accuracy on your own dusty, back-lit, monsoon images</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Installing cameras first and deciding what to detect afterwards</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No plan for who acts on a detection at two in the morning</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Treating labelling as a one-off, when the plant and the model both keep changing</a:t>
            </a:r>
            <a:endParaRPr lang="en-US" sz="1050" dirty="0"/>
          </a:p>
        </p:txBody>
      </p:sp>
      <p:sp>
        <p:nvSpPr>
          <p:cNvPr id="15" name="Shape 13"/>
          <p:cNvSpPr/>
          <p:nvPr/>
        </p:nvSpPr>
        <p:spPr>
          <a:xfrm>
            <a:off x="566928" y="52395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2395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A model trained at one station will not transfer to another without re-labelling. Transfer learning shortens that work; it does not remove it.</a:t>
            </a:r>
            <a:endParaRPr lang="en-US" sz="13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Acoustic and ultrasonic</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Listening to the plant — the oldest diagnostic sense, now instrumented and trended</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8. Vision and emerging</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104</a:t>
            </a:r>
            <a:endParaRPr lang="en-US" sz="950" dirty="0"/>
          </a:p>
        </p:txBody>
      </p:sp>
      <p:sp>
        <p:nvSpPr>
          <p:cNvPr id="7" name="Shape 5"/>
          <p:cNvSpPr/>
          <p:nvPr/>
        </p:nvSpPr>
        <p:spPr>
          <a:xfrm>
            <a:off x="566928"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92808"/>
            <a:ext cx="137160" cy="137160"/>
          </a:xfrm>
          <a:prstGeom prst="ellipse">
            <a:avLst/>
          </a:prstGeom>
          <a:solidFill>
            <a:srgbClr val="D96A16"/>
          </a:solidFill>
          <a:ln/>
        </p:spPr>
      </p:sp>
      <p:sp>
        <p:nvSpPr>
          <p:cNvPr id="9" name="Text 7"/>
          <p:cNvSpPr/>
          <p:nvPr/>
        </p:nvSpPr>
        <p:spPr>
          <a:xfrm>
            <a:off x="969264" y="1792224"/>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Boiler tube leak detection</a:t>
            </a:r>
            <a:endParaRPr lang="en-US" sz="1450" dirty="0"/>
          </a:p>
        </p:txBody>
      </p:sp>
      <p:sp>
        <p:nvSpPr>
          <p:cNvPr id="10" name="Text 8"/>
          <p:cNvSpPr/>
          <p:nvPr/>
        </p:nvSpPr>
        <p:spPr>
          <a:xfrm>
            <a:off x="768096" y="2203704"/>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Acoustic emission sensors on the waterwall and second pass hear a leak as rising high-frequency energy, often days before the unit trips.</a:t>
            </a:r>
            <a:endParaRPr lang="en-US" sz="1200" dirty="0"/>
          </a:p>
        </p:txBody>
      </p:sp>
      <p:sp>
        <p:nvSpPr>
          <p:cNvPr id="11" name="Shape 9"/>
          <p:cNvSpPr/>
          <p:nvPr/>
        </p:nvSpPr>
        <p:spPr>
          <a:xfrm>
            <a:off x="6205576"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388456" y="1892808"/>
            <a:ext cx="137160" cy="137160"/>
          </a:xfrm>
          <a:prstGeom prst="ellipse">
            <a:avLst/>
          </a:prstGeom>
          <a:solidFill>
            <a:srgbClr val="D96A16"/>
          </a:solidFill>
          <a:ln/>
        </p:spPr>
      </p:sp>
      <p:sp>
        <p:nvSpPr>
          <p:cNvPr id="13" name="Text 11"/>
          <p:cNvSpPr/>
          <p:nvPr/>
        </p:nvSpPr>
        <p:spPr>
          <a:xfrm>
            <a:off x="6607912" y="1792224"/>
            <a:ext cx="485226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Cross-check with a mass balance</a:t>
            </a:r>
            <a:endParaRPr lang="en-US" sz="1450" dirty="0"/>
          </a:p>
        </p:txBody>
      </p:sp>
      <p:sp>
        <p:nvSpPr>
          <p:cNvPr id="14" name="Text 12"/>
          <p:cNvSpPr/>
          <p:nvPr/>
        </p:nvSpPr>
        <p:spPr>
          <a:xfrm>
            <a:off x="6406744" y="2404872"/>
            <a:ext cx="5016856" cy="960120"/>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Pair the acoustic signal with a data-driven makeup water mass balance. Two independent indications turn a suspicion into a defensible outage decision.</a:t>
            </a:r>
            <a:endParaRPr lang="en-US" sz="1200" dirty="0"/>
          </a:p>
        </p:txBody>
      </p:sp>
      <p:sp>
        <p:nvSpPr>
          <p:cNvPr id="15" name="Shape 13"/>
          <p:cNvSpPr/>
          <p:nvPr/>
        </p:nvSpPr>
        <p:spPr>
          <a:xfrm>
            <a:off x="566928"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749808" y="3895344"/>
            <a:ext cx="137160" cy="137160"/>
          </a:xfrm>
          <a:prstGeom prst="ellipse">
            <a:avLst/>
          </a:prstGeom>
          <a:solidFill>
            <a:srgbClr val="D96A16"/>
          </a:solidFill>
          <a:ln/>
        </p:spPr>
      </p:sp>
      <p:sp>
        <p:nvSpPr>
          <p:cNvPr id="17" name="Text 15"/>
          <p:cNvSpPr/>
          <p:nvPr/>
        </p:nvSpPr>
        <p:spPr>
          <a:xfrm>
            <a:off x="969264"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Steam and air leak surveys</a:t>
            </a:r>
            <a:endParaRPr lang="en-US" sz="1450" dirty="0"/>
          </a:p>
        </p:txBody>
      </p:sp>
      <p:sp>
        <p:nvSpPr>
          <p:cNvPr id="18" name="Text 16"/>
          <p:cNvSpPr/>
          <p:nvPr/>
        </p:nvSpPr>
        <p:spPr>
          <a:xfrm>
            <a:off x="768096"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Ultrasonic detectors find compressed air and steam leaks that a walkdown misses. Auxiliary power and heat-rate loss, both directly costed.</a:t>
            </a:r>
            <a:endParaRPr lang="en-US" sz="1200" dirty="0"/>
          </a:p>
        </p:txBody>
      </p:sp>
      <p:sp>
        <p:nvSpPr>
          <p:cNvPr id="19" name="Shape 17"/>
          <p:cNvSpPr/>
          <p:nvPr/>
        </p:nvSpPr>
        <p:spPr>
          <a:xfrm>
            <a:off x="6205576"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6388456" y="3895344"/>
            <a:ext cx="137160" cy="137160"/>
          </a:xfrm>
          <a:prstGeom prst="ellipse">
            <a:avLst/>
          </a:prstGeom>
          <a:solidFill>
            <a:srgbClr val="D96A16"/>
          </a:solidFill>
          <a:ln/>
        </p:spPr>
      </p:sp>
      <p:sp>
        <p:nvSpPr>
          <p:cNvPr id="21" name="Text 19"/>
          <p:cNvSpPr/>
          <p:nvPr/>
        </p:nvSpPr>
        <p:spPr>
          <a:xfrm>
            <a:off x="6607912"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Acoustic pyrometry</a:t>
            </a:r>
            <a:endParaRPr lang="en-US" sz="1450" dirty="0"/>
          </a:p>
        </p:txBody>
      </p:sp>
      <p:sp>
        <p:nvSpPr>
          <p:cNvPr id="22" name="Text 20"/>
          <p:cNvSpPr/>
          <p:nvPr/>
        </p:nvSpPr>
        <p:spPr>
          <a:xfrm>
            <a:off x="6406744"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Time-of-flight of sound across the furnace builds a temperature map where no thermocouple survives. Useful for combustion and burner balancing.</a:t>
            </a:r>
            <a:endParaRPr lang="en-US" sz="1200" dirty="0"/>
          </a:p>
        </p:txBody>
      </p:sp>
      <p:sp>
        <p:nvSpPr>
          <p:cNvPr id="23" name="Shape 21"/>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24" name="Text 22"/>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The acoustic signal tells you something is leaking. The mass balance tells you how much. Neither on its own justifies pulling a unit off bars.</a:t>
            </a:r>
            <a:endParaRPr lang="en-US" sz="13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Emerging applications, honestly rated</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A filter to apply to every vendor presentation you attend for the next two years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8. Vision and emerging</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105</a:t>
            </a:r>
            <a:endParaRPr lang="en-US" sz="950" dirty="0"/>
          </a:p>
        </p:txBody>
      </p:sp>
      <p:sp>
        <p:nvSpPr>
          <p:cNvPr id="7" name="Shape 5"/>
          <p:cNvSpPr/>
          <p:nvPr/>
        </p:nvSpPr>
        <p:spPr>
          <a:xfrm>
            <a:off x="566928" y="1627632"/>
            <a:ext cx="11057839" cy="472875"/>
          </a:xfrm>
          <a:prstGeom prst="roundRect">
            <a:avLst>
              <a:gd name="adj" fmla="val 1160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786384" y="1627632"/>
            <a:ext cx="3566160" cy="472875"/>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Acoustic boiler tube leak detection</a:t>
            </a:r>
            <a:endParaRPr lang="en-US" sz="1280" dirty="0"/>
          </a:p>
        </p:txBody>
      </p:sp>
      <p:sp>
        <p:nvSpPr>
          <p:cNvPr id="9" name="Text 7"/>
          <p:cNvSpPr/>
          <p:nvPr/>
        </p:nvSpPr>
        <p:spPr>
          <a:xfrm>
            <a:off x="4453128" y="1627632"/>
            <a:ext cx="3788359" cy="472875"/>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Acoustic emission sensors alarmed on rate of change, confirmed against a makeup water mass balance</a:t>
            </a:r>
            <a:endParaRPr lang="en-US" sz="1200" dirty="0"/>
          </a:p>
        </p:txBody>
      </p:sp>
      <p:sp>
        <p:nvSpPr>
          <p:cNvPr id="10" name="Shape 8"/>
          <p:cNvSpPr/>
          <p:nvPr/>
        </p:nvSpPr>
        <p:spPr>
          <a:xfrm>
            <a:off x="8470087" y="1635470"/>
            <a:ext cx="3063240" cy="457200"/>
          </a:xfrm>
          <a:prstGeom prst="roundRect">
            <a:avLst>
              <a:gd name="adj" fmla="val 50000"/>
            </a:avLst>
          </a:prstGeom>
          <a:solidFill>
            <a:srgbClr val="E4F0EA"/>
          </a:solidFill>
          <a:ln w="9525">
            <a:solidFill>
              <a:srgbClr val="256B45"/>
            </a:solidFill>
            <a:prstDash val="solid"/>
          </a:ln>
        </p:spPr>
      </p:sp>
      <p:sp>
        <p:nvSpPr>
          <p:cNvPr id="11" name="Text 9"/>
          <p:cNvSpPr/>
          <p:nvPr/>
        </p:nvSpPr>
        <p:spPr>
          <a:xfrm>
            <a:off x="8543239" y="1635470"/>
            <a:ext cx="2916936" cy="457200"/>
          </a:xfrm>
          <a:prstGeom prst="rect">
            <a:avLst/>
          </a:prstGeom>
          <a:noFill/>
          <a:ln/>
        </p:spPr>
        <p:txBody>
          <a:bodyPr wrap="square" lIns="0" tIns="0" rIns="0" bIns="0" rtlCol="0" anchor="ctr"/>
          <a:lstStyle/>
          <a:p>
            <a:pPr algn="ctr" indent="0" marL="0">
              <a:buNone/>
            </a:pPr>
            <a:r>
              <a:rPr lang="en-US" sz="900" b="1" dirty="0">
                <a:solidFill>
                  <a:srgbClr val="256B45"/>
                </a:solidFill>
                <a:latin typeface="Calibri" pitchFamily="34" charset="0"/>
                <a:ea typeface="Calibri" pitchFamily="34" charset="-122"/>
                <a:cs typeface="Calibri" pitchFamily="34" charset="-120"/>
              </a:rPr>
              <a:t>Proven — with a mass-balance cross-check</a:t>
            </a:r>
            <a:endParaRPr lang="en-US" sz="900" dirty="0"/>
          </a:p>
        </p:txBody>
      </p:sp>
      <p:sp>
        <p:nvSpPr>
          <p:cNvPr id="12" name="Shape 10"/>
          <p:cNvSpPr/>
          <p:nvPr/>
        </p:nvSpPr>
        <p:spPr>
          <a:xfrm>
            <a:off x="566928" y="2182803"/>
            <a:ext cx="11057839" cy="472875"/>
          </a:xfrm>
          <a:prstGeom prst="roundRect">
            <a:avLst>
              <a:gd name="adj" fmla="val 11602"/>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Text 11"/>
          <p:cNvSpPr/>
          <p:nvPr/>
        </p:nvSpPr>
        <p:spPr>
          <a:xfrm>
            <a:off x="786384" y="2182803"/>
            <a:ext cx="3566160" cy="472875"/>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Thermal and CCTV analytics</a:t>
            </a:r>
            <a:endParaRPr lang="en-US" sz="1280" dirty="0"/>
          </a:p>
        </p:txBody>
      </p:sp>
      <p:sp>
        <p:nvSpPr>
          <p:cNvPr id="14" name="Text 12"/>
          <p:cNvSpPr/>
          <p:nvPr/>
        </p:nvSpPr>
        <p:spPr>
          <a:xfrm>
            <a:off x="4453128" y="2182803"/>
            <a:ext cx="3788359" cy="472875"/>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Fixed cameras and detection models on electrical plant, conveyors, leaks and restricted zones</a:t>
            </a:r>
            <a:endParaRPr lang="en-US" sz="1200" dirty="0"/>
          </a:p>
        </p:txBody>
      </p:sp>
      <p:sp>
        <p:nvSpPr>
          <p:cNvPr id="15" name="Shape 13"/>
          <p:cNvSpPr/>
          <p:nvPr/>
        </p:nvSpPr>
        <p:spPr>
          <a:xfrm>
            <a:off x="8470087" y="2190641"/>
            <a:ext cx="3063240" cy="457200"/>
          </a:xfrm>
          <a:prstGeom prst="roundRect">
            <a:avLst>
              <a:gd name="adj" fmla="val 50000"/>
            </a:avLst>
          </a:prstGeom>
          <a:solidFill>
            <a:srgbClr val="FBF0DC"/>
          </a:solidFill>
          <a:ln w="9525">
            <a:solidFill>
              <a:srgbClr val="9A6408"/>
            </a:solidFill>
            <a:prstDash val="solid"/>
          </a:ln>
        </p:spPr>
      </p:sp>
      <p:sp>
        <p:nvSpPr>
          <p:cNvPr id="16" name="Text 14"/>
          <p:cNvSpPr/>
          <p:nvPr/>
        </p:nvSpPr>
        <p:spPr>
          <a:xfrm>
            <a:off x="8543239" y="2190641"/>
            <a:ext cx="2916936" cy="457200"/>
          </a:xfrm>
          <a:prstGeom prst="rect">
            <a:avLst/>
          </a:prstGeom>
          <a:noFill/>
          <a:ln/>
        </p:spPr>
        <p:txBody>
          <a:bodyPr wrap="square" lIns="0" tIns="0" rIns="0" bIns="0" rtlCol="0" anchor="ctr"/>
          <a:lstStyle/>
          <a:p>
            <a:pPr algn="ctr" indent="0" marL="0">
              <a:buNone/>
            </a:pPr>
            <a:r>
              <a:rPr lang="en-US" sz="900" b="1" dirty="0">
                <a:solidFill>
                  <a:srgbClr val="9A6408"/>
                </a:solidFill>
                <a:latin typeface="Calibri" pitchFamily="34" charset="0"/>
                <a:ea typeface="Calibri" pitchFamily="34" charset="-122"/>
                <a:cs typeface="Calibri" pitchFamily="34" charset="-120"/>
              </a:rPr>
              <a:t>Proven for thermal · Emerging for video</a:t>
            </a:r>
            <a:endParaRPr lang="en-US" sz="900" dirty="0"/>
          </a:p>
        </p:txBody>
      </p:sp>
      <p:sp>
        <p:nvSpPr>
          <p:cNvPr id="17" name="Shape 15"/>
          <p:cNvSpPr/>
          <p:nvPr/>
        </p:nvSpPr>
        <p:spPr>
          <a:xfrm>
            <a:off x="566928" y="2737975"/>
            <a:ext cx="11057839" cy="472875"/>
          </a:xfrm>
          <a:prstGeom prst="roundRect">
            <a:avLst>
              <a:gd name="adj" fmla="val 1160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8" name="Text 16"/>
          <p:cNvSpPr/>
          <p:nvPr/>
        </p:nvSpPr>
        <p:spPr>
          <a:xfrm>
            <a:off x="786384" y="2737975"/>
            <a:ext cx="3566160" cy="472875"/>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Drone and crawler inspection</a:t>
            </a:r>
            <a:endParaRPr lang="en-US" sz="1280" dirty="0"/>
          </a:p>
        </p:txBody>
      </p:sp>
      <p:sp>
        <p:nvSpPr>
          <p:cNvPr id="19" name="Text 17"/>
          <p:cNvSpPr/>
          <p:nvPr/>
        </p:nvSpPr>
        <p:spPr>
          <a:xfrm>
            <a:off x="4453128" y="2737975"/>
            <a:ext cx="3788359" cy="472875"/>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Aerial and crawling platforms carrying camera and thermal payloads where people cannot safely go</a:t>
            </a:r>
            <a:endParaRPr lang="en-US" sz="1200" dirty="0"/>
          </a:p>
        </p:txBody>
      </p:sp>
      <p:sp>
        <p:nvSpPr>
          <p:cNvPr id="20" name="Shape 18"/>
          <p:cNvSpPr/>
          <p:nvPr/>
        </p:nvSpPr>
        <p:spPr>
          <a:xfrm>
            <a:off x="8470087" y="2745813"/>
            <a:ext cx="3063240" cy="457200"/>
          </a:xfrm>
          <a:prstGeom prst="roundRect">
            <a:avLst>
              <a:gd name="adj" fmla="val 50000"/>
            </a:avLst>
          </a:prstGeom>
          <a:solidFill>
            <a:srgbClr val="E4F0EA"/>
          </a:solidFill>
          <a:ln w="9525">
            <a:solidFill>
              <a:srgbClr val="256B45"/>
            </a:solidFill>
            <a:prstDash val="solid"/>
          </a:ln>
        </p:spPr>
      </p:sp>
      <p:sp>
        <p:nvSpPr>
          <p:cNvPr id="21" name="Text 19"/>
          <p:cNvSpPr/>
          <p:nvPr/>
        </p:nvSpPr>
        <p:spPr>
          <a:xfrm>
            <a:off x="8543239" y="2745813"/>
            <a:ext cx="2916936" cy="457200"/>
          </a:xfrm>
          <a:prstGeom prst="rect">
            <a:avLst/>
          </a:prstGeom>
          <a:noFill/>
          <a:ln/>
        </p:spPr>
        <p:txBody>
          <a:bodyPr wrap="square" lIns="0" tIns="0" rIns="0" bIns="0" rtlCol="0" anchor="ctr"/>
          <a:lstStyle/>
          <a:p>
            <a:pPr algn="ctr" indent="0" marL="0">
              <a:buNone/>
            </a:pPr>
            <a:r>
              <a:rPr lang="en-US" sz="900" b="1" dirty="0">
                <a:solidFill>
                  <a:srgbClr val="256B45"/>
                </a:solidFill>
                <a:latin typeface="Calibri" pitchFamily="34" charset="0"/>
                <a:ea typeface="Calibri" pitchFamily="34" charset="-122"/>
                <a:cs typeface="Calibri" pitchFamily="34" charset="-120"/>
              </a:rPr>
              <a:t>Proven — subject to DGCA permissions</a:t>
            </a:r>
            <a:endParaRPr lang="en-US" sz="900" dirty="0"/>
          </a:p>
        </p:txBody>
      </p:sp>
      <p:sp>
        <p:nvSpPr>
          <p:cNvPr id="22" name="Shape 20"/>
          <p:cNvSpPr/>
          <p:nvPr/>
        </p:nvSpPr>
        <p:spPr>
          <a:xfrm>
            <a:off x="566928" y="3293146"/>
            <a:ext cx="11057839" cy="472875"/>
          </a:xfrm>
          <a:prstGeom prst="roundRect">
            <a:avLst>
              <a:gd name="adj" fmla="val 11602"/>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3" name="Text 21"/>
          <p:cNvSpPr/>
          <p:nvPr/>
        </p:nvSpPr>
        <p:spPr>
          <a:xfrm>
            <a:off x="786384" y="3293146"/>
            <a:ext cx="3566160" cy="472875"/>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Acoustic pyrometry</a:t>
            </a:r>
            <a:endParaRPr lang="en-US" sz="1280" dirty="0"/>
          </a:p>
        </p:txBody>
      </p:sp>
      <p:sp>
        <p:nvSpPr>
          <p:cNvPr id="24" name="Text 22"/>
          <p:cNvSpPr/>
          <p:nvPr/>
        </p:nvSpPr>
        <p:spPr>
          <a:xfrm>
            <a:off x="4453128" y="3293146"/>
            <a:ext cx="3788359" cy="472875"/>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Time-of-flight of sound across the furnace reconstructs a temperature map for combustion balancing</a:t>
            </a:r>
            <a:endParaRPr lang="en-US" sz="1200" dirty="0"/>
          </a:p>
        </p:txBody>
      </p:sp>
      <p:sp>
        <p:nvSpPr>
          <p:cNvPr id="25" name="Shape 23"/>
          <p:cNvSpPr/>
          <p:nvPr/>
        </p:nvSpPr>
        <p:spPr>
          <a:xfrm>
            <a:off x="8470087" y="3300984"/>
            <a:ext cx="3063240" cy="457200"/>
          </a:xfrm>
          <a:prstGeom prst="roundRect">
            <a:avLst>
              <a:gd name="adj" fmla="val 50000"/>
            </a:avLst>
          </a:prstGeom>
          <a:solidFill>
            <a:srgbClr val="FBF0DC"/>
          </a:solidFill>
          <a:ln w="9525">
            <a:solidFill>
              <a:srgbClr val="9A6408"/>
            </a:solidFill>
            <a:prstDash val="solid"/>
          </a:ln>
        </p:spPr>
      </p:sp>
      <p:sp>
        <p:nvSpPr>
          <p:cNvPr id="26" name="Text 24"/>
          <p:cNvSpPr/>
          <p:nvPr/>
        </p:nvSpPr>
        <p:spPr>
          <a:xfrm>
            <a:off x="8543239" y="3300984"/>
            <a:ext cx="2916936" cy="457200"/>
          </a:xfrm>
          <a:prstGeom prst="rect">
            <a:avLst/>
          </a:prstGeom>
          <a:noFill/>
          <a:ln/>
        </p:spPr>
        <p:txBody>
          <a:bodyPr wrap="square" lIns="0" tIns="0" rIns="0" bIns="0" rtlCol="0" anchor="ctr"/>
          <a:lstStyle/>
          <a:p>
            <a:pPr algn="ctr" indent="0" marL="0">
              <a:buNone/>
            </a:pPr>
            <a:r>
              <a:rPr lang="en-US" sz="900" b="1" dirty="0">
                <a:solidFill>
                  <a:srgbClr val="9A6408"/>
                </a:solidFill>
                <a:latin typeface="Calibri" pitchFamily="34" charset="0"/>
                <a:ea typeface="Calibri" pitchFamily="34" charset="-122"/>
                <a:cs typeface="Calibri" pitchFamily="34" charset="-120"/>
              </a:rPr>
              <a:t>Emerging — few installations in India</a:t>
            </a:r>
            <a:endParaRPr lang="en-US" sz="900" dirty="0"/>
          </a:p>
        </p:txBody>
      </p:sp>
      <p:sp>
        <p:nvSpPr>
          <p:cNvPr id="27" name="Shape 25"/>
          <p:cNvSpPr/>
          <p:nvPr/>
        </p:nvSpPr>
        <p:spPr>
          <a:xfrm>
            <a:off x="566928" y="3848318"/>
            <a:ext cx="11057839" cy="472875"/>
          </a:xfrm>
          <a:prstGeom prst="roundRect">
            <a:avLst>
              <a:gd name="adj" fmla="val 1160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Text 26"/>
          <p:cNvSpPr/>
          <p:nvPr/>
        </p:nvSpPr>
        <p:spPr>
          <a:xfrm>
            <a:off x="786384" y="3848318"/>
            <a:ext cx="3566160" cy="472875"/>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Digital twin</a:t>
            </a:r>
            <a:endParaRPr lang="en-US" sz="1280" dirty="0"/>
          </a:p>
        </p:txBody>
      </p:sp>
      <p:sp>
        <p:nvSpPr>
          <p:cNvPr id="29" name="Text 27"/>
          <p:cNvSpPr/>
          <p:nvPr/>
        </p:nvSpPr>
        <p:spPr>
          <a:xfrm>
            <a:off x="4453128" y="3848318"/>
            <a:ext cx="3788359" cy="472875"/>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A calibrated hybrid of physics and data, kept live and honest against the running unit</a:t>
            </a:r>
            <a:endParaRPr lang="en-US" sz="1200" dirty="0"/>
          </a:p>
        </p:txBody>
      </p:sp>
      <p:sp>
        <p:nvSpPr>
          <p:cNvPr id="30" name="Shape 28"/>
          <p:cNvSpPr/>
          <p:nvPr/>
        </p:nvSpPr>
        <p:spPr>
          <a:xfrm>
            <a:off x="8470087" y="3856155"/>
            <a:ext cx="3063240" cy="457200"/>
          </a:xfrm>
          <a:prstGeom prst="roundRect">
            <a:avLst>
              <a:gd name="adj" fmla="val 50000"/>
            </a:avLst>
          </a:prstGeom>
          <a:solidFill>
            <a:srgbClr val="FBF0DC"/>
          </a:solidFill>
          <a:ln w="9525">
            <a:solidFill>
              <a:srgbClr val="9A6408"/>
            </a:solidFill>
            <a:prstDash val="solid"/>
          </a:ln>
        </p:spPr>
      </p:sp>
      <p:sp>
        <p:nvSpPr>
          <p:cNvPr id="31" name="Text 29"/>
          <p:cNvSpPr/>
          <p:nvPr/>
        </p:nvSpPr>
        <p:spPr>
          <a:xfrm>
            <a:off x="8543239" y="3856155"/>
            <a:ext cx="2916936" cy="457200"/>
          </a:xfrm>
          <a:prstGeom prst="rect">
            <a:avLst/>
          </a:prstGeom>
          <a:noFill/>
          <a:ln/>
        </p:spPr>
        <p:txBody>
          <a:bodyPr wrap="square" lIns="0" tIns="0" rIns="0" bIns="0" rtlCol="0" anchor="ctr"/>
          <a:lstStyle/>
          <a:p>
            <a:pPr algn="ctr" indent="0" marL="0">
              <a:buNone/>
            </a:pPr>
            <a:r>
              <a:rPr lang="en-US" sz="900" b="1" dirty="0">
                <a:solidFill>
                  <a:srgbClr val="9A6408"/>
                </a:solidFill>
                <a:latin typeface="Calibri" pitchFamily="34" charset="0"/>
                <a:ea typeface="Calibri" pitchFamily="34" charset="-122"/>
                <a:cs typeface="Calibri" pitchFamily="34" charset="-120"/>
              </a:rPr>
              <a:t>Emerging — heavy engineering to sustain</a:t>
            </a:r>
            <a:endParaRPr lang="en-US" sz="900" dirty="0"/>
          </a:p>
        </p:txBody>
      </p:sp>
      <p:sp>
        <p:nvSpPr>
          <p:cNvPr id="32" name="Shape 30"/>
          <p:cNvSpPr/>
          <p:nvPr/>
        </p:nvSpPr>
        <p:spPr>
          <a:xfrm>
            <a:off x="566928" y="4403489"/>
            <a:ext cx="11057839" cy="472875"/>
          </a:xfrm>
          <a:prstGeom prst="roundRect">
            <a:avLst>
              <a:gd name="adj" fmla="val 11602"/>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3" name="Text 31"/>
          <p:cNvSpPr/>
          <p:nvPr/>
        </p:nvSpPr>
        <p:spPr>
          <a:xfrm>
            <a:off x="786384" y="4403489"/>
            <a:ext cx="3566160" cy="472875"/>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Agentic assistants</a:t>
            </a:r>
            <a:endParaRPr lang="en-US" sz="1280" dirty="0"/>
          </a:p>
        </p:txBody>
      </p:sp>
      <p:sp>
        <p:nvSpPr>
          <p:cNvPr id="34" name="Text 32"/>
          <p:cNvSpPr/>
          <p:nvPr/>
        </p:nvSpPr>
        <p:spPr>
          <a:xfrm>
            <a:off x="4453128" y="4403489"/>
            <a:ext cx="3788359" cy="472875"/>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A planner that calls historian, CMMS and performance tools, with a human approval gate</a:t>
            </a:r>
            <a:endParaRPr lang="en-US" sz="1200" dirty="0"/>
          </a:p>
        </p:txBody>
      </p:sp>
      <p:sp>
        <p:nvSpPr>
          <p:cNvPr id="35" name="Shape 33"/>
          <p:cNvSpPr/>
          <p:nvPr/>
        </p:nvSpPr>
        <p:spPr>
          <a:xfrm>
            <a:off x="8470087" y="4411327"/>
            <a:ext cx="3063240" cy="457200"/>
          </a:xfrm>
          <a:prstGeom prst="roundRect">
            <a:avLst>
              <a:gd name="adj" fmla="val 50000"/>
            </a:avLst>
          </a:prstGeom>
          <a:solidFill>
            <a:srgbClr val="F9E7E5"/>
          </a:solidFill>
          <a:ln w="9525">
            <a:solidFill>
              <a:srgbClr val="A8261E"/>
            </a:solidFill>
            <a:prstDash val="solid"/>
          </a:ln>
        </p:spPr>
      </p:sp>
      <p:sp>
        <p:nvSpPr>
          <p:cNvPr id="36" name="Text 34"/>
          <p:cNvSpPr/>
          <p:nvPr/>
        </p:nvSpPr>
        <p:spPr>
          <a:xfrm>
            <a:off x="8543239" y="4411327"/>
            <a:ext cx="2916936" cy="457200"/>
          </a:xfrm>
          <a:prstGeom prst="rect">
            <a:avLst/>
          </a:prstGeom>
          <a:noFill/>
          <a:ln/>
        </p:spPr>
        <p:txBody>
          <a:bodyPr wrap="square" lIns="0" tIns="0" rIns="0" bIns="0" rtlCol="0" anchor="ctr"/>
          <a:lstStyle/>
          <a:p>
            <a:pPr algn="ctr" indent="0" marL="0">
              <a:buNone/>
            </a:pPr>
            <a:r>
              <a:rPr lang="en-US" sz="900" b="1" dirty="0">
                <a:solidFill>
                  <a:srgbClr val="A8261E"/>
                </a:solidFill>
                <a:latin typeface="Calibri" pitchFamily="34" charset="0"/>
                <a:ea typeface="Calibri" pitchFamily="34" charset="-122"/>
                <a:cs typeface="Calibri" pitchFamily="34" charset="-120"/>
              </a:rPr>
              <a:t>Experimental — approval gate not optional</a:t>
            </a:r>
            <a:endParaRPr lang="en-US" sz="900" dirty="0"/>
          </a:p>
        </p:txBody>
      </p:sp>
      <p:sp>
        <p:nvSpPr>
          <p:cNvPr id="37" name="Shape 35"/>
          <p:cNvSpPr/>
          <p:nvPr/>
        </p:nvSpPr>
        <p:spPr>
          <a:xfrm>
            <a:off x="566928" y="4958661"/>
            <a:ext cx="11057839" cy="472875"/>
          </a:xfrm>
          <a:prstGeom prst="roundRect">
            <a:avLst>
              <a:gd name="adj" fmla="val 1160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8" name="Text 36"/>
          <p:cNvSpPr/>
          <p:nvPr/>
        </p:nvSpPr>
        <p:spPr>
          <a:xfrm>
            <a:off x="786384" y="4958661"/>
            <a:ext cx="3566160" cy="472875"/>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Reinforcement learning for unit control</a:t>
            </a:r>
            <a:endParaRPr lang="en-US" sz="1280" dirty="0"/>
          </a:p>
        </p:txBody>
      </p:sp>
      <p:sp>
        <p:nvSpPr>
          <p:cNvPr id="39" name="Text 37"/>
          <p:cNvSpPr/>
          <p:nvPr/>
        </p:nvSpPr>
        <p:spPr>
          <a:xfrm>
            <a:off x="4453128" y="4958661"/>
            <a:ext cx="3788359" cy="472875"/>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An agent learning a control policy by trial, which means learning from failures you cannot allow</a:t>
            </a:r>
            <a:endParaRPr lang="en-US" sz="1200" dirty="0"/>
          </a:p>
        </p:txBody>
      </p:sp>
      <p:sp>
        <p:nvSpPr>
          <p:cNvPr id="40" name="Shape 38"/>
          <p:cNvSpPr/>
          <p:nvPr/>
        </p:nvSpPr>
        <p:spPr>
          <a:xfrm>
            <a:off x="8470087" y="4966498"/>
            <a:ext cx="3063240" cy="457200"/>
          </a:xfrm>
          <a:prstGeom prst="roundRect">
            <a:avLst>
              <a:gd name="adj" fmla="val 50000"/>
            </a:avLst>
          </a:prstGeom>
          <a:solidFill>
            <a:srgbClr val="F9E7E5"/>
          </a:solidFill>
          <a:ln w="9525">
            <a:solidFill>
              <a:srgbClr val="A8261E"/>
            </a:solidFill>
            <a:prstDash val="solid"/>
          </a:ln>
        </p:spPr>
      </p:sp>
      <p:sp>
        <p:nvSpPr>
          <p:cNvPr id="41" name="Text 39"/>
          <p:cNvSpPr/>
          <p:nvPr/>
        </p:nvSpPr>
        <p:spPr>
          <a:xfrm>
            <a:off x="8543239" y="4966498"/>
            <a:ext cx="2916936" cy="457200"/>
          </a:xfrm>
          <a:prstGeom prst="rect">
            <a:avLst/>
          </a:prstGeom>
          <a:noFill/>
          <a:ln/>
        </p:spPr>
        <p:txBody>
          <a:bodyPr wrap="square" lIns="0" tIns="0" rIns="0" bIns="0" rtlCol="0" anchor="ctr"/>
          <a:lstStyle/>
          <a:p>
            <a:pPr algn="ctr" indent="0" marL="0">
              <a:buNone/>
            </a:pPr>
            <a:r>
              <a:rPr lang="en-US" sz="900" b="1" dirty="0">
                <a:solidFill>
                  <a:srgbClr val="A8261E"/>
                </a:solidFill>
                <a:latin typeface="Calibri" pitchFamily="34" charset="0"/>
                <a:ea typeface="Calibri" pitchFamily="34" charset="-122"/>
                <a:cs typeface="Calibri" pitchFamily="34" charset="-120"/>
              </a:rPr>
              <a:t>Experimental — not on a live unit</a:t>
            </a:r>
            <a:endParaRPr lang="en-US" sz="900" dirty="0"/>
          </a:p>
        </p:txBody>
      </p:sp>
      <p:sp>
        <p:nvSpPr>
          <p:cNvPr id="42" name="Shape 40"/>
          <p:cNvSpPr/>
          <p:nvPr/>
        </p:nvSpPr>
        <p:spPr>
          <a:xfrm>
            <a:off x="566928" y="5660136"/>
            <a:ext cx="11057839" cy="548640"/>
          </a:xfrm>
          <a:prstGeom prst="roundRect">
            <a:avLst>
              <a:gd name="adj" fmla="val 8333"/>
            </a:avLst>
          </a:prstGeom>
          <a:solidFill>
            <a:srgbClr val="FCEDE0"/>
          </a:solidFill>
          <a:ln w="12700">
            <a:solidFill>
              <a:srgbClr val="D96A16"/>
            </a:solidFill>
            <a:prstDash val="solid"/>
          </a:ln>
        </p:spPr>
      </p:sp>
      <p:sp>
        <p:nvSpPr>
          <p:cNvPr id="43" name="Text 41"/>
          <p:cNvSpPr/>
          <p:nvPr/>
        </p:nvSpPr>
        <p:spPr>
          <a:xfrm>
            <a:off x="768096" y="5660136"/>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Buy Proven. Pilot Emerging. Read about Experimental — and be suspicious of anyone selling it to you today.</a:t>
            </a:r>
            <a:endParaRPr lang="en-US" sz="13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Block close — vision and emerging</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Four things to carry into the last session of the day</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8. Vision and emerging</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106</a:t>
            </a:r>
            <a:endParaRPr lang="en-US" sz="950" dirty="0"/>
          </a:p>
        </p:txBody>
      </p:sp>
      <p:sp>
        <p:nvSpPr>
          <p:cNvPr id="7" name="Shape 5"/>
          <p:cNvSpPr/>
          <p:nvPr/>
        </p:nvSpPr>
        <p:spPr>
          <a:xfrm>
            <a:off x="566928"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92808"/>
            <a:ext cx="137160" cy="137160"/>
          </a:xfrm>
          <a:prstGeom prst="ellipse">
            <a:avLst/>
          </a:prstGeom>
          <a:solidFill>
            <a:srgbClr val="D96A16"/>
          </a:solidFill>
          <a:ln/>
        </p:spPr>
      </p:sp>
      <p:sp>
        <p:nvSpPr>
          <p:cNvPr id="9" name="Text 7"/>
          <p:cNvSpPr/>
          <p:nvPr/>
        </p:nvSpPr>
        <p:spPr>
          <a:xfrm>
            <a:off x="969264" y="1792224"/>
            <a:ext cx="485226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Cameras are cheap; labels are not</a:t>
            </a:r>
            <a:endParaRPr lang="en-US" sz="1450" dirty="0"/>
          </a:p>
        </p:txBody>
      </p:sp>
      <p:sp>
        <p:nvSpPr>
          <p:cNvPr id="10" name="Text 8"/>
          <p:cNvSpPr/>
          <p:nvPr/>
        </p:nvSpPr>
        <p:spPr>
          <a:xfrm>
            <a:off x="768096" y="2404872"/>
            <a:ext cx="5016856" cy="960120"/>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The cost of a vision project sits in labelling, mounting, lighting and weekly correction of wrong detections. It does not sit in the model.</a:t>
            </a:r>
            <a:endParaRPr lang="en-US" sz="1200" dirty="0"/>
          </a:p>
        </p:txBody>
      </p:sp>
      <p:sp>
        <p:nvSpPr>
          <p:cNvPr id="11" name="Shape 9"/>
          <p:cNvSpPr/>
          <p:nvPr/>
        </p:nvSpPr>
        <p:spPr>
          <a:xfrm>
            <a:off x="6205576"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388456" y="1892808"/>
            <a:ext cx="137160" cy="137160"/>
          </a:xfrm>
          <a:prstGeom prst="ellipse">
            <a:avLst/>
          </a:prstGeom>
          <a:solidFill>
            <a:srgbClr val="D96A16"/>
          </a:solidFill>
          <a:ln/>
        </p:spPr>
      </p:sp>
      <p:sp>
        <p:nvSpPr>
          <p:cNvPr id="13" name="Text 11"/>
          <p:cNvSpPr/>
          <p:nvPr/>
        </p:nvSpPr>
        <p:spPr>
          <a:xfrm>
            <a:off x="6607912" y="1792224"/>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Nothing transfers for free</a:t>
            </a:r>
            <a:endParaRPr lang="en-US" sz="1450" dirty="0"/>
          </a:p>
        </p:txBody>
      </p:sp>
      <p:sp>
        <p:nvSpPr>
          <p:cNvPr id="14" name="Text 12"/>
          <p:cNvSpPr/>
          <p:nvPr/>
        </p:nvSpPr>
        <p:spPr>
          <a:xfrm>
            <a:off x="6406744" y="2203704"/>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A model trained at one station needs re-labelling at the next. Budget for it, or the second site will fail and the programme will be cancelled.</a:t>
            </a:r>
            <a:endParaRPr lang="en-US" sz="1200" dirty="0"/>
          </a:p>
        </p:txBody>
      </p:sp>
      <p:sp>
        <p:nvSpPr>
          <p:cNvPr id="15" name="Shape 13"/>
          <p:cNvSpPr/>
          <p:nvPr/>
        </p:nvSpPr>
        <p:spPr>
          <a:xfrm>
            <a:off x="566928"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749808" y="3895344"/>
            <a:ext cx="137160" cy="137160"/>
          </a:xfrm>
          <a:prstGeom prst="ellipse">
            <a:avLst/>
          </a:prstGeom>
          <a:solidFill>
            <a:srgbClr val="D96A16"/>
          </a:solidFill>
          <a:ln/>
        </p:spPr>
      </p:sp>
      <p:sp>
        <p:nvSpPr>
          <p:cNvPr id="17" name="Text 15"/>
          <p:cNvSpPr/>
          <p:nvPr/>
        </p:nvSpPr>
        <p:spPr>
          <a:xfrm>
            <a:off x="969264" y="3794760"/>
            <a:ext cx="485226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Zones and equipment, never people</a:t>
            </a:r>
            <a:endParaRPr lang="en-US" sz="1450" dirty="0"/>
          </a:p>
        </p:txBody>
      </p:sp>
      <p:sp>
        <p:nvSpPr>
          <p:cNvPr id="18" name="Text 16"/>
          <p:cNvSpPr/>
          <p:nvPr/>
        </p:nvSpPr>
        <p:spPr>
          <a:xfrm>
            <a:off x="768096" y="4407408"/>
            <a:ext cx="5016856" cy="960120"/>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Individual behaviour monitoring will end the programme. Keep the scope on plant condition and on restricted areas, and say so in writing.</a:t>
            </a:r>
            <a:endParaRPr lang="en-US" sz="1200" dirty="0"/>
          </a:p>
        </p:txBody>
      </p:sp>
      <p:sp>
        <p:nvSpPr>
          <p:cNvPr id="19" name="Shape 17"/>
          <p:cNvSpPr/>
          <p:nvPr/>
        </p:nvSpPr>
        <p:spPr>
          <a:xfrm>
            <a:off x="6205576"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6388456" y="3895344"/>
            <a:ext cx="137160" cy="137160"/>
          </a:xfrm>
          <a:prstGeom prst="ellipse">
            <a:avLst/>
          </a:prstGeom>
          <a:solidFill>
            <a:srgbClr val="D96A16"/>
          </a:solidFill>
          <a:ln/>
        </p:spPr>
      </p:sp>
      <p:sp>
        <p:nvSpPr>
          <p:cNvPr id="21" name="Text 19"/>
          <p:cNvSpPr/>
          <p:nvPr/>
        </p:nvSpPr>
        <p:spPr>
          <a:xfrm>
            <a:off x="6607912"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Two defensible starts</a:t>
            </a:r>
            <a:endParaRPr lang="en-US" sz="1450" dirty="0"/>
          </a:p>
        </p:txBody>
      </p:sp>
      <p:sp>
        <p:nvSpPr>
          <p:cNvPr id="22" name="Text 20"/>
          <p:cNvSpPr/>
          <p:nvPr/>
        </p:nvSpPr>
        <p:spPr>
          <a:xfrm>
            <a:off x="6406744"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Fixed thermal on electrical plant, and acoustic tube-leak detection cross-checked against a makeup water mass balance. Both produce a number an engineer can check.</a:t>
            </a:r>
            <a:endParaRPr lang="en-US" sz="1200" dirty="0"/>
          </a:p>
        </p:txBody>
      </p:sp>
      <p:sp>
        <p:nvSpPr>
          <p:cNvPr id="23" name="Shape 21"/>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24" name="Text 22"/>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Buy Proven. Pilot Emerging. Read about Experimental — and ask any vendor which one they are selling.</a:t>
            </a:r>
            <a:endParaRPr lang="en-US" sz="13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1C2530"/>
        </a:solidFill>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D96A16"/>
          </a:solidFill>
          <a:ln/>
        </p:spPr>
      </p:sp>
      <p:sp>
        <p:nvSpPr>
          <p:cNvPr id="3" name="Text 1"/>
          <p:cNvSpPr/>
          <p:nvPr/>
        </p:nvSpPr>
        <p:spPr>
          <a:xfrm>
            <a:off x="9052560" y="822960"/>
            <a:ext cx="2377440" cy="2011680"/>
          </a:xfrm>
          <a:prstGeom prst="rect">
            <a:avLst/>
          </a:prstGeom>
          <a:noFill/>
          <a:ln/>
        </p:spPr>
        <p:txBody>
          <a:bodyPr wrap="square" lIns="0" tIns="0" rIns="0" bIns="0" rtlCol="0" anchor="ctr"/>
          <a:lstStyle/>
          <a:p>
            <a:pPr algn="r" indent="0" marL="0">
              <a:buNone/>
            </a:pPr>
            <a:r>
              <a:rPr lang="en-US" sz="13200" b="1" dirty="0">
                <a:solidFill>
                  <a:srgbClr val="2C3B4B"/>
                </a:solidFill>
                <a:latin typeface="Cambria" pitchFamily="34" charset="0"/>
                <a:ea typeface="Cambria" pitchFamily="34" charset="-122"/>
                <a:cs typeface="Cambria" pitchFamily="34" charset="-120"/>
              </a:rPr>
              <a:t>9</a:t>
            </a:r>
            <a:endParaRPr lang="en-US" sz="13200" dirty="0"/>
          </a:p>
        </p:txBody>
      </p:sp>
      <p:sp>
        <p:nvSpPr>
          <p:cNvPr id="4" name="Text 2"/>
          <p:cNvSpPr/>
          <p:nvPr/>
        </p:nvSpPr>
        <p:spPr>
          <a:xfrm>
            <a:off x="1051560" y="1920240"/>
            <a:ext cx="9601200" cy="310896"/>
          </a:xfrm>
          <a:prstGeom prst="rect">
            <a:avLst/>
          </a:prstGeom>
          <a:noFill/>
          <a:ln/>
        </p:spPr>
        <p:txBody>
          <a:bodyPr wrap="square" lIns="0" tIns="0" rIns="0" bIns="0" rtlCol="0" anchor="ctr"/>
          <a:lstStyle/>
          <a:p>
            <a:pPr indent="0" marL="0">
              <a:buNone/>
            </a:pPr>
            <a:r>
              <a:rPr lang="en-US" sz="1250" b="1" spc="220" kern="0" dirty="0">
                <a:solidFill>
                  <a:srgbClr val="D96A16"/>
                </a:solidFill>
                <a:latin typeface="Calibri" pitchFamily="34" charset="0"/>
                <a:ea typeface="Calibri" pitchFamily="34" charset="-122"/>
                <a:cs typeface="Calibri" pitchFamily="34" charset="-120"/>
              </a:rPr>
              <a:t>SESSION</a:t>
            </a:r>
            <a:endParaRPr lang="en-US" sz="1250" dirty="0"/>
          </a:p>
        </p:txBody>
      </p:sp>
      <p:sp>
        <p:nvSpPr>
          <p:cNvPr id="5" name="Text 3"/>
          <p:cNvSpPr/>
          <p:nvPr/>
        </p:nvSpPr>
        <p:spPr>
          <a:xfrm>
            <a:off x="1051560" y="2212848"/>
            <a:ext cx="804672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Implementing AI responsibly</a:t>
            </a:r>
            <a:endParaRPr lang="en-US" sz="4000" dirty="0"/>
          </a:p>
        </p:txBody>
      </p:sp>
      <p:sp>
        <p:nvSpPr>
          <p:cNvPr id="6" name="Text 4"/>
          <p:cNvSpPr/>
          <p:nvPr/>
        </p:nvSpPr>
        <p:spPr>
          <a:xfrm>
            <a:off x="1051560" y="3529584"/>
            <a:ext cx="8778240" cy="603504"/>
          </a:xfrm>
          <a:prstGeom prst="rect">
            <a:avLst/>
          </a:prstGeom>
          <a:noFill/>
          <a:ln/>
        </p:spPr>
        <p:txBody>
          <a:bodyPr wrap="square" lIns="0" tIns="0" rIns="0" bIns="0" rtlCol="0" anchor="t"/>
          <a:lstStyle/>
          <a:p>
            <a:pPr indent="0" marL="0">
              <a:buNone/>
            </a:pPr>
            <a:r>
              <a:rPr lang="en-US" sz="1500" dirty="0">
                <a:solidFill>
                  <a:srgbClr val="A9B8C6"/>
                </a:solidFill>
                <a:latin typeface="Calibri" pitchFamily="34" charset="0"/>
                <a:ea typeface="Calibri" pitchFamily="34" charset="-122"/>
                <a:cs typeface="Calibri" pitchFamily="34" charset="-120"/>
              </a:rPr>
              <a:t>Data quality, the safety boundary, governance — and choosing one pilot you can actually finish</a:t>
            </a:r>
            <a:endParaRPr lang="en-US" sz="1500" dirty="0"/>
          </a:p>
        </p:txBody>
      </p:sp>
      <p:sp>
        <p:nvSpPr>
          <p:cNvPr id="7" name="Shape 5"/>
          <p:cNvSpPr/>
          <p:nvPr/>
        </p:nvSpPr>
        <p:spPr>
          <a:xfrm>
            <a:off x="1078992" y="4315968"/>
            <a:ext cx="118872" cy="118872"/>
          </a:xfrm>
          <a:prstGeom prst="ellipse">
            <a:avLst/>
          </a:prstGeom>
          <a:solidFill>
            <a:srgbClr val="D96A16"/>
          </a:solidFill>
          <a:ln/>
        </p:spPr>
      </p:sp>
      <p:sp>
        <p:nvSpPr>
          <p:cNvPr id="8" name="Text 6"/>
          <p:cNvSpPr/>
          <p:nvPr/>
        </p:nvSpPr>
        <p:spPr>
          <a:xfrm>
            <a:off x="1389888" y="4224528"/>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Three rules: data quality, the safety and cyber boundary, human in the loop</a:t>
            </a:r>
            <a:endParaRPr lang="en-US" sz="1250" dirty="0"/>
          </a:p>
        </p:txBody>
      </p:sp>
      <p:sp>
        <p:nvSpPr>
          <p:cNvPr id="9" name="Shape 7"/>
          <p:cNvSpPr/>
          <p:nvPr/>
        </p:nvSpPr>
        <p:spPr>
          <a:xfrm>
            <a:off x="1078992" y="4718304"/>
            <a:ext cx="118872" cy="118872"/>
          </a:xfrm>
          <a:prstGeom prst="ellipse">
            <a:avLst/>
          </a:prstGeom>
          <a:solidFill>
            <a:srgbClr val="D96A16"/>
          </a:solidFill>
          <a:ln/>
        </p:spPr>
      </p:sp>
      <p:sp>
        <p:nvSpPr>
          <p:cNvPr id="10" name="Text 8"/>
          <p:cNvSpPr/>
          <p:nvPr/>
        </p:nvSpPr>
        <p:spPr>
          <a:xfrm>
            <a:off x="1389888" y="4626864"/>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Governance for a state utility</a:t>
            </a:r>
            <a:endParaRPr lang="en-US" sz="1250" dirty="0"/>
          </a:p>
        </p:txBody>
      </p:sp>
      <p:sp>
        <p:nvSpPr>
          <p:cNvPr id="11" name="Shape 9"/>
          <p:cNvSpPr/>
          <p:nvPr/>
        </p:nvSpPr>
        <p:spPr>
          <a:xfrm>
            <a:off x="1078992" y="5120640"/>
            <a:ext cx="118872" cy="118872"/>
          </a:xfrm>
          <a:prstGeom prst="ellipse">
            <a:avLst/>
          </a:prstGeom>
          <a:solidFill>
            <a:srgbClr val="D96A16"/>
          </a:solidFill>
          <a:ln/>
        </p:spPr>
      </p:sp>
      <p:sp>
        <p:nvSpPr>
          <p:cNvPr id="12" name="Text 10"/>
          <p:cNvSpPr/>
          <p:nvPr/>
        </p:nvSpPr>
        <p:spPr>
          <a:xfrm>
            <a:off x="1389888" y="5029200"/>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Why programmes fail, and sizing the prize honestly</a:t>
            </a:r>
            <a:endParaRPr lang="en-US" sz="1250" dirty="0"/>
          </a:p>
        </p:txBody>
      </p:sp>
      <p:sp>
        <p:nvSpPr>
          <p:cNvPr id="13" name="Shape 11"/>
          <p:cNvSpPr/>
          <p:nvPr/>
        </p:nvSpPr>
        <p:spPr>
          <a:xfrm>
            <a:off x="1078992" y="5522976"/>
            <a:ext cx="118872" cy="118872"/>
          </a:xfrm>
          <a:prstGeom prst="ellipse">
            <a:avLst/>
          </a:prstGeom>
          <a:solidFill>
            <a:srgbClr val="D96A16"/>
          </a:solidFill>
          <a:ln/>
        </p:spPr>
      </p:sp>
      <p:sp>
        <p:nvSpPr>
          <p:cNvPr id="14" name="Text 12"/>
          <p:cNvSpPr/>
          <p:nvPr/>
        </p:nvSpPr>
        <p:spPr>
          <a:xfrm>
            <a:off x="1389888" y="5431536"/>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One pilot per station, from your own June 2026 evidence</a:t>
            </a:r>
            <a:endParaRPr lang="en-US" sz="1250" dirty="0"/>
          </a:p>
        </p:txBody>
      </p:sp>
      <p:sp>
        <p:nvSpPr>
          <p:cNvPr id="15" name="Shape 13"/>
          <p:cNvSpPr/>
          <p:nvPr/>
        </p:nvSpPr>
        <p:spPr>
          <a:xfrm>
            <a:off x="9281160" y="4224528"/>
            <a:ext cx="1965960" cy="859536"/>
          </a:xfrm>
          <a:prstGeom prst="roundRect">
            <a:avLst>
              <a:gd name="adj" fmla="val 6383"/>
            </a:avLst>
          </a:prstGeom>
          <a:solidFill>
            <a:srgbClr val="2A3644"/>
          </a:solidFill>
          <a:ln w="12700">
            <a:solidFill>
              <a:srgbClr val="D96A16"/>
            </a:solidFill>
            <a:prstDash val="solid"/>
          </a:ln>
        </p:spPr>
      </p:sp>
      <p:sp>
        <p:nvSpPr>
          <p:cNvPr id="16" name="Text 14"/>
          <p:cNvSpPr/>
          <p:nvPr/>
        </p:nvSpPr>
        <p:spPr>
          <a:xfrm>
            <a:off x="9281160" y="4334256"/>
            <a:ext cx="1965960" cy="384048"/>
          </a:xfrm>
          <a:prstGeom prst="rect">
            <a:avLst/>
          </a:prstGeom>
          <a:noFill/>
          <a:ln/>
        </p:spPr>
        <p:txBody>
          <a:bodyPr wrap="square" lIns="0" tIns="0" rIns="0" bIns="0" rtlCol="0" anchor="ctr"/>
          <a:lstStyle/>
          <a:p>
            <a:pPr algn="ctr" indent="0" marL="0">
              <a:buNone/>
            </a:pPr>
            <a:r>
              <a:rPr lang="en-US" sz="1600" b="1" dirty="0">
                <a:solidFill>
                  <a:srgbClr val="D96A16"/>
                </a:solidFill>
                <a:latin typeface="Cambria" pitchFamily="34" charset="0"/>
                <a:ea typeface="Cambria" pitchFamily="34" charset="-122"/>
                <a:cs typeface="Cambria" pitchFamily="34" charset="-120"/>
              </a:rPr>
              <a:t>16:40 – 17:00</a:t>
            </a:r>
            <a:endParaRPr lang="en-US" sz="1600" dirty="0"/>
          </a:p>
        </p:txBody>
      </p:sp>
      <p:sp>
        <p:nvSpPr>
          <p:cNvPr id="17" name="Text 15"/>
          <p:cNvSpPr/>
          <p:nvPr/>
        </p:nvSpPr>
        <p:spPr>
          <a:xfrm>
            <a:off x="9281160" y="4700016"/>
            <a:ext cx="1965960" cy="310896"/>
          </a:xfrm>
          <a:prstGeom prst="rect">
            <a:avLst/>
          </a:prstGeom>
          <a:noFill/>
          <a:ln/>
        </p:spPr>
        <p:txBody>
          <a:bodyPr wrap="square" lIns="0" tIns="0" rIns="0" bIns="0" rtlCol="0" anchor="ctr"/>
          <a:lstStyle/>
          <a:p>
            <a:pPr algn="ctr" indent="0" marL="0">
              <a:buNone/>
            </a:pPr>
            <a:r>
              <a:rPr lang="en-US" sz="1100" dirty="0">
                <a:solidFill>
                  <a:srgbClr val="9BAAB8"/>
                </a:solidFill>
                <a:latin typeface="Calibri" pitchFamily="34" charset="0"/>
                <a:ea typeface="Calibri" pitchFamily="34" charset="-122"/>
                <a:cs typeface="Calibri" pitchFamily="34" charset="-120"/>
              </a:rPr>
              <a:t>20 minutes</a:t>
            </a:r>
            <a:endParaRPr lang="en-US" sz="1100" dirty="0"/>
          </a:p>
        </p:txBody>
      </p:sp>
      <p:sp>
        <p:nvSpPr>
          <p:cNvPr id="18" name="Text 16"/>
          <p:cNvSpPr/>
          <p:nvPr/>
        </p:nvSpPr>
        <p:spPr>
          <a:xfrm>
            <a:off x="11140135" y="6419088"/>
            <a:ext cx="502920" cy="274320"/>
          </a:xfrm>
          <a:prstGeom prst="rect">
            <a:avLst/>
          </a:prstGeom>
          <a:noFill/>
          <a:ln/>
        </p:spPr>
        <p:txBody>
          <a:bodyPr wrap="square" lIns="0" tIns="0" rIns="0" bIns="0" rtlCol="0" anchor="ctr"/>
          <a:lstStyle/>
          <a:p>
            <a:pPr algn="r" indent="0" marL="0">
              <a:buNone/>
            </a:pPr>
            <a:r>
              <a:rPr lang="en-US" sz="950" dirty="0">
                <a:solidFill>
                  <a:srgbClr val="5E6E7C"/>
                </a:solidFill>
                <a:latin typeface="Calibri" pitchFamily="34" charset="0"/>
                <a:ea typeface="Calibri" pitchFamily="34" charset="-122"/>
                <a:cs typeface="Calibri" pitchFamily="34" charset="-120"/>
              </a:rPr>
              <a:t>107</a:t>
            </a:r>
            <a:endParaRPr lang="en-US" sz="9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Rule one — data quality and engineering validation</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Before the algorithm, the tag list. This is the least glamorous slide of the day and the most important.</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9. Implementing responsibly</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108</a:t>
            </a:r>
            <a:endParaRPr lang="en-US" sz="950" dirty="0"/>
          </a:p>
        </p:txBody>
      </p:sp>
      <p:sp>
        <p:nvSpPr>
          <p:cNvPr id="7" name="Shape 5"/>
          <p:cNvSpPr/>
          <p:nvPr/>
        </p:nvSpPr>
        <p:spPr>
          <a:xfrm>
            <a:off x="566928" y="1627632"/>
            <a:ext cx="5391760" cy="3429000"/>
          </a:xfrm>
          <a:prstGeom prst="roundRect">
            <a:avLst>
              <a:gd name="adj" fmla="val 1600"/>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5391760" cy="493776"/>
          </a:xfrm>
          <a:prstGeom prst="roundRect">
            <a:avLst>
              <a:gd name="adj" fmla="val 9259"/>
            </a:avLst>
          </a:prstGeom>
          <a:solidFill>
            <a:srgbClr val="2A3644"/>
          </a:solidFill>
          <a:ln/>
        </p:spPr>
      </p:sp>
      <p:sp>
        <p:nvSpPr>
          <p:cNvPr id="9" name="Text 7"/>
          <p:cNvSpPr/>
          <p:nvPr/>
        </p:nvSpPr>
        <p:spPr>
          <a:xfrm>
            <a:off x="786384" y="1627632"/>
            <a:ext cx="4980280" cy="49377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What will bite you</a:t>
            </a:r>
            <a:endParaRPr lang="en-US" sz="1400" dirty="0"/>
          </a:p>
        </p:txBody>
      </p:sp>
      <p:sp>
        <p:nvSpPr>
          <p:cNvPr id="10" name="Text 8"/>
          <p:cNvSpPr/>
          <p:nvPr/>
        </p:nvSpPr>
        <p:spPr>
          <a:xfrm>
            <a:off x="804672" y="2267712"/>
            <a:ext cx="4916272" cy="265176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Historian compression and exception deviation quietly discarding the excursion you needed</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Frozen transmitters reading a flat, plausible value for months on end</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Calibration drift learned by the model as normal behaviour</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An asset hierarchy that does not match between DCS, historian and SAP</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Tags that exist in the DCS but were never historised at all</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Timestamp misalignment between systems, so cause appears to arrive after effect</a:t>
            </a:r>
            <a:endParaRPr lang="en-US" sz="1050" dirty="0"/>
          </a:p>
        </p:txBody>
      </p:sp>
      <p:sp>
        <p:nvSpPr>
          <p:cNvPr id="11" name="Shape 9"/>
          <p:cNvSpPr/>
          <p:nvPr/>
        </p:nvSpPr>
        <p:spPr>
          <a:xfrm>
            <a:off x="6233008" y="1627632"/>
            <a:ext cx="5391760" cy="3429000"/>
          </a:xfrm>
          <a:prstGeom prst="roundRect">
            <a:avLst>
              <a:gd name="adj" fmla="val 1600"/>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233008" y="1627632"/>
            <a:ext cx="5391760" cy="493776"/>
          </a:xfrm>
          <a:prstGeom prst="roundRect">
            <a:avLst>
              <a:gd name="adj" fmla="val 9259"/>
            </a:avLst>
          </a:prstGeom>
          <a:solidFill>
            <a:srgbClr val="11707F"/>
          </a:solidFill>
          <a:ln/>
        </p:spPr>
      </p:sp>
      <p:sp>
        <p:nvSpPr>
          <p:cNvPr id="13" name="Text 11"/>
          <p:cNvSpPr/>
          <p:nvPr/>
        </p:nvSpPr>
        <p:spPr>
          <a:xfrm>
            <a:off x="6452464" y="1627632"/>
            <a:ext cx="4980280" cy="49377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What good practice looks like</a:t>
            </a:r>
            <a:endParaRPr lang="en-US" sz="1400" dirty="0"/>
          </a:p>
        </p:txBody>
      </p:sp>
      <p:sp>
        <p:nvSpPr>
          <p:cNvPr id="14" name="Text 12"/>
          <p:cNvSpPr/>
          <p:nvPr/>
        </p:nvSpPr>
        <p:spPr>
          <a:xfrm>
            <a:off x="6470752" y="2267712"/>
            <a:ext cx="4916272" cy="265176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Audit the tag list before the first model, not after the first failure</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Check compression settings on every tag the model will actually use</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Validate every model output against first-principles engineering</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Reconcile the asset hierarchy once, properly, across DCS, historian and SAP</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Keep a named owner for the tag list — a person, not a department</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Treat data quality as permanent maintenance, not a project phase</a:t>
            </a:r>
            <a:endParaRPr lang="en-US" sz="1050" dirty="0"/>
          </a:p>
        </p:txBody>
      </p:sp>
      <p:sp>
        <p:nvSpPr>
          <p:cNvPr id="15" name="Shape 13"/>
          <p:cNvSpPr/>
          <p:nvPr/>
        </p:nvSpPr>
        <p:spPr>
          <a:xfrm>
            <a:off x="566928" y="52395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2395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Most plant AI projects fail on the asset hierarchy, not on the algorithm.</a:t>
            </a:r>
            <a:endParaRPr lang="en-US" sz="13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Rule two — the safety and cyber boundary</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Where AI may go, where it may go only with engineering controls, and where it must never go</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9. Implementing responsibly</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109</a:t>
            </a:r>
            <a:endParaRPr lang="en-US" sz="950" dirty="0"/>
          </a:p>
        </p:txBody>
      </p:sp>
      <p:sp>
        <p:nvSpPr>
          <p:cNvPr id="7" name="Shape 5"/>
          <p:cNvSpPr/>
          <p:nvPr/>
        </p:nvSpPr>
        <p:spPr>
          <a:xfrm>
            <a:off x="566928" y="1627632"/>
            <a:ext cx="11057839" cy="786384"/>
          </a:xfrm>
          <a:prstGeom prst="roundRect">
            <a:avLst>
              <a:gd name="adj" fmla="val 5814"/>
            </a:avLst>
          </a:prstGeom>
          <a:solidFill>
            <a:srgbClr val="F9E7E5"/>
          </a:solidFill>
          <a:ln w="15875">
            <a:solidFill>
              <a:srgbClr val="A8261E"/>
            </a:solidFill>
            <a:prstDash val="solid"/>
          </a:ln>
        </p:spPr>
      </p:sp>
      <p:sp>
        <p:nvSpPr>
          <p:cNvPr id="8" name="Shape 6"/>
          <p:cNvSpPr/>
          <p:nvPr/>
        </p:nvSpPr>
        <p:spPr>
          <a:xfrm>
            <a:off x="731520" y="1801368"/>
            <a:ext cx="2148840" cy="438912"/>
          </a:xfrm>
          <a:prstGeom prst="roundRect">
            <a:avLst>
              <a:gd name="adj" fmla="val 50000"/>
            </a:avLst>
          </a:prstGeom>
          <a:solidFill>
            <a:srgbClr val="A8261E"/>
          </a:solidFill>
          <a:ln/>
        </p:spPr>
      </p:sp>
      <p:sp>
        <p:nvSpPr>
          <p:cNvPr id="9" name="Text 7"/>
          <p:cNvSpPr/>
          <p:nvPr/>
        </p:nvSpPr>
        <p:spPr>
          <a:xfrm>
            <a:off x="731520" y="1801368"/>
            <a:ext cx="2148840" cy="43891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NEVER</a:t>
            </a:r>
            <a:endParaRPr lang="en-US" sz="1150" dirty="0"/>
          </a:p>
        </p:txBody>
      </p:sp>
      <p:sp>
        <p:nvSpPr>
          <p:cNvPr id="10" name="Text 8"/>
          <p:cNvSpPr/>
          <p:nvPr/>
        </p:nvSpPr>
        <p:spPr>
          <a:xfrm>
            <a:off x="3081528" y="1627632"/>
            <a:ext cx="8314639" cy="786384"/>
          </a:xfrm>
          <a:prstGeom prst="rect">
            <a:avLst/>
          </a:prstGeom>
          <a:noFill/>
          <a:ln/>
        </p:spPr>
        <p:txBody>
          <a:bodyPr wrap="square" lIns="0" tIns="0" rIns="0" bIns="0" rtlCol="0" anchor="ctr"/>
          <a:lstStyle/>
          <a:p>
            <a:pPr indent="0" marL="0">
              <a:buNone/>
            </a:pPr>
            <a:r>
              <a:rPr lang="en-US" sz="1300" dirty="0">
                <a:solidFill>
                  <a:srgbClr val="1C2530"/>
                </a:solidFill>
                <a:latin typeface="Calibri" pitchFamily="34" charset="0"/>
                <a:ea typeface="Calibri" pitchFamily="34" charset="-122"/>
                <a:cs typeface="Calibri" pitchFamily="34" charset="-120"/>
              </a:rPr>
              <a:t>Protection systems, trip logic, interlocks and any safety instrumented function. No model, no advisory, no exception, at any station.</a:t>
            </a:r>
            <a:endParaRPr lang="en-US" sz="1300" dirty="0"/>
          </a:p>
        </p:txBody>
      </p:sp>
      <p:sp>
        <p:nvSpPr>
          <p:cNvPr id="11" name="Shape 9"/>
          <p:cNvSpPr/>
          <p:nvPr/>
        </p:nvSpPr>
        <p:spPr>
          <a:xfrm>
            <a:off x="566928" y="2532888"/>
            <a:ext cx="11057839" cy="786384"/>
          </a:xfrm>
          <a:prstGeom prst="roundRect">
            <a:avLst>
              <a:gd name="adj" fmla="val 5814"/>
            </a:avLst>
          </a:prstGeom>
          <a:solidFill>
            <a:srgbClr val="FBF0DC"/>
          </a:solidFill>
          <a:ln w="15875">
            <a:solidFill>
              <a:srgbClr val="9A6408"/>
            </a:solidFill>
            <a:prstDash val="solid"/>
          </a:ln>
        </p:spPr>
      </p:sp>
      <p:sp>
        <p:nvSpPr>
          <p:cNvPr id="12" name="Shape 10"/>
          <p:cNvSpPr/>
          <p:nvPr/>
        </p:nvSpPr>
        <p:spPr>
          <a:xfrm>
            <a:off x="731520" y="2706624"/>
            <a:ext cx="2148840" cy="438912"/>
          </a:xfrm>
          <a:prstGeom prst="roundRect">
            <a:avLst>
              <a:gd name="adj" fmla="val 50000"/>
            </a:avLst>
          </a:prstGeom>
          <a:solidFill>
            <a:srgbClr val="9A6408"/>
          </a:solidFill>
          <a:ln/>
        </p:spPr>
      </p:sp>
      <p:sp>
        <p:nvSpPr>
          <p:cNvPr id="13" name="Text 11"/>
          <p:cNvSpPr/>
          <p:nvPr/>
        </p:nvSpPr>
        <p:spPr>
          <a:xfrm>
            <a:off x="731520" y="2706624"/>
            <a:ext cx="2148840" cy="43891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WITH CONTROLS</a:t>
            </a:r>
            <a:endParaRPr lang="en-US" sz="1150" dirty="0"/>
          </a:p>
        </p:txBody>
      </p:sp>
      <p:sp>
        <p:nvSpPr>
          <p:cNvPr id="14" name="Text 12"/>
          <p:cNvSpPr/>
          <p:nvPr/>
        </p:nvSpPr>
        <p:spPr>
          <a:xfrm>
            <a:off x="3081528" y="2532888"/>
            <a:ext cx="8314639" cy="786384"/>
          </a:xfrm>
          <a:prstGeom prst="rect">
            <a:avLst/>
          </a:prstGeom>
          <a:noFill/>
          <a:ln/>
        </p:spPr>
        <p:txBody>
          <a:bodyPr wrap="square" lIns="0" tIns="0" rIns="0" bIns="0" rtlCol="0" anchor="ctr"/>
          <a:lstStyle/>
          <a:p>
            <a:pPr indent="0" marL="0">
              <a:buNone/>
            </a:pPr>
            <a:r>
              <a:rPr lang="en-US" sz="1300" dirty="0">
                <a:solidFill>
                  <a:srgbClr val="1C2530"/>
                </a:solidFill>
                <a:latin typeface="Calibri" pitchFamily="34" charset="0"/>
                <a:ea typeface="Calibri" pitchFamily="34" charset="-122"/>
                <a:cs typeface="Calibri" pitchFamily="34" charset="-120"/>
              </a:rPr>
              <a:t>Closed-loop optimisation writing biases to the DCS — with clamps, rate limits, a watchdog, bumpless transfer, operator override and documented approval.</a:t>
            </a:r>
            <a:endParaRPr lang="en-US" sz="1300" dirty="0"/>
          </a:p>
        </p:txBody>
      </p:sp>
      <p:sp>
        <p:nvSpPr>
          <p:cNvPr id="15" name="Shape 13"/>
          <p:cNvSpPr/>
          <p:nvPr/>
        </p:nvSpPr>
        <p:spPr>
          <a:xfrm>
            <a:off x="566928" y="3438144"/>
            <a:ext cx="11057839" cy="786384"/>
          </a:xfrm>
          <a:prstGeom prst="roundRect">
            <a:avLst>
              <a:gd name="adj" fmla="val 5814"/>
            </a:avLst>
          </a:prstGeom>
          <a:solidFill>
            <a:srgbClr val="E4F0EA"/>
          </a:solidFill>
          <a:ln w="15875">
            <a:solidFill>
              <a:srgbClr val="256B45"/>
            </a:solidFill>
            <a:prstDash val="solid"/>
          </a:ln>
        </p:spPr>
      </p:sp>
      <p:sp>
        <p:nvSpPr>
          <p:cNvPr id="16" name="Shape 14"/>
          <p:cNvSpPr/>
          <p:nvPr/>
        </p:nvSpPr>
        <p:spPr>
          <a:xfrm>
            <a:off x="731520" y="3611880"/>
            <a:ext cx="2148840" cy="438912"/>
          </a:xfrm>
          <a:prstGeom prst="roundRect">
            <a:avLst>
              <a:gd name="adj" fmla="val 50000"/>
            </a:avLst>
          </a:prstGeom>
          <a:solidFill>
            <a:srgbClr val="256B45"/>
          </a:solidFill>
          <a:ln/>
        </p:spPr>
      </p:sp>
      <p:sp>
        <p:nvSpPr>
          <p:cNvPr id="17" name="Text 15"/>
          <p:cNvSpPr/>
          <p:nvPr/>
        </p:nvSpPr>
        <p:spPr>
          <a:xfrm>
            <a:off x="731520" y="3611880"/>
            <a:ext cx="2148840" cy="43891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FREELY</a:t>
            </a:r>
            <a:endParaRPr lang="en-US" sz="1150" dirty="0"/>
          </a:p>
        </p:txBody>
      </p:sp>
      <p:sp>
        <p:nvSpPr>
          <p:cNvPr id="18" name="Text 16"/>
          <p:cNvSpPr/>
          <p:nvPr/>
        </p:nvSpPr>
        <p:spPr>
          <a:xfrm>
            <a:off x="3081528" y="3438144"/>
            <a:ext cx="8314639" cy="786384"/>
          </a:xfrm>
          <a:prstGeom prst="rect">
            <a:avLst/>
          </a:prstGeom>
          <a:noFill/>
          <a:ln/>
        </p:spPr>
        <p:txBody>
          <a:bodyPr wrap="square" lIns="0" tIns="0" rIns="0" bIns="0" rtlCol="0" anchor="ctr"/>
          <a:lstStyle/>
          <a:p>
            <a:pPr indent="0" marL="0">
              <a:buNone/>
            </a:pPr>
            <a:r>
              <a:rPr lang="en-US" sz="1300" dirty="0">
                <a:solidFill>
                  <a:srgbClr val="1C2530"/>
                </a:solidFill>
                <a:latin typeface="Calibri" pitchFamily="34" charset="0"/>
                <a:ea typeface="Calibri" pitchFamily="34" charset="-122"/>
                <a:cs typeface="Calibri" pitchFamily="34" charset="-120"/>
              </a:rPr>
              <a:t>Advisory systems, anomaly alerts, performance advisories, decision support and knowledge assistants. Validate the output; the engineer still decides.</a:t>
            </a:r>
            <a:endParaRPr lang="en-US" sz="1300" dirty="0"/>
          </a:p>
        </p:txBody>
      </p:sp>
      <p:sp>
        <p:nvSpPr>
          <p:cNvPr id="19" name="Shape 17"/>
          <p:cNvSpPr/>
          <p:nvPr/>
        </p:nvSpPr>
        <p:spPr>
          <a:xfrm>
            <a:off x="566928" y="4453128"/>
            <a:ext cx="2079894" cy="1837944"/>
          </a:xfrm>
          <a:prstGeom prst="roundRect">
            <a:avLst>
              <a:gd name="adj" fmla="val 2985"/>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Text 18"/>
          <p:cNvSpPr/>
          <p:nvPr/>
        </p:nvSpPr>
        <p:spPr>
          <a:xfrm>
            <a:off x="713232" y="4562856"/>
            <a:ext cx="1787286" cy="329184"/>
          </a:xfrm>
          <a:prstGeom prst="rect">
            <a:avLst/>
          </a:prstGeom>
          <a:noFill/>
          <a:ln/>
        </p:spPr>
        <p:txBody>
          <a:bodyPr wrap="square" lIns="0" tIns="0" rIns="0" bIns="0" rtlCol="0" anchor="ctr"/>
          <a:lstStyle/>
          <a:p>
            <a:pPr indent="0" marL="0">
              <a:buNone/>
            </a:pPr>
            <a:r>
              <a:rPr lang="en-US" sz="1250" b="1" dirty="0">
                <a:solidFill>
                  <a:srgbClr val="11707F"/>
                </a:solidFill>
                <a:latin typeface="Calibri" pitchFamily="34" charset="0"/>
                <a:ea typeface="Calibri" pitchFamily="34" charset="-122"/>
                <a:cs typeface="Calibri" pitchFamily="34" charset="-120"/>
              </a:rPr>
              <a:t>Segmentation</a:t>
            </a:r>
            <a:endParaRPr lang="en-US" sz="1250" dirty="0"/>
          </a:p>
        </p:txBody>
      </p:sp>
      <p:sp>
        <p:nvSpPr>
          <p:cNvPr id="21" name="Text 19"/>
          <p:cNvSpPr/>
          <p:nvPr/>
        </p:nvSpPr>
        <p:spPr>
          <a:xfrm>
            <a:off x="713232" y="4910328"/>
            <a:ext cx="1787286" cy="1271016"/>
          </a:xfrm>
          <a:prstGeom prst="rect">
            <a:avLst/>
          </a:prstGeom>
          <a:noFill/>
          <a:ln/>
        </p:spPr>
        <p:txBody>
          <a:bodyPr wrap="square" lIns="0" tIns="0" rIns="0" bIns="0" rtlCol="0" anchor="t"/>
          <a:lstStyle/>
          <a:p>
            <a:pPr indent="0" marL="0">
              <a:buNone/>
            </a:pPr>
            <a:r>
              <a:rPr lang="en-US" sz="1080" dirty="0">
                <a:solidFill>
                  <a:srgbClr val="5C6B7A"/>
                </a:solidFill>
                <a:latin typeface="Calibri" pitchFamily="34" charset="0"/>
                <a:ea typeface="Calibri" pitchFamily="34" charset="-122"/>
                <a:cs typeface="Calibri" pitchFamily="34" charset="-120"/>
              </a:rPr>
              <a:t>Purdue levels with IEC 62443 zones and conduits, drawn and agreed on paper. The historian sits in the demilitarised zone. Nothing on the plant network talks directly to a corporate or cloud analytics service.</a:t>
            </a:r>
            <a:endParaRPr lang="en-US" sz="1080" dirty="0"/>
          </a:p>
        </p:txBody>
      </p:sp>
      <p:sp>
        <p:nvSpPr>
          <p:cNvPr id="22" name="Shape 20"/>
          <p:cNvSpPr/>
          <p:nvPr/>
        </p:nvSpPr>
        <p:spPr>
          <a:xfrm>
            <a:off x="2811414" y="4453128"/>
            <a:ext cx="2079894" cy="1837944"/>
          </a:xfrm>
          <a:prstGeom prst="roundRect">
            <a:avLst>
              <a:gd name="adj" fmla="val 2985"/>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3" name="Text 21"/>
          <p:cNvSpPr/>
          <p:nvPr/>
        </p:nvSpPr>
        <p:spPr>
          <a:xfrm>
            <a:off x="2957718" y="4562856"/>
            <a:ext cx="1787286" cy="329184"/>
          </a:xfrm>
          <a:prstGeom prst="rect">
            <a:avLst/>
          </a:prstGeom>
          <a:noFill/>
          <a:ln/>
        </p:spPr>
        <p:txBody>
          <a:bodyPr wrap="square" lIns="0" tIns="0" rIns="0" bIns="0" rtlCol="0" anchor="ctr"/>
          <a:lstStyle/>
          <a:p>
            <a:pPr indent="0" marL="0">
              <a:buNone/>
            </a:pPr>
            <a:r>
              <a:rPr lang="en-US" sz="1250" b="1" dirty="0">
                <a:solidFill>
                  <a:srgbClr val="11707F"/>
                </a:solidFill>
                <a:latin typeface="Calibri" pitchFamily="34" charset="0"/>
                <a:ea typeface="Calibri" pitchFamily="34" charset="-122"/>
                <a:cs typeface="Calibri" pitchFamily="34" charset="-120"/>
              </a:rPr>
              <a:t>Read-only by default</a:t>
            </a:r>
            <a:endParaRPr lang="en-US" sz="1250" dirty="0"/>
          </a:p>
        </p:txBody>
      </p:sp>
      <p:sp>
        <p:nvSpPr>
          <p:cNvPr id="24" name="Text 22"/>
          <p:cNvSpPr/>
          <p:nvPr/>
        </p:nvSpPr>
        <p:spPr>
          <a:xfrm>
            <a:off x="2957718" y="4910328"/>
            <a:ext cx="1787286" cy="1271016"/>
          </a:xfrm>
          <a:prstGeom prst="rect">
            <a:avLst/>
          </a:prstGeom>
          <a:noFill/>
          <a:ln/>
        </p:spPr>
        <p:txBody>
          <a:bodyPr wrap="square" lIns="0" tIns="0" rIns="0" bIns="0" rtlCol="0" anchor="t"/>
          <a:lstStyle/>
          <a:p>
            <a:pPr indent="0" marL="0">
              <a:buNone/>
            </a:pPr>
            <a:r>
              <a:rPr lang="en-US" sz="1080" dirty="0">
                <a:solidFill>
                  <a:srgbClr val="5C6B7A"/>
                </a:solidFill>
                <a:latin typeface="Calibri" pitchFamily="34" charset="0"/>
                <a:ea typeface="Calibri" pitchFamily="34" charset="-122"/>
                <a:cs typeface="Calibri" pitchFamily="34" charset="-120"/>
              </a:rPr>
              <a:t>Every AI system starts with read access to process data and nothing else at all. Write access back to the DCS is a separate, engineered, approved decision — never a setting somebody quietly changes.</a:t>
            </a:r>
            <a:endParaRPr lang="en-US" sz="1080" dirty="0"/>
          </a:p>
        </p:txBody>
      </p:sp>
      <p:sp>
        <p:nvSpPr>
          <p:cNvPr id="25" name="Shape 23"/>
          <p:cNvSpPr/>
          <p:nvPr/>
        </p:nvSpPr>
        <p:spPr>
          <a:xfrm>
            <a:off x="5055900" y="4453128"/>
            <a:ext cx="2079894" cy="1837944"/>
          </a:xfrm>
          <a:prstGeom prst="roundRect">
            <a:avLst>
              <a:gd name="adj" fmla="val 2985"/>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6" name="Text 24"/>
          <p:cNvSpPr/>
          <p:nvPr/>
        </p:nvSpPr>
        <p:spPr>
          <a:xfrm>
            <a:off x="5202204" y="4562856"/>
            <a:ext cx="1787286" cy="329184"/>
          </a:xfrm>
          <a:prstGeom prst="rect">
            <a:avLst/>
          </a:prstGeom>
          <a:noFill/>
          <a:ln/>
        </p:spPr>
        <p:txBody>
          <a:bodyPr wrap="square" lIns="0" tIns="0" rIns="0" bIns="0" rtlCol="0" anchor="ctr"/>
          <a:lstStyle/>
          <a:p>
            <a:pPr indent="0" marL="0">
              <a:buNone/>
            </a:pPr>
            <a:r>
              <a:rPr lang="en-US" sz="1250" b="1" dirty="0">
                <a:solidFill>
                  <a:srgbClr val="11707F"/>
                </a:solidFill>
                <a:latin typeface="Calibri" pitchFamily="34" charset="0"/>
                <a:ea typeface="Calibri" pitchFamily="34" charset="-122"/>
                <a:cs typeface="Calibri" pitchFamily="34" charset="-120"/>
              </a:rPr>
              <a:t>One-way data paths</a:t>
            </a:r>
            <a:endParaRPr lang="en-US" sz="1250" dirty="0"/>
          </a:p>
        </p:txBody>
      </p:sp>
      <p:sp>
        <p:nvSpPr>
          <p:cNvPr id="27" name="Text 25"/>
          <p:cNvSpPr/>
          <p:nvPr/>
        </p:nvSpPr>
        <p:spPr>
          <a:xfrm>
            <a:off x="5202204" y="4910328"/>
            <a:ext cx="1787286" cy="1271016"/>
          </a:xfrm>
          <a:prstGeom prst="rect">
            <a:avLst/>
          </a:prstGeom>
          <a:noFill/>
          <a:ln/>
        </p:spPr>
        <p:txBody>
          <a:bodyPr wrap="square" lIns="0" tIns="0" rIns="0" bIns="0" rtlCol="0" anchor="t"/>
          <a:lstStyle/>
          <a:p>
            <a:pPr indent="0" marL="0">
              <a:buNone/>
            </a:pPr>
            <a:r>
              <a:rPr lang="en-US" sz="1080" dirty="0">
                <a:solidFill>
                  <a:srgbClr val="5C6B7A"/>
                </a:solidFill>
                <a:latin typeface="Calibri" pitchFamily="34" charset="0"/>
                <a:ea typeface="Calibri" pitchFamily="34" charset="-122"/>
                <a:cs typeface="Calibri" pitchFamily="34" charset="-120"/>
              </a:rPr>
              <a:t>Where data must cross from OT to IT, use a unidirectional gateway or a data diode. Physics enforces the direction of flow, not a firewall rule that can be edited.</a:t>
            </a:r>
            <a:endParaRPr lang="en-US" sz="1080" dirty="0"/>
          </a:p>
        </p:txBody>
      </p:sp>
      <p:sp>
        <p:nvSpPr>
          <p:cNvPr id="28" name="Shape 26"/>
          <p:cNvSpPr/>
          <p:nvPr/>
        </p:nvSpPr>
        <p:spPr>
          <a:xfrm>
            <a:off x="7300387" y="4453128"/>
            <a:ext cx="2079894" cy="1837944"/>
          </a:xfrm>
          <a:prstGeom prst="roundRect">
            <a:avLst>
              <a:gd name="adj" fmla="val 2985"/>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9" name="Text 27"/>
          <p:cNvSpPr/>
          <p:nvPr/>
        </p:nvSpPr>
        <p:spPr>
          <a:xfrm>
            <a:off x="7446691" y="4562856"/>
            <a:ext cx="1787286" cy="329184"/>
          </a:xfrm>
          <a:prstGeom prst="rect">
            <a:avLst/>
          </a:prstGeom>
          <a:noFill/>
          <a:ln/>
        </p:spPr>
        <p:txBody>
          <a:bodyPr wrap="square" lIns="0" tIns="0" rIns="0" bIns="0" rtlCol="0" anchor="ctr"/>
          <a:lstStyle/>
          <a:p>
            <a:pPr indent="0" marL="0">
              <a:buNone/>
            </a:pPr>
            <a:r>
              <a:rPr lang="en-US" sz="1250" b="1" dirty="0">
                <a:solidFill>
                  <a:srgbClr val="11707F"/>
                </a:solidFill>
                <a:latin typeface="Calibri" pitchFamily="34" charset="0"/>
                <a:ea typeface="Calibri" pitchFamily="34" charset="-122"/>
                <a:cs typeface="Calibri" pitchFamily="34" charset="-120"/>
              </a:rPr>
              <a:t>OEM remote access</a:t>
            </a:r>
            <a:endParaRPr lang="en-US" sz="1250" dirty="0"/>
          </a:p>
        </p:txBody>
      </p:sp>
      <p:sp>
        <p:nvSpPr>
          <p:cNvPr id="30" name="Text 28"/>
          <p:cNvSpPr/>
          <p:nvPr/>
        </p:nvSpPr>
        <p:spPr>
          <a:xfrm>
            <a:off x="7446691" y="4910328"/>
            <a:ext cx="1787286" cy="1271016"/>
          </a:xfrm>
          <a:prstGeom prst="rect">
            <a:avLst/>
          </a:prstGeom>
          <a:noFill/>
          <a:ln/>
        </p:spPr>
        <p:txBody>
          <a:bodyPr wrap="square" lIns="0" tIns="0" rIns="0" bIns="0" rtlCol="0" anchor="t"/>
          <a:lstStyle/>
          <a:p>
            <a:pPr indent="0" marL="0">
              <a:buNone/>
            </a:pPr>
            <a:r>
              <a:rPr lang="en-US" sz="1080" dirty="0">
                <a:solidFill>
                  <a:srgbClr val="5C6B7A"/>
                </a:solidFill>
                <a:latin typeface="Calibri" pitchFamily="34" charset="0"/>
                <a:ea typeface="Calibri" pitchFamily="34" charset="-122"/>
                <a:cs typeface="Calibri" pitchFamily="34" charset="-120"/>
              </a:rPr>
              <a:t>The single largest OT risk at most stations, and usually nobody's job to manage. It must be time-boxed to the visit, logged, supervised by a station engineer, and disabled by default between sessions.</a:t>
            </a:r>
            <a:endParaRPr lang="en-US" sz="1080" dirty="0"/>
          </a:p>
        </p:txBody>
      </p:sp>
      <p:sp>
        <p:nvSpPr>
          <p:cNvPr id="31" name="Shape 29"/>
          <p:cNvSpPr/>
          <p:nvPr/>
        </p:nvSpPr>
        <p:spPr>
          <a:xfrm>
            <a:off x="9544873" y="4453128"/>
            <a:ext cx="2079894" cy="1837944"/>
          </a:xfrm>
          <a:prstGeom prst="roundRect">
            <a:avLst>
              <a:gd name="adj" fmla="val 2985"/>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2" name="Text 30"/>
          <p:cNvSpPr/>
          <p:nvPr/>
        </p:nvSpPr>
        <p:spPr>
          <a:xfrm>
            <a:off x="9691177" y="4562856"/>
            <a:ext cx="1787286" cy="329184"/>
          </a:xfrm>
          <a:prstGeom prst="rect">
            <a:avLst/>
          </a:prstGeom>
          <a:noFill/>
          <a:ln/>
        </p:spPr>
        <p:txBody>
          <a:bodyPr wrap="square" lIns="0" tIns="0" rIns="0" bIns="0" rtlCol="0" anchor="ctr"/>
          <a:lstStyle/>
          <a:p>
            <a:pPr indent="0" marL="0">
              <a:buNone/>
            </a:pPr>
            <a:r>
              <a:rPr lang="en-US" sz="1250" b="1" dirty="0">
                <a:solidFill>
                  <a:srgbClr val="11707F"/>
                </a:solidFill>
                <a:latin typeface="Calibri" pitchFamily="34" charset="0"/>
                <a:ea typeface="Calibri" pitchFamily="34" charset="-122"/>
                <a:cs typeface="Calibri" pitchFamily="34" charset="-120"/>
              </a:rPr>
              <a:t>AI-specific risks</a:t>
            </a:r>
            <a:endParaRPr lang="en-US" sz="1250" dirty="0"/>
          </a:p>
        </p:txBody>
      </p:sp>
      <p:sp>
        <p:nvSpPr>
          <p:cNvPr id="33" name="Text 31"/>
          <p:cNvSpPr/>
          <p:nvPr/>
        </p:nvSpPr>
        <p:spPr>
          <a:xfrm>
            <a:off x="9691177" y="4910328"/>
            <a:ext cx="1787286" cy="1271016"/>
          </a:xfrm>
          <a:prstGeom prst="rect">
            <a:avLst/>
          </a:prstGeom>
          <a:noFill/>
          <a:ln/>
        </p:spPr>
        <p:txBody>
          <a:bodyPr wrap="square" lIns="0" tIns="0" rIns="0" bIns="0" rtlCol="0" anchor="t"/>
          <a:lstStyle/>
          <a:p>
            <a:pPr indent="0" marL="0">
              <a:buNone/>
            </a:pPr>
            <a:r>
              <a:rPr lang="en-US" sz="1080" dirty="0">
                <a:solidFill>
                  <a:srgbClr val="5C6B7A"/>
                </a:solidFill>
                <a:latin typeface="Calibri" pitchFamily="34" charset="0"/>
                <a:ea typeface="Calibri" pitchFamily="34" charset="-122"/>
                <a:cs typeface="Calibri" pitchFamily="34" charset="-120"/>
              </a:rPr>
              <a:t>Four risks that are genuinely new: plant data leaving the fence, model poisoning through corrupted history, prompt injection hidden inside a document the assistant reads, and supply-chain risk in machine-learning packages.</a:t>
            </a:r>
            <a:endParaRPr lang="en-US" sz="108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Rule three — human in the loop</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system advises, the engineer decides. Both halves of that sentence have to stay true in practice.</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9. Implementing responsibly</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110</a:t>
            </a:r>
            <a:endParaRPr lang="en-US" sz="950" dirty="0"/>
          </a:p>
        </p:txBody>
      </p:sp>
      <p:sp>
        <p:nvSpPr>
          <p:cNvPr id="7" name="Shape 5"/>
          <p:cNvSpPr/>
          <p:nvPr/>
        </p:nvSpPr>
        <p:spPr>
          <a:xfrm>
            <a:off x="566928"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92808"/>
            <a:ext cx="137160" cy="137160"/>
          </a:xfrm>
          <a:prstGeom prst="ellipse">
            <a:avLst/>
          </a:prstGeom>
          <a:solidFill>
            <a:srgbClr val="D96A16"/>
          </a:solidFill>
          <a:ln/>
        </p:spPr>
      </p:sp>
      <p:sp>
        <p:nvSpPr>
          <p:cNvPr id="9" name="Text 7"/>
          <p:cNvSpPr/>
          <p:nvPr/>
        </p:nvSpPr>
        <p:spPr>
          <a:xfrm>
            <a:off x="969264" y="1792224"/>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Trust calibration</a:t>
            </a:r>
            <a:endParaRPr lang="en-US" sz="1450" dirty="0"/>
          </a:p>
        </p:txBody>
      </p:sp>
      <p:sp>
        <p:nvSpPr>
          <p:cNvPr id="10" name="Text 8"/>
          <p:cNvSpPr/>
          <p:nvPr/>
        </p:nvSpPr>
        <p:spPr>
          <a:xfrm>
            <a:off x="768096" y="2203704"/>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Two failures. Under-trust, where nobody opens the alerts and the system quietly dies. Over-trust, where the operator stops thinking. The second is far more dangerous.</a:t>
            </a:r>
            <a:endParaRPr lang="en-US" sz="1200" dirty="0"/>
          </a:p>
        </p:txBody>
      </p:sp>
      <p:sp>
        <p:nvSpPr>
          <p:cNvPr id="11" name="Shape 9"/>
          <p:cNvSpPr/>
          <p:nvPr/>
        </p:nvSpPr>
        <p:spPr>
          <a:xfrm>
            <a:off x="6205576"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388456" y="1892808"/>
            <a:ext cx="137160" cy="137160"/>
          </a:xfrm>
          <a:prstGeom prst="ellipse">
            <a:avLst/>
          </a:prstGeom>
          <a:solidFill>
            <a:srgbClr val="D96A16"/>
          </a:solidFill>
          <a:ln/>
        </p:spPr>
      </p:sp>
      <p:sp>
        <p:nvSpPr>
          <p:cNvPr id="13" name="Text 11"/>
          <p:cNvSpPr/>
          <p:nvPr/>
        </p:nvSpPr>
        <p:spPr>
          <a:xfrm>
            <a:off x="6607912" y="1792224"/>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Alert fatigue</a:t>
            </a:r>
            <a:endParaRPr lang="en-US" sz="1450" dirty="0"/>
          </a:p>
        </p:txBody>
      </p:sp>
      <p:sp>
        <p:nvSpPr>
          <p:cNvPr id="14" name="Text 12"/>
          <p:cNvSpPr/>
          <p:nvPr/>
        </p:nvSpPr>
        <p:spPr>
          <a:xfrm>
            <a:off x="6406744" y="2203704"/>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Twenty alerts in the first fortnight and the system is finished. Start with three machines, tune persistence, and earn the right to add more.</a:t>
            </a:r>
            <a:endParaRPr lang="en-US" sz="1200" dirty="0"/>
          </a:p>
        </p:txBody>
      </p:sp>
      <p:sp>
        <p:nvSpPr>
          <p:cNvPr id="15" name="Shape 13"/>
          <p:cNvSpPr/>
          <p:nvPr/>
        </p:nvSpPr>
        <p:spPr>
          <a:xfrm>
            <a:off x="566928"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749808" y="3895344"/>
            <a:ext cx="137160" cy="137160"/>
          </a:xfrm>
          <a:prstGeom prst="ellipse">
            <a:avLst/>
          </a:prstGeom>
          <a:solidFill>
            <a:srgbClr val="D96A16"/>
          </a:solidFill>
          <a:ln/>
        </p:spPr>
      </p:sp>
      <p:sp>
        <p:nvSpPr>
          <p:cNvPr id="17" name="Text 15"/>
          <p:cNvSpPr/>
          <p:nvPr/>
        </p:nvSpPr>
        <p:spPr>
          <a:xfrm>
            <a:off x="969264"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Workflow fit</a:t>
            </a:r>
            <a:endParaRPr lang="en-US" sz="1450" dirty="0"/>
          </a:p>
        </p:txBody>
      </p:sp>
      <p:sp>
        <p:nvSpPr>
          <p:cNvPr id="18" name="Text 16"/>
          <p:cNvSpPr/>
          <p:nvPr/>
        </p:nvSpPr>
        <p:spPr>
          <a:xfrm>
            <a:off x="768096"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If the output does not arrive in the shift log, the round sheet or the work order, it does not exist. A separate screen is a screen nobody opens.</a:t>
            </a:r>
            <a:endParaRPr lang="en-US" sz="1200" dirty="0"/>
          </a:p>
        </p:txBody>
      </p:sp>
      <p:sp>
        <p:nvSpPr>
          <p:cNvPr id="19" name="Shape 17"/>
          <p:cNvSpPr/>
          <p:nvPr/>
        </p:nvSpPr>
        <p:spPr>
          <a:xfrm>
            <a:off x="6205576"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6388456" y="3895344"/>
            <a:ext cx="137160" cy="137160"/>
          </a:xfrm>
          <a:prstGeom prst="ellipse">
            <a:avLst/>
          </a:prstGeom>
          <a:solidFill>
            <a:srgbClr val="D96A16"/>
          </a:solidFill>
          <a:ln/>
        </p:spPr>
      </p:sp>
      <p:sp>
        <p:nvSpPr>
          <p:cNvPr id="21" name="Text 19"/>
          <p:cNvSpPr/>
          <p:nvPr/>
        </p:nvSpPr>
        <p:spPr>
          <a:xfrm>
            <a:off x="6607912"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Accountability</a:t>
            </a:r>
            <a:endParaRPr lang="en-US" sz="1450" dirty="0"/>
          </a:p>
        </p:txBody>
      </p:sp>
      <p:sp>
        <p:nvSpPr>
          <p:cNvPr id="22" name="Text 20"/>
          <p:cNvSpPr/>
          <p:nvPr/>
        </p:nvSpPr>
        <p:spPr>
          <a:xfrm>
            <a:off x="6406744"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The decision stays with the named engineer. Record what the system said, what the engineer decided, and why — especially when the two differ.</a:t>
            </a:r>
            <a:endParaRPr lang="en-US" sz="1200" dirty="0"/>
          </a:p>
        </p:txBody>
      </p:sp>
      <p:sp>
        <p:nvSpPr>
          <p:cNvPr id="23" name="Shape 21"/>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24" name="Text 22"/>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Under-trust is visible and recoverable. Over-trust is invisible until the day the model is wrong — and that is the day it matters.</a:t>
            </a:r>
            <a:endParaRPr lang="en-US" sz="13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Governance for a state utility</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What has to exist on paper before a fleet programme — not after the first audit query</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9. Implementing responsibly</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111</a:t>
            </a:r>
            <a:endParaRPr lang="en-US" sz="950" dirty="0"/>
          </a:p>
        </p:txBody>
      </p:sp>
      <p:sp>
        <p:nvSpPr>
          <p:cNvPr id="7" name="Shape 5"/>
          <p:cNvSpPr/>
          <p:nvPr/>
        </p:nvSpPr>
        <p:spPr>
          <a:xfrm>
            <a:off x="566928" y="1700784"/>
            <a:ext cx="3539642" cy="2148840"/>
          </a:xfrm>
          <a:prstGeom prst="roundRect">
            <a:avLst>
              <a:gd name="adj" fmla="val 2553"/>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83664"/>
            <a:ext cx="137160" cy="137160"/>
          </a:xfrm>
          <a:prstGeom prst="ellipse">
            <a:avLst/>
          </a:prstGeom>
          <a:solidFill>
            <a:srgbClr val="D96A16"/>
          </a:solidFill>
          <a:ln/>
        </p:spPr>
      </p:sp>
      <p:sp>
        <p:nvSpPr>
          <p:cNvPr id="9" name="Text 7"/>
          <p:cNvSpPr/>
          <p:nvPr/>
        </p:nvSpPr>
        <p:spPr>
          <a:xfrm>
            <a:off x="969264" y="178308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An AI usage policy</a:t>
            </a:r>
            <a:endParaRPr lang="en-US" sz="1450" dirty="0"/>
          </a:p>
        </p:txBody>
      </p:sp>
      <p:sp>
        <p:nvSpPr>
          <p:cNvPr id="10" name="Text 8"/>
          <p:cNvSpPr/>
          <p:nvPr/>
        </p:nvSpPr>
        <p:spPr>
          <a:xfrm>
            <a:off x="768096" y="2194560"/>
            <a:ext cx="3137306" cy="152704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One page, circulated. Permitted uses, prohibited uses, and who approves an exception. A forty-page policy is a policy nobody reads.</a:t>
            </a:r>
            <a:endParaRPr lang="en-US" sz="1200" dirty="0"/>
          </a:p>
        </p:txBody>
      </p:sp>
      <p:sp>
        <p:nvSpPr>
          <p:cNvPr id="11" name="Shape 9"/>
          <p:cNvSpPr/>
          <p:nvPr/>
        </p:nvSpPr>
        <p:spPr>
          <a:xfrm>
            <a:off x="4326026" y="1700784"/>
            <a:ext cx="3539642" cy="2148840"/>
          </a:xfrm>
          <a:prstGeom prst="roundRect">
            <a:avLst>
              <a:gd name="adj" fmla="val 2553"/>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4508906" y="1883664"/>
            <a:ext cx="137160" cy="137160"/>
          </a:xfrm>
          <a:prstGeom prst="ellipse">
            <a:avLst/>
          </a:prstGeom>
          <a:solidFill>
            <a:srgbClr val="D96A16"/>
          </a:solidFill>
          <a:ln/>
        </p:spPr>
      </p:sp>
      <p:sp>
        <p:nvSpPr>
          <p:cNvPr id="13" name="Text 11"/>
          <p:cNvSpPr/>
          <p:nvPr/>
        </p:nvSpPr>
        <p:spPr>
          <a:xfrm>
            <a:off x="4728362" y="178308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Data classification</a:t>
            </a:r>
            <a:endParaRPr lang="en-US" sz="1450" dirty="0"/>
          </a:p>
        </p:txBody>
      </p:sp>
      <p:sp>
        <p:nvSpPr>
          <p:cNvPr id="14" name="Text 12"/>
          <p:cNvSpPr/>
          <p:nvPr/>
        </p:nvSpPr>
        <p:spPr>
          <a:xfrm>
            <a:off x="4527194" y="2194560"/>
            <a:ext cx="3137306" cy="152704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What is public, internal, confidential and regulated — and an explicit list of what may never be pasted into a public AI service.</a:t>
            </a:r>
            <a:endParaRPr lang="en-US" sz="1200" dirty="0"/>
          </a:p>
        </p:txBody>
      </p:sp>
      <p:sp>
        <p:nvSpPr>
          <p:cNvPr id="15" name="Shape 13"/>
          <p:cNvSpPr/>
          <p:nvPr/>
        </p:nvSpPr>
        <p:spPr>
          <a:xfrm>
            <a:off x="8085125" y="1700784"/>
            <a:ext cx="3539642" cy="2148840"/>
          </a:xfrm>
          <a:prstGeom prst="roundRect">
            <a:avLst>
              <a:gd name="adj" fmla="val 2553"/>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8268005" y="1883664"/>
            <a:ext cx="137160" cy="137160"/>
          </a:xfrm>
          <a:prstGeom prst="ellipse">
            <a:avLst/>
          </a:prstGeom>
          <a:solidFill>
            <a:srgbClr val="D96A16"/>
          </a:solidFill>
          <a:ln/>
        </p:spPr>
      </p:sp>
      <p:sp>
        <p:nvSpPr>
          <p:cNvPr id="17" name="Text 15"/>
          <p:cNvSpPr/>
          <p:nvPr/>
        </p:nvSpPr>
        <p:spPr>
          <a:xfrm>
            <a:off x="8487461" y="178308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Verification requirement</a:t>
            </a:r>
            <a:endParaRPr lang="en-US" sz="1450" dirty="0"/>
          </a:p>
        </p:txBody>
      </p:sp>
      <p:sp>
        <p:nvSpPr>
          <p:cNvPr id="18" name="Text 16"/>
          <p:cNvSpPr/>
          <p:nvPr/>
        </p:nvSpPr>
        <p:spPr>
          <a:xfrm>
            <a:off x="8286293" y="2194560"/>
            <a:ext cx="3137306" cy="152704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Any AI-produced figure that leaves the station is checked by a named engineer against source data before it reaches a report or a filing.</a:t>
            </a:r>
            <a:endParaRPr lang="en-US" sz="1200" dirty="0"/>
          </a:p>
        </p:txBody>
      </p:sp>
      <p:sp>
        <p:nvSpPr>
          <p:cNvPr id="19" name="Shape 17"/>
          <p:cNvSpPr/>
          <p:nvPr/>
        </p:nvSpPr>
        <p:spPr>
          <a:xfrm>
            <a:off x="566928" y="4069080"/>
            <a:ext cx="3539642" cy="2148840"/>
          </a:xfrm>
          <a:prstGeom prst="roundRect">
            <a:avLst>
              <a:gd name="adj" fmla="val 2553"/>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749808" y="4251960"/>
            <a:ext cx="137160" cy="137160"/>
          </a:xfrm>
          <a:prstGeom prst="ellipse">
            <a:avLst/>
          </a:prstGeom>
          <a:solidFill>
            <a:srgbClr val="D96A16"/>
          </a:solidFill>
          <a:ln/>
        </p:spPr>
      </p:sp>
      <p:sp>
        <p:nvSpPr>
          <p:cNvPr id="21" name="Text 19"/>
          <p:cNvSpPr/>
          <p:nvPr/>
        </p:nvSpPr>
        <p:spPr>
          <a:xfrm>
            <a:off x="969264" y="4151376"/>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Record keeping and audit trail</a:t>
            </a:r>
            <a:endParaRPr lang="en-US" sz="1450" dirty="0"/>
          </a:p>
        </p:txBody>
      </p:sp>
      <p:sp>
        <p:nvSpPr>
          <p:cNvPr id="22" name="Text 20"/>
          <p:cNvSpPr/>
          <p:nvPr/>
        </p:nvSpPr>
        <p:spPr>
          <a:xfrm>
            <a:off x="768096" y="4562856"/>
            <a:ext cx="3137306" cy="152704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Prompts, outputs, model versions and approvals retained. If a decision is questioned two years later, the trail has to exist.</a:t>
            </a:r>
            <a:endParaRPr lang="en-US" sz="1200" dirty="0"/>
          </a:p>
        </p:txBody>
      </p:sp>
      <p:sp>
        <p:nvSpPr>
          <p:cNvPr id="23" name="Shape 21"/>
          <p:cNvSpPr/>
          <p:nvPr/>
        </p:nvSpPr>
        <p:spPr>
          <a:xfrm>
            <a:off x="4326026" y="4069080"/>
            <a:ext cx="3539642" cy="2148840"/>
          </a:xfrm>
          <a:prstGeom prst="roundRect">
            <a:avLst>
              <a:gd name="adj" fmla="val 2553"/>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4" name="Shape 22"/>
          <p:cNvSpPr/>
          <p:nvPr/>
        </p:nvSpPr>
        <p:spPr>
          <a:xfrm>
            <a:off x="4508906" y="4251960"/>
            <a:ext cx="137160" cy="137160"/>
          </a:xfrm>
          <a:prstGeom prst="ellipse">
            <a:avLst/>
          </a:prstGeom>
          <a:solidFill>
            <a:srgbClr val="D96A16"/>
          </a:solidFill>
          <a:ln/>
        </p:spPr>
      </p:sp>
      <p:sp>
        <p:nvSpPr>
          <p:cNvPr id="25" name="Text 23"/>
          <p:cNvSpPr/>
          <p:nvPr/>
        </p:nvSpPr>
        <p:spPr>
          <a:xfrm>
            <a:off x="4728362" y="4151376"/>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DPDP Act 2023</a:t>
            </a:r>
            <a:endParaRPr lang="en-US" sz="1450" dirty="0"/>
          </a:p>
        </p:txBody>
      </p:sp>
      <p:sp>
        <p:nvSpPr>
          <p:cNvPr id="26" name="Text 24"/>
          <p:cNvSpPr/>
          <p:nvPr/>
        </p:nvSpPr>
        <p:spPr>
          <a:xfrm>
            <a:off x="4527194" y="4562856"/>
            <a:ext cx="3137306" cy="152704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Where personal data is involved — CCTV, biometrics, employee records — consent, purpose limitation and retention are legal obligations, not preferences.</a:t>
            </a:r>
            <a:endParaRPr lang="en-US" sz="1200" dirty="0"/>
          </a:p>
        </p:txBody>
      </p:sp>
      <p:sp>
        <p:nvSpPr>
          <p:cNvPr id="27" name="Shape 25"/>
          <p:cNvSpPr/>
          <p:nvPr/>
        </p:nvSpPr>
        <p:spPr>
          <a:xfrm>
            <a:off x="8085125" y="4069080"/>
            <a:ext cx="3539642" cy="2148840"/>
          </a:xfrm>
          <a:prstGeom prst="roundRect">
            <a:avLst>
              <a:gd name="adj" fmla="val 2553"/>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Shape 26"/>
          <p:cNvSpPr/>
          <p:nvPr/>
        </p:nvSpPr>
        <p:spPr>
          <a:xfrm>
            <a:off x="8268005" y="4251960"/>
            <a:ext cx="137160" cy="137160"/>
          </a:xfrm>
          <a:prstGeom prst="ellipse">
            <a:avLst/>
          </a:prstGeom>
          <a:solidFill>
            <a:srgbClr val="D96A16"/>
          </a:solidFill>
          <a:ln/>
        </p:spPr>
      </p:sp>
      <p:sp>
        <p:nvSpPr>
          <p:cNvPr id="29" name="Text 27"/>
          <p:cNvSpPr/>
          <p:nvPr/>
        </p:nvSpPr>
        <p:spPr>
          <a:xfrm>
            <a:off x="8487461" y="4151376"/>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Procurement questions</a:t>
            </a:r>
            <a:endParaRPr lang="en-US" sz="1450" dirty="0"/>
          </a:p>
        </p:txBody>
      </p:sp>
      <p:sp>
        <p:nvSpPr>
          <p:cNvPr id="30" name="Text 28"/>
          <p:cNvSpPr/>
          <p:nvPr/>
        </p:nvSpPr>
        <p:spPr>
          <a:xfrm>
            <a:off x="8286293" y="4562856"/>
            <a:ext cx="3137306" cy="152704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Where does our data go, who owns the model, what is the accuracy on our plant, what happens at contract end, and who sustains it.</a:t>
            </a:r>
            <a:endParaRPr lang="en-US" sz="12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What happens after go-live</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lifecycle nobody budgets for, and the reason models quietly stop working</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9. Implementing responsibly</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112</a:t>
            </a:r>
            <a:endParaRPr lang="en-US" sz="950" dirty="0"/>
          </a:p>
        </p:txBody>
      </p:sp>
      <p:sp>
        <p:nvSpPr>
          <p:cNvPr id="7" name="Text 5"/>
          <p:cNvSpPr/>
          <p:nvPr/>
        </p:nvSpPr>
        <p:spPr>
          <a:xfrm>
            <a:off x="566928" y="1627632"/>
            <a:ext cx="11057839" cy="201168"/>
          </a:xfrm>
          <a:prstGeom prst="rect">
            <a:avLst/>
          </a:prstGeom>
          <a:noFill/>
          <a:ln/>
        </p:spPr>
        <p:txBody>
          <a:bodyPr wrap="square" lIns="0" tIns="0" rIns="0" bIns="0" rtlCol="0" anchor="ctr"/>
          <a:lstStyle/>
          <a:p>
            <a:pPr indent="0" marL="0">
              <a:buNone/>
            </a:pPr>
            <a:r>
              <a:rPr lang="en-US" sz="1000" b="1" dirty="0">
                <a:solidFill>
                  <a:srgbClr val="5C6B7A"/>
                </a:solidFill>
                <a:latin typeface="Calibri" pitchFamily="34" charset="0"/>
                <a:ea typeface="Calibri" pitchFamily="34" charset="-122"/>
                <a:cs typeface="Calibri" pitchFamily="34" charset="-120"/>
              </a:rPr>
              <a:t>WATCHING</a:t>
            </a:r>
            <a:endParaRPr lang="en-US" sz="1000" dirty="0"/>
          </a:p>
        </p:txBody>
      </p:sp>
      <p:sp>
        <p:nvSpPr>
          <p:cNvPr id="8" name="Shape 6"/>
          <p:cNvSpPr/>
          <p:nvPr/>
        </p:nvSpPr>
        <p:spPr>
          <a:xfrm>
            <a:off x="566928" y="1828800"/>
            <a:ext cx="2558720" cy="1271016"/>
          </a:xfrm>
          <a:prstGeom prst="roundRect">
            <a:avLst>
              <a:gd name="adj" fmla="val 4317"/>
            </a:avLst>
          </a:prstGeom>
          <a:solidFill>
            <a:srgbClr val="FCEDE0"/>
          </a:solidFill>
          <a:ln w="13970">
            <a:solidFill>
              <a:srgbClr val="D96A16"/>
            </a:solidFill>
            <a:prstDash val="solid"/>
          </a:ln>
        </p:spPr>
      </p:sp>
      <p:sp>
        <p:nvSpPr>
          <p:cNvPr id="9" name="Text 7"/>
          <p:cNvSpPr/>
          <p:nvPr/>
        </p:nvSpPr>
        <p:spPr>
          <a:xfrm>
            <a:off x="658368" y="1883664"/>
            <a:ext cx="2375840" cy="559247"/>
          </a:xfrm>
          <a:prstGeom prst="rect">
            <a:avLst/>
          </a:prstGeom>
          <a:noFill/>
          <a:ln/>
        </p:spPr>
        <p:txBody>
          <a:bodyPr wrap="square" lIns="0" tIns="0" rIns="0" bIns="0" rtlCol="0" anchor="ctr"/>
          <a:lstStyle/>
          <a:p>
            <a:pPr algn="ctr" indent="0" marL="0">
              <a:buNone/>
            </a:pPr>
            <a:r>
              <a:rPr lang="en-US" sz="1150" b="1" dirty="0">
                <a:solidFill>
                  <a:srgbClr val="8A4310"/>
                </a:solidFill>
                <a:latin typeface="Calibri" pitchFamily="34" charset="0"/>
                <a:ea typeface="Calibri" pitchFamily="34" charset="-122"/>
                <a:cs typeface="Calibri" pitchFamily="34" charset="-120"/>
              </a:rPr>
              <a:t>Model in service</a:t>
            </a:r>
            <a:endParaRPr lang="en-US" sz="1150" dirty="0"/>
          </a:p>
        </p:txBody>
      </p:sp>
      <p:sp>
        <p:nvSpPr>
          <p:cNvPr id="10" name="Text 8"/>
          <p:cNvSpPr/>
          <p:nvPr/>
        </p:nvSpPr>
        <p:spPr>
          <a:xfrm>
            <a:off x="649224" y="2413467"/>
            <a:ext cx="2394128"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producing advisories daily</a:t>
            </a:r>
            <a:endParaRPr lang="en-US" sz="940" dirty="0"/>
          </a:p>
        </p:txBody>
      </p:sp>
      <p:sp>
        <p:nvSpPr>
          <p:cNvPr id="11" name="Shape 9"/>
          <p:cNvSpPr/>
          <p:nvPr/>
        </p:nvSpPr>
        <p:spPr>
          <a:xfrm rot="5400000">
            <a:off x="3175940" y="2363724"/>
            <a:ext cx="155448" cy="201168"/>
          </a:xfrm>
          <a:prstGeom prst="triangle">
            <a:avLst/>
          </a:prstGeom>
          <a:solidFill>
            <a:srgbClr val="9AA9B6"/>
          </a:solidFill>
          <a:ln/>
        </p:spPr>
      </p:sp>
      <p:sp>
        <p:nvSpPr>
          <p:cNvPr id="12" name="Shape 10"/>
          <p:cNvSpPr/>
          <p:nvPr/>
        </p:nvSpPr>
        <p:spPr>
          <a:xfrm>
            <a:off x="3399968" y="1828800"/>
            <a:ext cx="2558720" cy="1271016"/>
          </a:xfrm>
          <a:prstGeom prst="roundRect">
            <a:avLst>
              <a:gd name="adj" fmla="val 4317"/>
            </a:avLst>
          </a:prstGeom>
          <a:solidFill>
            <a:srgbClr val="E1EFF1"/>
          </a:solidFill>
          <a:ln w="13970">
            <a:solidFill>
              <a:srgbClr val="11707F"/>
            </a:solidFill>
            <a:prstDash val="solid"/>
          </a:ln>
        </p:spPr>
      </p:sp>
      <p:sp>
        <p:nvSpPr>
          <p:cNvPr id="13" name="Text 11"/>
          <p:cNvSpPr/>
          <p:nvPr/>
        </p:nvSpPr>
        <p:spPr>
          <a:xfrm>
            <a:off x="3491408" y="1883664"/>
            <a:ext cx="2375840" cy="559247"/>
          </a:xfrm>
          <a:prstGeom prst="rect">
            <a:avLst/>
          </a:prstGeom>
          <a:noFill/>
          <a:ln/>
        </p:spPr>
        <p:txBody>
          <a:bodyPr wrap="square" lIns="0" tIns="0" rIns="0" bIns="0" rtlCol="0" anchor="ctr"/>
          <a:lstStyle/>
          <a:p>
            <a:pPr algn="ctr" indent="0" marL="0">
              <a:buNone/>
            </a:pPr>
            <a:r>
              <a:rPr lang="en-US" sz="1150" b="1" dirty="0">
                <a:solidFill>
                  <a:srgbClr val="14555F"/>
                </a:solidFill>
                <a:latin typeface="Calibri" pitchFamily="34" charset="0"/>
                <a:ea typeface="Calibri" pitchFamily="34" charset="-122"/>
                <a:cs typeface="Calibri" pitchFamily="34" charset="-120"/>
              </a:rPr>
              <a:t>Monitor the inputs</a:t>
            </a:r>
            <a:endParaRPr lang="en-US" sz="1150" dirty="0"/>
          </a:p>
        </p:txBody>
      </p:sp>
      <p:sp>
        <p:nvSpPr>
          <p:cNvPr id="14" name="Text 12"/>
          <p:cNvSpPr/>
          <p:nvPr/>
        </p:nvSpPr>
        <p:spPr>
          <a:xfrm>
            <a:off x="3482264" y="2413467"/>
            <a:ext cx="2394128"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has a tag frozen, drifted or been rescaled?</a:t>
            </a:r>
            <a:endParaRPr lang="en-US" sz="940" dirty="0"/>
          </a:p>
        </p:txBody>
      </p:sp>
      <p:sp>
        <p:nvSpPr>
          <p:cNvPr id="15" name="Shape 13"/>
          <p:cNvSpPr/>
          <p:nvPr/>
        </p:nvSpPr>
        <p:spPr>
          <a:xfrm rot="5400000">
            <a:off x="6008980" y="2363724"/>
            <a:ext cx="155448" cy="201168"/>
          </a:xfrm>
          <a:prstGeom prst="triangle">
            <a:avLst/>
          </a:prstGeom>
          <a:solidFill>
            <a:srgbClr val="9AA9B6"/>
          </a:solidFill>
          <a:ln/>
        </p:spPr>
      </p:sp>
      <p:sp>
        <p:nvSpPr>
          <p:cNvPr id="16" name="Shape 14"/>
          <p:cNvSpPr/>
          <p:nvPr/>
        </p:nvSpPr>
        <p:spPr>
          <a:xfrm>
            <a:off x="6233008" y="1828800"/>
            <a:ext cx="2558720" cy="1271016"/>
          </a:xfrm>
          <a:prstGeom prst="roundRect">
            <a:avLst>
              <a:gd name="adj" fmla="val 4317"/>
            </a:avLst>
          </a:prstGeom>
          <a:solidFill>
            <a:srgbClr val="F1F4F7"/>
          </a:solidFill>
          <a:ln w="13970">
            <a:solidFill>
              <a:srgbClr val="3B4A5A"/>
            </a:solidFill>
            <a:prstDash val="solid"/>
          </a:ln>
        </p:spPr>
      </p:sp>
      <p:sp>
        <p:nvSpPr>
          <p:cNvPr id="17" name="Text 15"/>
          <p:cNvSpPr/>
          <p:nvPr/>
        </p:nvSpPr>
        <p:spPr>
          <a:xfrm>
            <a:off x="6324448" y="1883664"/>
            <a:ext cx="2375840" cy="559247"/>
          </a:xfrm>
          <a:prstGeom prst="rect">
            <a:avLst/>
          </a:prstGeom>
          <a:noFill/>
          <a:ln/>
        </p:spPr>
        <p:txBody>
          <a:bodyPr wrap="square" lIns="0" tIns="0" rIns="0" bIns="0" rtlCol="0" anchor="ctr"/>
          <a:lstStyle/>
          <a:p>
            <a:pPr algn="ctr" indent="0" marL="0">
              <a:buNone/>
            </a:pPr>
            <a:r>
              <a:rPr lang="en-US" sz="1150" b="1" dirty="0">
                <a:solidFill>
                  <a:srgbClr val="1C2530"/>
                </a:solidFill>
                <a:latin typeface="Calibri" pitchFamily="34" charset="0"/>
                <a:ea typeface="Calibri" pitchFamily="34" charset="-122"/>
                <a:cs typeface="Calibri" pitchFamily="34" charset="-120"/>
              </a:rPr>
              <a:t>Monitor the residuals</a:t>
            </a:r>
            <a:endParaRPr lang="en-US" sz="1150" dirty="0"/>
          </a:p>
        </p:txBody>
      </p:sp>
      <p:sp>
        <p:nvSpPr>
          <p:cNvPr id="18" name="Text 16"/>
          <p:cNvSpPr/>
          <p:nvPr/>
        </p:nvSpPr>
        <p:spPr>
          <a:xfrm>
            <a:off x="6315304" y="2413467"/>
            <a:ext cx="2394128"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is the model's own error growing?</a:t>
            </a:r>
            <a:endParaRPr lang="en-US" sz="940" dirty="0"/>
          </a:p>
        </p:txBody>
      </p:sp>
      <p:sp>
        <p:nvSpPr>
          <p:cNvPr id="19" name="Shape 17"/>
          <p:cNvSpPr/>
          <p:nvPr/>
        </p:nvSpPr>
        <p:spPr>
          <a:xfrm rot="5400000">
            <a:off x="8842019" y="2363724"/>
            <a:ext cx="155448" cy="201168"/>
          </a:xfrm>
          <a:prstGeom prst="triangle">
            <a:avLst/>
          </a:prstGeom>
          <a:solidFill>
            <a:srgbClr val="9AA9B6"/>
          </a:solidFill>
          <a:ln/>
        </p:spPr>
      </p:sp>
      <p:sp>
        <p:nvSpPr>
          <p:cNvPr id="20" name="Shape 18"/>
          <p:cNvSpPr/>
          <p:nvPr/>
        </p:nvSpPr>
        <p:spPr>
          <a:xfrm>
            <a:off x="9066047" y="1828800"/>
            <a:ext cx="2558720" cy="1271016"/>
          </a:xfrm>
          <a:prstGeom prst="roundRect">
            <a:avLst>
              <a:gd name="adj" fmla="val 4317"/>
            </a:avLst>
          </a:prstGeom>
          <a:solidFill>
            <a:srgbClr val="E4F0EA"/>
          </a:solidFill>
          <a:ln w="13970">
            <a:solidFill>
              <a:srgbClr val="256B45"/>
            </a:solidFill>
            <a:prstDash val="solid"/>
          </a:ln>
        </p:spPr>
      </p:sp>
      <p:sp>
        <p:nvSpPr>
          <p:cNvPr id="21" name="Text 19"/>
          <p:cNvSpPr/>
          <p:nvPr/>
        </p:nvSpPr>
        <p:spPr>
          <a:xfrm>
            <a:off x="9157487" y="1883664"/>
            <a:ext cx="2375840" cy="559247"/>
          </a:xfrm>
          <a:prstGeom prst="rect">
            <a:avLst/>
          </a:prstGeom>
          <a:noFill/>
          <a:ln/>
        </p:spPr>
        <p:txBody>
          <a:bodyPr wrap="square" lIns="0" tIns="0" rIns="0" bIns="0" rtlCol="0" anchor="ctr"/>
          <a:lstStyle/>
          <a:p>
            <a:pPr algn="ctr" indent="0" marL="0">
              <a:buNone/>
            </a:pPr>
            <a:r>
              <a:rPr lang="en-US" sz="1150" b="1" dirty="0">
                <a:solidFill>
                  <a:srgbClr val="1B4E32"/>
                </a:solidFill>
                <a:latin typeface="Calibri" pitchFamily="34" charset="0"/>
                <a:ea typeface="Calibri" pitchFamily="34" charset="-122"/>
                <a:cs typeface="Calibri" pitchFamily="34" charset="-120"/>
              </a:rPr>
              <a:t>Monitor the actions</a:t>
            </a:r>
            <a:endParaRPr lang="en-US" sz="1150" dirty="0"/>
          </a:p>
        </p:txBody>
      </p:sp>
      <p:sp>
        <p:nvSpPr>
          <p:cNvPr id="22" name="Text 20"/>
          <p:cNvSpPr/>
          <p:nvPr/>
        </p:nvSpPr>
        <p:spPr>
          <a:xfrm>
            <a:off x="9148343" y="2413467"/>
            <a:ext cx="2394128"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is anyone acting on the alerts?</a:t>
            </a:r>
            <a:endParaRPr lang="en-US" sz="940" dirty="0"/>
          </a:p>
        </p:txBody>
      </p:sp>
      <p:sp>
        <p:nvSpPr>
          <p:cNvPr id="23" name="Shape 21"/>
          <p:cNvSpPr/>
          <p:nvPr/>
        </p:nvSpPr>
        <p:spPr>
          <a:xfrm>
            <a:off x="10345407" y="3099816"/>
            <a:ext cx="0" cy="142646"/>
          </a:xfrm>
          <a:prstGeom prst="line">
            <a:avLst/>
          </a:prstGeom>
          <a:noFill/>
          <a:ln w="15240">
            <a:solidFill>
              <a:srgbClr val="9AA9B6"/>
            </a:solidFill>
            <a:prstDash val="solid"/>
          </a:ln>
        </p:spPr>
      </p:sp>
      <p:sp>
        <p:nvSpPr>
          <p:cNvPr id="24" name="Shape 22"/>
          <p:cNvSpPr/>
          <p:nvPr/>
        </p:nvSpPr>
        <p:spPr>
          <a:xfrm>
            <a:off x="1846288" y="3242462"/>
            <a:ext cx="8499119" cy="0"/>
          </a:xfrm>
          <a:prstGeom prst="line">
            <a:avLst/>
          </a:prstGeom>
          <a:noFill/>
          <a:ln w="15240">
            <a:solidFill>
              <a:srgbClr val="9AA9B6"/>
            </a:solidFill>
            <a:prstDash val="solid"/>
          </a:ln>
        </p:spPr>
      </p:sp>
      <p:sp>
        <p:nvSpPr>
          <p:cNvPr id="25" name="Shape 23"/>
          <p:cNvSpPr/>
          <p:nvPr/>
        </p:nvSpPr>
        <p:spPr>
          <a:xfrm>
            <a:off x="1846288" y="3242462"/>
            <a:ext cx="0" cy="76810"/>
          </a:xfrm>
          <a:prstGeom prst="line">
            <a:avLst/>
          </a:prstGeom>
          <a:noFill/>
          <a:ln w="15240">
            <a:solidFill>
              <a:srgbClr val="9AA9B6"/>
            </a:solidFill>
            <a:prstDash val="solid"/>
          </a:ln>
        </p:spPr>
      </p:sp>
      <p:sp>
        <p:nvSpPr>
          <p:cNvPr id="26" name="Shape 24"/>
          <p:cNvSpPr/>
          <p:nvPr/>
        </p:nvSpPr>
        <p:spPr>
          <a:xfrm rot="10800000">
            <a:off x="1754848" y="3313786"/>
            <a:ext cx="182880" cy="118872"/>
          </a:xfrm>
          <a:prstGeom prst="triangle">
            <a:avLst/>
          </a:prstGeom>
          <a:solidFill>
            <a:srgbClr val="9AA9B6"/>
          </a:solidFill>
          <a:ln/>
        </p:spPr>
      </p:sp>
      <p:sp>
        <p:nvSpPr>
          <p:cNvPr id="27" name="Text 25"/>
          <p:cNvSpPr/>
          <p:nvPr/>
        </p:nvSpPr>
        <p:spPr>
          <a:xfrm>
            <a:off x="566928" y="3374136"/>
            <a:ext cx="11057839" cy="201168"/>
          </a:xfrm>
          <a:prstGeom prst="rect">
            <a:avLst/>
          </a:prstGeom>
          <a:noFill/>
          <a:ln/>
        </p:spPr>
        <p:txBody>
          <a:bodyPr wrap="square" lIns="0" tIns="0" rIns="0" bIns="0" rtlCol="0" anchor="ctr"/>
          <a:lstStyle/>
          <a:p>
            <a:pPr indent="0" marL="0">
              <a:buNone/>
            </a:pPr>
            <a:r>
              <a:rPr lang="en-US" sz="1000" b="1" dirty="0">
                <a:solidFill>
                  <a:srgbClr val="5C6B7A"/>
                </a:solidFill>
                <a:latin typeface="Calibri" pitchFamily="34" charset="0"/>
                <a:ea typeface="Calibri" pitchFamily="34" charset="-122"/>
                <a:cs typeface="Calibri" pitchFamily="34" charset="-120"/>
              </a:rPr>
              <a:t>RENEWING</a:t>
            </a:r>
            <a:endParaRPr lang="en-US" sz="1000" dirty="0"/>
          </a:p>
        </p:txBody>
      </p:sp>
      <p:sp>
        <p:nvSpPr>
          <p:cNvPr id="28" name="Shape 26"/>
          <p:cNvSpPr/>
          <p:nvPr/>
        </p:nvSpPr>
        <p:spPr>
          <a:xfrm>
            <a:off x="566928" y="3575304"/>
            <a:ext cx="2558720" cy="1271016"/>
          </a:xfrm>
          <a:prstGeom prst="roundRect">
            <a:avLst>
              <a:gd name="adj" fmla="val 4317"/>
            </a:avLst>
          </a:prstGeom>
          <a:solidFill>
            <a:srgbClr val="E1EFF1"/>
          </a:solidFill>
          <a:ln w="13970">
            <a:solidFill>
              <a:srgbClr val="11707F"/>
            </a:solidFill>
            <a:prstDash val="solid"/>
          </a:ln>
        </p:spPr>
      </p:sp>
      <p:sp>
        <p:nvSpPr>
          <p:cNvPr id="29" name="Text 27"/>
          <p:cNvSpPr/>
          <p:nvPr/>
        </p:nvSpPr>
        <p:spPr>
          <a:xfrm>
            <a:off x="658368" y="3630168"/>
            <a:ext cx="2375840" cy="559247"/>
          </a:xfrm>
          <a:prstGeom prst="rect">
            <a:avLst/>
          </a:prstGeom>
          <a:noFill/>
          <a:ln/>
        </p:spPr>
        <p:txBody>
          <a:bodyPr wrap="square" lIns="0" tIns="0" rIns="0" bIns="0" rtlCol="0" anchor="ctr"/>
          <a:lstStyle/>
          <a:p>
            <a:pPr algn="ctr" indent="0" marL="0">
              <a:buNone/>
            </a:pPr>
            <a:r>
              <a:rPr lang="en-US" sz="1150" b="1" dirty="0">
                <a:solidFill>
                  <a:srgbClr val="14555F"/>
                </a:solidFill>
                <a:latin typeface="Calibri" pitchFamily="34" charset="0"/>
                <a:ea typeface="Calibri" pitchFamily="34" charset="-122"/>
                <a:cs typeface="Calibri" pitchFamily="34" charset="-120"/>
              </a:rPr>
              <a:t>Trigger</a:t>
            </a:r>
            <a:endParaRPr lang="en-US" sz="1150" dirty="0"/>
          </a:p>
        </p:txBody>
      </p:sp>
      <p:sp>
        <p:nvSpPr>
          <p:cNvPr id="30" name="Text 28"/>
          <p:cNvSpPr/>
          <p:nvPr/>
        </p:nvSpPr>
        <p:spPr>
          <a:xfrm>
            <a:off x="649224" y="4159971"/>
            <a:ext cx="2394128"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drift, an overhaul, a retrofit, new coal</a:t>
            </a:r>
            <a:endParaRPr lang="en-US" sz="940" dirty="0"/>
          </a:p>
        </p:txBody>
      </p:sp>
      <p:sp>
        <p:nvSpPr>
          <p:cNvPr id="31" name="Shape 29"/>
          <p:cNvSpPr/>
          <p:nvPr/>
        </p:nvSpPr>
        <p:spPr>
          <a:xfrm rot="5400000">
            <a:off x="3175940" y="4110228"/>
            <a:ext cx="155448" cy="201168"/>
          </a:xfrm>
          <a:prstGeom prst="triangle">
            <a:avLst/>
          </a:prstGeom>
          <a:solidFill>
            <a:srgbClr val="9AA9B6"/>
          </a:solidFill>
          <a:ln/>
        </p:spPr>
      </p:sp>
      <p:sp>
        <p:nvSpPr>
          <p:cNvPr id="32" name="Shape 30"/>
          <p:cNvSpPr/>
          <p:nvPr/>
        </p:nvSpPr>
        <p:spPr>
          <a:xfrm>
            <a:off x="3399968" y="3575304"/>
            <a:ext cx="2558720" cy="1271016"/>
          </a:xfrm>
          <a:prstGeom prst="roundRect">
            <a:avLst>
              <a:gd name="adj" fmla="val 4317"/>
            </a:avLst>
          </a:prstGeom>
          <a:solidFill>
            <a:srgbClr val="E4F0EA"/>
          </a:solidFill>
          <a:ln w="13970">
            <a:solidFill>
              <a:srgbClr val="256B45"/>
            </a:solidFill>
            <a:prstDash val="solid"/>
          </a:ln>
        </p:spPr>
      </p:sp>
      <p:sp>
        <p:nvSpPr>
          <p:cNvPr id="33" name="Text 31"/>
          <p:cNvSpPr/>
          <p:nvPr/>
        </p:nvSpPr>
        <p:spPr>
          <a:xfrm>
            <a:off x="3491408" y="3630168"/>
            <a:ext cx="2375840" cy="559247"/>
          </a:xfrm>
          <a:prstGeom prst="rect">
            <a:avLst/>
          </a:prstGeom>
          <a:noFill/>
          <a:ln/>
        </p:spPr>
        <p:txBody>
          <a:bodyPr wrap="square" lIns="0" tIns="0" rIns="0" bIns="0" rtlCol="0" anchor="ctr"/>
          <a:lstStyle/>
          <a:p>
            <a:pPr algn="ctr" indent="0" marL="0">
              <a:buNone/>
            </a:pPr>
            <a:r>
              <a:rPr lang="en-US" sz="1150" b="1" dirty="0">
                <a:solidFill>
                  <a:srgbClr val="1B4E32"/>
                </a:solidFill>
                <a:latin typeface="Calibri" pitchFamily="34" charset="0"/>
                <a:ea typeface="Calibri" pitchFamily="34" charset="-122"/>
                <a:cs typeface="Calibri" pitchFamily="34" charset="-120"/>
              </a:rPr>
              <a:t>Curate the window</a:t>
            </a:r>
            <a:endParaRPr lang="en-US" sz="1150" dirty="0"/>
          </a:p>
        </p:txBody>
      </p:sp>
      <p:sp>
        <p:nvSpPr>
          <p:cNvPr id="34" name="Text 32"/>
          <p:cNvSpPr/>
          <p:nvPr/>
        </p:nvSpPr>
        <p:spPr>
          <a:xfrm>
            <a:off x="3482264" y="4159971"/>
            <a:ext cx="2394128"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an engineer selects genuinely healthy history</a:t>
            </a:r>
            <a:endParaRPr lang="en-US" sz="940" dirty="0"/>
          </a:p>
        </p:txBody>
      </p:sp>
      <p:sp>
        <p:nvSpPr>
          <p:cNvPr id="35" name="Shape 33"/>
          <p:cNvSpPr/>
          <p:nvPr/>
        </p:nvSpPr>
        <p:spPr>
          <a:xfrm rot="5400000">
            <a:off x="6008980" y="4110228"/>
            <a:ext cx="155448" cy="201168"/>
          </a:xfrm>
          <a:prstGeom prst="triangle">
            <a:avLst/>
          </a:prstGeom>
          <a:solidFill>
            <a:srgbClr val="9AA9B6"/>
          </a:solidFill>
          <a:ln/>
        </p:spPr>
      </p:sp>
      <p:sp>
        <p:nvSpPr>
          <p:cNvPr id="36" name="Shape 34"/>
          <p:cNvSpPr/>
          <p:nvPr/>
        </p:nvSpPr>
        <p:spPr>
          <a:xfrm>
            <a:off x="6233008" y="3575304"/>
            <a:ext cx="2558720" cy="1271016"/>
          </a:xfrm>
          <a:prstGeom prst="roundRect">
            <a:avLst>
              <a:gd name="adj" fmla="val 4317"/>
            </a:avLst>
          </a:prstGeom>
          <a:solidFill>
            <a:srgbClr val="FCEDE0"/>
          </a:solidFill>
          <a:ln w="13970">
            <a:solidFill>
              <a:srgbClr val="D96A16"/>
            </a:solidFill>
            <a:prstDash val="solid"/>
          </a:ln>
        </p:spPr>
      </p:sp>
      <p:sp>
        <p:nvSpPr>
          <p:cNvPr id="37" name="Text 35"/>
          <p:cNvSpPr/>
          <p:nvPr/>
        </p:nvSpPr>
        <p:spPr>
          <a:xfrm>
            <a:off x="6324448" y="3630168"/>
            <a:ext cx="2375840" cy="559247"/>
          </a:xfrm>
          <a:prstGeom prst="rect">
            <a:avLst/>
          </a:prstGeom>
          <a:noFill/>
          <a:ln/>
        </p:spPr>
        <p:txBody>
          <a:bodyPr wrap="square" lIns="0" tIns="0" rIns="0" bIns="0" rtlCol="0" anchor="ctr"/>
          <a:lstStyle/>
          <a:p>
            <a:pPr algn="ctr" indent="0" marL="0">
              <a:buNone/>
            </a:pPr>
            <a:r>
              <a:rPr lang="en-US" sz="1150" b="1" dirty="0">
                <a:solidFill>
                  <a:srgbClr val="8A4310"/>
                </a:solidFill>
                <a:latin typeface="Calibri" pitchFamily="34" charset="0"/>
                <a:ea typeface="Calibri" pitchFamily="34" charset="-122"/>
                <a:cs typeface="Calibri" pitchFamily="34" charset="-120"/>
              </a:rPr>
              <a:t>Retrain and validate</a:t>
            </a:r>
            <a:endParaRPr lang="en-US" sz="1150" dirty="0"/>
          </a:p>
        </p:txBody>
      </p:sp>
      <p:sp>
        <p:nvSpPr>
          <p:cNvPr id="38" name="Text 36"/>
          <p:cNvSpPr/>
          <p:nvPr/>
        </p:nvSpPr>
        <p:spPr>
          <a:xfrm>
            <a:off x="6315304" y="4159971"/>
            <a:ext cx="2394128"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prove it still catches known past events</a:t>
            </a:r>
            <a:endParaRPr lang="en-US" sz="940" dirty="0"/>
          </a:p>
        </p:txBody>
      </p:sp>
      <p:sp>
        <p:nvSpPr>
          <p:cNvPr id="39" name="Shape 37"/>
          <p:cNvSpPr/>
          <p:nvPr/>
        </p:nvSpPr>
        <p:spPr>
          <a:xfrm rot="5400000">
            <a:off x="8842019" y="4110228"/>
            <a:ext cx="155448" cy="201168"/>
          </a:xfrm>
          <a:prstGeom prst="triangle">
            <a:avLst/>
          </a:prstGeom>
          <a:solidFill>
            <a:srgbClr val="9AA9B6"/>
          </a:solidFill>
          <a:ln/>
        </p:spPr>
      </p:sp>
      <p:sp>
        <p:nvSpPr>
          <p:cNvPr id="40" name="Shape 38"/>
          <p:cNvSpPr/>
          <p:nvPr/>
        </p:nvSpPr>
        <p:spPr>
          <a:xfrm>
            <a:off x="9066047" y="3575304"/>
            <a:ext cx="2558720" cy="1271016"/>
          </a:xfrm>
          <a:prstGeom prst="roundRect">
            <a:avLst>
              <a:gd name="adj" fmla="val 4317"/>
            </a:avLst>
          </a:prstGeom>
          <a:solidFill>
            <a:srgbClr val="E4F0EA"/>
          </a:solidFill>
          <a:ln w="13970">
            <a:solidFill>
              <a:srgbClr val="256B45"/>
            </a:solidFill>
            <a:prstDash val="solid"/>
          </a:ln>
        </p:spPr>
      </p:sp>
      <p:sp>
        <p:nvSpPr>
          <p:cNvPr id="41" name="Text 39"/>
          <p:cNvSpPr/>
          <p:nvPr/>
        </p:nvSpPr>
        <p:spPr>
          <a:xfrm>
            <a:off x="9157487" y="3630168"/>
            <a:ext cx="2375840" cy="559247"/>
          </a:xfrm>
          <a:prstGeom prst="rect">
            <a:avLst/>
          </a:prstGeom>
          <a:noFill/>
          <a:ln/>
        </p:spPr>
        <p:txBody>
          <a:bodyPr wrap="square" lIns="0" tIns="0" rIns="0" bIns="0" rtlCol="0" anchor="ctr"/>
          <a:lstStyle/>
          <a:p>
            <a:pPr algn="ctr" indent="0" marL="0">
              <a:buNone/>
            </a:pPr>
            <a:r>
              <a:rPr lang="en-US" sz="1150" b="1" dirty="0">
                <a:solidFill>
                  <a:srgbClr val="1B4E32"/>
                </a:solidFill>
                <a:latin typeface="Calibri" pitchFamily="34" charset="0"/>
                <a:ea typeface="Calibri" pitchFamily="34" charset="-122"/>
                <a:cs typeface="Calibri" pitchFamily="34" charset="-120"/>
              </a:rPr>
              <a:t>Approve and redeploy</a:t>
            </a:r>
            <a:endParaRPr lang="en-US" sz="1150" dirty="0"/>
          </a:p>
        </p:txBody>
      </p:sp>
      <p:sp>
        <p:nvSpPr>
          <p:cNvPr id="42" name="Text 40"/>
          <p:cNvSpPr/>
          <p:nvPr/>
        </p:nvSpPr>
        <p:spPr>
          <a:xfrm>
            <a:off x="9148343" y="4159971"/>
            <a:ext cx="2394128"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versioned, dated, with a named owner</a:t>
            </a:r>
            <a:endParaRPr lang="en-US" sz="940" dirty="0"/>
          </a:p>
        </p:txBody>
      </p:sp>
      <p:sp>
        <p:nvSpPr>
          <p:cNvPr id="43" name="Shape 41"/>
          <p:cNvSpPr/>
          <p:nvPr/>
        </p:nvSpPr>
        <p:spPr>
          <a:xfrm>
            <a:off x="566928" y="5138928"/>
            <a:ext cx="11057839" cy="420624"/>
          </a:xfrm>
          <a:prstGeom prst="roundRect">
            <a:avLst>
              <a:gd name="adj" fmla="val 10870"/>
            </a:avLst>
          </a:prstGeom>
          <a:solidFill>
            <a:srgbClr val="F4F1FA"/>
          </a:solidFill>
          <a:ln w="12700">
            <a:solidFill>
              <a:srgbClr val="8B77B8"/>
            </a:solidFill>
            <a:prstDash val="dash"/>
          </a:ln>
        </p:spPr>
      </p:sp>
      <p:sp>
        <p:nvSpPr>
          <p:cNvPr id="44" name="Text 42"/>
          <p:cNvSpPr/>
          <p:nvPr/>
        </p:nvSpPr>
        <p:spPr>
          <a:xfrm>
            <a:off x="749808" y="5138928"/>
            <a:ext cx="10692079" cy="420624"/>
          </a:xfrm>
          <a:prstGeom prst="rect">
            <a:avLst/>
          </a:prstGeom>
          <a:noFill/>
          <a:ln/>
        </p:spPr>
        <p:txBody>
          <a:bodyPr wrap="square" lIns="0" tIns="0" rIns="0" bIns="0" rtlCol="0" anchor="ctr"/>
          <a:lstStyle/>
          <a:p>
            <a:pPr indent="0" marL="0">
              <a:buNone/>
            </a:pPr>
            <a:r>
              <a:rPr lang="en-US" sz="1150" b="1" dirty="0">
                <a:solidFill>
                  <a:srgbClr val="5B4A85"/>
                </a:solidFill>
                <a:latin typeface="Calibri" pitchFamily="34" charset="0"/>
                <a:ea typeface="Calibri" pitchFamily="34" charset="-122"/>
                <a:cs typeface="Calibri" pitchFamily="34" charset="-120"/>
              </a:rPr>
              <a:t>Feedback:  </a:t>
            </a:r>
            <a:pPr indent="0" marL="0">
              <a:buNone/>
            </a:pPr>
            <a:r>
              <a:rPr lang="en-US" sz="1150" dirty="0">
                <a:solidFill>
                  <a:srgbClr val="5B4A85"/>
                </a:solidFill>
                <a:latin typeface="Calibri" pitchFamily="34" charset="0"/>
                <a:ea typeface="Calibri" pitchFamily="34" charset="-122"/>
                <a:cs typeface="Calibri" pitchFamily="34" charset="-120"/>
              </a:rPr>
              <a:t>Put 'retrain the models' in the outage checklist, next to 'recalibrate the instruments'</a:t>
            </a:r>
            <a:endParaRPr lang="en-US" sz="1150" dirty="0"/>
          </a:p>
        </p:txBody>
      </p:sp>
      <p:sp>
        <p:nvSpPr>
          <p:cNvPr id="45" name="Shape 43"/>
          <p:cNvSpPr/>
          <p:nvPr/>
        </p:nvSpPr>
        <p:spPr>
          <a:xfrm>
            <a:off x="566928" y="5632704"/>
            <a:ext cx="11057839" cy="548640"/>
          </a:xfrm>
          <a:prstGeom prst="roundRect">
            <a:avLst>
              <a:gd name="adj" fmla="val 8333"/>
            </a:avLst>
          </a:prstGeom>
          <a:solidFill>
            <a:srgbClr val="FCEDE0"/>
          </a:solidFill>
          <a:ln w="12700">
            <a:solidFill>
              <a:srgbClr val="D96A16"/>
            </a:solidFill>
            <a:prstDash val="solid"/>
          </a:ln>
        </p:spPr>
      </p:sp>
      <p:sp>
        <p:nvSpPr>
          <p:cNvPr id="46" name="Text 44"/>
          <p:cNvSpPr/>
          <p:nvPr/>
        </p:nvSpPr>
        <p:spPr>
          <a:xfrm>
            <a:off x="768096" y="5632704"/>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A model is a piece of plant. It degrades, it needs overhauling, and it needs an owner. Budget for it or lose it.</a:t>
            </a:r>
            <a:endParaRPr lang="en-US" sz="13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Why AI programmes fail</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Eight failures seen again and again, and the countermeasure for each one</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9. Implementing responsibly</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113</a:t>
            </a:r>
            <a:endParaRPr lang="en-US" sz="950" dirty="0"/>
          </a:p>
        </p:txBody>
      </p:sp>
      <p:sp>
        <p:nvSpPr>
          <p:cNvPr id="7" name="Text 5"/>
          <p:cNvSpPr/>
          <p:nvPr/>
        </p:nvSpPr>
        <p:spPr>
          <a:xfrm>
            <a:off x="786384" y="1627632"/>
            <a:ext cx="4572000" cy="274320"/>
          </a:xfrm>
          <a:prstGeom prst="rect">
            <a:avLst/>
          </a:prstGeom>
          <a:noFill/>
          <a:ln/>
        </p:spPr>
        <p:txBody>
          <a:bodyPr wrap="square" lIns="0" tIns="0" rIns="0" bIns="0" rtlCol="0" anchor="ctr"/>
          <a:lstStyle/>
          <a:p>
            <a:pPr indent="0" marL="0">
              <a:buNone/>
            </a:pPr>
            <a:r>
              <a:rPr lang="en-US" sz="1050" b="1" spc="120" kern="0" dirty="0">
                <a:solidFill>
                  <a:srgbClr val="A8261E"/>
                </a:solidFill>
                <a:latin typeface="Calibri" pitchFamily="34" charset="0"/>
                <a:ea typeface="Calibri" pitchFamily="34" charset="-122"/>
                <a:cs typeface="Calibri" pitchFamily="34" charset="-120"/>
              </a:rPr>
              <a:t>WHY IT FAILED</a:t>
            </a:r>
            <a:endParaRPr lang="en-US" sz="1050" dirty="0"/>
          </a:p>
        </p:txBody>
      </p:sp>
      <p:sp>
        <p:nvSpPr>
          <p:cNvPr id="8" name="Text 6"/>
          <p:cNvSpPr/>
          <p:nvPr/>
        </p:nvSpPr>
        <p:spPr>
          <a:xfrm>
            <a:off x="6117336" y="1627632"/>
            <a:ext cx="5486400" cy="274320"/>
          </a:xfrm>
          <a:prstGeom prst="rect">
            <a:avLst/>
          </a:prstGeom>
          <a:noFill/>
          <a:ln/>
        </p:spPr>
        <p:txBody>
          <a:bodyPr wrap="square" lIns="0" tIns="0" rIns="0" bIns="0" rtlCol="0" anchor="ctr"/>
          <a:lstStyle/>
          <a:p>
            <a:pPr indent="0" marL="0">
              <a:buNone/>
            </a:pPr>
            <a:r>
              <a:rPr lang="en-US" sz="1050" b="1" spc="120" kern="0" dirty="0">
                <a:solidFill>
                  <a:srgbClr val="256B45"/>
                </a:solidFill>
                <a:latin typeface="Calibri" pitchFamily="34" charset="0"/>
                <a:ea typeface="Calibri" pitchFamily="34" charset="-122"/>
                <a:cs typeface="Calibri" pitchFamily="34" charset="-120"/>
              </a:rPr>
              <a:t>WHAT PREVENTS IT</a:t>
            </a:r>
            <a:endParaRPr lang="en-US" sz="1050" dirty="0"/>
          </a:p>
        </p:txBody>
      </p:sp>
      <p:sp>
        <p:nvSpPr>
          <p:cNvPr id="9" name="Shape 7"/>
          <p:cNvSpPr/>
          <p:nvPr/>
        </p:nvSpPr>
        <p:spPr>
          <a:xfrm>
            <a:off x="566928" y="1956816"/>
            <a:ext cx="5074920" cy="371475"/>
          </a:xfrm>
          <a:prstGeom prst="roundRect">
            <a:avLst>
              <a:gd name="adj" fmla="val 14769"/>
            </a:avLst>
          </a:prstGeom>
          <a:solidFill>
            <a:srgbClr val="F9E7E5"/>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0" name="Text 8"/>
          <p:cNvSpPr/>
          <p:nvPr/>
        </p:nvSpPr>
        <p:spPr>
          <a:xfrm>
            <a:off x="768096" y="1956816"/>
            <a:ext cx="4709160" cy="371475"/>
          </a:xfrm>
          <a:prstGeom prst="rect">
            <a:avLst/>
          </a:prstGeom>
          <a:noFill/>
          <a:ln/>
        </p:spPr>
        <p:txBody>
          <a:bodyPr wrap="square" lIns="0" tIns="0" rIns="0" bIns="0" rtlCol="0" anchor="ctr"/>
          <a:lstStyle/>
          <a:p>
            <a:pPr indent="0" marL="0">
              <a:buNone/>
            </a:pPr>
            <a:r>
              <a:rPr lang="en-US" sz="1230" dirty="0">
                <a:solidFill>
                  <a:srgbClr val="7A1C16"/>
                </a:solidFill>
                <a:latin typeface="Calibri" pitchFamily="34" charset="0"/>
                <a:ea typeface="Calibri" pitchFamily="34" charset="-122"/>
                <a:cs typeface="Calibri" pitchFamily="34" charset="-120"/>
              </a:rPr>
              <a:t>Started with technology, not a problem</a:t>
            </a:r>
            <a:endParaRPr lang="en-US" sz="1230" dirty="0"/>
          </a:p>
        </p:txBody>
      </p:sp>
      <p:sp>
        <p:nvSpPr>
          <p:cNvPr id="11" name="Shape 9"/>
          <p:cNvSpPr/>
          <p:nvPr/>
        </p:nvSpPr>
        <p:spPr>
          <a:xfrm rot="5400000">
            <a:off x="5715000" y="2041970"/>
            <a:ext cx="137160" cy="219456"/>
          </a:xfrm>
          <a:prstGeom prst="triangle">
            <a:avLst/>
          </a:prstGeom>
          <a:solidFill>
            <a:srgbClr val="5C6B7A"/>
          </a:solidFill>
          <a:ln/>
        </p:spPr>
      </p:sp>
      <p:sp>
        <p:nvSpPr>
          <p:cNvPr id="12" name="Shape 10"/>
          <p:cNvSpPr/>
          <p:nvPr/>
        </p:nvSpPr>
        <p:spPr>
          <a:xfrm>
            <a:off x="5916168" y="1956816"/>
            <a:ext cx="5708599" cy="371475"/>
          </a:xfrm>
          <a:prstGeom prst="roundRect">
            <a:avLst>
              <a:gd name="adj" fmla="val 14769"/>
            </a:avLst>
          </a:prstGeom>
          <a:solidFill>
            <a:srgbClr val="E4F0EA"/>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Text 11"/>
          <p:cNvSpPr/>
          <p:nvPr/>
        </p:nvSpPr>
        <p:spPr>
          <a:xfrm>
            <a:off x="6117336" y="1956816"/>
            <a:ext cx="5297119" cy="371475"/>
          </a:xfrm>
          <a:prstGeom prst="rect">
            <a:avLst/>
          </a:prstGeom>
          <a:noFill/>
          <a:ln/>
        </p:spPr>
        <p:txBody>
          <a:bodyPr wrap="square" lIns="0" tIns="0" rIns="0" bIns="0" rtlCol="0" anchor="ctr"/>
          <a:lstStyle/>
          <a:p>
            <a:pPr indent="0" marL="0">
              <a:buNone/>
            </a:pPr>
            <a:r>
              <a:rPr lang="en-US" sz="1230" dirty="0">
                <a:solidFill>
                  <a:srgbClr val="1B4E32"/>
                </a:solidFill>
                <a:latin typeface="Calibri" pitchFamily="34" charset="0"/>
                <a:ea typeface="Calibri" pitchFamily="34" charset="-122"/>
                <a:cs typeface="Calibri" pitchFamily="34" charset="-120"/>
              </a:rPr>
              <a:t>Write the problem and its rupee value before any vendor call</a:t>
            </a:r>
            <a:endParaRPr lang="en-US" sz="1230" dirty="0"/>
          </a:p>
        </p:txBody>
      </p:sp>
      <p:sp>
        <p:nvSpPr>
          <p:cNvPr id="14" name="Shape 12"/>
          <p:cNvSpPr/>
          <p:nvPr/>
        </p:nvSpPr>
        <p:spPr>
          <a:xfrm>
            <a:off x="566928" y="2401443"/>
            <a:ext cx="5074920" cy="371475"/>
          </a:xfrm>
          <a:prstGeom prst="roundRect">
            <a:avLst>
              <a:gd name="adj" fmla="val 14769"/>
            </a:avLst>
          </a:prstGeom>
          <a:solidFill>
            <a:srgbClr val="F9E7E5"/>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5" name="Text 13"/>
          <p:cNvSpPr/>
          <p:nvPr/>
        </p:nvSpPr>
        <p:spPr>
          <a:xfrm>
            <a:off x="768096" y="2401443"/>
            <a:ext cx="4709160" cy="371475"/>
          </a:xfrm>
          <a:prstGeom prst="rect">
            <a:avLst/>
          </a:prstGeom>
          <a:noFill/>
          <a:ln/>
        </p:spPr>
        <p:txBody>
          <a:bodyPr wrap="square" lIns="0" tIns="0" rIns="0" bIns="0" rtlCol="0" anchor="ctr"/>
          <a:lstStyle/>
          <a:p>
            <a:pPr indent="0" marL="0">
              <a:buNone/>
            </a:pPr>
            <a:r>
              <a:rPr lang="en-US" sz="1230" dirty="0">
                <a:solidFill>
                  <a:srgbClr val="7A1C16"/>
                </a:solidFill>
                <a:latin typeface="Calibri" pitchFamily="34" charset="0"/>
                <a:ea typeface="Calibri" pitchFamily="34" charset="-122"/>
                <a:cs typeface="Calibri" pitchFamily="34" charset="-120"/>
              </a:rPr>
              <a:t>Bought a platform, not an outcome</a:t>
            </a:r>
            <a:endParaRPr lang="en-US" sz="1230" dirty="0"/>
          </a:p>
        </p:txBody>
      </p:sp>
      <p:sp>
        <p:nvSpPr>
          <p:cNvPr id="16" name="Shape 14"/>
          <p:cNvSpPr/>
          <p:nvPr/>
        </p:nvSpPr>
        <p:spPr>
          <a:xfrm rot="5400000">
            <a:off x="5715000" y="2486597"/>
            <a:ext cx="137160" cy="219456"/>
          </a:xfrm>
          <a:prstGeom prst="triangle">
            <a:avLst/>
          </a:prstGeom>
          <a:solidFill>
            <a:srgbClr val="5C6B7A"/>
          </a:solidFill>
          <a:ln/>
        </p:spPr>
      </p:sp>
      <p:sp>
        <p:nvSpPr>
          <p:cNvPr id="17" name="Shape 15"/>
          <p:cNvSpPr/>
          <p:nvPr/>
        </p:nvSpPr>
        <p:spPr>
          <a:xfrm>
            <a:off x="5916168" y="2401443"/>
            <a:ext cx="5708599" cy="371475"/>
          </a:xfrm>
          <a:prstGeom prst="roundRect">
            <a:avLst>
              <a:gd name="adj" fmla="val 14769"/>
            </a:avLst>
          </a:prstGeom>
          <a:solidFill>
            <a:srgbClr val="E4F0EA"/>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8" name="Text 16"/>
          <p:cNvSpPr/>
          <p:nvPr/>
        </p:nvSpPr>
        <p:spPr>
          <a:xfrm>
            <a:off x="6117336" y="2401443"/>
            <a:ext cx="5297119" cy="371475"/>
          </a:xfrm>
          <a:prstGeom prst="rect">
            <a:avLst/>
          </a:prstGeom>
          <a:noFill/>
          <a:ln/>
        </p:spPr>
        <p:txBody>
          <a:bodyPr wrap="square" lIns="0" tIns="0" rIns="0" bIns="0" rtlCol="0" anchor="ctr"/>
          <a:lstStyle/>
          <a:p>
            <a:pPr indent="0" marL="0">
              <a:buNone/>
            </a:pPr>
            <a:r>
              <a:rPr lang="en-US" sz="1230" dirty="0">
                <a:solidFill>
                  <a:srgbClr val="1B4E32"/>
                </a:solidFill>
                <a:latin typeface="Calibri" pitchFamily="34" charset="0"/>
                <a:ea typeface="Calibri" pitchFamily="34" charset="-122"/>
                <a:cs typeface="Calibri" pitchFamily="34" charset="-120"/>
              </a:rPr>
              <a:t>Contract on a validated result at one unit, not on a licence</a:t>
            </a:r>
            <a:endParaRPr lang="en-US" sz="1230" dirty="0"/>
          </a:p>
        </p:txBody>
      </p:sp>
      <p:sp>
        <p:nvSpPr>
          <p:cNvPr id="19" name="Shape 17"/>
          <p:cNvSpPr/>
          <p:nvPr/>
        </p:nvSpPr>
        <p:spPr>
          <a:xfrm>
            <a:off x="566928" y="2846070"/>
            <a:ext cx="5074920" cy="371475"/>
          </a:xfrm>
          <a:prstGeom prst="roundRect">
            <a:avLst>
              <a:gd name="adj" fmla="val 14769"/>
            </a:avLst>
          </a:prstGeom>
          <a:solidFill>
            <a:srgbClr val="F9E7E5"/>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Text 18"/>
          <p:cNvSpPr/>
          <p:nvPr/>
        </p:nvSpPr>
        <p:spPr>
          <a:xfrm>
            <a:off x="768096" y="2846070"/>
            <a:ext cx="4709160" cy="371475"/>
          </a:xfrm>
          <a:prstGeom prst="rect">
            <a:avLst/>
          </a:prstGeom>
          <a:noFill/>
          <a:ln/>
        </p:spPr>
        <p:txBody>
          <a:bodyPr wrap="square" lIns="0" tIns="0" rIns="0" bIns="0" rtlCol="0" anchor="ctr"/>
          <a:lstStyle/>
          <a:p>
            <a:pPr indent="0" marL="0">
              <a:buNone/>
            </a:pPr>
            <a:r>
              <a:rPr lang="en-US" sz="1230" dirty="0">
                <a:solidFill>
                  <a:srgbClr val="7A1C16"/>
                </a:solidFill>
                <a:latin typeface="Calibri" pitchFamily="34" charset="0"/>
                <a:ea typeface="Calibri" pitchFamily="34" charset="-122"/>
                <a:cs typeface="Calibri" pitchFamily="34" charset="-120"/>
              </a:rPr>
              <a:t>Pilot ran on and on with no decision</a:t>
            </a:r>
            <a:endParaRPr lang="en-US" sz="1230" dirty="0"/>
          </a:p>
        </p:txBody>
      </p:sp>
      <p:sp>
        <p:nvSpPr>
          <p:cNvPr id="21" name="Shape 19"/>
          <p:cNvSpPr/>
          <p:nvPr/>
        </p:nvSpPr>
        <p:spPr>
          <a:xfrm rot="5400000">
            <a:off x="5715000" y="2931224"/>
            <a:ext cx="137160" cy="219456"/>
          </a:xfrm>
          <a:prstGeom prst="triangle">
            <a:avLst/>
          </a:prstGeom>
          <a:solidFill>
            <a:srgbClr val="5C6B7A"/>
          </a:solidFill>
          <a:ln/>
        </p:spPr>
      </p:sp>
      <p:sp>
        <p:nvSpPr>
          <p:cNvPr id="22" name="Shape 20"/>
          <p:cNvSpPr/>
          <p:nvPr/>
        </p:nvSpPr>
        <p:spPr>
          <a:xfrm>
            <a:off x="5916168" y="2846070"/>
            <a:ext cx="5708599" cy="371475"/>
          </a:xfrm>
          <a:prstGeom prst="roundRect">
            <a:avLst>
              <a:gd name="adj" fmla="val 14769"/>
            </a:avLst>
          </a:prstGeom>
          <a:solidFill>
            <a:srgbClr val="E4F0EA"/>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3" name="Text 21"/>
          <p:cNvSpPr/>
          <p:nvPr/>
        </p:nvSpPr>
        <p:spPr>
          <a:xfrm>
            <a:off x="6117336" y="2846070"/>
            <a:ext cx="5297119" cy="371475"/>
          </a:xfrm>
          <a:prstGeom prst="rect">
            <a:avLst/>
          </a:prstGeom>
          <a:noFill/>
          <a:ln/>
        </p:spPr>
        <p:txBody>
          <a:bodyPr wrap="square" lIns="0" tIns="0" rIns="0" bIns="0" rtlCol="0" anchor="ctr"/>
          <a:lstStyle/>
          <a:p>
            <a:pPr indent="0" marL="0">
              <a:buNone/>
            </a:pPr>
            <a:r>
              <a:rPr lang="en-US" sz="1230" dirty="0">
                <a:solidFill>
                  <a:srgbClr val="1B4E32"/>
                </a:solidFill>
                <a:latin typeface="Calibri" pitchFamily="34" charset="0"/>
                <a:ea typeface="Calibri" pitchFamily="34" charset="-122"/>
                <a:cs typeface="Calibri" pitchFamily="34" charset="-120"/>
              </a:rPr>
              <a:t>Fix the go or no-go date and the decision-maker up front</a:t>
            </a:r>
            <a:endParaRPr lang="en-US" sz="1230" dirty="0"/>
          </a:p>
        </p:txBody>
      </p:sp>
      <p:sp>
        <p:nvSpPr>
          <p:cNvPr id="24" name="Shape 22"/>
          <p:cNvSpPr/>
          <p:nvPr/>
        </p:nvSpPr>
        <p:spPr>
          <a:xfrm>
            <a:off x="566928" y="3290697"/>
            <a:ext cx="5074920" cy="371475"/>
          </a:xfrm>
          <a:prstGeom prst="roundRect">
            <a:avLst>
              <a:gd name="adj" fmla="val 14769"/>
            </a:avLst>
          </a:prstGeom>
          <a:solidFill>
            <a:srgbClr val="F9E7E5"/>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5" name="Text 23"/>
          <p:cNvSpPr/>
          <p:nvPr/>
        </p:nvSpPr>
        <p:spPr>
          <a:xfrm>
            <a:off x="768096" y="3290697"/>
            <a:ext cx="4709160" cy="371475"/>
          </a:xfrm>
          <a:prstGeom prst="rect">
            <a:avLst/>
          </a:prstGeom>
          <a:noFill/>
          <a:ln/>
        </p:spPr>
        <p:txBody>
          <a:bodyPr wrap="square" lIns="0" tIns="0" rIns="0" bIns="0" rtlCol="0" anchor="ctr"/>
          <a:lstStyle/>
          <a:p>
            <a:pPr indent="0" marL="0">
              <a:buNone/>
            </a:pPr>
            <a:r>
              <a:rPr lang="en-US" sz="1230" dirty="0">
                <a:solidFill>
                  <a:srgbClr val="7A1C16"/>
                </a:solidFill>
                <a:latin typeface="Calibri" pitchFamily="34" charset="0"/>
                <a:ea typeface="Calibri" pitchFamily="34" charset="-122"/>
                <a:cs typeface="Calibri" pitchFamily="34" charset="-120"/>
              </a:rPr>
              <a:t>No baseline, so the benefit was disputed</a:t>
            </a:r>
            <a:endParaRPr lang="en-US" sz="1230" dirty="0"/>
          </a:p>
        </p:txBody>
      </p:sp>
      <p:sp>
        <p:nvSpPr>
          <p:cNvPr id="26" name="Shape 24"/>
          <p:cNvSpPr/>
          <p:nvPr/>
        </p:nvSpPr>
        <p:spPr>
          <a:xfrm rot="5400000">
            <a:off x="5715000" y="3375851"/>
            <a:ext cx="137160" cy="219456"/>
          </a:xfrm>
          <a:prstGeom prst="triangle">
            <a:avLst/>
          </a:prstGeom>
          <a:solidFill>
            <a:srgbClr val="5C6B7A"/>
          </a:solidFill>
          <a:ln/>
        </p:spPr>
      </p:sp>
      <p:sp>
        <p:nvSpPr>
          <p:cNvPr id="27" name="Shape 25"/>
          <p:cNvSpPr/>
          <p:nvPr/>
        </p:nvSpPr>
        <p:spPr>
          <a:xfrm>
            <a:off x="5916168" y="3290697"/>
            <a:ext cx="5708599" cy="371475"/>
          </a:xfrm>
          <a:prstGeom prst="roundRect">
            <a:avLst>
              <a:gd name="adj" fmla="val 14769"/>
            </a:avLst>
          </a:prstGeom>
          <a:solidFill>
            <a:srgbClr val="E4F0EA"/>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Text 26"/>
          <p:cNvSpPr/>
          <p:nvPr/>
        </p:nvSpPr>
        <p:spPr>
          <a:xfrm>
            <a:off x="6117336" y="3290697"/>
            <a:ext cx="5297119" cy="371475"/>
          </a:xfrm>
          <a:prstGeom prst="rect">
            <a:avLst/>
          </a:prstGeom>
          <a:noFill/>
          <a:ln/>
        </p:spPr>
        <p:txBody>
          <a:bodyPr wrap="square" lIns="0" tIns="0" rIns="0" bIns="0" rtlCol="0" anchor="ctr"/>
          <a:lstStyle/>
          <a:p>
            <a:pPr indent="0" marL="0">
              <a:buNone/>
            </a:pPr>
            <a:r>
              <a:rPr lang="en-US" sz="1230" dirty="0">
                <a:solidFill>
                  <a:srgbClr val="1B4E32"/>
                </a:solidFill>
                <a:latin typeface="Calibri" pitchFamily="34" charset="0"/>
                <a:ea typeface="Calibri" pitchFamily="34" charset="-122"/>
                <a:cs typeface="Calibri" pitchFamily="34" charset="-120"/>
              </a:rPr>
              <a:t>Agree the baseline and how it is calculated on day one</a:t>
            </a:r>
            <a:endParaRPr lang="en-US" sz="1230" dirty="0"/>
          </a:p>
        </p:txBody>
      </p:sp>
      <p:sp>
        <p:nvSpPr>
          <p:cNvPr id="29" name="Shape 27"/>
          <p:cNvSpPr/>
          <p:nvPr/>
        </p:nvSpPr>
        <p:spPr>
          <a:xfrm>
            <a:off x="566928" y="3735324"/>
            <a:ext cx="5074920" cy="371475"/>
          </a:xfrm>
          <a:prstGeom prst="roundRect">
            <a:avLst>
              <a:gd name="adj" fmla="val 14769"/>
            </a:avLst>
          </a:prstGeom>
          <a:solidFill>
            <a:srgbClr val="F9E7E5"/>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0" name="Text 28"/>
          <p:cNvSpPr/>
          <p:nvPr/>
        </p:nvSpPr>
        <p:spPr>
          <a:xfrm>
            <a:off x="768096" y="3735324"/>
            <a:ext cx="4709160" cy="371475"/>
          </a:xfrm>
          <a:prstGeom prst="rect">
            <a:avLst/>
          </a:prstGeom>
          <a:noFill/>
          <a:ln/>
        </p:spPr>
        <p:txBody>
          <a:bodyPr wrap="square" lIns="0" tIns="0" rIns="0" bIns="0" rtlCol="0" anchor="ctr"/>
          <a:lstStyle/>
          <a:p>
            <a:pPr indent="0" marL="0">
              <a:buNone/>
            </a:pPr>
            <a:r>
              <a:rPr lang="en-US" sz="1230" dirty="0">
                <a:solidFill>
                  <a:srgbClr val="7A1C16"/>
                </a:solidFill>
                <a:latin typeface="Calibri" pitchFamily="34" charset="0"/>
                <a:ea typeface="Calibri" pitchFamily="34" charset="-122"/>
                <a:cs typeface="Calibri" pitchFamily="34" charset="-120"/>
              </a:rPr>
              <a:t>Operators heard about it after go-live</a:t>
            </a:r>
            <a:endParaRPr lang="en-US" sz="1230" dirty="0"/>
          </a:p>
        </p:txBody>
      </p:sp>
      <p:sp>
        <p:nvSpPr>
          <p:cNvPr id="31" name="Shape 29"/>
          <p:cNvSpPr/>
          <p:nvPr/>
        </p:nvSpPr>
        <p:spPr>
          <a:xfrm rot="5400000">
            <a:off x="5715000" y="3820477"/>
            <a:ext cx="137160" cy="219456"/>
          </a:xfrm>
          <a:prstGeom prst="triangle">
            <a:avLst/>
          </a:prstGeom>
          <a:solidFill>
            <a:srgbClr val="5C6B7A"/>
          </a:solidFill>
          <a:ln/>
        </p:spPr>
      </p:sp>
      <p:sp>
        <p:nvSpPr>
          <p:cNvPr id="32" name="Shape 30"/>
          <p:cNvSpPr/>
          <p:nvPr/>
        </p:nvSpPr>
        <p:spPr>
          <a:xfrm>
            <a:off x="5916168" y="3735324"/>
            <a:ext cx="5708599" cy="371475"/>
          </a:xfrm>
          <a:prstGeom prst="roundRect">
            <a:avLst>
              <a:gd name="adj" fmla="val 14769"/>
            </a:avLst>
          </a:prstGeom>
          <a:solidFill>
            <a:srgbClr val="E4F0EA"/>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3" name="Text 31"/>
          <p:cNvSpPr/>
          <p:nvPr/>
        </p:nvSpPr>
        <p:spPr>
          <a:xfrm>
            <a:off x="6117336" y="3735324"/>
            <a:ext cx="5297119" cy="371475"/>
          </a:xfrm>
          <a:prstGeom prst="rect">
            <a:avLst/>
          </a:prstGeom>
          <a:noFill/>
          <a:ln/>
        </p:spPr>
        <p:txBody>
          <a:bodyPr wrap="square" lIns="0" tIns="0" rIns="0" bIns="0" rtlCol="0" anchor="ctr"/>
          <a:lstStyle/>
          <a:p>
            <a:pPr indent="0" marL="0">
              <a:buNone/>
            </a:pPr>
            <a:r>
              <a:rPr lang="en-US" sz="1230" dirty="0">
                <a:solidFill>
                  <a:srgbClr val="1B4E32"/>
                </a:solidFill>
                <a:latin typeface="Calibri" pitchFamily="34" charset="0"/>
                <a:ea typeface="Calibri" pitchFamily="34" charset="-122"/>
                <a:cs typeface="Calibri" pitchFamily="34" charset="-120"/>
              </a:rPr>
              <a:t>Shift engineers in the design review from week one</a:t>
            </a:r>
            <a:endParaRPr lang="en-US" sz="1230" dirty="0"/>
          </a:p>
        </p:txBody>
      </p:sp>
      <p:sp>
        <p:nvSpPr>
          <p:cNvPr id="34" name="Shape 32"/>
          <p:cNvSpPr/>
          <p:nvPr/>
        </p:nvSpPr>
        <p:spPr>
          <a:xfrm>
            <a:off x="566928" y="4179951"/>
            <a:ext cx="5074920" cy="371475"/>
          </a:xfrm>
          <a:prstGeom prst="roundRect">
            <a:avLst>
              <a:gd name="adj" fmla="val 14769"/>
            </a:avLst>
          </a:prstGeom>
          <a:solidFill>
            <a:srgbClr val="F9E7E5"/>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5" name="Text 33"/>
          <p:cNvSpPr/>
          <p:nvPr/>
        </p:nvSpPr>
        <p:spPr>
          <a:xfrm>
            <a:off x="768096" y="4179951"/>
            <a:ext cx="4709160" cy="371475"/>
          </a:xfrm>
          <a:prstGeom prst="rect">
            <a:avLst/>
          </a:prstGeom>
          <a:noFill/>
          <a:ln/>
        </p:spPr>
        <p:txBody>
          <a:bodyPr wrap="square" lIns="0" tIns="0" rIns="0" bIns="0" rtlCol="0" anchor="ctr"/>
          <a:lstStyle/>
          <a:p>
            <a:pPr indent="0" marL="0">
              <a:buNone/>
            </a:pPr>
            <a:r>
              <a:rPr lang="en-US" sz="1230" dirty="0">
                <a:solidFill>
                  <a:srgbClr val="7A1C16"/>
                </a:solidFill>
                <a:latin typeface="Calibri" pitchFamily="34" charset="0"/>
                <a:ea typeface="Calibri" pitchFamily="34" charset="-122"/>
                <a:cs typeface="Calibri" pitchFamily="34" charset="-120"/>
              </a:rPr>
              <a:t>Data promised by IT, never delivered</a:t>
            </a:r>
            <a:endParaRPr lang="en-US" sz="1230" dirty="0"/>
          </a:p>
        </p:txBody>
      </p:sp>
      <p:sp>
        <p:nvSpPr>
          <p:cNvPr id="36" name="Shape 34"/>
          <p:cNvSpPr/>
          <p:nvPr/>
        </p:nvSpPr>
        <p:spPr>
          <a:xfrm rot="5400000">
            <a:off x="5715000" y="4265105"/>
            <a:ext cx="137160" cy="219456"/>
          </a:xfrm>
          <a:prstGeom prst="triangle">
            <a:avLst/>
          </a:prstGeom>
          <a:solidFill>
            <a:srgbClr val="5C6B7A"/>
          </a:solidFill>
          <a:ln/>
        </p:spPr>
      </p:sp>
      <p:sp>
        <p:nvSpPr>
          <p:cNvPr id="37" name="Shape 35"/>
          <p:cNvSpPr/>
          <p:nvPr/>
        </p:nvSpPr>
        <p:spPr>
          <a:xfrm>
            <a:off x="5916168" y="4179951"/>
            <a:ext cx="5708599" cy="371475"/>
          </a:xfrm>
          <a:prstGeom prst="roundRect">
            <a:avLst>
              <a:gd name="adj" fmla="val 14769"/>
            </a:avLst>
          </a:prstGeom>
          <a:solidFill>
            <a:srgbClr val="E4F0EA"/>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8" name="Text 36"/>
          <p:cNvSpPr/>
          <p:nvPr/>
        </p:nvSpPr>
        <p:spPr>
          <a:xfrm>
            <a:off x="6117336" y="4179951"/>
            <a:ext cx="5297119" cy="371475"/>
          </a:xfrm>
          <a:prstGeom prst="rect">
            <a:avLst/>
          </a:prstGeom>
          <a:noFill/>
          <a:ln/>
        </p:spPr>
        <p:txBody>
          <a:bodyPr wrap="square" lIns="0" tIns="0" rIns="0" bIns="0" rtlCol="0" anchor="ctr"/>
          <a:lstStyle/>
          <a:p>
            <a:pPr indent="0" marL="0">
              <a:buNone/>
            </a:pPr>
            <a:r>
              <a:rPr lang="en-US" sz="1230" dirty="0">
                <a:solidFill>
                  <a:srgbClr val="1B4E32"/>
                </a:solidFill>
                <a:latin typeface="Calibri" pitchFamily="34" charset="0"/>
                <a:ea typeface="Calibri" pitchFamily="34" charset="-122"/>
                <a:cs typeface="Calibri" pitchFamily="34" charset="-120"/>
              </a:rPr>
              <a:t>Extract and inspect 12 months of history before signing</a:t>
            </a:r>
            <a:endParaRPr lang="en-US" sz="1230" dirty="0"/>
          </a:p>
        </p:txBody>
      </p:sp>
      <p:sp>
        <p:nvSpPr>
          <p:cNvPr id="39" name="Shape 37"/>
          <p:cNvSpPr/>
          <p:nvPr/>
        </p:nvSpPr>
        <p:spPr>
          <a:xfrm>
            <a:off x="566928" y="4624578"/>
            <a:ext cx="5074920" cy="371475"/>
          </a:xfrm>
          <a:prstGeom prst="roundRect">
            <a:avLst>
              <a:gd name="adj" fmla="val 14769"/>
            </a:avLst>
          </a:prstGeom>
          <a:solidFill>
            <a:srgbClr val="F9E7E5"/>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40" name="Text 38"/>
          <p:cNvSpPr/>
          <p:nvPr/>
        </p:nvSpPr>
        <p:spPr>
          <a:xfrm>
            <a:off x="768096" y="4624578"/>
            <a:ext cx="4709160" cy="371475"/>
          </a:xfrm>
          <a:prstGeom prst="rect">
            <a:avLst/>
          </a:prstGeom>
          <a:noFill/>
          <a:ln/>
        </p:spPr>
        <p:txBody>
          <a:bodyPr wrap="square" lIns="0" tIns="0" rIns="0" bIns="0" rtlCol="0" anchor="ctr"/>
          <a:lstStyle/>
          <a:p>
            <a:pPr indent="0" marL="0">
              <a:buNone/>
            </a:pPr>
            <a:r>
              <a:rPr lang="en-US" sz="1230" dirty="0">
                <a:solidFill>
                  <a:srgbClr val="7A1C16"/>
                </a:solidFill>
                <a:latin typeface="Calibri" pitchFamily="34" charset="0"/>
                <a:ea typeface="Calibri" pitchFamily="34" charset="-122"/>
                <a:cs typeface="Calibri" pitchFamily="34" charset="-120"/>
              </a:rPr>
              <a:t>Scaled to the fleet before proving one unit</a:t>
            </a:r>
            <a:endParaRPr lang="en-US" sz="1230" dirty="0"/>
          </a:p>
        </p:txBody>
      </p:sp>
      <p:sp>
        <p:nvSpPr>
          <p:cNvPr id="41" name="Shape 39"/>
          <p:cNvSpPr/>
          <p:nvPr/>
        </p:nvSpPr>
        <p:spPr>
          <a:xfrm rot="5400000">
            <a:off x="5715000" y="4709732"/>
            <a:ext cx="137160" cy="219456"/>
          </a:xfrm>
          <a:prstGeom prst="triangle">
            <a:avLst/>
          </a:prstGeom>
          <a:solidFill>
            <a:srgbClr val="5C6B7A"/>
          </a:solidFill>
          <a:ln/>
        </p:spPr>
      </p:sp>
      <p:sp>
        <p:nvSpPr>
          <p:cNvPr id="42" name="Shape 40"/>
          <p:cNvSpPr/>
          <p:nvPr/>
        </p:nvSpPr>
        <p:spPr>
          <a:xfrm>
            <a:off x="5916168" y="4624578"/>
            <a:ext cx="5708599" cy="371475"/>
          </a:xfrm>
          <a:prstGeom prst="roundRect">
            <a:avLst>
              <a:gd name="adj" fmla="val 14769"/>
            </a:avLst>
          </a:prstGeom>
          <a:solidFill>
            <a:srgbClr val="E4F0EA"/>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43" name="Text 41"/>
          <p:cNvSpPr/>
          <p:nvPr/>
        </p:nvSpPr>
        <p:spPr>
          <a:xfrm>
            <a:off x="6117336" y="4624578"/>
            <a:ext cx="5297119" cy="371475"/>
          </a:xfrm>
          <a:prstGeom prst="rect">
            <a:avLst/>
          </a:prstGeom>
          <a:noFill/>
          <a:ln/>
        </p:spPr>
        <p:txBody>
          <a:bodyPr wrap="square" lIns="0" tIns="0" rIns="0" bIns="0" rtlCol="0" anchor="ctr"/>
          <a:lstStyle/>
          <a:p>
            <a:pPr indent="0" marL="0">
              <a:buNone/>
            </a:pPr>
            <a:r>
              <a:rPr lang="en-US" sz="1230" dirty="0">
                <a:solidFill>
                  <a:srgbClr val="1B4E32"/>
                </a:solidFill>
                <a:latin typeface="Calibri" pitchFamily="34" charset="0"/>
                <a:ea typeface="Calibri" pitchFamily="34" charset="-122"/>
                <a:cs typeface="Calibri" pitchFamily="34" charset="-120"/>
              </a:rPr>
              <a:t>One machine, one owner, one proven result, then replicate</a:t>
            </a:r>
            <a:endParaRPr lang="en-US" sz="1230" dirty="0"/>
          </a:p>
        </p:txBody>
      </p:sp>
      <p:sp>
        <p:nvSpPr>
          <p:cNvPr id="44" name="Shape 42"/>
          <p:cNvSpPr/>
          <p:nvPr/>
        </p:nvSpPr>
        <p:spPr>
          <a:xfrm>
            <a:off x="566928" y="5069205"/>
            <a:ext cx="5074920" cy="371475"/>
          </a:xfrm>
          <a:prstGeom prst="roundRect">
            <a:avLst>
              <a:gd name="adj" fmla="val 14769"/>
            </a:avLst>
          </a:prstGeom>
          <a:solidFill>
            <a:srgbClr val="F9E7E5"/>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45" name="Text 43"/>
          <p:cNvSpPr/>
          <p:nvPr/>
        </p:nvSpPr>
        <p:spPr>
          <a:xfrm>
            <a:off x="768096" y="5069205"/>
            <a:ext cx="4709160" cy="371475"/>
          </a:xfrm>
          <a:prstGeom prst="rect">
            <a:avLst/>
          </a:prstGeom>
          <a:noFill/>
          <a:ln/>
        </p:spPr>
        <p:txBody>
          <a:bodyPr wrap="square" lIns="0" tIns="0" rIns="0" bIns="0" rtlCol="0" anchor="ctr"/>
          <a:lstStyle/>
          <a:p>
            <a:pPr indent="0" marL="0">
              <a:buNone/>
            </a:pPr>
            <a:r>
              <a:rPr lang="en-US" sz="1230" dirty="0">
                <a:solidFill>
                  <a:srgbClr val="7A1C16"/>
                </a:solidFill>
                <a:latin typeface="Calibri" pitchFamily="34" charset="0"/>
                <a:ea typeface="Calibri" pitchFamily="34" charset="-122"/>
                <a:cs typeface="Calibri" pitchFamily="34" charset="-120"/>
              </a:rPr>
              <a:t>Nobody budgeted to run it after year one</a:t>
            </a:r>
            <a:endParaRPr lang="en-US" sz="1230" dirty="0"/>
          </a:p>
        </p:txBody>
      </p:sp>
      <p:sp>
        <p:nvSpPr>
          <p:cNvPr id="46" name="Shape 44"/>
          <p:cNvSpPr/>
          <p:nvPr/>
        </p:nvSpPr>
        <p:spPr>
          <a:xfrm rot="5400000">
            <a:off x="5715000" y="5154359"/>
            <a:ext cx="137160" cy="219456"/>
          </a:xfrm>
          <a:prstGeom prst="triangle">
            <a:avLst/>
          </a:prstGeom>
          <a:solidFill>
            <a:srgbClr val="5C6B7A"/>
          </a:solidFill>
          <a:ln/>
        </p:spPr>
      </p:sp>
      <p:sp>
        <p:nvSpPr>
          <p:cNvPr id="47" name="Shape 45"/>
          <p:cNvSpPr/>
          <p:nvPr/>
        </p:nvSpPr>
        <p:spPr>
          <a:xfrm>
            <a:off x="5916168" y="5069205"/>
            <a:ext cx="5708599" cy="371475"/>
          </a:xfrm>
          <a:prstGeom prst="roundRect">
            <a:avLst>
              <a:gd name="adj" fmla="val 14769"/>
            </a:avLst>
          </a:prstGeom>
          <a:solidFill>
            <a:srgbClr val="E4F0EA"/>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48" name="Text 46"/>
          <p:cNvSpPr/>
          <p:nvPr/>
        </p:nvSpPr>
        <p:spPr>
          <a:xfrm>
            <a:off x="6117336" y="5069205"/>
            <a:ext cx="5297119" cy="371475"/>
          </a:xfrm>
          <a:prstGeom prst="rect">
            <a:avLst/>
          </a:prstGeom>
          <a:noFill/>
          <a:ln/>
        </p:spPr>
        <p:txBody>
          <a:bodyPr wrap="square" lIns="0" tIns="0" rIns="0" bIns="0" rtlCol="0" anchor="ctr"/>
          <a:lstStyle/>
          <a:p>
            <a:pPr indent="0" marL="0">
              <a:buNone/>
            </a:pPr>
            <a:r>
              <a:rPr lang="en-US" sz="1230" dirty="0">
                <a:solidFill>
                  <a:srgbClr val="1B4E32"/>
                </a:solidFill>
                <a:latin typeface="Calibri" pitchFamily="34" charset="0"/>
                <a:ea typeface="Calibri" pitchFamily="34" charset="-122"/>
                <a:cs typeface="Calibri" pitchFamily="34" charset="-120"/>
              </a:rPr>
              <a:t>Fund support, retraining and tags in the same sanction</a:t>
            </a:r>
            <a:endParaRPr lang="en-US" sz="1230" dirty="0"/>
          </a:p>
        </p:txBody>
      </p:sp>
      <p:sp>
        <p:nvSpPr>
          <p:cNvPr id="49" name="Shape 47"/>
          <p:cNvSpPr/>
          <p:nvPr/>
        </p:nvSpPr>
        <p:spPr>
          <a:xfrm>
            <a:off x="566928" y="5660136"/>
            <a:ext cx="11057839" cy="548640"/>
          </a:xfrm>
          <a:prstGeom prst="roundRect">
            <a:avLst>
              <a:gd name="adj" fmla="val 8333"/>
            </a:avLst>
          </a:prstGeom>
          <a:solidFill>
            <a:srgbClr val="FCEDE0"/>
          </a:solidFill>
          <a:ln w="12700">
            <a:solidFill>
              <a:srgbClr val="D96A16"/>
            </a:solidFill>
            <a:prstDash val="solid"/>
          </a:ln>
        </p:spPr>
      </p:sp>
      <p:sp>
        <p:nvSpPr>
          <p:cNvPr id="50" name="Text 48"/>
          <p:cNvSpPr/>
          <p:nvPr/>
        </p:nvSpPr>
        <p:spPr>
          <a:xfrm>
            <a:off x="768096" y="5660136"/>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Every one of these is an organisational failure, not a technical one — which is good news, because you control all of them.</a:t>
            </a:r>
            <a:endParaRPr lang="en-US" sz="13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Sizing the prize honestly</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June 2026 evidence, converted into a first-year target that finance will accept</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9. Implementing responsibly</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114</a:t>
            </a:r>
            <a:endParaRPr lang="en-US" sz="950" dirty="0"/>
          </a:p>
        </p:txBody>
      </p:sp>
      <p:graphicFrame>
        <p:nvGraphicFramePr>
          <p:cNvPr id="115"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11057839" cy="914400"/>
        </p:xfrm>
        <a:graphic>
          <a:graphicData uri="http://schemas.openxmlformats.org/drawingml/2006/table">
            <a:tbl>
              <a:tblPr/>
              <a:tblGrid>
                <a:gridCol w="2904698"/>
                <a:gridCol w="2141490"/>
                <a:gridCol w="2219891"/>
                <a:gridCol w="1760755"/>
                <a:gridCol w="2031006"/>
              </a:tblGrid>
              <a:tr h="420624">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Evidence, June 2026</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Value at stake</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Where it comes from</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Realisation</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First-year target</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r>
              <a:tr h="420624">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Net heat-rate gap vs MERC norm</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₹56.35 cr/month</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13 thermal groups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15–25 %</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₹8.5–14.1 cr/mth</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420624">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 of which auxiliary power</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₹32.91 cr/month</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81.5 MU above norm</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15–25 %</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₹4.9–8.2 cr/mth</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420624">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Availability disallowance</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₹100.87 cr cumulative</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₹32.93 cr in the June bill</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15–25 %</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₹15.1–25.2 cr</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420624">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Heat rate, annualised</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 ₹676 cr/year</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If June is a typical month</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15–25 %</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₹101–169 cr/yr</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bl>
          </a:graphicData>
        </a:graphic>
      </p:graphicFrame>
      <p:sp>
        <p:nvSpPr>
          <p:cNvPr id="8" name="Shape 5"/>
          <p:cNvSpPr/>
          <p:nvPr/>
        </p:nvSpPr>
        <p:spPr>
          <a:xfrm>
            <a:off x="566928" y="4206240"/>
            <a:ext cx="5669280" cy="1234440"/>
          </a:xfrm>
          <a:prstGeom prst="roundRect">
            <a:avLst>
              <a:gd name="adj" fmla="val 4444"/>
            </a:avLst>
          </a:prstGeom>
          <a:solidFill>
            <a:srgbClr val="1C253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9" name="Text 6"/>
          <p:cNvSpPr/>
          <p:nvPr/>
        </p:nvSpPr>
        <p:spPr>
          <a:xfrm>
            <a:off x="749808" y="4334256"/>
            <a:ext cx="5303520" cy="621792"/>
          </a:xfrm>
          <a:prstGeom prst="rect">
            <a:avLst/>
          </a:prstGeom>
          <a:noFill/>
          <a:ln/>
        </p:spPr>
        <p:txBody>
          <a:bodyPr wrap="square" lIns="0" tIns="0" rIns="0" bIns="0" rtlCol="0" anchor="ctr"/>
          <a:lstStyle/>
          <a:p>
            <a:pPr algn="ctr" indent="0" marL="0">
              <a:buNone/>
            </a:pPr>
            <a:r>
              <a:rPr lang="en-US" sz="3400" b="1" dirty="0">
                <a:solidFill>
                  <a:srgbClr val="D96A16"/>
                </a:solidFill>
                <a:latin typeface="Cambria" pitchFamily="34" charset="0"/>
                <a:ea typeface="Cambria" pitchFamily="34" charset="-122"/>
                <a:cs typeface="Cambria" pitchFamily="34" charset="-120"/>
              </a:rPr>
              <a:t>₹101–169 cr</a:t>
            </a:r>
            <a:endParaRPr lang="en-US" sz="3400" dirty="0"/>
          </a:p>
        </p:txBody>
      </p:sp>
      <p:sp>
        <p:nvSpPr>
          <p:cNvPr id="10" name="Text 7"/>
          <p:cNvSpPr/>
          <p:nvPr/>
        </p:nvSpPr>
        <p:spPr>
          <a:xfrm>
            <a:off x="841248" y="4956048"/>
            <a:ext cx="5120640" cy="411480"/>
          </a:xfrm>
          <a:prstGeom prst="rect">
            <a:avLst/>
          </a:prstGeom>
          <a:noFill/>
          <a:ln/>
        </p:spPr>
        <p:txBody>
          <a:bodyPr wrap="square" lIns="0" tIns="0" rIns="0" bIns="0" rtlCol="0" anchor="ctr"/>
          <a:lstStyle/>
          <a:p>
            <a:pPr algn="ctr" indent="0" marL="0">
              <a:buNone/>
            </a:pPr>
            <a:r>
              <a:rPr lang="en-US" sz="1100" dirty="0">
                <a:solidFill>
                  <a:srgbClr val="C3CFDA"/>
                </a:solidFill>
                <a:latin typeface="Calibri" pitchFamily="34" charset="0"/>
                <a:ea typeface="Calibri" pitchFamily="34" charset="-122"/>
                <a:cs typeface="Calibri" pitchFamily="34" charset="-120"/>
              </a:rPr>
              <a:t>a defensible first-year heat-rate target at 15 to 25 per cent realisation of the June 2026 gap</a:t>
            </a:r>
            <a:endParaRPr lang="en-US" sz="1100" dirty="0"/>
          </a:p>
        </p:txBody>
      </p:sp>
      <p:sp>
        <p:nvSpPr>
          <p:cNvPr id="11" name="Shape 8"/>
          <p:cNvSpPr/>
          <p:nvPr/>
        </p:nvSpPr>
        <p:spPr>
          <a:xfrm>
            <a:off x="6510528" y="4206240"/>
            <a:ext cx="5114239" cy="1234440"/>
          </a:xfrm>
          <a:prstGeom prst="roundRect">
            <a:avLst>
              <a:gd name="adj" fmla="val 4444"/>
            </a:avLst>
          </a:prstGeom>
          <a:solidFill>
            <a:srgbClr val="E1EFF1"/>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9"/>
          <p:cNvSpPr/>
          <p:nvPr/>
        </p:nvSpPr>
        <p:spPr>
          <a:xfrm>
            <a:off x="6711696" y="4315968"/>
            <a:ext cx="4702759" cy="274320"/>
          </a:xfrm>
          <a:prstGeom prst="rect">
            <a:avLst/>
          </a:prstGeom>
          <a:noFill/>
          <a:ln/>
        </p:spPr>
        <p:txBody>
          <a:bodyPr wrap="square" lIns="0" tIns="0" rIns="0" bIns="0" rtlCol="0" anchor="ctr"/>
          <a:lstStyle/>
          <a:p>
            <a:pPr indent="0" marL="0">
              <a:buNone/>
            </a:pPr>
            <a:r>
              <a:rPr lang="en-US" sz="1250" b="1" dirty="0">
                <a:solidFill>
                  <a:srgbClr val="11707F"/>
                </a:solidFill>
                <a:latin typeface="Calibri" pitchFamily="34" charset="0"/>
                <a:ea typeface="Calibri" pitchFamily="34" charset="-122"/>
                <a:cs typeface="Calibri" pitchFamily="34" charset="-120"/>
              </a:rPr>
              <a:t>Indicative basis</a:t>
            </a:r>
            <a:endParaRPr lang="en-US" sz="1250" dirty="0"/>
          </a:p>
        </p:txBody>
      </p:sp>
      <p:sp>
        <p:nvSpPr>
          <p:cNvPr id="13" name="Text 10"/>
          <p:cNvSpPr/>
          <p:nvPr/>
        </p:nvSpPr>
        <p:spPr>
          <a:xfrm>
            <a:off x="6711696" y="4608576"/>
            <a:ext cx="4702759" cy="786384"/>
          </a:xfrm>
          <a:prstGeom prst="rect">
            <a:avLst/>
          </a:prstGeom>
          <a:noFill/>
          <a:ln/>
        </p:spPr>
        <p:txBody>
          <a:bodyPr wrap="square" lIns="0" tIns="0" rIns="0" bIns="0" rtlCol="0" anchor="ctr"/>
          <a:lstStyle/>
          <a:p>
            <a:pPr indent="0" marL="0">
              <a:buNone/>
            </a:pPr>
            <a:r>
              <a:rPr lang="en-US" sz="1100" dirty="0">
                <a:solidFill>
                  <a:srgbClr val="2E5C63"/>
                </a:solidFill>
                <a:latin typeface="Calibri" pitchFamily="34" charset="0"/>
                <a:ea typeface="Calibri" pitchFamily="34" charset="-122"/>
                <a:cs typeface="Calibri" pitchFamily="34" charset="-120"/>
              </a:rPr>
              <a:t>Values are the full gap against MERC normative performance for June 2026. No programme closes a gap entirely — apply a realisation assumption before putting any of this in a business case.</a:t>
            </a:r>
            <a:endParaRPr lang="en-US" sz="1100" dirty="0"/>
          </a:p>
        </p:txBody>
      </p:sp>
      <p:sp>
        <p:nvSpPr>
          <p:cNvPr id="14" name="Shape 11"/>
          <p:cNvSpPr/>
          <p:nvPr/>
        </p:nvSpPr>
        <p:spPr>
          <a:xfrm>
            <a:off x="566928" y="5596128"/>
            <a:ext cx="11057839" cy="548640"/>
          </a:xfrm>
          <a:prstGeom prst="roundRect">
            <a:avLst>
              <a:gd name="adj" fmla="val 8333"/>
            </a:avLst>
          </a:prstGeom>
          <a:solidFill>
            <a:srgbClr val="FCEDE0"/>
          </a:solidFill>
          <a:ln w="12700">
            <a:solidFill>
              <a:srgbClr val="D96A16"/>
            </a:solidFill>
            <a:prstDash val="solid"/>
          </a:ln>
        </p:spPr>
      </p:sp>
      <p:sp>
        <p:nvSpPr>
          <p:cNvPr id="15" name="Text 12"/>
          <p:cNvSpPr/>
          <p:nvPr/>
        </p:nvSpPr>
        <p:spPr>
          <a:xfrm>
            <a:off x="768096" y="5596128"/>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These are the values of closing the gap entirely. No programme does that, and a business case built on full closure will not survive the finance department.</a:t>
            </a:r>
            <a:endParaRPr lang="en-US" sz="13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Choosing your first pilot</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Seven criteria, six candidates, and a ninety-day plan with a name against each phase</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9. Implementing responsibly</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115</a:t>
            </a:r>
            <a:endParaRPr lang="en-US" sz="950" dirty="0"/>
          </a:p>
        </p:txBody>
      </p:sp>
      <p:sp>
        <p:nvSpPr>
          <p:cNvPr id="7" name="Shape 5"/>
          <p:cNvSpPr/>
          <p:nvPr/>
        </p:nvSpPr>
        <p:spPr>
          <a:xfrm>
            <a:off x="566928" y="1554480"/>
            <a:ext cx="1469963" cy="457200"/>
          </a:xfrm>
          <a:prstGeom prst="roundRect">
            <a:avLst>
              <a:gd name="adj" fmla="val 12000"/>
            </a:avLst>
          </a:prstGeom>
          <a:solidFill>
            <a:srgbClr val="E1EFF1"/>
          </a:solidFill>
          <a:ln w="9525">
            <a:solidFill>
              <a:srgbClr val="11707F"/>
            </a:solidFill>
            <a:prstDash val="solid"/>
          </a:ln>
        </p:spPr>
      </p:sp>
      <p:sp>
        <p:nvSpPr>
          <p:cNvPr id="8" name="Text 6"/>
          <p:cNvSpPr/>
          <p:nvPr/>
        </p:nvSpPr>
        <p:spPr>
          <a:xfrm>
            <a:off x="612648" y="1554480"/>
            <a:ext cx="1378523" cy="457200"/>
          </a:xfrm>
          <a:prstGeom prst="rect">
            <a:avLst/>
          </a:prstGeom>
          <a:noFill/>
          <a:ln/>
        </p:spPr>
        <p:txBody>
          <a:bodyPr wrap="square" lIns="0" tIns="0" rIns="0" bIns="0" rtlCol="0" anchor="ctr"/>
          <a:lstStyle/>
          <a:p>
            <a:pPr algn="ctr" indent="0" marL="0">
              <a:buNone/>
            </a:pPr>
            <a:r>
              <a:rPr lang="en-US" sz="900" dirty="0">
                <a:solidFill>
                  <a:srgbClr val="15606B"/>
                </a:solidFill>
                <a:latin typeface="Calibri" pitchFamily="34" charset="0"/>
                <a:ea typeface="Calibri" pitchFamily="34" charset="-122"/>
                <a:cs typeface="Calibri" pitchFamily="34" charset="-120"/>
              </a:rPr>
              <a:t>Data already historised</a:t>
            </a:r>
            <a:endParaRPr lang="en-US" sz="900" dirty="0"/>
          </a:p>
        </p:txBody>
      </p:sp>
      <p:sp>
        <p:nvSpPr>
          <p:cNvPr id="9" name="Shape 7"/>
          <p:cNvSpPr/>
          <p:nvPr/>
        </p:nvSpPr>
        <p:spPr>
          <a:xfrm>
            <a:off x="2164907" y="1554480"/>
            <a:ext cx="1469963" cy="457200"/>
          </a:xfrm>
          <a:prstGeom prst="roundRect">
            <a:avLst>
              <a:gd name="adj" fmla="val 12000"/>
            </a:avLst>
          </a:prstGeom>
          <a:solidFill>
            <a:srgbClr val="E1EFF1"/>
          </a:solidFill>
          <a:ln w="9525">
            <a:solidFill>
              <a:srgbClr val="11707F"/>
            </a:solidFill>
            <a:prstDash val="solid"/>
          </a:ln>
        </p:spPr>
      </p:sp>
      <p:sp>
        <p:nvSpPr>
          <p:cNvPr id="10" name="Text 8"/>
          <p:cNvSpPr/>
          <p:nvPr/>
        </p:nvSpPr>
        <p:spPr>
          <a:xfrm>
            <a:off x="2210627" y="1554480"/>
            <a:ext cx="1378523" cy="457200"/>
          </a:xfrm>
          <a:prstGeom prst="rect">
            <a:avLst/>
          </a:prstGeom>
          <a:noFill/>
          <a:ln/>
        </p:spPr>
        <p:txBody>
          <a:bodyPr wrap="square" lIns="0" tIns="0" rIns="0" bIns="0" rtlCol="0" anchor="ctr"/>
          <a:lstStyle/>
          <a:p>
            <a:pPr algn="ctr" indent="0" marL="0">
              <a:buNone/>
            </a:pPr>
            <a:r>
              <a:rPr lang="en-US" sz="900" dirty="0">
                <a:solidFill>
                  <a:srgbClr val="15606B"/>
                </a:solidFill>
                <a:latin typeface="Calibri" pitchFamily="34" charset="0"/>
                <a:ea typeface="Calibri" pitchFamily="34" charset="-122"/>
                <a:cs typeface="Calibri" pitchFamily="34" charset="-120"/>
              </a:rPr>
              <a:t>Problem clearly defined</a:t>
            </a:r>
            <a:endParaRPr lang="en-US" sz="900" dirty="0"/>
          </a:p>
        </p:txBody>
      </p:sp>
      <p:sp>
        <p:nvSpPr>
          <p:cNvPr id="11" name="Shape 9"/>
          <p:cNvSpPr/>
          <p:nvPr/>
        </p:nvSpPr>
        <p:spPr>
          <a:xfrm>
            <a:off x="3762887" y="1554480"/>
            <a:ext cx="1469963" cy="457200"/>
          </a:xfrm>
          <a:prstGeom prst="roundRect">
            <a:avLst>
              <a:gd name="adj" fmla="val 12000"/>
            </a:avLst>
          </a:prstGeom>
          <a:solidFill>
            <a:srgbClr val="E1EFF1"/>
          </a:solidFill>
          <a:ln w="9525">
            <a:solidFill>
              <a:srgbClr val="11707F"/>
            </a:solidFill>
            <a:prstDash val="solid"/>
          </a:ln>
        </p:spPr>
      </p:sp>
      <p:sp>
        <p:nvSpPr>
          <p:cNvPr id="12" name="Text 10"/>
          <p:cNvSpPr/>
          <p:nvPr/>
        </p:nvSpPr>
        <p:spPr>
          <a:xfrm>
            <a:off x="3808607" y="1554480"/>
            <a:ext cx="1378523" cy="457200"/>
          </a:xfrm>
          <a:prstGeom prst="rect">
            <a:avLst/>
          </a:prstGeom>
          <a:noFill/>
          <a:ln/>
        </p:spPr>
        <p:txBody>
          <a:bodyPr wrap="square" lIns="0" tIns="0" rIns="0" bIns="0" rtlCol="0" anchor="ctr"/>
          <a:lstStyle/>
          <a:p>
            <a:pPr algn="ctr" indent="0" marL="0">
              <a:buNone/>
            </a:pPr>
            <a:r>
              <a:rPr lang="en-US" sz="900" dirty="0">
                <a:solidFill>
                  <a:srgbClr val="15606B"/>
                </a:solidFill>
                <a:latin typeface="Calibri" pitchFamily="34" charset="0"/>
                <a:ea typeface="Calibri" pitchFamily="34" charset="-122"/>
                <a:cs typeface="Calibri" pitchFamily="34" charset="-120"/>
              </a:rPr>
              <a:t>Value at stake is material</a:t>
            </a:r>
            <a:endParaRPr lang="en-US" sz="900" dirty="0"/>
          </a:p>
        </p:txBody>
      </p:sp>
      <p:sp>
        <p:nvSpPr>
          <p:cNvPr id="13" name="Shape 11"/>
          <p:cNvSpPr/>
          <p:nvPr/>
        </p:nvSpPr>
        <p:spPr>
          <a:xfrm>
            <a:off x="5360866" y="1554480"/>
            <a:ext cx="1469963" cy="457200"/>
          </a:xfrm>
          <a:prstGeom prst="roundRect">
            <a:avLst>
              <a:gd name="adj" fmla="val 12000"/>
            </a:avLst>
          </a:prstGeom>
          <a:solidFill>
            <a:srgbClr val="E1EFF1"/>
          </a:solidFill>
          <a:ln w="9525">
            <a:solidFill>
              <a:srgbClr val="11707F"/>
            </a:solidFill>
            <a:prstDash val="solid"/>
          </a:ln>
        </p:spPr>
      </p:sp>
      <p:sp>
        <p:nvSpPr>
          <p:cNvPr id="14" name="Text 12"/>
          <p:cNvSpPr/>
          <p:nvPr/>
        </p:nvSpPr>
        <p:spPr>
          <a:xfrm>
            <a:off x="5406586" y="1554480"/>
            <a:ext cx="1378523" cy="457200"/>
          </a:xfrm>
          <a:prstGeom prst="rect">
            <a:avLst/>
          </a:prstGeom>
          <a:noFill/>
          <a:ln/>
        </p:spPr>
        <p:txBody>
          <a:bodyPr wrap="square" lIns="0" tIns="0" rIns="0" bIns="0" rtlCol="0" anchor="ctr"/>
          <a:lstStyle/>
          <a:p>
            <a:pPr algn="ctr" indent="0" marL="0">
              <a:buNone/>
            </a:pPr>
            <a:r>
              <a:rPr lang="en-US" sz="900" dirty="0">
                <a:solidFill>
                  <a:srgbClr val="15606B"/>
                </a:solidFill>
                <a:latin typeface="Calibri" pitchFamily="34" charset="0"/>
                <a:ea typeface="Calibri" pitchFamily="34" charset="-122"/>
                <a:cs typeface="Calibri" pitchFamily="34" charset="-120"/>
              </a:rPr>
              <a:t>Benefit is measurable</a:t>
            </a:r>
            <a:endParaRPr lang="en-US" sz="900" dirty="0"/>
          </a:p>
        </p:txBody>
      </p:sp>
      <p:sp>
        <p:nvSpPr>
          <p:cNvPr id="15" name="Shape 13"/>
          <p:cNvSpPr/>
          <p:nvPr/>
        </p:nvSpPr>
        <p:spPr>
          <a:xfrm>
            <a:off x="6958845" y="1554480"/>
            <a:ext cx="1469963" cy="457200"/>
          </a:xfrm>
          <a:prstGeom prst="roundRect">
            <a:avLst>
              <a:gd name="adj" fmla="val 12000"/>
            </a:avLst>
          </a:prstGeom>
          <a:solidFill>
            <a:srgbClr val="E1EFF1"/>
          </a:solidFill>
          <a:ln w="9525">
            <a:solidFill>
              <a:srgbClr val="11707F"/>
            </a:solidFill>
            <a:prstDash val="solid"/>
          </a:ln>
        </p:spPr>
      </p:sp>
      <p:sp>
        <p:nvSpPr>
          <p:cNvPr id="16" name="Text 14"/>
          <p:cNvSpPr/>
          <p:nvPr/>
        </p:nvSpPr>
        <p:spPr>
          <a:xfrm>
            <a:off x="7004565" y="1554480"/>
            <a:ext cx="1378523" cy="457200"/>
          </a:xfrm>
          <a:prstGeom prst="rect">
            <a:avLst/>
          </a:prstGeom>
          <a:noFill/>
          <a:ln/>
        </p:spPr>
        <p:txBody>
          <a:bodyPr wrap="square" lIns="0" tIns="0" rIns="0" bIns="0" rtlCol="0" anchor="ctr"/>
          <a:lstStyle/>
          <a:p>
            <a:pPr algn="ctr" indent="0" marL="0">
              <a:buNone/>
            </a:pPr>
            <a:r>
              <a:rPr lang="en-US" sz="900" dirty="0">
                <a:solidFill>
                  <a:srgbClr val="15606B"/>
                </a:solidFill>
                <a:latin typeface="Calibri" pitchFamily="34" charset="0"/>
                <a:ea typeface="Calibri" pitchFamily="34" charset="-122"/>
                <a:cs typeface="Calibri" pitchFamily="34" charset="-120"/>
              </a:rPr>
              <a:t>Named owner at the station</a:t>
            </a:r>
            <a:endParaRPr lang="en-US" sz="900" dirty="0"/>
          </a:p>
        </p:txBody>
      </p:sp>
      <p:sp>
        <p:nvSpPr>
          <p:cNvPr id="17" name="Shape 15"/>
          <p:cNvSpPr/>
          <p:nvPr/>
        </p:nvSpPr>
        <p:spPr>
          <a:xfrm>
            <a:off x="8556825" y="1554480"/>
            <a:ext cx="1469963" cy="457200"/>
          </a:xfrm>
          <a:prstGeom prst="roundRect">
            <a:avLst>
              <a:gd name="adj" fmla="val 12000"/>
            </a:avLst>
          </a:prstGeom>
          <a:solidFill>
            <a:srgbClr val="E1EFF1"/>
          </a:solidFill>
          <a:ln w="9525">
            <a:solidFill>
              <a:srgbClr val="11707F"/>
            </a:solidFill>
            <a:prstDash val="solid"/>
          </a:ln>
        </p:spPr>
      </p:sp>
      <p:sp>
        <p:nvSpPr>
          <p:cNvPr id="18" name="Text 16"/>
          <p:cNvSpPr/>
          <p:nvPr/>
        </p:nvSpPr>
        <p:spPr>
          <a:xfrm>
            <a:off x="8602545" y="1554480"/>
            <a:ext cx="1378523" cy="457200"/>
          </a:xfrm>
          <a:prstGeom prst="rect">
            <a:avLst/>
          </a:prstGeom>
          <a:noFill/>
          <a:ln/>
        </p:spPr>
        <p:txBody>
          <a:bodyPr wrap="square" lIns="0" tIns="0" rIns="0" bIns="0" rtlCol="0" anchor="ctr"/>
          <a:lstStyle/>
          <a:p>
            <a:pPr algn="ctr" indent="0" marL="0">
              <a:buNone/>
            </a:pPr>
            <a:r>
              <a:rPr lang="en-US" sz="900" dirty="0">
                <a:solidFill>
                  <a:srgbClr val="15606B"/>
                </a:solidFill>
                <a:latin typeface="Calibri" pitchFamily="34" charset="0"/>
                <a:ea typeface="Calibri" pitchFamily="34" charset="-122"/>
                <a:cs typeface="Calibri" pitchFamily="34" charset="-120"/>
              </a:rPr>
              <a:t>Result can be deployed</a:t>
            </a:r>
            <a:endParaRPr lang="en-US" sz="900" dirty="0"/>
          </a:p>
        </p:txBody>
      </p:sp>
      <p:sp>
        <p:nvSpPr>
          <p:cNvPr id="19" name="Shape 17"/>
          <p:cNvSpPr/>
          <p:nvPr/>
        </p:nvSpPr>
        <p:spPr>
          <a:xfrm>
            <a:off x="10154804" y="1554480"/>
            <a:ext cx="1469963" cy="457200"/>
          </a:xfrm>
          <a:prstGeom prst="roundRect">
            <a:avLst>
              <a:gd name="adj" fmla="val 12000"/>
            </a:avLst>
          </a:prstGeom>
          <a:solidFill>
            <a:srgbClr val="E1EFF1"/>
          </a:solidFill>
          <a:ln w="9525">
            <a:solidFill>
              <a:srgbClr val="11707F"/>
            </a:solidFill>
            <a:prstDash val="solid"/>
          </a:ln>
        </p:spPr>
      </p:sp>
      <p:sp>
        <p:nvSpPr>
          <p:cNvPr id="20" name="Text 18"/>
          <p:cNvSpPr/>
          <p:nvPr/>
        </p:nvSpPr>
        <p:spPr>
          <a:xfrm>
            <a:off x="10200524" y="1554480"/>
            <a:ext cx="1378523" cy="457200"/>
          </a:xfrm>
          <a:prstGeom prst="rect">
            <a:avLst/>
          </a:prstGeom>
          <a:noFill/>
          <a:ln/>
        </p:spPr>
        <p:txBody>
          <a:bodyPr wrap="square" lIns="0" tIns="0" rIns="0" bIns="0" rtlCol="0" anchor="ctr"/>
          <a:lstStyle/>
          <a:p>
            <a:pPr algn="ctr" indent="0" marL="0">
              <a:buNone/>
            </a:pPr>
            <a:r>
              <a:rPr lang="en-US" sz="900" dirty="0">
                <a:solidFill>
                  <a:srgbClr val="15606B"/>
                </a:solidFill>
                <a:latin typeface="Calibri" pitchFamily="34" charset="0"/>
                <a:ea typeface="Calibri" pitchFamily="34" charset="-122"/>
                <a:cs typeface="Calibri" pitchFamily="34" charset="-120"/>
              </a:rPr>
              <a:t>Low acceptance risk</a:t>
            </a:r>
            <a:endParaRPr lang="en-US" sz="900" dirty="0"/>
          </a:p>
        </p:txBody>
      </p:sp>
      <p:graphicFrame>
        <p:nvGraphicFramePr>
          <p:cNvPr id="116" name="Table 0"/>
          <p:cNvGraphicFramePr>
            <a:graphicFrameLocks noGrp="1"/>
          </p:cNvGraphicFramePr>
          <p:nvPr>
            <p:extLst>
              <p:ext uri="{D42A27DB-BD31-4B8C-83A1-F6EECF244321}">
                <p14:modId xmlns:p14="http://schemas.microsoft.com/office/powerpoint/2010/main" val="1579011935"/>
              </p:ext>
            </p:extLst>
          </p:nvPr>
        </p:nvGraphicFramePr>
        <p:xfrm>
          <a:off x="566928" y="2139696"/>
          <a:ext cx="11057839" cy="914400"/>
        </p:xfrm>
        <a:graphic>
          <a:graphicData uri="http://schemas.openxmlformats.org/drawingml/2006/table">
            <a:tbl>
              <a:tblPr/>
              <a:tblGrid>
                <a:gridCol w="3703320"/>
                <a:gridCol w="868680"/>
                <a:gridCol w="868680"/>
                <a:gridCol w="5617159"/>
              </a:tblGrid>
              <a:tr h="34290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Candidate pilot</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Value</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Risk</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Verdict</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r>
              <a:tr h="342900">
                <a:tc>
                  <a:txBody>
                    <a:bodyPr/>
                    <a:lstStyle/>
                    <a:p>
                      <a:pPr algn="l" indent="0" marL="0">
                        <a:buNone/>
                      </a:pPr>
                      <a:r>
                        <a:rPr lang="en-US" sz="1100" b="1" dirty="0">
                          <a:solidFill>
                            <a:srgbClr val="1C2530"/>
                          </a:solidFill>
                          <a:latin typeface="Calibri" pitchFamily="34" charset="0"/>
                          <a:ea typeface="Calibri" pitchFamily="34" charset="-122"/>
                          <a:cs typeface="Calibri" pitchFamily="34" charset="-120"/>
                        </a:rPr>
                        <a:t>BFP or ID fan anomaly detection</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Strongest first choice — data exists, no process risk</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342900">
                <a:tc>
                  <a:txBody>
                    <a:bodyPr/>
                    <a:lstStyle/>
                    <a:p>
                      <a:pPr algn="l" indent="0" marL="0">
                        <a:buNone/>
                      </a:pPr>
                      <a:r>
                        <a:rPr lang="en-US" sz="1100" b="1" dirty="0">
                          <a:solidFill>
                            <a:srgbClr val="1C2530"/>
                          </a:solidFill>
                          <a:latin typeface="Calibri" pitchFamily="34" charset="0"/>
                          <a:ea typeface="Calibri" pitchFamily="34" charset="-122"/>
                          <a:cs typeface="Calibri" pitchFamily="34" charset="-120"/>
                        </a:rPr>
                        <a:t>Mill health and choking prediction</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Close second — mills hurt availability and heat rate together</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342900">
                <a:tc>
                  <a:txBody>
                    <a:bodyPr/>
                    <a:lstStyle/>
                    <a:p>
                      <a:pPr algn="l" indent="0" marL="0">
                        <a:buNone/>
                      </a:pPr>
                      <a:r>
                        <a:rPr lang="en-US" sz="1100" b="1" dirty="0">
                          <a:solidFill>
                            <a:srgbClr val="1C2530"/>
                          </a:solidFill>
                          <a:latin typeface="Calibri" pitchFamily="34" charset="0"/>
                          <a:ea typeface="Calibri" pitchFamily="34" charset="-122"/>
                          <a:cs typeface="Calibri" pitchFamily="34" charset="-120"/>
                        </a:rPr>
                        <a:t>Auxiliary power optimisation</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Benefit visible on the meter, so nobody argues about it</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342900">
                <a:tc>
                  <a:txBody>
                    <a:bodyPr/>
                    <a:lstStyle/>
                    <a:p>
                      <a:pPr algn="l" indent="0" marL="0">
                        <a:buNone/>
                      </a:pPr>
                      <a:r>
                        <a:rPr lang="en-US" sz="1100" b="1" dirty="0">
                          <a:solidFill>
                            <a:srgbClr val="1C2530"/>
                          </a:solidFill>
                          <a:latin typeface="Calibri" pitchFamily="34" charset="0"/>
                          <a:ea typeface="Calibri" pitchFamily="34" charset="-122"/>
                          <a:cs typeface="Calibri" pitchFamily="34" charset="-120"/>
                        </a:rPr>
                        <a:t>Condenser performance and cleaning schedule</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Good second wave — needs sound vacuum instrumentation</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342900">
                <a:tc>
                  <a:txBody>
                    <a:bodyPr/>
                    <a:lstStyle/>
                    <a:p>
                      <a:pPr algn="l" indent="0" marL="0">
                        <a:buNone/>
                      </a:pPr>
                      <a:r>
                        <a:rPr lang="en-US" sz="1100" b="1" dirty="0">
                          <a:solidFill>
                            <a:srgbClr val="1C2530"/>
                          </a:solidFill>
                          <a:latin typeface="Calibri" pitchFamily="34" charset="0"/>
                          <a:ea typeface="Calibri" pitchFamily="34" charset="-122"/>
                          <a:cs typeface="Calibri" pitchFamily="34" charset="-120"/>
                        </a:rPr>
                        <a:t>Document assistant on SOPs and RCA reports</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No process risk at all — can run alongside the main pilot</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342900">
                <a:tc>
                  <a:txBody>
                    <a:bodyPr/>
                    <a:lstStyle/>
                    <a:p>
                      <a:pPr algn="l" indent="0" marL="0">
                        <a:buNone/>
                      </a:pPr>
                      <a:r>
                        <a:rPr lang="en-US" sz="1100" b="1" dirty="0">
                          <a:solidFill>
                            <a:srgbClr val="1C2530"/>
                          </a:solidFill>
                          <a:latin typeface="Calibri" pitchFamily="34" charset="0"/>
                          <a:ea typeface="Calibri" pitchFamily="34" charset="-122"/>
                          <a:cs typeface="Calibri" pitchFamily="34" charset="-120"/>
                        </a:rPr>
                        <a:t>Closed-loop combustion optimisation</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Do this third or fourth. Never first.</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bl>
          </a:graphicData>
        </a:graphic>
      </p:graphicFrame>
      <p:sp>
        <p:nvSpPr>
          <p:cNvPr id="22" name="Text 19"/>
          <p:cNvSpPr/>
          <p:nvPr/>
        </p:nvSpPr>
        <p:spPr>
          <a:xfrm>
            <a:off x="566928" y="4722876"/>
            <a:ext cx="5486400" cy="256032"/>
          </a:xfrm>
          <a:prstGeom prst="rect">
            <a:avLst/>
          </a:prstGeom>
          <a:noFill/>
          <a:ln/>
        </p:spPr>
        <p:txBody>
          <a:bodyPr wrap="square" lIns="0" tIns="0" rIns="0" bIns="0" rtlCol="0" anchor="ctr"/>
          <a:lstStyle/>
          <a:p>
            <a:pPr indent="0" marL="0">
              <a:buNone/>
            </a:pPr>
            <a:r>
              <a:rPr lang="en-US" sz="1250" b="1" dirty="0">
                <a:solidFill>
                  <a:srgbClr val="1C2530"/>
                </a:solidFill>
                <a:latin typeface="Calibri" pitchFamily="34" charset="0"/>
                <a:ea typeface="Calibri" pitchFamily="34" charset="-122"/>
                <a:cs typeface="Calibri" pitchFamily="34" charset="-120"/>
              </a:rPr>
              <a:t>A 90-day starter plan</a:t>
            </a:r>
            <a:endParaRPr lang="en-US" sz="1250" dirty="0"/>
          </a:p>
        </p:txBody>
      </p:sp>
      <p:sp>
        <p:nvSpPr>
          <p:cNvPr id="23" name="Shape 20"/>
          <p:cNvSpPr/>
          <p:nvPr/>
        </p:nvSpPr>
        <p:spPr>
          <a:xfrm>
            <a:off x="566928" y="5015484"/>
            <a:ext cx="3551834" cy="1275588"/>
          </a:xfrm>
          <a:prstGeom prst="roundRect">
            <a:avLst>
              <a:gd name="adj" fmla="val 430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4" name="Shape 21"/>
          <p:cNvSpPr/>
          <p:nvPr/>
        </p:nvSpPr>
        <p:spPr>
          <a:xfrm>
            <a:off x="566928" y="5015484"/>
            <a:ext cx="3551834" cy="365760"/>
          </a:xfrm>
          <a:prstGeom prst="roundRect">
            <a:avLst>
              <a:gd name="adj" fmla="val 12500"/>
            </a:avLst>
          </a:prstGeom>
          <a:solidFill>
            <a:srgbClr val="D96A16"/>
          </a:solidFill>
          <a:ln/>
        </p:spPr>
      </p:sp>
      <p:sp>
        <p:nvSpPr>
          <p:cNvPr id="25" name="Text 22"/>
          <p:cNvSpPr/>
          <p:nvPr/>
        </p:nvSpPr>
        <p:spPr>
          <a:xfrm>
            <a:off x="749808" y="5015484"/>
            <a:ext cx="3186074"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Days 1–30</a:t>
            </a:r>
            <a:endParaRPr lang="en-US" sz="1200" dirty="0"/>
          </a:p>
        </p:txBody>
      </p:sp>
      <p:sp>
        <p:nvSpPr>
          <p:cNvPr id="26" name="Text 23"/>
          <p:cNvSpPr/>
          <p:nvPr/>
        </p:nvSpPr>
        <p:spPr>
          <a:xfrm>
            <a:off x="749808" y="5436108"/>
            <a:ext cx="3186074" cy="544068"/>
          </a:xfrm>
          <a:prstGeom prst="rect">
            <a:avLst/>
          </a:prstGeom>
          <a:noFill/>
          <a:ln/>
        </p:spPr>
        <p:txBody>
          <a:bodyPr wrap="square" lIns="0" tIns="0" rIns="0" bIns="0" rtlCol="0" anchor="t"/>
          <a:lstStyle/>
          <a:p>
            <a:pPr indent="0" marL="0">
              <a:buNone/>
            </a:pPr>
            <a:r>
              <a:rPr lang="en-US" sz="1100" dirty="0">
                <a:solidFill>
                  <a:srgbClr val="1C2530"/>
                </a:solidFill>
                <a:latin typeface="Calibri" pitchFamily="34" charset="0"/>
                <a:ea typeface="Calibri" pitchFamily="34" charset="-122"/>
                <a:cs typeface="Calibri" pitchFamily="34" charset="-120"/>
              </a:rPr>
              <a:t>Audit the tag list. Pick one machine. Extract twelve months of history and inspect it properly. Name the owner before anything else starts.</a:t>
            </a:r>
            <a:endParaRPr lang="en-US" sz="1100" dirty="0"/>
          </a:p>
        </p:txBody>
      </p:sp>
      <p:sp>
        <p:nvSpPr>
          <p:cNvPr id="27" name="Text 24"/>
          <p:cNvSpPr/>
          <p:nvPr/>
        </p:nvSpPr>
        <p:spPr>
          <a:xfrm>
            <a:off x="749808" y="5980176"/>
            <a:ext cx="3186074" cy="274320"/>
          </a:xfrm>
          <a:prstGeom prst="rect">
            <a:avLst/>
          </a:prstGeom>
          <a:noFill/>
          <a:ln/>
        </p:spPr>
        <p:txBody>
          <a:bodyPr wrap="square" lIns="0" tIns="0" rIns="0" bIns="0" rtlCol="0" anchor="ctr"/>
          <a:lstStyle/>
          <a:p>
            <a:pPr indent="0" marL="0">
              <a:buNone/>
            </a:pPr>
            <a:r>
              <a:rPr lang="en-US" sz="1000" i="1" dirty="0">
                <a:solidFill>
                  <a:srgbClr val="11707F"/>
                </a:solidFill>
                <a:latin typeface="Calibri" pitchFamily="34" charset="0"/>
                <a:ea typeface="Calibri" pitchFamily="34" charset="-122"/>
                <a:cs typeface="Calibri" pitchFamily="34" charset="-120"/>
              </a:rPr>
              <a:t>Performance plus C&amp;I Engineer</a:t>
            </a:r>
            <a:endParaRPr lang="en-US" sz="1000" dirty="0"/>
          </a:p>
        </p:txBody>
      </p:sp>
      <p:sp>
        <p:nvSpPr>
          <p:cNvPr id="28" name="Shape 25"/>
          <p:cNvSpPr/>
          <p:nvPr/>
        </p:nvSpPr>
        <p:spPr>
          <a:xfrm>
            <a:off x="4319930" y="5015484"/>
            <a:ext cx="3551834" cy="1275588"/>
          </a:xfrm>
          <a:prstGeom prst="roundRect">
            <a:avLst>
              <a:gd name="adj" fmla="val 430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9" name="Shape 26"/>
          <p:cNvSpPr/>
          <p:nvPr/>
        </p:nvSpPr>
        <p:spPr>
          <a:xfrm>
            <a:off x="4319930" y="5015484"/>
            <a:ext cx="3551834" cy="365760"/>
          </a:xfrm>
          <a:prstGeom prst="roundRect">
            <a:avLst>
              <a:gd name="adj" fmla="val 12500"/>
            </a:avLst>
          </a:prstGeom>
          <a:solidFill>
            <a:srgbClr val="D96A16"/>
          </a:solidFill>
          <a:ln/>
        </p:spPr>
      </p:sp>
      <p:sp>
        <p:nvSpPr>
          <p:cNvPr id="30" name="Text 27"/>
          <p:cNvSpPr/>
          <p:nvPr/>
        </p:nvSpPr>
        <p:spPr>
          <a:xfrm>
            <a:off x="4502810" y="5015484"/>
            <a:ext cx="3186074"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Days 31–60</a:t>
            </a:r>
            <a:endParaRPr lang="en-US" sz="1200" dirty="0"/>
          </a:p>
        </p:txBody>
      </p:sp>
      <p:sp>
        <p:nvSpPr>
          <p:cNvPr id="31" name="Text 28"/>
          <p:cNvSpPr/>
          <p:nvPr/>
        </p:nvSpPr>
        <p:spPr>
          <a:xfrm>
            <a:off x="4502810" y="5436108"/>
            <a:ext cx="3186074" cy="544068"/>
          </a:xfrm>
          <a:prstGeom prst="rect">
            <a:avLst/>
          </a:prstGeom>
          <a:noFill/>
          <a:ln/>
        </p:spPr>
        <p:txBody>
          <a:bodyPr wrap="square" lIns="0" tIns="0" rIns="0" bIns="0" rtlCol="0" anchor="t"/>
          <a:lstStyle/>
          <a:p>
            <a:pPr indent="0" marL="0">
              <a:buNone/>
            </a:pPr>
            <a:r>
              <a:rPr lang="en-US" sz="1100" dirty="0">
                <a:solidFill>
                  <a:srgbClr val="1C2530"/>
                </a:solidFill>
                <a:latin typeface="Calibri" pitchFamily="34" charset="0"/>
                <a:ea typeface="Calibri" pitchFamily="34" charset="-122"/>
                <a:cs typeface="Calibri" pitchFamily="34" charset="-120"/>
              </a:rPr>
              <a:t>Build and validate on history. Confirm the model would have caught known past events, and confirm it stays quiet through normal operation.</a:t>
            </a:r>
            <a:endParaRPr lang="en-US" sz="1100" dirty="0"/>
          </a:p>
        </p:txBody>
      </p:sp>
      <p:sp>
        <p:nvSpPr>
          <p:cNvPr id="32" name="Text 29"/>
          <p:cNvSpPr/>
          <p:nvPr/>
        </p:nvSpPr>
        <p:spPr>
          <a:xfrm>
            <a:off x="4502810" y="5980176"/>
            <a:ext cx="3186074" cy="274320"/>
          </a:xfrm>
          <a:prstGeom prst="rect">
            <a:avLst/>
          </a:prstGeom>
          <a:noFill/>
          <a:ln/>
        </p:spPr>
        <p:txBody>
          <a:bodyPr wrap="square" lIns="0" tIns="0" rIns="0" bIns="0" rtlCol="0" anchor="ctr"/>
          <a:lstStyle/>
          <a:p>
            <a:pPr indent="0" marL="0">
              <a:buNone/>
            </a:pPr>
            <a:r>
              <a:rPr lang="en-US" sz="1000" i="1" dirty="0">
                <a:solidFill>
                  <a:srgbClr val="11707F"/>
                </a:solidFill>
                <a:latin typeface="Calibri" pitchFamily="34" charset="0"/>
                <a:ea typeface="Calibri" pitchFamily="34" charset="-122"/>
                <a:cs typeface="Calibri" pitchFamily="34" charset="-120"/>
              </a:rPr>
              <a:t>Performance Engineer with analytics support</a:t>
            </a:r>
            <a:endParaRPr lang="en-US" sz="1000" dirty="0"/>
          </a:p>
        </p:txBody>
      </p:sp>
      <p:sp>
        <p:nvSpPr>
          <p:cNvPr id="33" name="Shape 30"/>
          <p:cNvSpPr/>
          <p:nvPr/>
        </p:nvSpPr>
        <p:spPr>
          <a:xfrm>
            <a:off x="8072933" y="5015484"/>
            <a:ext cx="3551834" cy="1275588"/>
          </a:xfrm>
          <a:prstGeom prst="roundRect">
            <a:avLst>
              <a:gd name="adj" fmla="val 430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4" name="Shape 31"/>
          <p:cNvSpPr/>
          <p:nvPr/>
        </p:nvSpPr>
        <p:spPr>
          <a:xfrm>
            <a:off x="8072933" y="5015484"/>
            <a:ext cx="3551834" cy="365760"/>
          </a:xfrm>
          <a:prstGeom prst="roundRect">
            <a:avLst>
              <a:gd name="adj" fmla="val 12500"/>
            </a:avLst>
          </a:prstGeom>
          <a:solidFill>
            <a:srgbClr val="D96A16"/>
          </a:solidFill>
          <a:ln/>
        </p:spPr>
      </p:sp>
      <p:sp>
        <p:nvSpPr>
          <p:cNvPr id="35" name="Text 32"/>
          <p:cNvSpPr/>
          <p:nvPr/>
        </p:nvSpPr>
        <p:spPr>
          <a:xfrm>
            <a:off x="8255813" y="5015484"/>
            <a:ext cx="3186074"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Days 61–90</a:t>
            </a:r>
            <a:endParaRPr lang="en-US" sz="1200" dirty="0"/>
          </a:p>
        </p:txBody>
      </p:sp>
      <p:sp>
        <p:nvSpPr>
          <p:cNvPr id="36" name="Text 33"/>
          <p:cNvSpPr/>
          <p:nvPr/>
        </p:nvSpPr>
        <p:spPr>
          <a:xfrm>
            <a:off x="8255813" y="5436108"/>
            <a:ext cx="3186074" cy="544068"/>
          </a:xfrm>
          <a:prstGeom prst="rect">
            <a:avLst/>
          </a:prstGeom>
          <a:noFill/>
          <a:ln/>
        </p:spPr>
        <p:txBody>
          <a:bodyPr wrap="square" lIns="0" tIns="0" rIns="0" bIns="0" rtlCol="0" anchor="t"/>
          <a:lstStyle/>
          <a:p>
            <a:pPr indent="0" marL="0">
              <a:buNone/>
            </a:pPr>
            <a:r>
              <a:rPr lang="en-US" sz="1100" dirty="0">
                <a:solidFill>
                  <a:srgbClr val="1C2530"/>
                </a:solidFill>
                <a:latin typeface="Calibri" pitchFamily="34" charset="0"/>
                <a:ea typeface="Calibri" pitchFamily="34" charset="-122"/>
                <a:cs typeface="Calibri" pitchFamily="34" charset="-120"/>
              </a:rPr>
              <a:t>Run live in shadow mode. Triage every alert, record what was found, and report the benefit against the agreed baseline.</a:t>
            </a:r>
            <a:endParaRPr lang="en-US" sz="1100" dirty="0"/>
          </a:p>
        </p:txBody>
      </p:sp>
      <p:sp>
        <p:nvSpPr>
          <p:cNvPr id="37" name="Text 34"/>
          <p:cNvSpPr/>
          <p:nvPr/>
        </p:nvSpPr>
        <p:spPr>
          <a:xfrm>
            <a:off x="8255813" y="5980176"/>
            <a:ext cx="3186074" cy="274320"/>
          </a:xfrm>
          <a:prstGeom prst="rect">
            <a:avLst/>
          </a:prstGeom>
          <a:noFill/>
          <a:ln/>
        </p:spPr>
        <p:txBody>
          <a:bodyPr wrap="square" lIns="0" tIns="0" rIns="0" bIns="0" rtlCol="0" anchor="ctr"/>
          <a:lstStyle/>
          <a:p>
            <a:pPr indent="0" marL="0">
              <a:buNone/>
            </a:pPr>
            <a:r>
              <a:rPr lang="en-US" sz="1000" i="1" dirty="0">
                <a:solidFill>
                  <a:srgbClr val="11707F"/>
                </a:solidFill>
                <a:latin typeface="Calibri" pitchFamily="34" charset="0"/>
                <a:ea typeface="Calibri" pitchFamily="34" charset="-122"/>
                <a:cs typeface="Calibri" pitchFamily="34" charset="-120"/>
              </a:rPr>
              <a:t>Maintenance Planner with station sponsor</a:t>
            </a:r>
            <a:endParaRPr lang="en-US" sz="10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One pilot per station, from your own evidence</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Four stations, four different diagnoses, four different first projects — all from June 2026</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9. Implementing responsibly</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116</a:t>
            </a:r>
            <a:endParaRPr lang="en-US" sz="950" dirty="0"/>
          </a:p>
        </p:txBody>
      </p:sp>
      <p:graphicFrame>
        <p:nvGraphicFramePr>
          <p:cNvPr id="117" name="Table 0"/>
          <p:cNvGraphicFramePr>
            <a:graphicFrameLocks noGrp="1"/>
          </p:cNvGraphicFramePr>
          <p:nvPr>
            <p:extLst>
              <p:ext uri="{D42A27DB-BD31-4B8C-83A1-F6EECF244321}">
                <p14:modId xmlns:p14="http://schemas.microsoft.com/office/powerpoint/2010/main" val="1579011935"/>
              </p:ext>
            </p:extLst>
          </p:nvPr>
        </p:nvGraphicFramePr>
        <p:xfrm>
          <a:off x="566928" y="1828800"/>
          <a:ext cx="11057839" cy="914400"/>
        </p:xfrm>
        <a:graphic>
          <a:graphicData uri="http://schemas.openxmlformats.org/drawingml/2006/table">
            <a:tbl>
              <a:tblPr/>
              <a:tblGrid>
                <a:gridCol w="1574047"/>
                <a:gridCol w="3050603"/>
                <a:gridCol w="3220283"/>
                <a:gridCol w="3212905"/>
              </a:tblGrid>
              <a:tr h="7315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Station</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The evidence, June 2026</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The pilot</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Monday morning</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Nashik 3-5</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Aux 12.96 % vs 10.75 %; gross HR 18 kcal/kWh better than norm</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Auxiliary power optimisation — the whole 50 kcal/kWh penalty is auxiliary</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List the CW pump, mill and ESP field combinations actually run last month</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Koradi 8-10</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Gross HR 2,272 vs 2,096 — a 176 kcal/kWh gap on 964.80 MU</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Boiler and turbine heat rate: combustion and condenser analytics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Pull a month of O₂, back pressure and unburnt carbon at unit level</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Khaperkheda 1-4</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Availability 57.85 %, the fleet's lowest; ₹21.75 cr disallowance</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Predictive maintenance on the two machines that forced the outages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List every forced outage of the last 24 months by equipment</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Chandrapur 3-7</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Aux 11.69 % vs 8.67 %; secondary oil 3.23 ml/kWh vs 1.00</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Auxiliary power, plus flame stability to avoid oil support</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Get oil consumption split by unit and by start-up from the log</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bl>
          </a:graphicData>
        </a:graphic>
      </p:graphicFrame>
      <p:sp>
        <p:nvSpPr>
          <p:cNvPr id="8" name="Shape 5"/>
          <p:cNvSpPr/>
          <p:nvPr/>
        </p:nvSpPr>
        <p:spPr>
          <a:xfrm>
            <a:off x="566928" y="5650992"/>
            <a:ext cx="11057839" cy="548640"/>
          </a:xfrm>
          <a:prstGeom prst="roundRect">
            <a:avLst>
              <a:gd name="adj" fmla="val 8333"/>
            </a:avLst>
          </a:prstGeom>
          <a:solidFill>
            <a:srgbClr val="FCEDE0"/>
          </a:solidFill>
          <a:ln w="12700">
            <a:solidFill>
              <a:srgbClr val="D96A16"/>
            </a:solidFill>
            <a:prstDash val="solid"/>
          </a:ln>
        </p:spPr>
      </p:sp>
      <p:sp>
        <p:nvSpPr>
          <p:cNvPr id="9" name="Text 6"/>
          <p:cNvSpPr/>
          <p:nvPr/>
        </p:nvSpPr>
        <p:spPr>
          <a:xfrm>
            <a:off x="768096" y="565099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Four stations, four different problems, four different first pilots. There is no fleet-wide answer, and anyone selling one has not read your numbers.</a:t>
            </a:r>
            <a:endParaRPr lang="en-US" sz="13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What to do on Monday morning</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Six actions that are free, take under an hour, and need nobody's approval</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9. Implementing responsibly</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117</a:t>
            </a:r>
            <a:endParaRPr lang="en-US" sz="950" dirty="0"/>
          </a:p>
        </p:txBody>
      </p:sp>
      <p:sp>
        <p:nvSpPr>
          <p:cNvPr id="7" name="Shape 5"/>
          <p:cNvSpPr/>
          <p:nvPr/>
        </p:nvSpPr>
        <p:spPr>
          <a:xfrm>
            <a:off x="566928"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10512"/>
            <a:ext cx="137160" cy="137160"/>
          </a:xfrm>
          <a:prstGeom prst="ellipse">
            <a:avLst/>
          </a:prstGeom>
          <a:solidFill>
            <a:srgbClr val="D96A16"/>
          </a:solidFill>
          <a:ln/>
        </p:spPr>
      </p:sp>
      <p:sp>
        <p:nvSpPr>
          <p:cNvPr id="9" name="Text 7"/>
          <p:cNvSpPr/>
          <p:nvPr/>
        </p:nvSpPr>
        <p:spPr>
          <a:xfrm>
            <a:off x="969264" y="1709928"/>
            <a:ext cx="297271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Ask how many tags are historised</a:t>
            </a:r>
            <a:endParaRPr lang="en-US" sz="1450" dirty="0"/>
          </a:p>
        </p:txBody>
      </p:sp>
      <p:sp>
        <p:nvSpPr>
          <p:cNvPr id="10" name="Text 8"/>
          <p:cNvSpPr/>
          <p:nvPr/>
        </p:nvSpPr>
        <p:spPr>
          <a:xfrm>
            <a:off x="768096" y="2322576"/>
            <a:ext cx="3137306" cy="1042416"/>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Call your C&amp;I team with two questions: how many tags are historised, and at what compression and exception deviation setting.</a:t>
            </a:r>
            <a:endParaRPr lang="en-US" sz="1200" dirty="0"/>
          </a:p>
        </p:txBody>
      </p:sp>
      <p:sp>
        <p:nvSpPr>
          <p:cNvPr id="11" name="Shape 9"/>
          <p:cNvSpPr/>
          <p:nvPr/>
        </p:nvSpPr>
        <p:spPr>
          <a:xfrm>
            <a:off x="4326026"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4508906" y="1810512"/>
            <a:ext cx="137160" cy="137160"/>
          </a:xfrm>
          <a:prstGeom prst="ellipse">
            <a:avLst/>
          </a:prstGeom>
          <a:solidFill>
            <a:srgbClr val="D96A16"/>
          </a:solidFill>
          <a:ln/>
        </p:spPr>
      </p:sp>
      <p:sp>
        <p:nvSpPr>
          <p:cNvPr id="13" name="Text 11"/>
          <p:cNvSpPr/>
          <p:nvPr/>
        </p:nvSpPr>
        <p:spPr>
          <a:xfrm>
            <a:off x="4728362" y="1709928"/>
            <a:ext cx="297271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Pick one machine that hurt you twice</a:t>
            </a:r>
            <a:endParaRPr lang="en-US" sz="1450" dirty="0"/>
          </a:p>
        </p:txBody>
      </p:sp>
      <p:sp>
        <p:nvSpPr>
          <p:cNvPr id="14" name="Text 12"/>
          <p:cNvSpPr/>
          <p:nvPr/>
        </p:nvSpPr>
        <p:spPr>
          <a:xfrm>
            <a:off x="4527194" y="2322576"/>
            <a:ext cx="3137306" cy="1042416"/>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One machine that has forced an outage twice in two years. Not a system, not a fleet. One machine, with a name and a number.</a:t>
            </a:r>
            <a:endParaRPr lang="en-US" sz="1200" dirty="0"/>
          </a:p>
        </p:txBody>
      </p:sp>
      <p:sp>
        <p:nvSpPr>
          <p:cNvPr id="15" name="Shape 13"/>
          <p:cNvSpPr/>
          <p:nvPr/>
        </p:nvSpPr>
        <p:spPr>
          <a:xfrm>
            <a:off x="8085125"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8268005" y="1810512"/>
            <a:ext cx="137160" cy="137160"/>
          </a:xfrm>
          <a:prstGeom prst="ellipse">
            <a:avLst/>
          </a:prstGeom>
          <a:solidFill>
            <a:srgbClr val="D96A16"/>
          </a:solidFill>
          <a:ln/>
        </p:spPr>
      </p:sp>
      <p:sp>
        <p:nvSpPr>
          <p:cNvPr id="17" name="Text 15"/>
          <p:cNvSpPr/>
          <p:nvPr/>
        </p:nvSpPr>
        <p:spPr>
          <a:xfrm>
            <a:off x="8487461" y="1709928"/>
            <a:ext cx="297271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Check the history actually exists</a:t>
            </a:r>
            <a:endParaRPr lang="en-US" sz="1450" dirty="0"/>
          </a:p>
        </p:txBody>
      </p:sp>
      <p:sp>
        <p:nvSpPr>
          <p:cNvPr id="18" name="Text 16"/>
          <p:cNvSpPr/>
          <p:nvPr/>
        </p:nvSpPr>
        <p:spPr>
          <a:xfrm>
            <a:off x="8286293" y="2322576"/>
            <a:ext cx="3137306" cy="1042416"/>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Find out whether twelve months of clean history exists for that machine. If it does not, that is your first project.</a:t>
            </a:r>
            <a:endParaRPr lang="en-US" sz="1200" dirty="0"/>
          </a:p>
        </p:txBody>
      </p:sp>
      <p:sp>
        <p:nvSpPr>
          <p:cNvPr id="19" name="Shape 17"/>
          <p:cNvSpPr/>
          <p:nvPr/>
        </p:nvSpPr>
        <p:spPr>
          <a:xfrm>
            <a:off x="566928"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749808" y="3895344"/>
            <a:ext cx="137160" cy="137160"/>
          </a:xfrm>
          <a:prstGeom prst="ellipse">
            <a:avLst/>
          </a:prstGeom>
          <a:solidFill>
            <a:srgbClr val="D96A16"/>
          </a:solidFill>
          <a:ln/>
        </p:spPr>
      </p:sp>
      <p:sp>
        <p:nvSpPr>
          <p:cNvPr id="21" name="Text 19"/>
          <p:cNvSpPr/>
          <p:nvPr/>
        </p:nvSpPr>
        <p:spPr>
          <a:xfrm>
            <a:off x="969264" y="379476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Ask who would own an alert</a:t>
            </a:r>
            <a:endParaRPr lang="en-US" sz="1450" dirty="0"/>
          </a:p>
        </p:txBody>
      </p:sp>
      <p:sp>
        <p:nvSpPr>
          <p:cNvPr id="22" name="Text 20"/>
          <p:cNvSpPr/>
          <p:nvPr/>
        </p:nvSpPr>
        <p:spPr>
          <a:xfrm>
            <a:off x="768096" y="4206240"/>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If an alert arrived at two in the morning tomorrow, who opens it, who inspects, who closes it? No name means no programme yet.</a:t>
            </a:r>
            <a:endParaRPr lang="en-US" sz="1200" dirty="0"/>
          </a:p>
        </p:txBody>
      </p:sp>
      <p:sp>
        <p:nvSpPr>
          <p:cNvPr id="23" name="Shape 21"/>
          <p:cNvSpPr/>
          <p:nvPr/>
        </p:nvSpPr>
        <p:spPr>
          <a:xfrm>
            <a:off x="4326026"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4" name="Shape 22"/>
          <p:cNvSpPr/>
          <p:nvPr/>
        </p:nvSpPr>
        <p:spPr>
          <a:xfrm>
            <a:off x="4508906" y="3895344"/>
            <a:ext cx="137160" cy="137160"/>
          </a:xfrm>
          <a:prstGeom prst="ellipse">
            <a:avLst/>
          </a:prstGeom>
          <a:solidFill>
            <a:srgbClr val="D96A16"/>
          </a:solidFill>
          <a:ln/>
        </p:spPr>
      </p:sp>
      <p:sp>
        <p:nvSpPr>
          <p:cNvPr id="25" name="Text 23"/>
          <p:cNvSpPr/>
          <p:nvPr/>
        </p:nvSpPr>
        <p:spPr>
          <a:xfrm>
            <a:off x="4728362" y="3794760"/>
            <a:ext cx="297271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Put your own numbers in the value table</a:t>
            </a:r>
            <a:endParaRPr lang="en-US" sz="1450" dirty="0"/>
          </a:p>
        </p:txBody>
      </p:sp>
      <p:sp>
        <p:nvSpPr>
          <p:cNvPr id="26" name="Text 24"/>
          <p:cNvSpPr/>
          <p:nvPr/>
        </p:nvSpPr>
        <p:spPr>
          <a:xfrm>
            <a:off x="4527194" y="4407408"/>
            <a:ext cx="3137306" cy="1042416"/>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Your station's PLF, heat rate, as-fired GCV and coal cost into the value table from the handout. The answer then belongs to you.</a:t>
            </a:r>
            <a:endParaRPr lang="en-US" sz="1200" dirty="0"/>
          </a:p>
        </p:txBody>
      </p:sp>
      <p:sp>
        <p:nvSpPr>
          <p:cNvPr id="27" name="Shape 25"/>
          <p:cNvSpPr/>
          <p:nvPr/>
        </p:nvSpPr>
        <p:spPr>
          <a:xfrm>
            <a:off x="8085125"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Shape 26"/>
          <p:cNvSpPr/>
          <p:nvPr/>
        </p:nvSpPr>
        <p:spPr>
          <a:xfrm>
            <a:off x="8268005" y="3895344"/>
            <a:ext cx="137160" cy="137160"/>
          </a:xfrm>
          <a:prstGeom prst="ellipse">
            <a:avLst/>
          </a:prstGeom>
          <a:solidFill>
            <a:srgbClr val="D96A16"/>
          </a:solidFill>
          <a:ln/>
        </p:spPr>
      </p:sp>
      <p:sp>
        <p:nvSpPr>
          <p:cNvPr id="29" name="Text 27"/>
          <p:cNvSpPr/>
          <p:nvPr/>
        </p:nvSpPr>
        <p:spPr>
          <a:xfrm>
            <a:off x="8487461" y="379476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Run SIM-2 on your own station</a:t>
            </a:r>
            <a:endParaRPr lang="en-US" sz="1450" dirty="0"/>
          </a:p>
        </p:txBody>
      </p:sp>
      <p:sp>
        <p:nvSpPr>
          <p:cNvPr id="30" name="Text 28"/>
          <p:cNvSpPr/>
          <p:nvPr/>
        </p:nvSpPr>
        <p:spPr>
          <a:xfrm>
            <a:off x="8286293" y="4206240"/>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Open the simulation lab, select your station, and see for yourself whether your gap is auxiliary power or boiler and turbine.</a:t>
            </a:r>
            <a:endParaRPr lang="en-US" sz="1200" dirty="0"/>
          </a:p>
        </p:txBody>
      </p:sp>
      <p:sp>
        <p:nvSpPr>
          <p:cNvPr id="31" name="Shape 29"/>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32" name="Text 30"/>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None of these six needs a sanction, a vendor or a budget. They need one hour and one engineer who decides to ask.</a:t>
            </a:r>
            <a:endParaRPr lang="en-US" sz="13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1C2530"/>
        </a:solidFill>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D96A16"/>
          </a:solidFill>
          <a:ln/>
        </p:spPr>
      </p:sp>
      <p:sp>
        <p:nvSpPr>
          <p:cNvPr id="3" name="Text 1"/>
          <p:cNvSpPr/>
          <p:nvPr/>
        </p:nvSpPr>
        <p:spPr>
          <a:xfrm>
            <a:off x="960120" y="658368"/>
            <a:ext cx="10607040" cy="868680"/>
          </a:xfrm>
          <a:prstGeom prst="rect">
            <a:avLst/>
          </a:prstGeom>
          <a:noFill/>
          <a:ln/>
        </p:spPr>
        <p:txBody>
          <a:bodyPr wrap="square" lIns="0" tIns="0" rIns="0" bIns="0" rtlCol="0" anchor="ctr"/>
          <a:lstStyle/>
          <a:p>
            <a:pPr indent="0" marL="0">
              <a:buNone/>
            </a:pPr>
            <a:r>
              <a:rPr lang="en-US" sz="3800" b="1" spc="150" kern="0" dirty="0">
                <a:solidFill>
                  <a:srgbClr val="D96A16"/>
                </a:solidFill>
                <a:latin typeface="Cambria" pitchFamily="34" charset="0"/>
                <a:ea typeface="Cambria" pitchFamily="34" charset="-122"/>
                <a:cs typeface="Cambria" pitchFamily="34" charset="-120"/>
              </a:rPr>
              <a:t>PREDICT · DIAGNOSE · OPTIMISE · ASSIST</a:t>
            </a:r>
            <a:endParaRPr lang="en-US" sz="3800" dirty="0"/>
          </a:p>
        </p:txBody>
      </p:sp>
      <p:sp>
        <p:nvSpPr>
          <p:cNvPr id="4" name="Text 2"/>
          <p:cNvSpPr/>
          <p:nvPr/>
        </p:nvSpPr>
        <p:spPr>
          <a:xfrm>
            <a:off x="960120" y="1517904"/>
            <a:ext cx="10607040" cy="384048"/>
          </a:xfrm>
          <a:prstGeom prst="rect">
            <a:avLst/>
          </a:prstGeom>
          <a:noFill/>
          <a:ln/>
        </p:spPr>
        <p:txBody>
          <a:bodyPr wrap="square" lIns="0" tIns="0" rIns="0" bIns="0" rtlCol="0" anchor="ctr"/>
          <a:lstStyle/>
          <a:p>
            <a:pPr indent="0" marL="0">
              <a:buNone/>
            </a:pPr>
            <a:r>
              <a:rPr lang="en-US" sz="1600" dirty="0">
                <a:solidFill>
                  <a:srgbClr val="B9C6D2"/>
                </a:solidFill>
                <a:latin typeface="Calibri" pitchFamily="34" charset="0"/>
                <a:ea typeface="Calibri" pitchFamily="34" charset="-122"/>
                <a:cs typeface="Calibri" pitchFamily="34" charset="-120"/>
              </a:rPr>
              <a:t>Four things AI does well in a power station — and one thing only you can do</a:t>
            </a:r>
            <a:endParaRPr lang="en-US" sz="1600" dirty="0"/>
          </a:p>
        </p:txBody>
      </p:sp>
      <p:sp>
        <p:nvSpPr>
          <p:cNvPr id="5" name="Text 3"/>
          <p:cNvSpPr/>
          <p:nvPr/>
        </p:nvSpPr>
        <p:spPr>
          <a:xfrm>
            <a:off x="960120" y="2121408"/>
            <a:ext cx="10607040" cy="34747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What you can do on Monday morning</a:t>
            </a:r>
            <a:endParaRPr lang="en-US" sz="1500" dirty="0"/>
          </a:p>
        </p:txBody>
      </p:sp>
      <p:sp>
        <p:nvSpPr>
          <p:cNvPr id="6" name="Shape 4"/>
          <p:cNvSpPr/>
          <p:nvPr/>
        </p:nvSpPr>
        <p:spPr>
          <a:xfrm>
            <a:off x="960120" y="2487168"/>
            <a:ext cx="10332720" cy="411480"/>
          </a:xfrm>
          <a:prstGeom prst="roundRect">
            <a:avLst>
              <a:gd name="adj" fmla="val 11111"/>
            </a:avLst>
          </a:prstGeom>
          <a:solidFill>
            <a:srgbClr val="2A3644"/>
          </a:solidFill>
          <a:ln/>
        </p:spPr>
      </p:sp>
      <p:sp>
        <p:nvSpPr>
          <p:cNvPr id="7" name="Shape 5"/>
          <p:cNvSpPr/>
          <p:nvPr/>
        </p:nvSpPr>
        <p:spPr>
          <a:xfrm>
            <a:off x="1115568" y="2569464"/>
            <a:ext cx="246888" cy="246888"/>
          </a:xfrm>
          <a:prstGeom prst="ellipse">
            <a:avLst/>
          </a:prstGeom>
          <a:solidFill>
            <a:srgbClr val="D96A16"/>
          </a:solidFill>
          <a:ln/>
        </p:spPr>
      </p:sp>
      <p:sp>
        <p:nvSpPr>
          <p:cNvPr id="8" name="Text 6"/>
          <p:cNvSpPr/>
          <p:nvPr/>
        </p:nvSpPr>
        <p:spPr>
          <a:xfrm>
            <a:off x="1115568" y="2569464"/>
            <a:ext cx="246888"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9" name="Text 7"/>
          <p:cNvSpPr/>
          <p:nvPr/>
        </p:nvSpPr>
        <p:spPr>
          <a:xfrm>
            <a:off x="1481328" y="2487168"/>
            <a:ext cx="9601200" cy="411480"/>
          </a:xfrm>
          <a:prstGeom prst="rect">
            <a:avLst/>
          </a:prstGeom>
          <a:noFill/>
          <a:ln/>
        </p:spPr>
        <p:txBody>
          <a:bodyPr wrap="square" lIns="0" tIns="0" rIns="0" bIns="0" rtlCol="0" anchor="ctr"/>
          <a:lstStyle/>
          <a:p>
            <a:pPr indent="0" marL="0">
              <a:buNone/>
            </a:pPr>
            <a:r>
              <a:rPr lang="en-US" sz="1200" dirty="0">
                <a:solidFill>
                  <a:srgbClr val="DCE4EB"/>
                </a:solidFill>
                <a:latin typeface="Calibri" pitchFamily="34" charset="0"/>
                <a:ea typeface="Calibri" pitchFamily="34" charset="-122"/>
                <a:cs typeface="Calibri" pitchFamily="34" charset="-120"/>
              </a:rPr>
              <a:t>Ask your C&amp;I team how many tags on your unit are actually historised, and at what compression setting</a:t>
            </a:r>
            <a:endParaRPr lang="en-US" sz="1200" dirty="0"/>
          </a:p>
        </p:txBody>
      </p:sp>
      <p:sp>
        <p:nvSpPr>
          <p:cNvPr id="10" name="Shape 8"/>
          <p:cNvSpPr/>
          <p:nvPr/>
        </p:nvSpPr>
        <p:spPr>
          <a:xfrm>
            <a:off x="960120" y="2971800"/>
            <a:ext cx="10332720" cy="411480"/>
          </a:xfrm>
          <a:prstGeom prst="roundRect">
            <a:avLst>
              <a:gd name="adj" fmla="val 11111"/>
            </a:avLst>
          </a:prstGeom>
          <a:solidFill>
            <a:srgbClr val="2A3644"/>
          </a:solidFill>
          <a:ln/>
        </p:spPr>
      </p:sp>
      <p:sp>
        <p:nvSpPr>
          <p:cNvPr id="11" name="Shape 9"/>
          <p:cNvSpPr/>
          <p:nvPr/>
        </p:nvSpPr>
        <p:spPr>
          <a:xfrm>
            <a:off x="1115568" y="3054096"/>
            <a:ext cx="246888" cy="246888"/>
          </a:xfrm>
          <a:prstGeom prst="ellipse">
            <a:avLst/>
          </a:prstGeom>
          <a:solidFill>
            <a:srgbClr val="D96A16"/>
          </a:solidFill>
          <a:ln/>
        </p:spPr>
      </p:sp>
      <p:sp>
        <p:nvSpPr>
          <p:cNvPr id="12" name="Text 10"/>
          <p:cNvSpPr/>
          <p:nvPr/>
        </p:nvSpPr>
        <p:spPr>
          <a:xfrm>
            <a:off x="1115568" y="3054096"/>
            <a:ext cx="246888"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3" name="Text 11"/>
          <p:cNvSpPr/>
          <p:nvPr/>
        </p:nvSpPr>
        <p:spPr>
          <a:xfrm>
            <a:off x="1481328" y="2971800"/>
            <a:ext cx="9601200" cy="411480"/>
          </a:xfrm>
          <a:prstGeom prst="rect">
            <a:avLst/>
          </a:prstGeom>
          <a:noFill/>
          <a:ln/>
        </p:spPr>
        <p:txBody>
          <a:bodyPr wrap="square" lIns="0" tIns="0" rIns="0" bIns="0" rtlCol="0" anchor="ctr"/>
          <a:lstStyle/>
          <a:p>
            <a:pPr indent="0" marL="0">
              <a:buNone/>
            </a:pPr>
            <a:r>
              <a:rPr lang="en-US" sz="1200" dirty="0">
                <a:solidFill>
                  <a:srgbClr val="DCE4EB"/>
                </a:solidFill>
                <a:latin typeface="Calibri" pitchFamily="34" charset="0"/>
                <a:ea typeface="Calibri" pitchFamily="34" charset="-122"/>
                <a:cs typeface="Calibri" pitchFamily="34" charset="-120"/>
              </a:rPr>
              <a:t>Pick one machine that has hurt you twice in the last two years</a:t>
            </a:r>
            <a:endParaRPr lang="en-US" sz="1200" dirty="0"/>
          </a:p>
        </p:txBody>
      </p:sp>
      <p:sp>
        <p:nvSpPr>
          <p:cNvPr id="14" name="Shape 12"/>
          <p:cNvSpPr/>
          <p:nvPr/>
        </p:nvSpPr>
        <p:spPr>
          <a:xfrm>
            <a:off x="960120" y="3456432"/>
            <a:ext cx="10332720" cy="411480"/>
          </a:xfrm>
          <a:prstGeom prst="roundRect">
            <a:avLst>
              <a:gd name="adj" fmla="val 11111"/>
            </a:avLst>
          </a:prstGeom>
          <a:solidFill>
            <a:srgbClr val="2A3644"/>
          </a:solidFill>
          <a:ln/>
        </p:spPr>
      </p:sp>
      <p:sp>
        <p:nvSpPr>
          <p:cNvPr id="15" name="Shape 13"/>
          <p:cNvSpPr/>
          <p:nvPr/>
        </p:nvSpPr>
        <p:spPr>
          <a:xfrm>
            <a:off x="1115568" y="3538728"/>
            <a:ext cx="246888" cy="246888"/>
          </a:xfrm>
          <a:prstGeom prst="ellipse">
            <a:avLst/>
          </a:prstGeom>
          <a:solidFill>
            <a:srgbClr val="D96A16"/>
          </a:solidFill>
          <a:ln/>
        </p:spPr>
      </p:sp>
      <p:sp>
        <p:nvSpPr>
          <p:cNvPr id="16" name="Text 14"/>
          <p:cNvSpPr/>
          <p:nvPr/>
        </p:nvSpPr>
        <p:spPr>
          <a:xfrm>
            <a:off x="1115568" y="3538728"/>
            <a:ext cx="246888"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7" name="Text 15"/>
          <p:cNvSpPr/>
          <p:nvPr/>
        </p:nvSpPr>
        <p:spPr>
          <a:xfrm>
            <a:off x="1481328" y="3456432"/>
            <a:ext cx="9601200" cy="411480"/>
          </a:xfrm>
          <a:prstGeom prst="rect">
            <a:avLst/>
          </a:prstGeom>
          <a:noFill/>
          <a:ln/>
        </p:spPr>
        <p:txBody>
          <a:bodyPr wrap="square" lIns="0" tIns="0" rIns="0" bIns="0" rtlCol="0" anchor="ctr"/>
          <a:lstStyle/>
          <a:p>
            <a:pPr indent="0" marL="0">
              <a:buNone/>
            </a:pPr>
            <a:r>
              <a:rPr lang="en-US" sz="1200" dirty="0">
                <a:solidFill>
                  <a:srgbClr val="DCE4EB"/>
                </a:solidFill>
                <a:latin typeface="Calibri" pitchFamily="34" charset="0"/>
                <a:ea typeface="Calibri" pitchFamily="34" charset="-122"/>
                <a:cs typeface="Calibri" pitchFamily="34" charset="-120"/>
              </a:rPr>
              <a:t>Find out whether twelve months of clean history exists for it</a:t>
            </a:r>
            <a:endParaRPr lang="en-US" sz="1200" dirty="0"/>
          </a:p>
        </p:txBody>
      </p:sp>
      <p:sp>
        <p:nvSpPr>
          <p:cNvPr id="18" name="Shape 16"/>
          <p:cNvSpPr/>
          <p:nvPr/>
        </p:nvSpPr>
        <p:spPr>
          <a:xfrm>
            <a:off x="960120" y="3941064"/>
            <a:ext cx="10332720" cy="411480"/>
          </a:xfrm>
          <a:prstGeom prst="roundRect">
            <a:avLst>
              <a:gd name="adj" fmla="val 11111"/>
            </a:avLst>
          </a:prstGeom>
          <a:solidFill>
            <a:srgbClr val="2A3644"/>
          </a:solidFill>
          <a:ln/>
        </p:spPr>
      </p:sp>
      <p:sp>
        <p:nvSpPr>
          <p:cNvPr id="19" name="Shape 17"/>
          <p:cNvSpPr/>
          <p:nvPr/>
        </p:nvSpPr>
        <p:spPr>
          <a:xfrm>
            <a:off x="1115568" y="4023360"/>
            <a:ext cx="246888" cy="246888"/>
          </a:xfrm>
          <a:prstGeom prst="ellipse">
            <a:avLst/>
          </a:prstGeom>
          <a:solidFill>
            <a:srgbClr val="D96A16"/>
          </a:solidFill>
          <a:ln/>
        </p:spPr>
      </p:sp>
      <p:sp>
        <p:nvSpPr>
          <p:cNvPr id="20" name="Text 18"/>
          <p:cNvSpPr/>
          <p:nvPr/>
        </p:nvSpPr>
        <p:spPr>
          <a:xfrm>
            <a:off x="1115568" y="4023360"/>
            <a:ext cx="246888"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1" name="Text 19"/>
          <p:cNvSpPr/>
          <p:nvPr/>
        </p:nvSpPr>
        <p:spPr>
          <a:xfrm>
            <a:off x="1481328" y="3941064"/>
            <a:ext cx="9601200" cy="411480"/>
          </a:xfrm>
          <a:prstGeom prst="rect">
            <a:avLst/>
          </a:prstGeom>
          <a:noFill/>
          <a:ln/>
        </p:spPr>
        <p:txBody>
          <a:bodyPr wrap="square" lIns="0" tIns="0" rIns="0" bIns="0" rtlCol="0" anchor="ctr"/>
          <a:lstStyle/>
          <a:p>
            <a:pPr indent="0" marL="0">
              <a:buNone/>
            </a:pPr>
            <a:r>
              <a:rPr lang="en-US" sz="1200" dirty="0">
                <a:solidFill>
                  <a:srgbClr val="DCE4EB"/>
                </a:solidFill>
                <a:latin typeface="Calibri" pitchFamily="34" charset="0"/>
                <a:ea typeface="Calibri" pitchFamily="34" charset="-122"/>
                <a:cs typeface="Calibri" pitchFamily="34" charset="-120"/>
              </a:rPr>
              <a:t>Ask who at your station would own an alert if one arrived tomorrow morning</a:t>
            </a:r>
            <a:endParaRPr lang="en-US" sz="1200" dirty="0"/>
          </a:p>
        </p:txBody>
      </p:sp>
      <p:sp>
        <p:nvSpPr>
          <p:cNvPr id="22" name="Shape 20"/>
          <p:cNvSpPr/>
          <p:nvPr/>
        </p:nvSpPr>
        <p:spPr>
          <a:xfrm>
            <a:off x="960120" y="4425696"/>
            <a:ext cx="10332720" cy="411480"/>
          </a:xfrm>
          <a:prstGeom prst="roundRect">
            <a:avLst>
              <a:gd name="adj" fmla="val 11111"/>
            </a:avLst>
          </a:prstGeom>
          <a:solidFill>
            <a:srgbClr val="2A3644"/>
          </a:solidFill>
          <a:ln/>
        </p:spPr>
      </p:sp>
      <p:sp>
        <p:nvSpPr>
          <p:cNvPr id="23" name="Shape 21"/>
          <p:cNvSpPr/>
          <p:nvPr/>
        </p:nvSpPr>
        <p:spPr>
          <a:xfrm>
            <a:off x="1115568" y="4507992"/>
            <a:ext cx="246888" cy="246888"/>
          </a:xfrm>
          <a:prstGeom prst="ellipse">
            <a:avLst/>
          </a:prstGeom>
          <a:solidFill>
            <a:srgbClr val="D96A16"/>
          </a:solidFill>
          <a:ln/>
        </p:spPr>
      </p:sp>
      <p:sp>
        <p:nvSpPr>
          <p:cNvPr id="24" name="Text 22"/>
          <p:cNvSpPr/>
          <p:nvPr/>
        </p:nvSpPr>
        <p:spPr>
          <a:xfrm>
            <a:off x="1115568" y="4507992"/>
            <a:ext cx="246888"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5" name="Text 23"/>
          <p:cNvSpPr/>
          <p:nvPr/>
        </p:nvSpPr>
        <p:spPr>
          <a:xfrm>
            <a:off x="1481328" y="4425696"/>
            <a:ext cx="9601200" cy="411480"/>
          </a:xfrm>
          <a:prstGeom prst="rect">
            <a:avLst/>
          </a:prstGeom>
          <a:noFill/>
          <a:ln/>
        </p:spPr>
        <p:txBody>
          <a:bodyPr wrap="square" lIns="0" tIns="0" rIns="0" bIns="0" rtlCol="0" anchor="ctr"/>
          <a:lstStyle/>
          <a:p>
            <a:pPr indent="0" marL="0">
              <a:buNone/>
            </a:pPr>
            <a:r>
              <a:rPr lang="en-US" sz="1200" dirty="0">
                <a:solidFill>
                  <a:srgbClr val="DCE4EB"/>
                </a:solidFill>
                <a:latin typeface="Calibri" pitchFamily="34" charset="0"/>
                <a:ea typeface="Calibri" pitchFamily="34" charset="-122"/>
                <a:cs typeface="Calibri" pitchFamily="34" charset="-120"/>
              </a:rPr>
              <a:t>Put your own PLF, heat rate, GCV and coal cost into the value table and see what 10 kcal/kWh is worth to you</a:t>
            </a:r>
            <a:endParaRPr lang="en-US" sz="1200" dirty="0"/>
          </a:p>
        </p:txBody>
      </p:sp>
      <p:sp>
        <p:nvSpPr>
          <p:cNvPr id="26" name="Shape 24"/>
          <p:cNvSpPr/>
          <p:nvPr/>
        </p:nvSpPr>
        <p:spPr>
          <a:xfrm>
            <a:off x="960120" y="4910328"/>
            <a:ext cx="10332720" cy="411480"/>
          </a:xfrm>
          <a:prstGeom prst="roundRect">
            <a:avLst>
              <a:gd name="adj" fmla="val 11111"/>
            </a:avLst>
          </a:prstGeom>
          <a:solidFill>
            <a:srgbClr val="2A3644"/>
          </a:solidFill>
          <a:ln/>
        </p:spPr>
      </p:sp>
      <p:sp>
        <p:nvSpPr>
          <p:cNvPr id="27" name="Shape 25"/>
          <p:cNvSpPr/>
          <p:nvPr/>
        </p:nvSpPr>
        <p:spPr>
          <a:xfrm>
            <a:off x="1115568" y="4992624"/>
            <a:ext cx="246888" cy="246888"/>
          </a:xfrm>
          <a:prstGeom prst="ellipse">
            <a:avLst/>
          </a:prstGeom>
          <a:solidFill>
            <a:srgbClr val="D96A16"/>
          </a:solidFill>
          <a:ln/>
        </p:spPr>
      </p:sp>
      <p:sp>
        <p:nvSpPr>
          <p:cNvPr id="28" name="Text 26"/>
          <p:cNvSpPr/>
          <p:nvPr/>
        </p:nvSpPr>
        <p:spPr>
          <a:xfrm>
            <a:off x="1115568" y="4992624"/>
            <a:ext cx="246888"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9" name="Text 27"/>
          <p:cNvSpPr/>
          <p:nvPr/>
        </p:nvSpPr>
        <p:spPr>
          <a:xfrm>
            <a:off x="1481328" y="4910328"/>
            <a:ext cx="9601200" cy="411480"/>
          </a:xfrm>
          <a:prstGeom prst="rect">
            <a:avLst/>
          </a:prstGeom>
          <a:noFill/>
          <a:ln/>
        </p:spPr>
        <p:txBody>
          <a:bodyPr wrap="square" lIns="0" tIns="0" rIns="0" bIns="0" rtlCol="0" anchor="ctr"/>
          <a:lstStyle/>
          <a:p>
            <a:pPr indent="0" marL="0">
              <a:buNone/>
            </a:pPr>
            <a:r>
              <a:rPr lang="en-US" sz="1200" dirty="0">
                <a:solidFill>
                  <a:srgbClr val="DCE4EB"/>
                </a:solidFill>
                <a:latin typeface="Calibri" pitchFamily="34" charset="0"/>
                <a:ea typeface="Calibri" pitchFamily="34" charset="-122"/>
                <a:cs typeface="Calibri" pitchFamily="34" charset="-120"/>
              </a:rPr>
              <a:t>Open the simulation lab and run SIM-2 on your own station's row</a:t>
            </a:r>
            <a:endParaRPr lang="en-US" sz="1200" dirty="0"/>
          </a:p>
        </p:txBody>
      </p:sp>
      <p:sp>
        <p:nvSpPr>
          <p:cNvPr id="30" name="Text 28"/>
          <p:cNvSpPr/>
          <p:nvPr/>
        </p:nvSpPr>
        <p:spPr>
          <a:xfrm>
            <a:off x="960120" y="5522976"/>
            <a:ext cx="10332720" cy="457200"/>
          </a:xfrm>
          <a:prstGeom prst="rect">
            <a:avLst/>
          </a:prstGeom>
          <a:noFill/>
          <a:ln/>
        </p:spPr>
        <p:txBody>
          <a:bodyPr wrap="square" lIns="0" tIns="0" rIns="0" bIns="0" rtlCol="0" anchor="ctr"/>
          <a:lstStyle/>
          <a:p>
            <a:pPr indent="0" marL="0">
              <a:buNone/>
            </a:pPr>
            <a:r>
              <a:rPr lang="en-US" sz="1800" b="1" i="1" dirty="0">
                <a:solidFill>
                  <a:srgbClr val="FFFFFF"/>
                </a:solidFill>
                <a:latin typeface="Cambria" pitchFamily="34" charset="0"/>
                <a:ea typeface="Cambria" pitchFamily="34" charset="-122"/>
                <a:cs typeface="Cambria" pitchFamily="34" charset="-120"/>
              </a:rPr>
              <a:t>The mathematics is the easy part. The data, the ownership and the follow-through are the job.</a:t>
            </a:r>
            <a:endParaRPr lang="en-US" sz="1800" dirty="0"/>
          </a:p>
        </p:txBody>
      </p:sp>
      <p:sp>
        <p:nvSpPr>
          <p:cNvPr id="31" name="Text 29"/>
          <p:cNvSpPr/>
          <p:nvPr/>
        </p:nvSpPr>
        <p:spPr>
          <a:xfrm>
            <a:off x="960120" y="6199632"/>
            <a:ext cx="10332720" cy="365760"/>
          </a:xfrm>
          <a:prstGeom prst="rect">
            <a:avLst/>
          </a:prstGeom>
          <a:noFill/>
          <a:ln/>
        </p:spPr>
        <p:txBody>
          <a:bodyPr wrap="square" lIns="0" tIns="0" rIns="0" bIns="0" rtlCol="0" anchor="ctr"/>
          <a:lstStyle/>
          <a:p>
            <a:pPr indent="0" marL="0">
              <a:buNone/>
            </a:pPr>
            <a:r>
              <a:rPr lang="en-US" sz="1200" dirty="0">
                <a:solidFill>
                  <a:srgbClr val="8C9BA8"/>
                </a:solidFill>
                <a:latin typeface="Calibri" pitchFamily="34" charset="0"/>
                <a:ea typeface="Calibri" pitchFamily="34" charset="-122"/>
                <a:cs typeface="Calibri" pitchFamily="34" charset="-120"/>
              </a:rPr>
              <a:t>Questions — including from Koradi, Khaperkheda, Bhusawal and Paras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118</Slides>
  <Notes>118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118</vt:i4>
      </vt:variant>
    </vt:vector>
  </HeadingPairs>
  <TitlesOfParts>
    <vt:vector size="1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in Power Plants: From Data to Decisions</dc:title>
  <dc:subject>PptxGenJS Presentation</dc:subject>
  <dc:creator>MAHAGENCO Training Centre, Nashik</dc:creator>
  <cp:lastModifiedBy>MAHAGENCO Training Centre, Nashik</cp:lastModifiedBy>
  <cp:revision>1</cp:revision>
  <dcterms:created xsi:type="dcterms:W3CDTF">2026-08-12T05:13:09Z</dcterms:created>
  <dcterms:modified xsi:type="dcterms:W3CDTF">2026-08-12T05:13:09Z</dcterms:modified>
</cp:coreProperties>
</file>