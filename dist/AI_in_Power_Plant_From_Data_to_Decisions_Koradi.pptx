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charts/chart3.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530"/>
                </a:solidFill>
                <a:latin typeface="Calibri"/>
              </a:defRPr>
            </a:pPr>
            <a:r>
              <a:rPr sz="1300" b="0" i="0" u="none" strike="noStrike">
                <a:solidFill>
                  <a:srgbClr val="1C2530"/>
                </a:solidFill>
                <a:latin typeface="Calibri"/>
              </a:rPr>
              <a:t>Monthly mean of the DE bearing tag (°C)</a:t>
            </a:r>
          </a:p>
        </c:rich>
      </c:tx>
      <c:layout/>
      <c:overlay val="0"/>
    </c:title>
    <c:autoTitleDeleted val="0"/>
    <c:plotArea>
      <c:layout/>
      <c:lineChart>
        <c:varyColors val="0"/>
        <c:ser>
          <c:idx val="0"/>
          <c:order val="0"/>
          <c:tx>
            <c:strRef>
              <c:f>Sheet1!$B$1</c:f>
              <c:strCache>
                <c:ptCount val="1"/>
                <c:pt idx="0">
                  <c:v>This fan — fault begins 20 Jul</c:v>
                </c:pt>
              </c:strCache>
            </c:strRef>
          </c:tx>
          <c:spPr>
            <a:solidFill>
              <a:srgbClr val="D96A16"/>
            </a:solidFill>
            <a:ln w="38100" cap="flat">
              <a:solidFill>
                <a:srgbClr val="D96A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6A16"/>
              </a:solidFill>
              <a:ln w="9525" cap="flat">
                <a:solidFill>
                  <a:srgbClr val="D96A16"/>
                </a:solidFill>
                <a:prstDash val="solid"/>
                <a:round/>
              </a:ln>
              <a:effectLst/>
            </c:spPr>
          </c:marker>
          <c:cat>
            <c:multiLvlStrRef>
              <c:f>Sheet1!$A$2:$A$9</c:f>
              <c:multiLvlStrCache>
                <c:ptCount val="8"/>
                <c:lvl>
                  <c:pt idx="0">
                    <c:v>Jan</c:v>
                  </c:pt>
                  <c:pt idx="1">
                    <c:v>Mar</c:v>
                  </c:pt>
                  <c:pt idx="2">
                    <c:v>May</c:v>
                  </c:pt>
                  <c:pt idx="3">
                    <c:v>Jun</c:v>
                  </c:pt>
                  <c:pt idx="4">
                    <c:v>Jul</c:v>
                  </c:pt>
                  <c:pt idx="5">
                    <c:v>Sep</c:v>
                  </c:pt>
                  <c:pt idx="6">
                    <c:v>Oct</c:v>
                  </c:pt>
                  <c:pt idx="7">
                    <c:v>Dec</c:v>
                  </c:pt>
                </c:lvl>
              </c:multiLvlStrCache>
            </c:multiLvlStrRef>
          </c:cat>
          <c:val>
            <c:numRef>
              <c:f>Sheet1!$B$2:$B$9</c:f>
              <c:numCache>
                <c:formatCode>General</c:formatCode>
                <c:ptCount val="8"/>
                <c:pt idx="0">
                  <c:v>56</c:v>
                </c:pt>
                <c:pt idx="1">
                  <c:v>59</c:v>
                </c:pt>
                <c:pt idx="2">
                  <c:v>63</c:v>
                </c:pt>
                <c:pt idx="3">
                  <c:v>61</c:v>
                </c:pt>
                <c:pt idx="4">
                  <c:v>58</c:v>
                </c:pt>
                <c:pt idx="5">
                  <c:v>61</c:v>
                </c:pt>
                <c:pt idx="6">
                  <c:v>66</c:v>
                </c:pt>
                <c:pt idx="7">
                  <c:v>74</c:v>
                </c:pt>
              </c:numCache>
            </c:numRef>
          </c:val>
          <c:smooth val="0"/>
        </c:ser>
        <c:ser>
          <c:idx val="1"/>
          <c:order val="1"/>
          <c:tx>
            <c:strRef>
              <c:f>Sheet1!$C$1</c:f>
              <c:strCache>
                <c:ptCount val="1"/>
                <c:pt idx="0">
                  <c:v>Healthy twin, same duty</c:v>
                </c:pt>
              </c:strCache>
            </c:strRef>
          </c:tx>
          <c:spPr>
            <a:solidFill>
              <a:srgbClr val="11707F"/>
            </a:solidFill>
            <a:ln w="38100" cap="flat">
              <a:solidFill>
                <a:srgbClr val="1170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707F"/>
              </a:solidFill>
              <a:ln w="9525" cap="flat">
                <a:solidFill>
                  <a:srgbClr val="11707F"/>
                </a:solidFill>
                <a:prstDash val="solid"/>
                <a:round/>
              </a:ln>
              <a:effectLst/>
            </c:spPr>
          </c:marker>
          <c:cat>
            <c:multiLvlStrRef>
              <c:f>Sheet1!$A$2:$A$9</c:f>
              <c:multiLvlStrCache>
                <c:ptCount val="8"/>
                <c:lvl>
                  <c:pt idx="0">
                    <c:v>Jan</c:v>
                  </c:pt>
                  <c:pt idx="1">
                    <c:v>Mar</c:v>
                  </c:pt>
                  <c:pt idx="2">
                    <c:v>May</c:v>
                  </c:pt>
                  <c:pt idx="3">
                    <c:v>Jun</c:v>
                  </c:pt>
                  <c:pt idx="4">
                    <c:v>Jul</c:v>
                  </c:pt>
                  <c:pt idx="5">
                    <c:v>Sep</c:v>
                  </c:pt>
                  <c:pt idx="6">
                    <c:v>Oct</c:v>
                  </c:pt>
                  <c:pt idx="7">
                    <c:v>Dec</c:v>
                  </c:pt>
                </c:lvl>
              </c:multiLvlStrCache>
            </c:multiLvlStrRef>
          </c:cat>
          <c:val>
            <c:numRef>
              <c:f>Sheet1!$C$2:$C$9</c:f>
              <c:numCache>
                <c:formatCode>General</c:formatCode>
                <c:ptCount val="8"/>
                <c:pt idx="0">
                  <c:v>56</c:v>
                </c:pt>
                <c:pt idx="1">
                  <c:v>59</c:v>
                </c:pt>
                <c:pt idx="2">
                  <c:v>63</c:v>
                </c:pt>
                <c:pt idx="3">
                  <c:v>61</c:v>
                </c:pt>
                <c:pt idx="4">
                  <c:v>58</c:v>
                </c:pt>
                <c:pt idx="5">
                  <c:v>58</c:v>
                </c:pt>
                <c:pt idx="6">
                  <c:v>59</c:v>
                </c:pt>
                <c:pt idx="7">
                  <c:v>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80"/>
          <c:min val="50"/>
        </c:scaling>
        <c:delete val="0"/>
        <c:axPos val="l"/>
        <c:majorGridlines>
          <c:spPr>
            <a:ln w="12700" cap="flat">
              <a:solidFill>
                <a:srgbClr val="E4EAF0"/>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Bearing temperature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530"/>
                </a:solidFill>
                <a:latin typeface="Calibri"/>
              </a:defRPr>
            </a:pPr>
            <a:r>
              <a:rPr sz="1300" b="0" i="0" u="none" strike="noStrike">
                <a:solidFill>
                  <a:srgbClr val="1C2530"/>
                </a:solidFill>
                <a:latin typeface="Calibri"/>
              </a:rPr>
              <a:t>Fault severity and the residual it produces</a:t>
            </a:r>
          </a:p>
        </c:rich>
      </c:tx>
      <c:layout/>
      <c:overlay val="0"/>
    </c:title>
    <c:autoTitleDeleted val="0"/>
    <c:plotArea>
      <c:layout/>
      <c:lineChart>
        <c:varyColors val="0"/>
        <c:ser>
          <c:idx val="0"/>
          <c:order val="0"/>
          <c:tx>
            <c:strRef>
              <c:f>Sheet1!$B$1</c:f>
              <c:strCache>
                <c:ptCount val="1"/>
                <c:pt idx="0">
                  <c:v>Severity (% of final)</c:v>
                </c:pt>
              </c:strCache>
            </c:strRef>
          </c:tx>
          <c:spPr>
            <a:solidFill>
              <a:srgbClr val="D96A16"/>
            </a:solidFill>
            <a:ln w="38100" cap="flat">
              <a:solidFill>
                <a:srgbClr val="D96A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6A16"/>
              </a:solidFill>
              <a:ln w="9525" cap="flat">
                <a:solidFill>
                  <a:srgbClr val="D96A16"/>
                </a:solidFill>
                <a:prstDash val="solid"/>
                <a:round/>
              </a:ln>
              <a:effectLst/>
            </c:spPr>
          </c:marker>
          <c:cat>
            <c:multiLvlStrRef>
              <c:f>Sheet1!$A$2:$A$9</c:f>
              <c:multiLvlStrCache>
                <c:ptCount val="8"/>
                <c:lvl>
                  <c:pt idx="0">
                    <c:v>d200</c:v>
                  </c:pt>
                  <c:pt idx="1">
                    <c:v>d215</c:v>
                  </c:pt>
                  <c:pt idx="2">
                    <c:v>d230</c:v>
                  </c:pt>
                  <c:pt idx="3">
                    <c:v>d245</c:v>
                  </c:pt>
                  <c:pt idx="4">
                    <c:v>d260</c:v>
                  </c:pt>
                  <c:pt idx="5">
                    <c:v>d275</c:v>
                  </c:pt>
                  <c:pt idx="6">
                    <c:v>d290</c:v>
                  </c:pt>
                  <c:pt idx="7">
                    <c:v>d305</c:v>
                  </c:pt>
                </c:lvl>
              </c:multiLvlStrCache>
            </c:multiLvlStrRef>
          </c:cat>
          <c:val>
            <c:numRef>
              <c:f>Sheet1!$B$2:$B$9</c:f>
              <c:numCache>
                <c:formatCode>General</c:formatCode>
                <c:ptCount val="8"/>
                <c:pt idx="0">
                  <c:v>0</c:v>
                </c:pt>
                <c:pt idx="1">
                  <c:v>3</c:v>
                </c:pt>
                <c:pt idx="2">
                  <c:v>11</c:v>
                </c:pt>
                <c:pt idx="3">
                  <c:v>22</c:v>
                </c:pt>
                <c:pt idx="4">
                  <c:v>36</c:v>
                </c:pt>
                <c:pt idx="5">
                  <c:v>52</c:v>
                </c:pt>
                <c:pt idx="6">
                  <c:v>71</c:v>
                </c:pt>
                <c:pt idx="7">
                  <c:v>93</c:v>
                </c:pt>
              </c:numCache>
            </c:numRef>
          </c:val>
          <c:smooth val="0"/>
        </c:ser>
        <c:ser>
          <c:idx val="1"/>
          <c:order val="1"/>
          <c:tx>
            <c:strRef>
              <c:f>Sheet1!$C$1</c:f>
              <c:strCache>
                <c:ptCount val="1"/>
                <c:pt idx="0">
                  <c:v>Residual produced (°C)</c:v>
                </c:pt>
              </c:strCache>
            </c:strRef>
          </c:tx>
          <c:spPr>
            <a:solidFill>
              <a:srgbClr val="11707F"/>
            </a:solidFill>
            <a:ln w="38100" cap="flat">
              <a:solidFill>
                <a:srgbClr val="1170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707F"/>
              </a:solidFill>
              <a:ln w="9525" cap="flat">
                <a:solidFill>
                  <a:srgbClr val="11707F"/>
                </a:solidFill>
                <a:prstDash val="solid"/>
                <a:round/>
              </a:ln>
              <a:effectLst/>
            </c:spPr>
          </c:marker>
          <c:cat>
            <c:multiLvlStrRef>
              <c:f>Sheet1!$A$2:$A$9</c:f>
              <c:multiLvlStrCache>
                <c:ptCount val="8"/>
                <c:lvl>
                  <c:pt idx="0">
                    <c:v>d200</c:v>
                  </c:pt>
                  <c:pt idx="1">
                    <c:v>d215</c:v>
                  </c:pt>
                  <c:pt idx="2">
                    <c:v>d230</c:v>
                  </c:pt>
                  <c:pt idx="3">
                    <c:v>d245</c:v>
                  </c:pt>
                  <c:pt idx="4">
                    <c:v>d260</c:v>
                  </c:pt>
                  <c:pt idx="5">
                    <c:v>d275</c:v>
                  </c:pt>
                  <c:pt idx="6">
                    <c:v>d290</c:v>
                  </c:pt>
                  <c:pt idx="7">
                    <c:v>d305</c:v>
                  </c:pt>
                </c:lvl>
              </c:multiLvlStrCache>
            </c:multiLvlStrRef>
          </c:cat>
          <c:val>
            <c:numRef>
              <c:f>Sheet1!$C$2:$C$9</c:f>
              <c:numCache>
                <c:formatCode>General</c:formatCode>
                <c:ptCount val="8"/>
                <c:pt idx="0">
                  <c:v>0</c:v>
                </c:pt>
                <c:pt idx="1">
                  <c:v>0.9</c:v>
                </c:pt>
                <c:pt idx="2">
                  <c:v>3</c:v>
                </c:pt>
                <c:pt idx="3">
                  <c:v>6</c:v>
                </c:pt>
                <c:pt idx="4">
                  <c:v>9.7</c:v>
                </c:pt>
                <c:pt idx="5">
                  <c:v>14</c:v>
                </c:pt>
                <c:pt idx="6">
                  <c:v>19</c:v>
                </c:pt>
                <c:pt idx="7">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4EAF0"/>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 of final ·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530"/>
                </a:solidFill>
                <a:latin typeface="Calibri"/>
              </a:defRPr>
            </a:pPr>
            <a:r>
              <a:rPr sz="1300" b="0" i="0" u="none" strike="noStrike">
                <a:solidFill>
                  <a:srgbClr val="1C2530"/>
                </a:solidFill>
                <a:latin typeface="Calibri"/>
              </a:rPr>
              <a:t>Excess O₂ vs ΔHR and NOx (SIM-6 model)</a:t>
            </a:r>
          </a:p>
        </c:rich>
      </c:tx>
      <c:layout/>
      <c:overlay val="0"/>
    </c:title>
    <c:autoTitleDeleted val="0"/>
    <c:plotArea>
      <c:layout/>
      <c:lineChart>
        <c:varyColors val="0"/>
        <c:ser>
          <c:idx val="0"/>
          <c:order val="0"/>
          <c:tx>
            <c:strRef>
              <c:f>Sheet1!$B$1</c:f>
              <c:strCache>
                <c:ptCount val="1"/>
                <c:pt idx="0">
                  <c:v>ΔHR (kcal/kWh)</c:v>
                </c:pt>
              </c:strCache>
            </c:strRef>
          </c:tx>
          <c:spPr>
            <a:solidFill>
              <a:srgbClr val="D96A16"/>
            </a:solidFill>
            <a:ln w="38100" cap="flat">
              <a:solidFill>
                <a:srgbClr val="D96A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6A16"/>
              </a:solidFill>
              <a:ln w="9525" cap="flat">
                <a:solidFill>
                  <a:srgbClr val="D96A16"/>
                </a:solidFill>
                <a:prstDash val="solid"/>
                <a:round/>
              </a:ln>
              <a:effectLst/>
            </c:spPr>
          </c:marker>
          <c:cat>
            <c:multiLvlStrRef>
              <c:f>Sheet1!$A$2:$A$9</c:f>
              <c:multiLvlStrCache>
                <c:ptCount val="8"/>
                <c:lvl>
                  <c:pt idx="0">
                    <c:v>2.4%</c:v>
                  </c:pt>
                  <c:pt idx="1">
                    <c:v>2.6%</c:v>
                  </c:pt>
                  <c:pt idx="2">
                    <c:v>2.8%</c:v>
                  </c:pt>
                  <c:pt idx="3">
                    <c:v>3.0%</c:v>
                  </c:pt>
                  <c:pt idx="4">
                    <c:v>3.2%</c:v>
                  </c:pt>
                  <c:pt idx="5">
                    <c:v>3.4%</c:v>
                  </c:pt>
                  <c:pt idx="6">
                    <c:v>3.6%</c:v>
                  </c:pt>
                  <c:pt idx="7">
                    <c:v>3.8%</c:v>
                  </c:pt>
                </c:lvl>
              </c:multiLvlStrCache>
            </c:multiLvlStrRef>
          </c:cat>
          <c:val>
            <c:numRef>
              <c:f>Sheet1!$B$2:$B$9</c:f>
              <c:numCache>
                <c:formatCode>General</c:formatCode>
                <c:ptCount val="8"/>
                <c:pt idx="0">
                  <c:v>20</c:v>
                </c:pt>
                <c:pt idx="1">
                  <c:v>10</c:v>
                </c:pt>
                <c:pt idx="2">
                  <c:v>4</c:v>
                </c:pt>
                <c:pt idx="3">
                  <c:v>0</c:v>
                </c:pt>
                <c:pt idx="4">
                  <c:v>4</c:v>
                </c:pt>
                <c:pt idx="5">
                  <c:v>10</c:v>
                </c:pt>
                <c:pt idx="6">
                  <c:v>18</c:v>
                </c:pt>
                <c:pt idx="7">
                  <c:v>28</c:v>
                </c:pt>
              </c:numCache>
            </c:numRef>
          </c:val>
          <c:smooth val="0"/>
        </c:ser>
        <c:ser>
          <c:idx val="1"/>
          <c:order val="1"/>
          <c:tx>
            <c:strRef>
              <c:f>Sheet1!$C$1</c:f>
              <c:strCache>
                <c:ptCount val="1"/>
                <c:pt idx="0">
                  <c:v>NOx (mg/Nm³ ÷10)</c:v>
                </c:pt>
              </c:strCache>
            </c:strRef>
          </c:tx>
          <c:spPr>
            <a:solidFill>
              <a:srgbClr val="11707F"/>
            </a:solidFill>
            <a:ln w="38100" cap="flat">
              <a:solidFill>
                <a:srgbClr val="1170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707F"/>
              </a:solidFill>
              <a:ln w="9525" cap="flat">
                <a:solidFill>
                  <a:srgbClr val="11707F"/>
                </a:solidFill>
                <a:prstDash val="solid"/>
                <a:round/>
              </a:ln>
              <a:effectLst/>
            </c:spPr>
          </c:marker>
          <c:cat>
            <c:multiLvlStrRef>
              <c:f>Sheet1!$A$2:$A$9</c:f>
              <c:multiLvlStrCache>
                <c:ptCount val="8"/>
                <c:lvl>
                  <c:pt idx="0">
                    <c:v>2.4%</c:v>
                  </c:pt>
                  <c:pt idx="1">
                    <c:v>2.6%</c:v>
                  </c:pt>
                  <c:pt idx="2">
                    <c:v>2.8%</c:v>
                  </c:pt>
                  <c:pt idx="3">
                    <c:v>3.0%</c:v>
                  </c:pt>
                  <c:pt idx="4">
                    <c:v>3.2%</c:v>
                  </c:pt>
                  <c:pt idx="5">
                    <c:v>3.4%</c:v>
                  </c:pt>
                  <c:pt idx="6">
                    <c:v>3.6%</c:v>
                  </c:pt>
                  <c:pt idx="7">
                    <c:v>3.8%</c:v>
                  </c:pt>
                </c:lvl>
              </c:multiLvlStrCache>
            </c:multiLvlStrRef>
          </c:cat>
          <c:val>
            <c:numRef>
              <c:f>Sheet1!$C$2:$C$9</c:f>
              <c:numCache>
                <c:formatCode>General</c:formatCode>
                <c:ptCount val="8"/>
                <c:pt idx="0">
                  <c:v>20.3</c:v>
                </c:pt>
                <c:pt idx="1">
                  <c:v>21.9</c:v>
                </c:pt>
                <c:pt idx="2">
                  <c:v>23.4</c:v>
                </c:pt>
                <c:pt idx="3">
                  <c:v>25</c:v>
                </c:pt>
                <c:pt idx="4">
                  <c:v>26.6</c:v>
                </c:pt>
                <c:pt idx="5">
                  <c:v>28.1</c:v>
                </c:pt>
                <c:pt idx="6">
                  <c:v>29.7</c:v>
                </c:pt>
                <c:pt idx="7">
                  <c:v>31.2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4EAF0"/>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kcal/kWh · mg/Nm³÷10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 target 10:30]
[10:30–10:32] Welcome the room. Set the tone in thirty seconds: this is not a computer science lecture and there are no vendor slides. Everything shown today runs in the browser on the phones in this room, and every rupee figure comes from our own June 2026 energy bill. Say plainly that the machine data used in the labs is synthetic — built so the true fault day is known exactly — and that the economics wrapped around it are real. The day has one spine: a single bearing reading, followed from the sensor all the way to a signed work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 · From plant to data · target 10:32]
[10:32–10:36] Put both numbers up and let them sit. Ask the room: is 74.2 degrees fine or frightening? Someone will say 'depends' — that is the correct answer, and the whole morning is about making 'depends' computable. Then the second number: our own June gross heat-rate gap, from the bill, not from a consultant. The day's question is how the first kind of number learns to protect the second. No war stories today — every claim gets computed live in front of the room, on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 · From plant to data · target 10:36]
[10:36–10:39] Walk the agenda once. Point out the labs — five of them run on the participants' own phones and one is a live demonstration of a model trained by an engineer at this station. State the contract: no block runs past its decision, tea and lunch are protected, and phones stay OUT — they are the lab bench, not a distraction. The card exercise at the end of Block 5 feeds the pilot discussion at 16:40, so ask people to stay through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 · From plant to data · target 10:39]
[LAB] [10:39–10:42] Put the QR and the URL up and walk the room through opening it. Everything is a static page — no login, no app install, nothing leaves the phone. It installs as an offline app, so once a page has loaded it keeps working even if the hall Wi-Fi drops. Spend the full two minutes shepherding; it saves ten minutes at every later lab. Anyone without a phone pairs with a neighbour — the labs are designed for pairs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 · From plant to data · target 10:42]
[10:42–10:47] The point of this slide is ownership. AI in a plant is 80% this asset and 20% algorithm, and the asset is already bought, installed and collecting. Ask the room how many tags they think one machine carries — then multiply out loud: 40 tags, one reading a minute, one year. Nobody needs to buy data; we need to look after the data we make. Flag the caveat for later: what the historian stores is only as good as the scan rates, compression settings and sensor maintenance behind it — Block 4 returns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 · From plant to data · target 10:47]
[10:47–10:53] This is the specimen's home. The orange line is the bearing temperature's monthly mean over a synthetic but physically honest year; the blue line is ambient. Note the shape: the bearing follows load and weather up to a May peak, dips with the monsoon, lifts again in October. Ask: where is the fault? Nobody can tell — and there IS one in the second half of this year. A raw tag hides a growing fault inside its own seasonality. Say clearly that the data is synthetic, generated from a physical model with a known fault day, because that is the only way to mark a model's homework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 · From plant to data · target 10:53]
[10:53–11:00] Slow down here — this is THE slide. Walk the four steps with the bearing: we measured 74.2; the model, given today's load, ambient and cooling water, expected 71.9; the residual is +2.3; and a residual that stays big and positive for days is a machine asking for attention. Say the sentence the day keeps returning to: a flat residual means a healthy machine, whatever the weather is doing. Every algorithm this afternoon — k-NN, networks, PCA — is just a different way of computing step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 · From plant to data · target 11:00]
[11:00–11:05] Recap in four tiles and take questions for two minutes. The block ends on its decision: every participant should be able to name tags on their own unit that could feed a model tomorrow — and the honest blockers, which are scan rates, compression and dead sensors, not algorithms. Bridge to Block 2: the next hour opens the machine that computes 'expected', in 3-D, on their phones, and there is no magic in it — they will watch every multiplication.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2 · Neural networks, opened up · target 11:05]
[11:05–11:09] Introduce the Theatre: six animated modules, each opening up one algorithm, all chewing the same bearing reading. Today the room drives two of them live — gradient descent and the neural network. The other four are homework on the same URL. Land the punchline early: different machines, same conclusion, and that agreement is the point. The algorithm is a means; the residual is the finding. Nobody should leave thinking the choice of algorithm is where the intelligence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2 · Neural networks, opened up · target 11:09]
[11:09–11:11] Do not linger — this is vocabulary, not theory. One plant example each: supervised is 'predict bearing temperature from load and ambient'; unsupervised is 'group this year into operating regimes nobody named'; reinforcement is 'learn a control policy by trial' — and say plainly that reinforcement learning belongs nowhere near a live unit today. Then the last row: nearly everything in this course is supervised learning of an expected value. The vendor word-cloud collapses to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2 · Neural networks, opened up · target 11:11]
[11:11–11:15] Before any network: the dumbest honest model. To know what the bearing should read now, find the 12 most similar past hours — similar load, similar ambient, similar cooling water — and average what the bearing read then. That average IS the expected value; subtract and you have a residual. No training, no weights, fully explainable: 'you ran like this on these 12 days, and you were cooler then.' Most commercial condition-monitoring products are exactly this with better packaging. Module 1 shows it in 3-D —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2 · Neural networks, opened up · target 11:15]
[LAB] [11:15–11:27] Hand over to the phones. The loss surface is drawn as terrain: every position is a candidate model, height is how wrong it is, and training is a ball rolling downhill. The one thing everyone must do is break it: push the learning rate up until the ball overshoots the valley and diverges. Seeing divergence beats reading about it. Walk the room; ask people what their smallest reliable step size was. Close with: every model today — including the 163-dial network next — is fitted by exactly this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2 · Neural networks, opened up · target 11:27]
[11:27–11:30] Freeze the lab and put the line up. w is one dial; the gradient is that dial's share of the blame for the current error; eta is the step size they just tuned by hand. Training is this line, applied to every dial, over every training hour, many times. Say it in plant words: turn each dial a little against its share of the blame, repeat until the error stops falling. This exact line reappears in the Model Builder after lunch, printed live with their model's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2 · Neural networks, opened up · target 11:30]
[LAB] [11:30–11:45] The heart of the block. The network is drawn as a solid 3-D object: 8 inputs, two hidden ranks, one output, 146 weights and 17 biases as visible lines — teal adding, red subtracting, bright where large. Run the acts in order: the wiring, eight numbers arriving, the forward pass, the error, the backward pass, then training — watching random noise become structure. Then the instruction that matters: TAP any sphere. The panel opens that neuron's complete arithmetic at the current hour. Ask the room to find a saturated neuron — output pinned near ±1 — and keep it in mind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2 · Neural networks, opened up · target 11:45]
[11:45–11:48] Mirror the phone on the projector so the room and the slide agree. This is neuron 1 of hidden layer 1 at the specimen hour: three of its eight weighted inputs, the bias, the sum, and tanh of the sum. Read it aloud once: multiply, add, squash — that is the entire operation of a neuron, and a 'layer' is seventeen of these in a row. The numbers are the REAL trained weights from the module, not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2 · Neural networks, opened up · target 11:48]
[11:48–11:53] The forward pass answered; now the error runs backwards. Walk the four steps with the module's own numbers on screen. Then the detail worth a minute: the derivative of tanh is 1 − a². The saturated neuron they found — output pinned at ±1 — has derivative near zero, so its dials barely move however wrong the answer is. It has stopped learning. That is the vanishing gradient, seen on their own phone rather than asserted from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2 · Neural networks, opened up · target 11:53]
[11:53–11:56] The squash is not decoration. A stack of purely linear layers — any depth — multiplies out to ONE linear map: a straight line, however many millions of weights. The bend at each neuron is what lets the network represent a curve. Plant the seed for Block 3: there is a real curve waiting — a lube-oil cooler that runs out of approach above its design cooling-water temperature — and a straight-line model fitted to winter will be confidently wrong about it all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2 · Neural networks, opened up · target 11:56]
[11:56–11:59] Module 4 computes this live by running the backward pass one step further, to the inputs: how many degrees the prediction moves per unit of each tag. Load and ambient dominate — exactly as the physics says they should. That agreement is the check. Give the room the rule: on ANY supplied model, ask for this table first, and if the biggest sensitivity is a tag with no physical route to the target, the model has learned a coincidence of the training window and will betray you the first time the coincidence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2 · Neural networks, opened up · target 11:59]
[11:59–12:02] Read the pairs briskly and let the last row land hard: for one bearing on one fan, a network this size is usually the WRONG tool — k-NN and PCA are simpler, need less data and fail more visibly. Networks earn their keep where the relationship is strongly non-linear and history is long: combustion, mill throughput, load-following steam temperatures. Choosing the smallest model that works is an engineering decision, not a fashion decision — that sentence is the block's takeaway for anyone who ever meets 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2 · Neural networks, opened up · target 12:02]
[12:02–12:04] One breath on k-means, because it returns in Block 4: give the algorithm a year of operation and no labels at all, and it discovers the unit's operating regimes by itself — start-up, low load, summer full load. Why it matters: a single expected-value model straddling all regimes is mediocre in every one of them. Real monitoring systems fit one model per regime, and this is the machine that finds the regimes. Module 6 is homework on the same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2 · Neural networks, opened up · target 12:04]
[12:04–12:05] Thirty seconds, four tiles, then straight into Block 3 — the timing is deliberate, the room is warm. Bridge with the open question: the Theatre's network trained on data somebody prepared for it. Where does training data come from, what makes it honest, and what happens when it is quietly wrong? That is the next hour, and it ends with every person in the room training their own network on their own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3 · Data synthesis and the Model Builder · target 12:05]
[12:05–12:09] Be direct about the method, because honesty here buys trust all day. Real plant data never tells you the true onset day of a fault, so you can never mark a model's homework with it. The labs therefore run on a synthetic year: generated from a physical model, with the fault injected on a KNOWN day. The machine data is synthetic; the economics around it are from our June bill. Synthetic is not fake — it is the only data against which a detection claim can be checked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3 · Data synthesis and the Model Builder · target 12:09]
[12:09–12:14] Walk the three rows — this generator is worth two minutes because everything after lunch runs on it. Load is mean-reverting around 80% with night and Sunday dips. Ambient is the important one: monthly means that climb to a May peak of 33.5 °C and then DROP when the monsoon arrives — a shape no sine wave can make, and precisely why a model fitted to one season mis-predicts another. Cooling water follows air with about nine days of lag, because a basin has thermal inertia. Noise on top of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3 · Data synthesis and the Model Builder · target 12:14]
[12:14–12:18] The fault law: severity = ((t − onset)/ttf)^shape. For the fan, onset day 200, 110 days to failure, shape 1.7. Look at the curve's belly: 30 days in, severity is 11%; at half life it is still around a third. The residual it produces (orange) follows the same convexity. This single curve answers every 'why did detection take so long' question for the rest of the day — the early fault is genuinely quiet, and nobody catches by eyeball what has not yet made a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3 · Data synthesis and the Model Builder · target 12:18]
[12:18–12:22] The lube-oil cooler is sized for a design cooling-water temperature of 27.5 °C. Below it, oil temperature tracks ambient almost linearly. Above it the cooler runs out of approach, and the generator adds 1.35 × (CW − 27.5)^1.45 — a knee. Fit a straight line to January and February, when CW sits at 19–22 °C, and it extrapolates confidently into May and is badly wrong, because it never saw the knee exist. This is the bend from Block 2, now with a nameplate on it — and in twenty minutes everyone reproduces the failure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3 · Data synthesis and the Model Builder · target 12:22]
[12:22–12:26] Balance the picture: the synthetic year is clean, and real exports never are. Show the row of a genuine file — semicolons, decimal commas, an 'I/O Timeout' where a number should be. Each pathology quietly poisons a model in its own way. The Model Builder they are about to open parses exactly this format, on purpose: drop in your own unit's export tomorrow and it will read it, profile it, and tell you which columns are usable before any training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3 · Data synthesis and the Model Builder · target 12:26]
[LAB] [12:26–12:46] The centrepiece lab. Nine blocks are already on the canvas: data, training window, inputs, target, normalise, a hidden layer, train, residual, alert rule. Press Train — about 1.5 seconds for a real 31-parameter network on 8,760 hours, on the phone in their hand. Then the feature that matters: TAP any block and it opens into the arithmetic it performs, with the live model's own numbers — the same formulas from Block 2, now theirs. Run the four guided experiments on the next slides in order. Shepherd hard: the value is in the comparisons, not the first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3 · Data synthesis and the Model Builder · target 12:46]
[12:46–12:49] Everyone should be looking at this panel on their own phone; read it aloud together. Fault begins day 200; the advisory comes day 255 — 55 days to be sure — one episode all year at 4σ held for 72 hours. And the line that answers the obvious objection: on the day it fired, the fault was only 31% of the way to failure. 55 days sounds slow until you remember the convexity slide: half the fault's LIFE had passed, but only a third of its signal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3 · Data synthesis and the Model Builder · target 12:49]
[12:49–12:52] The room has just done this. The winter model looks BETTER on its own window — tighter sigma, lovely fit — and then runs +2.4 °C wrong on average through the pre-monsoon, four times its own alert band, nineteen times worse than the season-spanning model. It never met the knee. Name the lesson while their thumbs are still on it: a model that has not seen a season does not know the season exists, and no amount of architecture fixes a training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3 · Data synthesis and the Model Builder · target 12:52]
[12:52–12:55] Two numbers from their own phones: end the window at day 300 — inside the degradation — and the advisory slides from day 255 to day 315, sixty days of warning gone. End it at day 330 and the advisory never comes at all. Nothing on the loss curve warns you; the model is perfectly happy. This is the single most common way real condition-monitoring programmes die, and the defence is procedural, not clever: the training window ends before the period you intend to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3 · Data synthesis and the Model Builder · target 12:55]
[12:55–12:58] Last experiment: tick the lube-oil cooler outlet temperature into the inputs and retrain. Sigma collapses from 2.05 to 0.60 °C — the knee is now explained, the band tightens from ±8.2 to ±2.4 — and the advisory moves from day 255 to day 230. Twenty-five days of warning, bought by knowing WHERE the failure starts. No layer count achieves this. Input choice beats architecture, which means the person who knows the plant beats the person who knows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3 · Data synthesis and the Model Builder · target 12:58]
[12:58–13:00] One more reading of the same numbers, because it changes how people argue with vendors. The default model's σ of 2.05 °C splits: only 0.89 °C is hour-to-hour sensor noise; the remaining 1.8 °C is structure the model fails to explain — mostly the knee. The alarm band is therefore a property of the MODEL, not the machine: improve the model and the band narrows, and detection days appear out of nowhere. The Builder prints this split on every run. Break for lunch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3 · Data synthesis and the Model Builder · target 13:45]
[13:45–13:48] Reconvene after lunch by compressing the morning into procedure. Three rules plus the standing one: span the seasons, end before the period you judge, feed the model duty rather than symptoms — and retrain after any overhaul, because maintenance legitimately changes what 'normal' is. These four lines are the difference between the honest day-255 model and the silent day-330 one, and they cost nothing but discipline. Then pivot: the afternoon takes this discipline to a full maintenance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4 · Predictive maintenance, end to end · target 13:48]
[13:48–13:52] The morning built stage 6 and nothing else. A predictive maintenance PROGRAMME is all eight stages, and the uncomfortable truth is that most failures happen in stages 1–4 — before any algorithm exists. Wrong failure mode, missing sensor, dead data, unexamined quality: no model recovers from these. The simulator the room is about to drive walks all eight in order, on five different machines, and the afternoon follows its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4 · Predictive maintenance, end to end · target 13:52]
[13:52–13:55] Introduce the cast. Five machines, each with a genuine failure mode, realistic instrumentation gaps, and a synthetic year with a known fault day — say the synthetic part out loud again; the honesty is a feature. The ID fan is today's guided case; the other four run the same eight stages and are homework. Each case also carries a deliberate trap — a sensor that is not fitted, a tag that would leak the answer — because real programmes meet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4 · Predictive maintenance, end to end · target 13:55]
[13:55–13:58] Before any data: what exactly are we trying to catch? For the fan the chain is specific — cooling-water side of the lube-oil cooler fouls, oil runs hot, the film thins, the babbitt wipes, and the machine trips at 100 °C metal temperature. Walk the chain and note that each link suggests its own instrument. A programme that skips this stage produces dashboards: colourful, comprehensive, and incapable of answering 'what would we have caught,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4 · Predictive maintenance, end to end · target 13:58]
[13:58–14:02] The audit that decides everything downstream. Eight tags exist on this fan; the ninth — cooling-water flow through the cooler, the tag closest to the actual mechanism — is not fitted, which is entirely typical. The lesson from Experiment 4 applies in reverse: the mechanism tag is worth 25 days of warning, so a ₹50,000 sensor can outperform a ₹50 lakh analytics platform. Ask the room which tags their own worst actor is missing; every unit has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4 · Predictive maintenance, end to end · target 14:02]
[14:02–14:07] The classic curve, except every rung here was MEASURED in the simulator this week, on the synthetic case with the known onset. Potential failure at day 200; the residual with the mechanism tag sees it around day 230; the honest duty-and-weather model at 255; vibration confirms near 280; a fixed 90 °C threshold wakes around 290; functional failure lands near day 310. The gaps between rungs are the value of each improvement, in days, on the same fault. No rung is free — each is a sensor, a model, or a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4 · Predictive maintenance, end to end · target 14:07]
[LAB] [14:07–14:19] Hand over. Everyone opens the fan case and scrubs the day slider slowly from 0 to 365, watching the 3-D machine: the bearing warms through its palette, the cut-away shows the film thinning, the sensor dots carry live values. The task is written on the slide: decide, by eyeball alone, on which day YOU would have called maintenance. Collect answers from three or four people — the spread is always wide, roughly days 230 to 330, and that spread IS the lesson: eyeballing a trend is a lottery, and the residual's day-255 with one episode is what consistency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4 · Predictive maintenance, end to end · target 14:19]
[14:19–14:23] Each of these was injectable in the lab they just ran. Walk them quickly — the room has now SEEN a flatlined sensor make the machine look immortal. The gate discipline: every tag gets a quality profile before it is allowed near training — freeze detection, gap census, range checks, timestamp audit. It is unglamorous, it is an AE-level responsibility, and it decides more than the model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4 · Predictive maintenance, end to end · target 14:23]
[14:23–14:27] Features are where plant knowledge enters. The good list: load-normalised temperature, the DE-minus-NDE difference that kills common-mode drift AND separates sensor fault from machine fault in one subtraction, the oil ΔT across the cooler pointing at the mechanism, seven-day slopes. The traps look innocent: hour-of-day correlates with everything and means nothing; day-number ENCODES the answer for a synthetic fault; and any symptom tag as an input is Experiment 4's negative-residual problem waiting to misdirect an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4 · Predictive maintenance, end to end · target 14:27]
[14:27–14:30] Thirty seconds each, because the room has already met two from the inside. k-NN: memory, no training, fully explainable, what most commercial systems actually run. Regression/networks: the morning's story, interpretable at this size. Autoencoders: compress-and-reconstruct, reconstruction error as the residual — PCA's idea with bends. Then the de-mystifier: all three produce an expected value and a residual. The family matters less than the window, the inputs and the validation — which is why those got the morning and this gets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4 · Predictive maintenance, end to end · target 14:30]
[14:30–14:34] Validation is not a accuracy percentage — it is an alert budget. Read the table: at 4σ held 72 hours, one episode a year and 55 days of warning; loosen to 2σ/24h and warning improves marginally while episodes explode into the dozens — and a control room ignores the 41st false page. The budget is a MANAGEMENT decision: how many investigations a month will maintenance actually staff? Pick that number first, then set σ and persistence to spend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4 · Predictive maintenance, end to end · target 14:34]
[14:34–14:37] The simulator runs the same trained model on fan B — identical duty, healthy all year, judged by its own threshold. Result: zero episodes. That is the negative control: if the model alarms on the healthy twin, it learned the weather, not the fault. And the small print that catches real vendors: the threshold must come from the sister's own quiet period — apply machine A's band to machine B and the nuisance rate is silently faked to zero. Ask for the sister-machine run in every vendor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4 · Predictive maintenance, end to end · target 14:37]
[14:37–14:40] When the advisory fires, the next question is always 'how long?' — and a point estimate is the wrong answer to give a planning meeting. Degradation rates vary with load and coal; the honest output is a distribution: 90% confident it survives past the next planned outage window, 10% it does not. Planning can act on a band — advance a window, stage spares, derate on hot afternoons. Nobody can act on a fictional date except by pretending. SIM-5 in the Simulation Lab does the full RUL exercise;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4 · Predictive maintenance, end to end · target 14:40]
[14:40–14:43] This is what lands on the desk — walk it top to bottom. The claim, the residual behind it, the mechanism hypothesis, the confirming second witness, the RUL band, and the recommended action with its window. Everything is inspectable; nothing says 'the AI decided'. An advisory in this form respects the engineer who receives it, and that respect — more than any accuracy number — is what decides whether the programme survives its first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4 · Predictive maintenance, end to end · target 14:43]
[14:43–14:46] Run the simulator's scenario arithmetic — labelled as scenario, with our own June availability beside it for scale. A planned intervention on warning: 0.4 days, largely inside merit-order dips. A run-to-failure on the same fault: a 2.5-day forced outage plus replacement energy at market. At our 72.5% June availability, every avoided forced outage is availability we visibly need. The punchline for management: PdM's money is mostly in AVAILABILITY, not in the maintenance budget it is usually asked to justify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4 · Predictive maintenance, end to end · target 14:46]
[14:46–14:50] Put the stage-8 screen up and call the vote — hands, everyone, no abstentions. The room will split, and the split is the teaching moment: 'wait' is a bet that 45%-severity information improves before it costs 10:1; 'sign' spends ₹35 lakh on a machine that has not yet failed. Do the expected-value arithmetic aloud with the scenario numbers. Then the close: this vote — not the model — is the decision layer, and every improvement of the morning (tighter band, earlier day, second witness) exists to make THIS moment easier. Tea after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5 · Operational efficiency and optimisation · target 15:05]
[15:05–15:08] Reconvene from tea into money. Establish provenance before any figure: the June 2026 energy bill, the provisional Part-I FSA with the F10 ECR calculation, and the MERC merit-order dispatch stack for July. Nothing in this block is estimated, benchmarked or vendor-supplied; if a number cannot be traced to one of these three documents, it is not on a slide. That rule is what makes the next twenty minutes uncomfortable in a useful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5 · Operational efficiency and optimisation · target 15:08]
[15:08–15:12] Let the table sit in silence for ten seconds before speaking. Then walk it: availability 72.5, PLF 66.62, 964.8 MU generated. Net heat rate 2,442 against a norm of 2,230 — a 212 kcal/kWh gap. Auxiliary 6.95 against 6.0. As-fired GCV 3,061. Each number is ordinary until multiplied by a month of coal — the stat card does that multiplication once, and the next slide does the decomposition that tells us what kind of problem we actually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5 · Operational efficiency and optimisation · target 15:12]
[15:12–15:16] The most important arithmetic of the block. Net heat rate already CONTAINS auxiliary power, so decompose before diagnosing: our gross heat-rate gap is 176 kcal/kWh — ₹22.87 crore in June — a genuine boiler-turbine thermodynamic shortfall. The auxiliary excess is 0.95 points — ₹3.01 crore — a separate, smaller, electrical-side problem. Nashik, for contrast, is the exact mirror: turbine BEATING norm, entire penalty in aux. Different disease, different medicine — and any AI effort here must be pointed at the thermodynamic gap, because that is where our money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5 · Operational efficiency and optimisation · target 15:16]
[15:16–15:19] Say it as a warning, because someone in every review does it: the ₹25.6 crore net gap and the ₹3.0 crore auxiliary excess must NEVER be added — the net heat rate already contains the auxiliary consumption, so adding them counts the aux twice. The decomposition on the previous slide (22.87 + ~3.0 within the identity) is the correct split. Anyone who quotes 'nearly ₹29 crore of addressable loss' has invented several crore a month out of double counting — and will be found out in front of a regulator.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5 · Operational efficiency and optimisation · target 15:19]
[LAB] [15:19–15:31] Hand over to SIM-2, loaded with the real June figures. The sliders are the classical loss accounts — condenser back pressure, HP heater out-of-service, spray flows, auxiliary — and the task is to find combinations that plausibly explain our 176 kcal gross gap. The point to surface when regrouping: SEVERAL combinations fit. The bill alone cannot distinguish them — which is precisely why continuous, tag-level loss accounting (the AI version of this exercise) beats a monthly argument between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 5 · Operational efficiency and optimisation · target 15:31]
[15:31–15:35] Ground the lab. The usual suspects, with honest sizes: condenser vacuum and CW performance are the classic largest account; cycle isolation and HP heaters next; spray flows; and then the structural share — running 660 MW units at 66% PLF on merit order costs heat rate that no operational cleverness recovers. The split matters for expectations: AI finds and quantifies the controllable share; it does not repeal thermodynamics on the structural share. Both honesty and the pilot in Block 7 depend on keeping that distinction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 5 · Operational efficiency and optimisation · target 15:35]
[15:35–15:37] Balance the ledger, briefly, because a room that only hears gaps stops listening: secondary fuel oil at 0.41 ml/kWh against a 0.50 norm, and transit loss at 0.49% against 0.80 — both genuinely good, both from the same bill. The bill is not uniformly bad; it is SPECIFICALLY bad, in one large thermodynamic account. That specificity is good news — a focused problem is an addressable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 5 · Operational efficiency and optimisation · target 15:37]
[15:37–15:40] Before the lab, show what the optimiser actually knows: a mill draws 340 kW running plus 2.6 kW per t/h above 30; each CW pump is 1,650 kW; every energised ESP field is 26 kW; the ID fan goes as roughly the cube of flow. Auxiliary excess is therefore mostly a COUNTING problem — how many mills, pumps and fields are running for this load, this coal, this season — under safety and process constraints. That framing is what makes it optimisable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 5 · Operational efficiency and optimisation · target 15:40]
[LAB] [15:40–15:50] Scoreboard lab — competitive, fast. Everyone gets the same scenario: a load point, a GCV, a season. Choose mill count, CW pumps and ESP fields; the simulator prices the house load and flags any infeasible choice (insufficient milling margin, condenser limits). Call out the best percentage found. The recurring discovery — one CW pump more than needed at part load in cool months — is exactly the kind of item hiding inside our 0.95 excess points, and it needs no capex to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 5 · Operational efficiency and optimisation · target 15:50]
[15:50–15:54] The two curves are computed from SIM-6's own model: NOx rises roughly 78 mg/Nm³ per point of excess O₂; heat rate is U-shaped — dry-gas loss punishes high O₂, CO and unburnt carbon punish starving it. There is no single best point, only a frontier of defensible ones, and where you stand on it is POLICY: emissions posture, coal cost, unit condition. That is why the lab next door is multi-objective — and why 'the optimiser says' is never a complete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 5 · Operational efficiency and optimisation · target 15:54]
[LAB] [15:54–16:02] Short and pointed. Everyone sets the three weights — heat rate, NOx, unburnt carbon — and watches the recommended operating point move along the frontier. The two mandatory experiments: all-weight-on-heat-rate (watch NOx climb toward its limit) and all-weight-on-NOx (watch heat rate pay for it). Close the lab with the deployment sentence: in real plants this arrives as an ADVISORY — setpoint nudges with reasons — and closed-loop only ever follows years of trusted advisory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 5 · Operational efficiency and optimisation · target 16:02]
[16:02–16:04] Close the optimisation arc by showing its stage-8: the same advisory discipline as Block 4, applied to efficiency. Setpoint nudges, expected recovery in kcal and rupees, the constraint it respects, and the operator's right to decline with a reason — which feeds the next retraining. One habit, two domains: claims with evidence, addressed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 5 · Operational efficiency and optimisation · target 16:04]
[16:04–16:06] One breath on SIM-4, because every optimiser upstream depends on it: the lab GCV arrives once a shift, hours late; a soft sensor infers GCV every minute from mill behaviour — feeder rate against heat output, mill power, air temperatures. Our June as-fired GCV averaged 3,061 kcal/kg; the swing WITHIN a day is what the optimisers never see without this. Homework lab, and the natural third pilot behind the two in Block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 5 · Operational efficiency and optimisation · target 16:06]
[16:06–16:08] The single external case worth the room's time, because it maps onto our shape: AVEVA PI historian with ML on top, boiler and turbine efficiency computed on 15-minute windows, health indices on critical pumps and motors — on Indian coal units. Read it honestly in both directions: it proves the architecture works HERE, on plants like ours; it does not publish audited rupee savings, so it cannot size our prize. Proof of architecture, not proof of value — both halves said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 5 · Operational efficiency and optimisation · target 16:08]
[16:08–16:10] The card exercise, two minutes, non-optional. Every participant writes ONE candidate home for our 176 kcal/kWh on a card — specific, physical, from their own unit knowledge: 'U9 condenser air ingress', 'HPH-6 bypassed since March'. Collect the cards. They get read against the pilot criteria at 16:40 — real names, real candidates, this station. The decomposition gave us the size; the room's own knowledge gives the address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 6 · Computer vision and SafetyNet · target 16:10]
[16:10–16:12] Reset expectations at the door: computer vision does nothing a good engineer cannot do. It does what a good engineer cannot do a hundred times a day, every day, without getting bored. That is the whole proposition — modest, and true, and it survives contact with reality, which grander claims do not. Then the bridge: everything the morning taught about models applies unchanged; only the sensor got wider.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 6 · Computer vision and SafetyNet · target 16:12]
[16:12–16:15] Demystify by reuse: a vision model is the Theatre's network with a million times more dials and pixels for inputs. The one new idea is convolution — a small filter slid across the image, the same few weights reused everywhere, so the network learns 'edge' and 'helmet-curve' once rather than per-pixel. Everything else — forward pass, error, backprop, training windows, contamination — the room ALREADY knows. Say that explicitly; it is why the morning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 6 · Computer vision and SafetyNet · target 16:15]
[16:15–16:18] The historian lesson repeats with a lens on it. Labelled images by the thousand, lighting that stays consistent, cameras maintained in a plant that coats everything in coal dust, and retraining when anything changes — uniforms, camera angle, season. A dusty lens is a data-quality failure exactly like a frozen sensor: stage 4 of Block 4, for pixels. The 'never' line matters most and sets up SafetyNet's design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 6 · Computer vision and SafetyNet · target 16:18]
[LAB] [16:18–16:28] Your model, your demo — the strongest ten minutes of the block. Setup, BEFORE the session: on the laptop, `pip install gradio` and run `python service/gradio_app.py` from the SafetyNet repo — the 19 MB model auto-downloads on first use, so do that first run on hotel or home Wi-Fi, not in the hall. It serves on localhost; no internet needed during the demo itself. Keep 4–5 plant-style photos in a folder ready, and one pre-run Batch-tab CSV as backup if the live run misbehaves — and if it misbehaves anyway, teach from the failure. In the room: use the Image tab; detections appear alongside PER-WORKER verdicts, deliberately side by side so the room can tell a detector miss from a policy decision. Say what it is: YOLO11s, 120 epochs on a free Colab T4 in ~90 minutes, 2,801 images, 10 classes, 19 MB — trained by an Assistant Engineer with zero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 6 · Computer vision and SafetyNet · target 16:28]
[16:28–16:31] The dataset labels PPE as independent boxes, so a detector alone answers a question nobody asked. The site's question is attribution — whose hardhat is that? — and bridging the two is where SafetyNet's real engineering lives: three priors combined — containment, anatomical position, and SCALE, because a worker 30 metres away stands 'inside' the box of a worker 3 metres away, and containment alone happily awards the near worker the far worker's helmet. This is feature engineering, Block 4 stage 5, in pixels — and mAP cannot measure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 6 · Computer vision and SafetyNet · target 16:31]
[16:31–16:34] Put the metrics up without varnish. mAP50 0.852, precision 0.921 — when it flags, it is right nine times in ten. Recall 0.787 — it MISSES one violation in five, and anyone deploying it must know that number. Then the design choices that make it deployable: below 64 pixels of worker it returns UNKNOWN rather than guessing; when Hardhat and NO-Hardhat fire on the same head within a 0.10 margin, UNKNOWN again. Absence of evidence is not evidence of a violation — systems that skip abstention get switched off in week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 6 · Computer vision and SafetyNet · target 16:34]
[16:34–16:36] The architecture slide, and it rhymes with the whole day: the detector reports what it sees; a policy FILE decides what it means. Required items, minimum worker size, ambiguity margin, persistence — all deployment-time text, changeable per area with zero retraining. Enclosed space needs masks? One line. This is exactly the Builder's alert-rule block: σ and persistence outside the model, owned by engineers, auditable on paper. One principle, both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 6 · Computer vision and SafetyNet · target 16:36]
[16:36–16:38] The make-or-break slide, and it is not technical. Unions will reasonably ask which system this is, and the answer is settled by what the first alert produces: if it is a show-cause notice against a named individual, the programme is finished, permanently, on day one. The design answer: zone-level statistics, no identification, no name-and-shame, the union briefed BEFORE the first camera — and recall of 0.787 quoted aloud, because a false alert against a named person is a grievance with the programme's name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 6 · Computer vision and SafetyNet · target 16:38]
[16:38–16:39] One minute, read the verdict column only, and note the pattern: the proven rows are THERMAL and volumetric — physics-adjacent measurements a camera happens to make — while the glamour applications sit lower. The course recommendation for a first project is drone stockpile volumetrics: outdoor, uncontroversial, safety-positive, and it produces a number finance already understands.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 6 · Computer vision and SafetyNet · target 16:39]
[16:39–16:40] Close the block by joining it to the morning: a thermal camera flags a hot idler; the power-versus-tonnage residual on the same conveyor drifts high. Two witnesses, different physics, same story — confidence multiplies. A vision alert is a CLAIM, exactly like day 255, and claims want corroboration before money moves. One discipline, every sensor: cameras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 7 · From data to decisions · target 16:40]
[16:40–16:42] Pivot fast — twenty minutes left, three slides of GenAI, then decisions. The plant's other knowledge base: manuals, SOPs, log books, trip reports, OEM letters — none of it in the historian, most of it findable only through one retiring engineer's memory. A language model alone knows NONE of our documents and will answer questions about them confidently anyway; fluent wrongness near a permit-to-work is worse than no answer. The fix is not a bigger model — it is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 7 · From data to decisions · target 16:42]
[16:42–16:45] RAG in four steps, no mystique: chunk our documents, index them by meaning, retrieve the passages relevant to the question, and answer FROM those passages with document, revision and page attached to every claim. If nothing relevant is retrieved, say so — that is a feature. The practical lever, measured on the session's own bench: metadata. Clean section titles and revision tags moved recall from 84 to 90 percent — document hygiene, an AE-controllable input, beat the choice of model. The trust checklist: citation present, document current, numbers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 7 · From data to decisions · target 16:45]
[LAB] [16:45–16:50] Five minutes, deliberately short — a taste, with the full exercise as homework. Everyone opens Pocket RAG from the landing page, loads any PDF on their phone (or the built-in sample SOP), asks one question, and CHECKS THE CITATION — tap through to the quoted passage. The sentence that matters in a government utility: everything ran on the handset; the document never left it. No server, no upload, no account. That is what makes this class of tool even discussable for our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 7 · From data to decisions · target 16:50]
[16:50–16:53] Read fast; the room has personally caused most of these since 10:30. Point at the blocks as you go: contamination was Experiment 3, seasonal windows Experiment 2, alert spam the budget table, the missing owner is the triage discussion, misdirected inputs the negative residual, ungrounded answers the RAG slides. The meta-lesson: none of these is an algorithm failure. They are decisions — windows, inputs, budgets, owners — made badly or not at all. Decisions have owners. That is the bridge to the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 7 · From data to decisions · target 16:53]
[16:53–16:56] Bring out the Block 5 cards and read three or four aloud against the criteria — this is the payoff of the exercise, real candidates in the room's own handwriting. Then the honest ranking: condition monitoring on one unit's fans and BFPs is the strongest first pilot — instrumented, felt, provable in 90 days. The 176-kcal hunt is the bigger money on a harder data problem — it goes second, sharing the same historian export. SafetyNet zones and GCV soft-sensing wait their turn. One pilot, done visibly well, buys the licence for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 7 · From data to decisions · target 16:56]
[16:56–16:57] One minute: the two pilots differ in kind, and knowing which is which prevents the classic mistake of judging the second by the first's timeline. Condition monitoring proves the DISCIPLINE — triage, budgets, owners — in 90 days on scenario-scale money. Loss accounting chases the ₹22.87 crore but needs performance-grade data quality and patience. They share one historian export, one data-quality effort, one owner structure — which is why they are phases, not rivals.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 7 · From data to decisions · target 16:57]
[16:57–16:58] Non-negotiable, one minute, verbatim: nothing built or piloted here writes to DCS logic, touches protections or interlocks, or carries PTW authority. Advisories are addressed to people; people decide. SafetyNet reports zones, never names. And the cyber rules are the same ones the station already knows — this adds no new attack surface if the boundary holds. Write the boundary into the pilot charter on day one, because retrofitting it after an incident is how programmes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 7 · From data to decisions · target 16:58]
[16:58–16:59] Close the spine. The 74.2 °C reading became a residual, a day-255 advisory, a vote, and a work order — the full journey from data to a decision, executed by this room on its own phones. The ₹22.87 crore became a decomposition, a lab that localised it, a card in their handwriting, and a pilot plan with owners and ninety days. Two numbers, two journeys, one method: measure, expect, compare,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 Close · target 16:59]
[16:59–17:00] Close warm and specific. Three Monday actions, each with a named recipient — you. Repeat the offer: every artefact stays live at the URL, works on their phones, and the other Theatre modules and Simulation Lab exercises are homework with answer keys. End on the sentence of the day: the data was already there — what this station adds is the decision layer, and the decision layer is people. Thank the room; stay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1051560" y="1554480"/>
            <a:ext cx="6400800" cy="1078992"/>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AI in Power Plant</a:t>
            </a:r>
            <a:endParaRPr lang="en-US" sz="4800" dirty="0"/>
          </a:p>
        </p:txBody>
      </p:sp>
      <p:sp>
        <p:nvSpPr>
          <p:cNvPr id="4" name="Text 2"/>
          <p:cNvSpPr/>
          <p:nvPr/>
        </p:nvSpPr>
        <p:spPr>
          <a:xfrm>
            <a:off x="1051560" y="2633472"/>
            <a:ext cx="6400800" cy="566928"/>
          </a:xfrm>
          <a:prstGeom prst="rect">
            <a:avLst/>
          </a:prstGeom>
          <a:noFill/>
          <a:ln/>
        </p:spPr>
        <p:txBody>
          <a:bodyPr wrap="square" lIns="0" tIns="0" rIns="0" bIns="0" rtlCol="0" anchor="ctr"/>
          <a:lstStyle/>
          <a:p>
            <a:pPr indent="0" marL="0">
              <a:buNone/>
            </a:pPr>
            <a:r>
              <a:rPr lang="en-US" sz="2700" dirty="0">
                <a:solidFill>
                  <a:srgbClr val="D96A16"/>
                </a:solidFill>
                <a:latin typeface="Cambria" pitchFamily="34" charset="0"/>
                <a:ea typeface="Cambria" pitchFamily="34" charset="-122"/>
                <a:cs typeface="Cambria" pitchFamily="34" charset="-120"/>
              </a:rPr>
              <a:t>From Data to Decisions</a:t>
            </a:r>
            <a:endParaRPr lang="en-US" sz="2700" dirty="0"/>
          </a:p>
        </p:txBody>
      </p:sp>
      <p:sp>
        <p:nvSpPr>
          <p:cNvPr id="5" name="Text 3"/>
          <p:cNvSpPr/>
          <p:nvPr/>
        </p:nvSpPr>
        <p:spPr>
          <a:xfrm>
            <a:off x="1051560" y="3310128"/>
            <a:ext cx="6309360" cy="768096"/>
          </a:xfrm>
          <a:prstGeom prst="rect">
            <a:avLst/>
          </a:prstGeom>
          <a:noFill/>
          <a:ln/>
        </p:spPr>
        <p:txBody>
          <a:bodyPr wrap="square" lIns="0" tIns="0" rIns="0" bIns="0" rtlCol="0" anchor="ctr"/>
          <a:lstStyle/>
          <a:p>
            <a:pPr indent="0" marL="0">
              <a:buNone/>
            </a:pPr>
            <a:r>
              <a:rPr lang="en-US" sz="1350" dirty="0">
                <a:solidFill>
                  <a:srgbClr val="B9C6D2"/>
                </a:solidFill>
                <a:latin typeface="Calibri" pitchFamily="34" charset="0"/>
                <a:ea typeface="Calibri" pitchFamily="34" charset="-122"/>
                <a:cs typeface="Calibri" pitchFamily="34" charset="-120"/>
              </a:rPr>
              <a:t>An internal faculty programme on Artificial Intelligence for plant operation and maintenance — hands-on, on your own phone</a:t>
            </a:r>
            <a:endParaRPr lang="en-US" sz="1350" dirty="0"/>
          </a:p>
        </p:txBody>
      </p:sp>
      <p:sp>
        <p:nvSpPr>
          <p:cNvPr id="6" name="Shape 4"/>
          <p:cNvSpPr/>
          <p:nvPr/>
        </p:nvSpPr>
        <p:spPr>
          <a:xfrm>
            <a:off x="1051560" y="4443984"/>
            <a:ext cx="6309360" cy="566928"/>
          </a:xfrm>
          <a:prstGeom prst="roundRect">
            <a:avLst>
              <a:gd name="adj" fmla="val 9677"/>
            </a:avLst>
          </a:prstGeom>
          <a:solidFill>
            <a:srgbClr val="2A3644"/>
          </a:solidFill>
          <a:ln w="12700">
            <a:solidFill>
              <a:srgbClr val="D96A16"/>
            </a:solidFill>
            <a:prstDash val="solid"/>
          </a:ln>
        </p:spPr>
      </p:sp>
      <p:sp>
        <p:nvSpPr>
          <p:cNvPr id="7" name="Text 5"/>
          <p:cNvSpPr/>
          <p:nvPr/>
        </p:nvSpPr>
        <p:spPr>
          <a:xfrm>
            <a:off x="1051560" y="4443984"/>
            <a:ext cx="6309360" cy="566928"/>
          </a:xfrm>
          <a:prstGeom prst="rect">
            <a:avLst/>
          </a:prstGeom>
          <a:noFill/>
          <a:ln/>
        </p:spPr>
        <p:txBody>
          <a:bodyPr wrap="square" lIns="0" tIns="0" rIns="0" bIns="0" rtlCol="0" anchor="ctr"/>
          <a:lstStyle/>
          <a:p>
            <a:pPr algn="ctr" indent="0" marL="0">
              <a:buNone/>
            </a:pPr>
            <a:r>
              <a:rPr lang="en-US" sz="1350" b="1" spc="100" kern="0" dirty="0">
                <a:solidFill>
                  <a:srgbClr val="D96A16"/>
                </a:solidFill>
                <a:latin typeface="Calibri" pitchFamily="34" charset="0"/>
                <a:ea typeface="Calibri" pitchFamily="34" charset="-122"/>
                <a:cs typeface="Calibri" pitchFamily="34" charset="-120"/>
              </a:rPr>
              <a:t>MEASURE · EXPECT · COMPARE · DECIDE</a:t>
            </a:r>
            <a:endParaRPr lang="en-US" sz="1350" dirty="0"/>
          </a:p>
        </p:txBody>
      </p:sp>
      <p:sp>
        <p:nvSpPr>
          <p:cNvPr id="8" name="Text 6"/>
          <p:cNvSpPr/>
          <p:nvPr/>
        </p:nvSpPr>
        <p:spPr>
          <a:xfrm>
            <a:off x="1051560" y="5760720"/>
            <a:ext cx="6400800" cy="292608"/>
          </a:xfrm>
          <a:prstGeom prst="rect">
            <a:avLst/>
          </a:prstGeom>
          <a:noFill/>
          <a:ln/>
        </p:spPr>
        <p:txBody>
          <a:bodyPr wrap="square" lIns="0" tIns="0" rIns="0" bIns="0" rtlCol="0" anchor="ctr"/>
          <a:lstStyle/>
          <a:p>
            <a:pPr indent="0" marL="0">
              <a:buNone/>
            </a:pPr>
            <a:r>
              <a:rPr lang="en-US" sz="1150" dirty="0">
                <a:solidFill>
                  <a:srgbClr val="8C9BA8"/>
                </a:solidFill>
                <a:latin typeface="Calibri" pitchFamily="34" charset="0"/>
                <a:ea typeface="Calibri" pitchFamily="34" charset="-122"/>
                <a:cs typeface="Calibri" pitchFamily="34" charset="-120"/>
              </a:rPr>
              <a:t>Koradi Thermal Power Station · 3×660 MW</a:t>
            </a:r>
            <a:endParaRPr lang="en-US" sz="1150" dirty="0"/>
          </a:p>
        </p:txBody>
      </p:sp>
      <p:sp>
        <p:nvSpPr>
          <p:cNvPr id="9" name="Text 7"/>
          <p:cNvSpPr/>
          <p:nvPr/>
        </p:nvSpPr>
        <p:spPr>
          <a:xfrm>
            <a:off x="1051560" y="6053328"/>
            <a:ext cx="6400800" cy="566928"/>
          </a:xfrm>
          <a:prstGeom prst="rect">
            <a:avLst/>
          </a:prstGeom>
          <a:noFill/>
          <a:ln/>
        </p:spPr>
        <p:txBody>
          <a:bodyPr wrap="square" lIns="0" tIns="0" rIns="0" bIns="0" rtlCol="0" anchor="ctr"/>
          <a:lstStyle/>
          <a:p>
            <a:pPr indent="0" marL="0">
              <a:buNone/>
            </a:pPr>
            <a:r>
              <a:rPr lang="en-US" sz="1000" dirty="0">
                <a:solidFill>
                  <a:srgbClr val="65757F"/>
                </a:solidFill>
                <a:latin typeface="Calibri" pitchFamily="34" charset="0"/>
                <a:ea typeface="Calibri" pitchFamily="34" charset="-122"/>
                <a:cs typeface="Calibri" pitchFamily="34" charset="-120"/>
              </a:rPr>
              <a:t>One-day programme · 10:30–17:00 · six hands-on labs on participants' own phones · all artefacts live at pariharshyamu.github.io/simulator</a:t>
            </a:r>
            <a:endParaRPr lang="en-US" sz="1000" dirty="0"/>
          </a:p>
        </p:txBody>
      </p:sp>
      <p:sp>
        <p:nvSpPr>
          <p:cNvPr id="10" name="Shape 8"/>
          <p:cNvSpPr/>
          <p:nvPr/>
        </p:nvSpPr>
        <p:spPr>
          <a:xfrm>
            <a:off x="7699248" y="1517904"/>
            <a:ext cx="3438144" cy="4315968"/>
          </a:xfrm>
          <a:prstGeom prst="roundRect">
            <a:avLst>
              <a:gd name="adj" fmla="val 2128"/>
            </a:avLst>
          </a:prstGeom>
          <a:solidFill>
            <a:srgbClr val="2A3644"/>
          </a:solidFill>
          <a:ln w="12700">
            <a:solidFill>
              <a:srgbClr val="3C4C5C"/>
            </a:solidFill>
            <a:prstDash val="solid"/>
          </a:ln>
        </p:spPr>
      </p:sp>
      <p:sp>
        <p:nvSpPr>
          <p:cNvPr id="11" name="Text 9"/>
          <p:cNvSpPr/>
          <p:nvPr/>
        </p:nvSpPr>
        <p:spPr>
          <a:xfrm>
            <a:off x="7991856" y="1755648"/>
            <a:ext cx="2880360" cy="256032"/>
          </a:xfrm>
          <a:prstGeom prst="rect">
            <a:avLst/>
          </a:prstGeom>
          <a:noFill/>
          <a:ln/>
        </p:spPr>
        <p:txBody>
          <a:bodyPr wrap="square" lIns="0" tIns="0" rIns="0" bIns="0" rtlCol="0" anchor="ctr"/>
          <a:lstStyle/>
          <a:p>
            <a:pPr indent="0" marL="0">
              <a:buNone/>
            </a:pPr>
            <a:r>
              <a:rPr lang="en-US" sz="1000" b="1" spc="200" kern="0" dirty="0">
                <a:solidFill>
                  <a:srgbClr val="D96A16"/>
                </a:solidFill>
                <a:latin typeface="Calibri" pitchFamily="34" charset="0"/>
                <a:ea typeface="Calibri" pitchFamily="34" charset="-122"/>
                <a:cs typeface="Calibri" pitchFamily="34" charset="-120"/>
              </a:rPr>
              <a:t>PRESENTER</a:t>
            </a:r>
            <a:endParaRPr lang="en-US" sz="1000" dirty="0"/>
          </a:p>
        </p:txBody>
      </p:sp>
      <p:sp>
        <p:nvSpPr>
          <p:cNvPr id="12" name="Text 10"/>
          <p:cNvSpPr/>
          <p:nvPr/>
        </p:nvSpPr>
        <p:spPr>
          <a:xfrm>
            <a:off x="7991856" y="2048256"/>
            <a:ext cx="2880360" cy="42062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 H. Parihar</a:t>
            </a:r>
            <a:endParaRPr lang="en-US" sz="2600" dirty="0"/>
          </a:p>
        </p:txBody>
      </p:sp>
      <p:sp>
        <p:nvSpPr>
          <p:cNvPr id="13" name="Text 11"/>
          <p:cNvSpPr/>
          <p:nvPr/>
        </p:nvSpPr>
        <p:spPr>
          <a:xfrm>
            <a:off x="7991856" y="2505456"/>
            <a:ext cx="2880360" cy="512064"/>
          </a:xfrm>
          <a:prstGeom prst="rect">
            <a:avLst/>
          </a:prstGeom>
          <a:noFill/>
          <a:ln/>
        </p:spPr>
        <p:txBody>
          <a:bodyPr wrap="square" lIns="0" tIns="0" rIns="0" bIns="0" rtlCol="0" anchor="ctr"/>
          <a:lstStyle/>
          <a:p>
            <a:pPr indent="0" marL="0">
              <a:buNone/>
            </a:pPr>
            <a:r>
              <a:rPr lang="en-US" sz="1150" dirty="0">
                <a:solidFill>
                  <a:srgbClr val="A9B8C6"/>
                </a:solidFill>
                <a:latin typeface="Calibri" pitchFamily="34" charset="0"/>
                <a:ea typeface="Calibri" pitchFamily="34" charset="-122"/>
                <a:cs typeface="Calibri" pitchFamily="34" charset="-120"/>
              </a:rPr>
              <a:t>Assistant Engineer · internal faculty · AI practitioner</a:t>
            </a:r>
            <a:endParaRPr lang="en-US" sz="1150" dirty="0"/>
          </a:p>
        </p:txBody>
      </p:sp>
      <p:sp>
        <p:nvSpPr>
          <p:cNvPr id="14" name="Shape 12"/>
          <p:cNvSpPr/>
          <p:nvPr/>
        </p:nvSpPr>
        <p:spPr>
          <a:xfrm>
            <a:off x="7991856" y="3108960"/>
            <a:ext cx="2880360" cy="18288"/>
          </a:xfrm>
          <a:prstGeom prst="rect">
            <a:avLst/>
          </a:prstGeom>
          <a:solidFill>
            <a:srgbClr val="46586A"/>
          </a:solidFill>
          <a:ln/>
        </p:spPr>
      </p:sp>
      <p:sp>
        <p:nvSpPr>
          <p:cNvPr id="15" name="Text 13"/>
          <p:cNvSpPr/>
          <p:nvPr/>
        </p:nvSpPr>
        <p:spPr>
          <a:xfrm>
            <a:off x="7991856" y="3236976"/>
            <a:ext cx="2880360" cy="237744"/>
          </a:xfrm>
          <a:prstGeom prst="rect">
            <a:avLst/>
          </a:prstGeom>
          <a:noFill/>
          <a:ln/>
        </p:spPr>
        <p:txBody>
          <a:bodyPr wrap="square" lIns="0" tIns="0" rIns="0" bIns="0" rtlCol="0" anchor="ctr"/>
          <a:lstStyle/>
          <a:p>
            <a:pPr indent="0" marL="0">
              <a:buNone/>
            </a:pPr>
            <a:r>
              <a:rPr lang="en-US" sz="950" b="1" spc="180" kern="0" dirty="0">
                <a:solidFill>
                  <a:srgbClr val="D96A16"/>
                </a:solidFill>
                <a:latin typeface="Calibri" pitchFamily="34" charset="0"/>
                <a:ea typeface="Calibri" pitchFamily="34" charset="-122"/>
                <a:cs typeface="Calibri" pitchFamily="34" charset="-120"/>
              </a:rPr>
              <a:t>AUTHOR OF</a:t>
            </a:r>
            <a:endParaRPr lang="en-US" sz="950" dirty="0"/>
          </a:p>
        </p:txBody>
      </p:sp>
      <p:sp>
        <p:nvSpPr>
          <p:cNvPr id="16" name="Shape 14"/>
          <p:cNvSpPr/>
          <p:nvPr/>
        </p:nvSpPr>
        <p:spPr>
          <a:xfrm>
            <a:off x="8010144" y="3602736"/>
            <a:ext cx="100584" cy="100584"/>
          </a:xfrm>
          <a:prstGeom prst="ellipse">
            <a:avLst/>
          </a:prstGeom>
          <a:solidFill>
            <a:srgbClr val="D96A16"/>
          </a:solidFill>
          <a:ln/>
        </p:spPr>
      </p:sp>
      <p:sp>
        <p:nvSpPr>
          <p:cNvPr id="17" name="Text 15"/>
          <p:cNvSpPr/>
          <p:nvPr/>
        </p:nvSpPr>
        <p:spPr>
          <a:xfrm>
            <a:off x="8247888" y="3511296"/>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Lean AI</a:t>
            </a:r>
            <a:endParaRPr lang="en-US" sz="1100" dirty="0"/>
          </a:p>
        </p:txBody>
      </p:sp>
      <p:sp>
        <p:nvSpPr>
          <p:cNvPr id="18" name="Shape 16"/>
          <p:cNvSpPr/>
          <p:nvPr/>
        </p:nvSpPr>
        <p:spPr>
          <a:xfrm>
            <a:off x="8010144" y="4041648"/>
            <a:ext cx="100584" cy="100584"/>
          </a:xfrm>
          <a:prstGeom prst="ellipse">
            <a:avLst/>
          </a:prstGeom>
          <a:solidFill>
            <a:srgbClr val="D96A16"/>
          </a:solidFill>
          <a:ln/>
        </p:spPr>
      </p:sp>
      <p:sp>
        <p:nvSpPr>
          <p:cNvPr id="19" name="Text 17"/>
          <p:cNvSpPr/>
          <p:nvPr/>
        </p:nvSpPr>
        <p:spPr>
          <a:xfrm>
            <a:off x="8247888" y="3950208"/>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Learn the English that AI Understands</a:t>
            </a:r>
            <a:endParaRPr lang="en-US" sz="1100" dirty="0"/>
          </a:p>
        </p:txBody>
      </p:sp>
      <p:sp>
        <p:nvSpPr>
          <p:cNvPr id="20" name="Shape 18"/>
          <p:cNvSpPr/>
          <p:nvPr/>
        </p:nvSpPr>
        <p:spPr>
          <a:xfrm>
            <a:off x="8010144" y="4480560"/>
            <a:ext cx="100584" cy="100584"/>
          </a:xfrm>
          <a:prstGeom prst="ellipse">
            <a:avLst/>
          </a:prstGeom>
          <a:solidFill>
            <a:srgbClr val="D96A16"/>
          </a:solidFill>
          <a:ln/>
        </p:spPr>
      </p:sp>
      <p:sp>
        <p:nvSpPr>
          <p:cNvPr id="21" name="Text 19"/>
          <p:cNvSpPr/>
          <p:nvPr/>
        </p:nvSpPr>
        <p:spPr>
          <a:xfrm>
            <a:off x="8247888" y="4389120"/>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AI for Busy Parents</a:t>
            </a:r>
            <a:endParaRPr lang="en-US" sz="1100" dirty="0"/>
          </a:p>
        </p:txBody>
      </p:sp>
      <p:sp>
        <p:nvSpPr>
          <p:cNvPr id="22" name="Shape 20"/>
          <p:cNvSpPr/>
          <p:nvPr/>
        </p:nvSpPr>
        <p:spPr>
          <a:xfrm>
            <a:off x="7991856" y="4974336"/>
            <a:ext cx="2880360" cy="676656"/>
          </a:xfrm>
          <a:prstGeom prst="roundRect">
            <a:avLst>
              <a:gd name="adj" fmla="val 8108"/>
            </a:avLst>
          </a:prstGeom>
          <a:solidFill>
            <a:srgbClr val="1C2530"/>
          </a:solidFill>
          <a:ln/>
        </p:spPr>
      </p:sp>
      <p:sp>
        <p:nvSpPr>
          <p:cNvPr id="23" name="Text 21"/>
          <p:cNvSpPr/>
          <p:nvPr/>
        </p:nvSpPr>
        <p:spPr>
          <a:xfrm>
            <a:off x="7991856" y="5047488"/>
            <a:ext cx="2880360" cy="329184"/>
          </a:xfrm>
          <a:prstGeom prst="rect">
            <a:avLst/>
          </a:prstGeom>
          <a:noFill/>
          <a:ln/>
        </p:spPr>
        <p:txBody>
          <a:bodyPr wrap="square" lIns="0" tIns="0" rIns="0" bIns="0" rtlCol="0" anchor="ctr"/>
          <a:lstStyle/>
          <a:p>
            <a:pPr algn="ctr" indent="0" marL="0">
              <a:buNone/>
            </a:pPr>
            <a:r>
              <a:rPr lang="en-US" sz="2000" b="1" dirty="0">
                <a:solidFill>
                  <a:srgbClr val="D96A16"/>
                </a:solidFill>
                <a:latin typeface="Cambria" pitchFamily="34" charset="0"/>
                <a:ea typeface="Cambria" pitchFamily="34" charset="-122"/>
                <a:cs typeface="Cambria" pitchFamily="34" charset="-120"/>
              </a:rPr>
              <a:t>16 years</a:t>
            </a:r>
            <a:endParaRPr lang="en-US" sz="2000" dirty="0"/>
          </a:p>
        </p:txBody>
      </p:sp>
      <p:sp>
        <p:nvSpPr>
          <p:cNvPr id="24" name="Text 22"/>
          <p:cNvSpPr/>
          <p:nvPr/>
        </p:nvSpPr>
        <p:spPr>
          <a:xfrm>
            <a:off x="7991856" y="5358384"/>
            <a:ext cx="2880360" cy="237744"/>
          </a:xfrm>
          <a:prstGeom prst="rect">
            <a:avLst/>
          </a:prstGeom>
          <a:noFill/>
          <a:ln/>
        </p:spPr>
        <p:txBody>
          <a:bodyPr wrap="square" lIns="0" tIns="0" rIns="0" bIns="0" rtlCol="0" anchor="ctr"/>
          <a:lstStyle/>
          <a:p>
            <a:pPr algn="ctr" indent="0" marL="0">
              <a:buNone/>
            </a:pPr>
            <a:r>
              <a:rPr lang="en-US" sz="950" dirty="0">
                <a:solidFill>
                  <a:srgbClr val="9BAAB8"/>
                </a:solidFill>
                <a:latin typeface="Calibri" pitchFamily="34" charset="0"/>
                <a:ea typeface="Calibri" pitchFamily="34" charset="-122"/>
                <a:cs typeface="Calibri" pitchFamily="34" charset="-120"/>
              </a:rPr>
              <a:t>in the power sector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Two numbers to hold all day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is a reading nobody can judge alone. The other is what June cost us.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ID FAN A · DE BEARING · ONE READING</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74.2 °C</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 its own it means nothing. At 45% load on a January night it is alarming; at full load on a May afternoon it is ordinary. No fixed threshold can tell the difference — context can.</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KORADI 8–10 · JUNE 2026 GROSS HEAT-RATE GAP</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₹22.87 crore</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176 kcal/kWh against the norm, in one month, from our own energy bill. Finding where it physically lives is a data problem — the same kind of problem as the bearing.</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How does the first kind of number learn to protect the second?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day, hour by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Seven blocks, six hands-on labs, and every block ends on a decision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a:t>
            </a:r>
            <a:endParaRPr lang="en-US" sz="950" dirty="0"/>
          </a:p>
        </p:txBody>
      </p:sp>
      <p:sp>
        <p:nvSpPr>
          <p:cNvPr id="7" name="Shape 5"/>
          <p:cNvSpPr/>
          <p:nvPr/>
        </p:nvSpPr>
        <p:spPr>
          <a:xfrm>
            <a:off x="566928" y="1627632"/>
            <a:ext cx="7543800" cy="404368"/>
          </a:xfrm>
          <a:prstGeom prst="roundRect">
            <a:avLst>
              <a:gd name="adj" fmla="val 13568"/>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665224"/>
            <a:ext cx="329184" cy="329184"/>
          </a:xfrm>
          <a:prstGeom prst="ellipse">
            <a:avLst/>
          </a:prstGeom>
          <a:solidFill>
            <a:srgbClr val="11707F"/>
          </a:solidFill>
          <a:ln/>
        </p:spPr>
      </p:sp>
      <p:sp>
        <p:nvSpPr>
          <p:cNvPr id="9" name="Text 7"/>
          <p:cNvSpPr/>
          <p:nvPr/>
        </p:nvSpPr>
        <p:spPr>
          <a:xfrm>
            <a:off x="731520" y="166522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1188720" y="1627632"/>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From plant to data</a:t>
            </a:r>
            <a:endParaRPr lang="en-US" sz="1350" dirty="0"/>
          </a:p>
        </p:txBody>
      </p:sp>
      <p:sp>
        <p:nvSpPr>
          <p:cNvPr id="11" name="Text 9"/>
          <p:cNvSpPr/>
          <p:nvPr/>
        </p:nvSpPr>
        <p:spPr>
          <a:xfrm>
            <a:off x="6464808" y="1627632"/>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10:30–11:05</a:t>
            </a:r>
            <a:endParaRPr lang="en-US" sz="1250" dirty="0"/>
          </a:p>
        </p:txBody>
      </p:sp>
      <p:sp>
        <p:nvSpPr>
          <p:cNvPr id="12" name="Shape 10"/>
          <p:cNvSpPr/>
          <p:nvPr/>
        </p:nvSpPr>
        <p:spPr>
          <a:xfrm>
            <a:off x="566928" y="2160016"/>
            <a:ext cx="7543800" cy="404368"/>
          </a:xfrm>
          <a:prstGeom prst="roundRect">
            <a:avLst>
              <a:gd name="adj" fmla="val 13568"/>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731520" y="2197608"/>
            <a:ext cx="329184" cy="329184"/>
          </a:xfrm>
          <a:prstGeom prst="ellipse">
            <a:avLst/>
          </a:prstGeom>
          <a:solidFill>
            <a:srgbClr val="11707F"/>
          </a:solidFill>
          <a:ln/>
        </p:spPr>
      </p:sp>
      <p:sp>
        <p:nvSpPr>
          <p:cNvPr id="14" name="Text 12"/>
          <p:cNvSpPr/>
          <p:nvPr/>
        </p:nvSpPr>
        <p:spPr>
          <a:xfrm>
            <a:off x="731520" y="219760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p:nvPr/>
        </p:nvSpPr>
        <p:spPr>
          <a:xfrm>
            <a:off x="1188720" y="2160016"/>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Neural networks, opened up · Theatre lab</a:t>
            </a:r>
            <a:endParaRPr lang="en-US" sz="1350" dirty="0"/>
          </a:p>
        </p:txBody>
      </p:sp>
      <p:sp>
        <p:nvSpPr>
          <p:cNvPr id="16" name="Text 14"/>
          <p:cNvSpPr/>
          <p:nvPr/>
        </p:nvSpPr>
        <p:spPr>
          <a:xfrm>
            <a:off x="6464808" y="2160016"/>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11:05–12:05</a:t>
            </a:r>
            <a:endParaRPr lang="en-US" sz="1250" dirty="0"/>
          </a:p>
        </p:txBody>
      </p:sp>
      <p:sp>
        <p:nvSpPr>
          <p:cNvPr id="17" name="Shape 15"/>
          <p:cNvSpPr/>
          <p:nvPr/>
        </p:nvSpPr>
        <p:spPr>
          <a:xfrm>
            <a:off x="566928" y="2692400"/>
            <a:ext cx="7543800" cy="404368"/>
          </a:xfrm>
          <a:prstGeom prst="roundRect">
            <a:avLst>
              <a:gd name="adj" fmla="val 13568"/>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731520" y="2729992"/>
            <a:ext cx="329184" cy="329184"/>
          </a:xfrm>
          <a:prstGeom prst="ellipse">
            <a:avLst/>
          </a:prstGeom>
          <a:solidFill>
            <a:srgbClr val="11707F"/>
          </a:solidFill>
          <a:ln/>
        </p:spPr>
      </p:sp>
      <p:sp>
        <p:nvSpPr>
          <p:cNvPr id="19" name="Text 17"/>
          <p:cNvSpPr/>
          <p:nvPr/>
        </p:nvSpPr>
        <p:spPr>
          <a:xfrm>
            <a:off x="731520" y="272999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8"/>
          <p:cNvSpPr/>
          <p:nvPr/>
        </p:nvSpPr>
        <p:spPr>
          <a:xfrm>
            <a:off x="1188720" y="2692400"/>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Data synthesis · Model Builder lab</a:t>
            </a:r>
            <a:endParaRPr lang="en-US" sz="1350" dirty="0"/>
          </a:p>
        </p:txBody>
      </p:sp>
      <p:sp>
        <p:nvSpPr>
          <p:cNvPr id="21" name="Text 19"/>
          <p:cNvSpPr/>
          <p:nvPr/>
        </p:nvSpPr>
        <p:spPr>
          <a:xfrm>
            <a:off x="6464808" y="2692400"/>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12:05–13:00</a:t>
            </a:r>
            <a:endParaRPr lang="en-US" sz="1250" dirty="0"/>
          </a:p>
        </p:txBody>
      </p:sp>
      <p:sp>
        <p:nvSpPr>
          <p:cNvPr id="22" name="Shape 20"/>
          <p:cNvSpPr/>
          <p:nvPr/>
        </p:nvSpPr>
        <p:spPr>
          <a:xfrm>
            <a:off x="566928" y="3224784"/>
            <a:ext cx="7543800" cy="404368"/>
          </a:xfrm>
          <a:prstGeom prst="roundRect">
            <a:avLst>
              <a:gd name="adj" fmla="val 13568"/>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731520" y="3262376"/>
            <a:ext cx="329184" cy="329184"/>
          </a:xfrm>
          <a:prstGeom prst="ellipse">
            <a:avLst/>
          </a:prstGeom>
          <a:solidFill>
            <a:srgbClr val="11707F"/>
          </a:solidFill>
          <a:ln/>
        </p:spPr>
      </p:sp>
      <p:sp>
        <p:nvSpPr>
          <p:cNvPr id="24" name="Text 22"/>
          <p:cNvSpPr/>
          <p:nvPr/>
        </p:nvSpPr>
        <p:spPr>
          <a:xfrm>
            <a:off x="731520" y="326237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5" name="Text 23"/>
          <p:cNvSpPr/>
          <p:nvPr/>
        </p:nvSpPr>
        <p:spPr>
          <a:xfrm>
            <a:off x="1188720" y="3224784"/>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Lunch — lab URLs stay on screen</a:t>
            </a:r>
            <a:endParaRPr lang="en-US" sz="1350" dirty="0"/>
          </a:p>
        </p:txBody>
      </p:sp>
      <p:sp>
        <p:nvSpPr>
          <p:cNvPr id="26" name="Text 24"/>
          <p:cNvSpPr/>
          <p:nvPr/>
        </p:nvSpPr>
        <p:spPr>
          <a:xfrm>
            <a:off x="6464808" y="3224784"/>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13:00–13:45</a:t>
            </a:r>
            <a:endParaRPr lang="en-US" sz="1250" dirty="0"/>
          </a:p>
        </p:txBody>
      </p:sp>
      <p:sp>
        <p:nvSpPr>
          <p:cNvPr id="27" name="Shape 25"/>
          <p:cNvSpPr/>
          <p:nvPr/>
        </p:nvSpPr>
        <p:spPr>
          <a:xfrm>
            <a:off x="566928" y="3757168"/>
            <a:ext cx="7543800" cy="404368"/>
          </a:xfrm>
          <a:prstGeom prst="roundRect">
            <a:avLst>
              <a:gd name="adj" fmla="val 13568"/>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731520" y="3794760"/>
            <a:ext cx="329184" cy="329184"/>
          </a:xfrm>
          <a:prstGeom prst="ellipse">
            <a:avLst/>
          </a:prstGeom>
          <a:solidFill>
            <a:srgbClr val="11707F"/>
          </a:solidFill>
          <a:ln/>
        </p:spPr>
      </p:sp>
      <p:sp>
        <p:nvSpPr>
          <p:cNvPr id="29" name="Text 27"/>
          <p:cNvSpPr/>
          <p:nvPr/>
        </p:nvSpPr>
        <p:spPr>
          <a:xfrm>
            <a:off x="731520" y="379476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0" name="Text 28"/>
          <p:cNvSpPr/>
          <p:nvPr/>
        </p:nvSpPr>
        <p:spPr>
          <a:xfrm>
            <a:off x="1188720" y="3757168"/>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Predictive maintenance · PdM simulator</a:t>
            </a:r>
            <a:endParaRPr lang="en-US" sz="1350" dirty="0"/>
          </a:p>
        </p:txBody>
      </p:sp>
      <p:sp>
        <p:nvSpPr>
          <p:cNvPr id="31" name="Text 29"/>
          <p:cNvSpPr/>
          <p:nvPr/>
        </p:nvSpPr>
        <p:spPr>
          <a:xfrm>
            <a:off x="6464808" y="3757168"/>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13:45–14:50</a:t>
            </a:r>
            <a:endParaRPr lang="en-US" sz="1250" dirty="0"/>
          </a:p>
        </p:txBody>
      </p:sp>
      <p:sp>
        <p:nvSpPr>
          <p:cNvPr id="32" name="Shape 30"/>
          <p:cNvSpPr/>
          <p:nvPr/>
        </p:nvSpPr>
        <p:spPr>
          <a:xfrm>
            <a:off x="566928" y="4289552"/>
            <a:ext cx="7543800" cy="404368"/>
          </a:xfrm>
          <a:prstGeom prst="roundRect">
            <a:avLst>
              <a:gd name="adj" fmla="val 13568"/>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731520" y="4327144"/>
            <a:ext cx="329184" cy="329184"/>
          </a:xfrm>
          <a:prstGeom prst="ellipse">
            <a:avLst/>
          </a:prstGeom>
          <a:solidFill>
            <a:srgbClr val="11707F"/>
          </a:solidFill>
          <a:ln/>
        </p:spPr>
      </p:sp>
      <p:sp>
        <p:nvSpPr>
          <p:cNvPr id="34" name="Text 32"/>
          <p:cNvSpPr/>
          <p:nvPr/>
        </p:nvSpPr>
        <p:spPr>
          <a:xfrm>
            <a:off x="731520" y="432714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5" name="Text 33"/>
          <p:cNvSpPr/>
          <p:nvPr/>
        </p:nvSpPr>
        <p:spPr>
          <a:xfrm>
            <a:off x="1188720" y="4289552"/>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Tea</a:t>
            </a:r>
            <a:endParaRPr lang="en-US" sz="1350" dirty="0"/>
          </a:p>
        </p:txBody>
      </p:sp>
      <p:sp>
        <p:nvSpPr>
          <p:cNvPr id="36" name="Text 34"/>
          <p:cNvSpPr/>
          <p:nvPr/>
        </p:nvSpPr>
        <p:spPr>
          <a:xfrm>
            <a:off x="6464808" y="4289552"/>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14:50–15:05</a:t>
            </a:r>
            <a:endParaRPr lang="en-US" sz="1250" dirty="0"/>
          </a:p>
        </p:txBody>
      </p:sp>
      <p:sp>
        <p:nvSpPr>
          <p:cNvPr id="37" name="Shape 35"/>
          <p:cNvSpPr/>
          <p:nvPr/>
        </p:nvSpPr>
        <p:spPr>
          <a:xfrm>
            <a:off x="566928" y="4821936"/>
            <a:ext cx="7543800" cy="404368"/>
          </a:xfrm>
          <a:prstGeom prst="roundRect">
            <a:avLst>
              <a:gd name="adj" fmla="val 13568"/>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Shape 36"/>
          <p:cNvSpPr/>
          <p:nvPr/>
        </p:nvSpPr>
        <p:spPr>
          <a:xfrm>
            <a:off x="731520" y="4859528"/>
            <a:ext cx="329184" cy="329184"/>
          </a:xfrm>
          <a:prstGeom prst="ellipse">
            <a:avLst/>
          </a:prstGeom>
          <a:solidFill>
            <a:srgbClr val="11707F"/>
          </a:solidFill>
          <a:ln/>
        </p:spPr>
      </p:sp>
      <p:sp>
        <p:nvSpPr>
          <p:cNvPr id="39" name="Text 37"/>
          <p:cNvSpPr/>
          <p:nvPr/>
        </p:nvSpPr>
        <p:spPr>
          <a:xfrm>
            <a:off x="731520" y="48595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40" name="Text 38"/>
          <p:cNvSpPr/>
          <p:nvPr/>
        </p:nvSpPr>
        <p:spPr>
          <a:xfrm>
            <a:off x="1188720" y="4821936"/>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Efficiency &amp; optimisation · Simulation Lab</a:t>
            </a:r>
            <a:endParaRPr lang="en-US" sz="1350" dirty="0"/>
          </a:p>
        </p:txBody>
      </p:sp>
      <p:sp>
        <p:nvSpPr>
          <p:cNvPr id="41" name="Text 39"/>
          <p:cNvSpPr/>
          <p:nvPr/>
        </p:nvSpPr>
        <p:spPr>
          <a:xfrm>
            <a:off x="6464808" y="4821936"/>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15:05–16:10</a:t>
            </a:r>
            <a:endParaRPr lang="en-US" sz="1250" dirty="0"/>
          </a:p>
        </p:txBody>
      </p:sp>
      <p:sp>
        <p:nvSpPr>
          <p:cNvPr id="42" name="Shape 40"/>
          <p:cNvSpPr/>
          <p:nvPr/>
        </p:nvSpPr>
        <p:spPr>
          <a:xfrm>
            <a:off x="566928" y="5354320"/>
            <a:ext cx="7543800" cy="404368"/>
          </a:xfrm>
          <a:prstGeom prst="roundRect">
            <a:avLst>
              <a:gd name="adj" fmla="val 13568"/>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Shape 41"/>
          <p:cNvSpPr/>
          <p:nvPr/>
        </p:nvSpPr>
        <p:spPr>
          <a:xfrm>
            <a:off x="731520" y="5391912"/>
            <a:ext cx="329184" cy="329184"/>
          </a:xfrm>
          <a:prstGeom prst="ellipse">
            <a:avLst/>
          </a:prstGeom>
          <a:solidFill>
            <a:srgbClr val="11707F"/>
          </a:solidFill>
          <a:ln/>
        </p:spPr>
      </p:sp>
      <p:sp>
        <p:nvSpPr>
          <p:cNvPr id="44" name="Text 42"/>
          <p:cNvSpPr/>
          <p:nvPr/>
        </p:nvSpPr>
        <p:spPr>
          <a:xfrm>
            <a:off x="731520" y="539191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45" name="Text 43"/>
          <p:cNvSpPr/>
          <p:nvPr/>
        </p:nvSpPr>
        <p:spPr>
          <a:xfrm>
            <a:off x="1188720" y="5354320"/>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Computer vision · SafetyNet live</a:t>
            </a:r>
            <a:endParaRPr lang="en-US" sz="1350" dirty="0"/>
          </a:p>
        </p:txBody>
      </p:sp>
      <p:sp>
        <p:nvSpPr>
          <p:cNvPr id="46" name="Text 44"/>
          <p:cNvSpPr/>
          <p:nvPr/>
        </p:nvSpPr>
        <p:spPr>
          <a:xfrm>
            <a:off x="6464808" y="5354320"/>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16:10–16:40</a:t>
            </a:r>
            <a:endParaRPr lang="en-US" sz="1250" dirty="0"/>
          </a:p>
        </p:txBody>
      </p:sp>
      <p:sp>
        <p:nvSpPr>
          <p:cNvPr id="47" name="Shape 45"/>
          <p:cNvSpPr/>
          <p:nvPr/>
        </p:nvSpPr>
        <p:spPr>
          <a:xfrm>
            <a:off x="566928" y="5886704"/>
            <a:ext cx="7543800" cy="404368"/>
          </a:xfrm>
          <a:prstGeom prst="roundRect">
            <a:avLst>
              <a:gd name="adj" fmla="val 13568"/>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Shape 46"/>
          <p:cNvSpPr/>
          <p:nvPr/>
        </p:nvSpPr>
        <p:spPr>
          <a:xfrm>
            <a:off x="731520" y="5924296"/>
            <a:ext cx="329184" cy="329184"/>
          </a:xfrm>
          <a:prstGeom prst="ellipse">
            <a:avLst/>
          </a:prstGeom>
          <a:solidFill>
            <a:srgbClr val="11707F"/>
          </a:solidFill>
          <a:ln/>
        </p:spPr>
      </p:sp>
      <p:sp>
        <p:nvSpPr>
          <p:cNvPr id="49" name="Text 47"/>
          <p:cNvSpPr/>
          <p:nvPr/>
        </p:nvSpPr>
        <p:spPr>
          <a:xfrm>
            <a:off x="731520" y="59242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50" name="Text 48"/>
          <p:cNvSpPr/>
          <p:nvPr/>
        </p:nvSpPr>
        <p:spPr>
          <a:xfrm>
            <a:off x="1188720" y="5886704"/>
            <a:ext cx="5212080" cy="40436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From data to decisions · pilots</a:t>
            </a:r>
            <a:endParaRPr lang="en-US" sz="1350" dirty="0"/>
          </a:p>
        </p:txBody>
      </p:sp>
      <p:sp>
        <p:nvSpPr>
          <p:cNvPr id="51" name="Text 49"/>
          <p:cNvSpPr/>
          <p:nvPr/>
        </p:nvSpPr>
        <p:spPr>
          <a:xfrm>
            <a:off x="6464808" y="5886704"/>
            <a:ext cx="1481328" cy="404368"/>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16:40–17:00</a:t>
            </a:r>
            <a:endParaRPr lang="en-US" sz="1250" dirty="0"/>
          </a:p>
        </p:txBody>
      </p:sp>
      <p:sp>
        <p:nvSpPr>
          <p:cNvPr id="52" name="Shape 50"/>
          <p:cNvSpPr/>
          <p:nvPr/>
        </p:nvSpPr>
        <p:spPr>
          <a:xfrm>
            <a:off x="8403336" y="1627632"/>
            <a:ext cx="3221431" cy="1691640"/>
          </a:xfrm>
          <a:prstGeom prst="roundRect">
            <a:avLst>
              <a:gd name="adj" fmla="val 324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3" name="Text 51"/>
          <p:cNvSpPr/>
          <p:nvPr/>
        </p:nvSpPr>
        <p:spPr>
          <a:xfrm>
            <a:off x="8403336" y="1847088"/>
            <a:ext cx="3221431" cy="71323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6</a:t>
            </a:r>
            <a:endParaRPr lang="en-US" sz="3400" dirty="0"/>
          </a:p>
        </p:txBody>
      </p:sp>
      <p:sp>
        <p:nvSpPr>
          <p:cNvPr id="54" name="Text 52"/>
          <p:cNvSpPr/>
          <p:nvPr/>
        </p:nvSpPr>
        <p:spPr>
          <a:xfrm>
            <a:off x="8586216" y="2542032"/>
            <a:ext cx="2855671" cy="685800"/>
          </a:xfrm>
          <a:prstGeom prst="rect">
            <a:avLst/>
          </a:prstGeom>
          <a:noFill/>
          <a:ln/>
        </p:spPr>
        <p:txBody>
          <a:bodyPr wrap="square" lIns="0" tIns="0" rIns="0" bIns="0" rtlCol="0" anchor="ctr"/>
          <a:lstStyle/>
          <a:p>
            <a:pPr algn="ctr" indent="0" marL="0">
              <a:buNone/>
            </a:pPr>
            <a:r>
              <a:rPr lang="en-US" sz="1150" dirty="0">
                <a:solidFill>
                  <a:srgbClr val="C3CFDA"/>
                </a:solidFill>
                <a:latin typeface="Calibri" pitchFamily="34" charset="0"/>
                <a:ea typeface="Calibri" pitchFamily="34" charset="-122"/>
                <a:cs typeface="Calibri" pitchFamily="34" charset="-120"/>
              </a:rPr>
              <a:t>hands-on labs — five on your own phone, one live model demo</a:t>
            </a:r>
            <a:endParaRPr lang="en-US" sz="1150" dirty="0"/>
          </a:p>
        </p:txBody>
      </p:sp>
      <p:sp>
        <p:nvSpPr>
          <p:cNvPr id="55" name="Shape 53"/>
          <p:cNvSpPr/>
          <p:nvPr/>
        </p:nvSpPr>
        <p:spPr>
          <a:xfrm>
            <a:off x="8403336" y="3547872"/>
            <a:ext cx="3221431" cy="2743200"/>
          </a:xfrm>
          <a:prstGeom prst="roundRect">
            <a:avLst>
              <a:gd name="adj" fmla="val 20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6" name="Text 54"/>
          <p:cNvSpPr/>
          <p:nvPr/>
        </p:nvSpPr>
        <p:spPr>
          <a:xfrm>
            <a:off x="8604504" y="3675888"/>
            <a:ext cx="2819095"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Breaks</a:t>
            </a:r>
            <a:endParaRPr lang="en-US" sz="1400" dirty="0"/>
          </a:p>
        </p:txBody>
      </p:sp>
      <p:sp>
        <p:nvSpPr>
          <p:cNvPr id="57" name="Shape 55"/>
          <p:cNvSpPr/>
          <p:nvPr/>
        </p:nvSpPr>
        <p:spPr>
          <a:xfrm>
            <a:off x="8567928" y="4059936"/>
            <a:ext cx="2892247" cy="402336"/>
          </a:xfrm>
          <a:prstGeom prst="roundRect">
            <a:avLst>
              <a:gd name="adj" fmla="val 11364"/>
            </a:avLst>
          </a:prstGeom>
          <a:solidFill>
            <a:srgbClr val="F1F4F7"/>
          </a:solidFill>
          <a:ln/>
        </p:spPr>
      </p:sp>
      <p:sp>
        <p:nvSpPr>
          <p:cNvPr id="58" name="Text 56"/>
          <p:cNvSpPr/>
          <p:nvPr/>
        </p:nvSpPr>
        <p:spPr>
          <a:xfrm>
            <a:off x="8695944" y="4059936"/>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Morning tea</a:t>
            </a:r>
            <a:endParaRPr lang="en-US" sz="1200" dirty="0"/>
          </a:p>
        </p:txBody>
      </p:sp>
      <p:sp>
        <p:nvSpPr>
          <p:cNvPr id="59" name="Text 57"/>
          <p:cNvSpPr/>
          <p:nvPr/>
        </p:nvSpPr>
        <p:spPr>
          <a:xfrm>
            <a:off x="10344607" y="4059936"/>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11:10 – 11:25</a:t>
            </a:r>
            <a:endParaRPr lang="en-US" sz="1150" dirty="0"/>
          </a:p>
        </p:txBody>
      </p:sp>
      <p:sp>
        <p:nvSpPr>
          <p:cNvPr id="60" name="Shape 58"/>
          <p:cNvSpPr/>
          <p:nvPr/>
        </p:nvSpPr>
        <p:spPr>
          <a:xfrm>
            <a:off x="8567928" y="4535424"/>
            <a:ext cx="2892247" cy="402336"/>
          </a:xfrm>
          <a:prstGeom prst="roundRect">
            <a:avLst>
              <a:gd name="adj" fmla="val 11364"/>
            </a:avLst>
          </a:prstGeom>
          <a:solidFill>
            <a:srgbClr val="F1F4F7"/>
          </a:solidFill>
          <a:ln/>
        </p:spPr>
      </p:sp>
      <p:sp>
        <p:nvSpPr>
          <p:cNvPr id="61" name="Text 59"/>
          <p:cNvSpPr/>
          <p:nvPr/>
        </p:nvSpPr>
        <p:spPr>
          <a:xfrm>
            <a:off x="8695944" y="4535424"/>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Lunch</a:t>
            </a:r>
            <a:endParaRPr lang="en-US" sz="1200" dirty="0"/>
          </a:p>
        </p:txBody>
      </p:sp>
      <p:sp>
        <p:nvSpPr>
          <p:cNvPr id="62" name="Text 60"/>
          <p:cNvSpPr/>
          <p:nvPr/>
        </p:nvSpPr>
        <p:spPr>
          <a:xfrm>
            <a:off x="10344607" y="4535424"/>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13:00 – 14:30</a:t>
            </a:r>
            <a:endParaRPr lang="en-US" sz="1150" dirty="0"/>
          </a:p>
        </p:txBody>
      </p:sp>
      <p:sp>
        <p:nvSpPr>
          <p:cNvPr id="63" name="Shape 61"/>
          <p:cNvSpPr/>
          <p:nvPr/>
        </p:nvSpPr>
        <p:spPr>
          <a:xfrm>
            <a:off x="8567928" y="5010912"/>
            <a:ext cx="2892247" cy="402336"/>
          </a:xfrm>
          <a:prstGeom prst="roundRect">
            <a:avLst>
              <a:gd name="adj" fmla="val 11364"/>
            </a:avLst>
          </a:prstGeom>
          <a:solidFill>
            <a:srgbClr val="F1F4F7"/>
          </a:solidFill>
          <a:ln/>
        </p:spPr>
      </p:sp>
      <p:sp>
        <p:nvSpPr>
          <p:cNvPr id="64" name="Text 62"/>
          <p:cNvSpPr/>
          <p:nvPr/>
        </p:nvSpPr>
        <p:spPr>
          <a:xfrm>
            <a:off x="8695944" y="5010912"/>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Afternoon tea</a:t>
            </a:r>
            <a:endParaRPr lang="en-US" sz="1200" dirty="0"/>
          </a:p>
        </p:txBody>
      </p:sp>
      <p:sp>
        <p:nvSpPr>
          <p:cNvPr id="65" name="Text 63"/>
          <p:cNvSpPr/>
          <p:nvPr/>
        </p:nvSpPr>
        <p:spPr>
          <a:xfrm>
            <a:off x="10344607" y="5010912"/>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15:45 – 15:55</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Open the toolkit — two minutes, now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used today lives at one address and runs on your phone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SETUP</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pariharshyamu.github.io/simulator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Scan the QR code or type the address into any phone browser</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Open the landing page and keep the tab for the whole day</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Tap 'Predictive Maintenance Simulator' once so it caches</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Pair up if a phone is short — every lab works in pairs</a:t>
            </a:r>
            <a:endParaRPr lang="en-US" sz="125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 landing page with five artefacts, all free, all offline-capable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No login and no upload — nothing you do today leaves the phone</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model in this course trains and runs on the device in your pocket. That fact is itself the first lesson: none of this needs a data centre.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asset you already own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historian has been quietly building our dataset for years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ONE MACHINE, ONE YEAR, ONE-MINUTE SCAN</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21 million readings</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About 40 useful tags on a single fan or pump, sampled every minute, is 21 million numbers a year — already in the historian, already paid for.</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ADDITIONAL HARDWARE NEEDED TO START</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Every lab today runs on tags a 660 MW unit already historises. The first AI project at this station is an export, not a purchase order.</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historian is the project. The algorithm is the cheap part.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 year of one bearing, raw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Synthetic data, real physics — monthly means of the tag as the historian sees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566928" y="1627632"/>
            <a:ext cx="635508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graphicFrame>
        <p:nvGraphicFramePr>
          <p:cNvPr id="8" name="Chart 0" descr=""/>
          <p:cNvGraphicFramePr/>
          <p:nvPr/>
        </p:nvGraphicFramePr>
        <p:xfrm>
          <a:off x="676656" y="1737360"/>
          <a:ext cx="6135624" cy="366674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96328" y="16276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7"/>
          <p:cNvSpPr/>
          <p:nvPr/>
        </p:nvSpPr>
        <p:spPr>
          <a:xfrm>
            <a:off x="7379208" y="16276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Both fans ride the same seasons — the swing is bigger than an early fault</a:t>
            </a:r>
            <a:endParaRPr lang="en-US" sz="1250" dirty="0"/>
          </a:p>
        </p:txBody>
      </p:sp>
      <p:sp>
        <p:nvSpPr>
          <p:cNvPr id="11" name="Shape 8"/>
          <p:cNvSpPr/>
          <p:nvPr/>
        </p:nvSpPr>
        <p:spPr>
          <a:xfrm>
            <a:off x="7196328" y="259918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7379208" y="259918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Until September the faulted fan is INSIDE the healthy fan's normal year</a:t>
            </a:r>
            <a:endParaRPr lang="en-US" sz="1250" dirty="0"/>
          </a:p>
        </p:txBody>
      </p:sp>
      <p:sp>
        <p:nvSpPr>
          <p:cNvPr id="13" name="Shape 10"/>
          <p:cNvSpPr/>
          <p:nvPr/>
        </p:nvSpPr>
        <p:spPr>
          <a:xfrm>
            <a:off x="7196328" y="35707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Text 11"/>
          <p:cNvSpPr/>
          <p:nvPr/>
        </p:nvSpPr>
        <p:spPr>
          <a:xfrm>
            <a:off x="7379208" y="35707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fixed 90 °C alarm sleeps through all of this, then fires near the end</a:t>
            </a:r>
            <a:endParaRPr lang="en-US" sz="1250" dirty="0"/>
          </a:p>
        </p:txBody>
      </p:sp>
      <p:sp>
        <p:nvSpPr>
          <p:cNvPr id="15" name="Shape 12"/>
          <p:cNvSpPr/>
          <p:nvPr/>
        </p:nvSpPr>
        <p:spPr>
          <a:xfrm>
            <a:off x="7196328" y="4542282"/>
            <a:ext cx="4428439" cy="861822"/>
          </a:xfrm>
          <a:prstGeom prst="roundRect">
            <a:avLst>
              <a:gd name="adj" fmla="val 636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3"/>
          <p:cNvSpPr/>
          <p:nvPr/>
        </p:nvSpPr>
        <p:spPr>
          <a:xfrm>
            <a:off x="7379208" y="4542282"/>
            <a:ext cx="4062679" cy="861822"/>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The whole morning is about seeing the gap between these two lines early</a:t>
            </a:r>
            <a:endParaRPr lang="en-US" sz="1250" dirty="0"/>
          </a:p>
        </p:txBody>
      </p:sp>
      <p:sp>
        <p:nvSpPr>
          <p:cNvPr id="17" name="Shape 14"/>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18" name="Text 15"/>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For two months the faulted fan looks like a warm summer. That gap is the whole subject.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one idea of the day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called 'AI' in this course is one subtraction, dressed four ways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What the sensor reads now: 74.2 °C on the DE bearing.</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What history says the reading SHOULD be for this load, ambient and cooling-water temperature: 71.9 °C.</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Subtract</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Residual = actual − expected = +2.3 °C. The weather and the duty have been removed; what is left is the machine.</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Decide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residual that stays outside its band for days is evidence. Evidence goes to a person, who decides.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Expected − actual = the residual. Flat residual = healthy machine, whatever the weather.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1 close — the data was already there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we now hold, before any algorithm has been mentioned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 From plant to data</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asset</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21 million readings per machine per year, already in the historian, already paid for.</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problem</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Raw tags hide faults inside load and season. Fixed thresholds are structurally late.</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idea</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Expected minus actual. Remove the duty and the weather; what remains is the machine.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decision</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Which of OUR tags could feed a model tomorrow — and what data hygiene blocks them today?</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Next: the machine that computes 'expected' — opened up, in 3-D, on your phone.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Six algorithms, one reading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Algorithm Anatomy Theatre — the same 74.2 °C fed through six different machines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M1 · Nearest neighbours</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residual made geometric: find the 12 most similar past hours, average them. Homework.</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M2 · Principal components</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plane the healthy data lives on, and the distance off it. Homework.</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M3 · Gradient descent</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How every model is actually fitted — a ball rolling downhill. LIVE at 11:15.</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M4 · A neural network</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163 dials, opened up, trained in your browser. LIVE at 11:30.</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M5 · Retrieval</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How a question finds the right page — returns in Block 7.</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M6 · k-means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operating regimes nobody labelled. Homework.</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Different machines, same conclusion. The algorithm is a means; the residual is the finding.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ways machines learn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Ninety seconds of vocabulary, in plant language, then never again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a:t>
            </a:r>
            <a:endParaRPr lang="en-US" sz="950" dirty="0"/>
          </a:p>
        </p:txBody>
      </p:sp>
      <p:sp>
        <p:nvSpPr>
          <p:cNvPr id="7" name="Shape 5"/>
          <p:cNvSpPr/>
          <p:nvPr/>
        </p:nvSpPr>
        <p:spPr>
          <a:xfrm>
            <a:off x="566928" y="1627632"/>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804672" y="1851660"/>
            <a:ext cx="566928" cy="566928"/>
          </a:xfrm>
          <a:prstGeom prst="ellipse">
            <a:avLst/>
          </a:prstGeom>
          <a:solidFill>
            <a:srgbClr val="D96A16"/>
          </a:solidFill>
          <a:ln/>
        </p:spPr>
      </p:sp>
      <p:sp>
        <p:nvSpPr>
          <p:cNvPr id="9" name="Text 7"/>
          <p:cNvSpPr/>
          <p:nvPr/>
        </p:nvSpPr>
        <p:spPr>
          <a:xfrm>
            <a:off x="804672" y="18516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p:nvPr/>
        </p:nvSpPr>
        <p:spPr>
          <a:xfrm>
            <a:off x="1572768" y="1773936"/>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Supervised</a:t>
            </a:r>
            <a:endParaRPr lang="en-US" sz="1700" dirty="0"/>
          </a:p>
        </p:txBody>
      </p:sp>
      <p:sp>
        <p:nvSpPr>
          <p:cNvPr id="11" name="Text 9"/>
          <p:cNvSpPr/>
          <p:nvPr/>
        </p:nvSpPr>
        <p:spPr>
          <a:xfrm>
            <a:off x="1572768" y="2157984"/>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Learn a mapping from examples with answers: given load, ambient and CW temperature, predict what this bearing should read.</a:t>
            </a:r>
            <a:endParaRPr lang="en-US" sz="1350" dirty="0"/>
          </a:p>
        </p:txBody>
      </p:sp>
      <p:sp>
        <p:nvSpPr>
          <p:cNvPr id="12" name="Shape 10"/>
          <p:cNvSpPr/>
          <p:nvPr/>
        </p:nvSpPr>
        <p:spPr>
          <a:xfrm>
            <a:off x="566928" y="2843784"/>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804672" y="3067812"/>
            <a:ext cx="566928" cy="566928"/>
          </a:xfrm>
          <a:prstGeom prst="ellipse">
            <a:avLst/>
          </a:prstGeom>
          <a:solidFill>
            <a:srgbClr val="D96A16"/>
          </a:solidFill>
          <a:ln/>
        </p:spPr>
      </p:sp>
      <p:sp>
        <p:nvSpPr>
          <p:cNvPr id="14" name="Text 12"/>
          <p:cNvSpPr/>
          <p:nvPr/>
        </p:nvSpPr>
        <p:spPr>
          <a:xfrm>
            <a:off x="804672" y="306781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572768" y="2990088"/>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Unsupervised</a:t>
            </a:r>
            <a:endParaRPr lang="en-US" sz="1700" dirty="0"/>
          </a:p>
        </p:txBody>
      </p:sp>
      <p:sp>
        <p:nvSpPr>
          <p:cNvPr id="16" name="Text 14"/>
          <p:cNvSpPr/>
          <p:nvPr/>
        </p:nvSpPr>
        <p:spPr>
          <a:xfrm>
            <a:off x="1572768" y="3374136"/>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Find structure without answers: cluster a year of operation into regimes — start-up, low load, summer full load — nobody labelled.</a:t>
            </a:r>
            <a:endParaRPr lang="en-US" sz="1350" dirty="0"/>
          </a:p>
        </p:txBody>
      </p:sp>
      <p:sp>
        <p:nvSpPr>
          <p:cNvPr id="17" name="Shape 15"/>
          <p:cNvSpPr/>
          <p:nvPr/>
        </p:nvSpPr>
        <p:spPr>
          <a:xfrm>
            <a:off x="566928" y="4059936"/>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804672" y="4283964"/>
            <a:ext cx="566928" cy="566928"/>
          </a:xfrm>
          <a:prstGeom prst="ellipse">
            <a:avLst/>
          </a:prstGeom>
          <a:solidFill>
            <a:srgbClr val="D96A16"/>
          </a:solidFill>
          <a:ln/>
        </p:spPr>
      </p:sp>
      <p:sp>
        <p:nvSpPr>
          <p:cNvPr id="19" name="Text 17"/>
          <p:cNvSpPr/>
          <p:nvPr/>
        </p:nvSpPr>
        <p:spPr>
          <a:xfrm>
            <a:off x="804672" y="42839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1572768" y="4206240"/>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Reinforcement</a:t>
            </a:r>
            <a:endParaRPr lang="en-US" sz="1700" dirty="0"/>
          </a:p>
        </p:txBody>
      </p:sp>
      <p:sp>
        <p:nvSpPr>
          <p:cNvPr id="21" name="Text 19"/>
          <p:cNvSpPr/>
          <p:nvPr/>
        </p:nvSpPr>
        <p:spPr>
          <a:xfrm>
            <a:off x="1572768" y="4590288"/>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Learn actions by trial and reward. Powerful, and not for live plant — nothing today, and nothing this year, should use it on a unit.</a:t>
            </a:r>
            <a:endParaRPr lang="en-US" sz="1350" dirty="0"/>
          </a:p>
        </p:txBody>
      </p:sp>
      <p:sp>
        <p:nvSpPr>
          <p:cNvPr id="22" name="Shape 20"/>
          <p:cNvSpPr/>
          <p:nvPr/>
        </p:nvSpPr>
        <p:spPr>
          <a:xfrm>
            <a:off x="566928" y="5276088"/>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804672" y="5500116"/>
            <a:ext cx="566928" cy="566928"/>
          </a:xfrm>
          <a:prstGeom prst="ellipse">
            <a:avLst/>
          </a:prstGeom>
          <a:solidFill>
            <a:srgbClr val="D96A16"/>
          </a:solidFill>
          <a:ln/>
        </p:spPr>
      </p:sp>
      <p:sp>
        <p:nvSpPr>
          <p:cNvPr id="24" name="Text 22"/>
          <p:cNvSpPr/>
          <p:nvPr/>
        </p:nvSpPr>
        <p:spPr>
          <a:xfrm>
            <a:off x="804672" y="5500116"/>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1572768" y="5422392"/>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What today uses</a:t>
            </a:r>
            <a:endParaRPr lang="en-US" sz="1700" dirty="0"/>
          </a:p>
        </p:txBody>
      </p:sp>
      <p:sp>
        <p:nvSpPr>
          <p:cNvPr id="26" name="Text 24"/>
          <p:cNvSpPr/>
          <p:nvPr/>
        </p:nvSpPr>
        <p:spPr>
          <a:xfrm>
            <a:off x="1572768" y="5806440"/>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Almost everything in this course is supervised learning of an expected value, plus honest subtraction. Keep the vocabulary that small.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simplest model that works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k-nearest neighbours: the residual, computed by memory instead of mathematics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Take now</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This hour's load, ambient and cooling-water temperature — the operating point.</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Search history</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Find the 12 most similar healthy hours in the year. Similarity is just distance.</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Average them</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What the bearing read on those 12 hours, averaged, is the expected value.</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Subtract</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Actual minus expected — the residual again. A lookup table beat the mystique.</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commercial monitoring systems are this slide, well packaged. Keep that as your baseline.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Theatre Module 3 · Gradient descent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fit a model by rolling a ball downhill, and break it yourself</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THEATRE M3</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Gradient descent — how a model is actually fitted</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Open the Theatre from the landing page; pick Module 3</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Play the acts: the terrain, the ball, the step size</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Drag the learning rate UP until training visibly diverges</a:t>
            </a:r>
            <a:endParaRPr lang="en-US" sz="1250" dirty="0"/>
          </a:p>
          <a:p>
            <a:pPr marL="342900" indent="-342900">
              <a:spcAft>
                <a:spcPts val="600"/>
              </a:spcAft>
              <a:buSzPct val="100000"/>
              <a:buFont typeface="+mj-lt"/>
              <a:buAutoNum type="arabicPeriod" startAt="1"/>
            </a:pPr>
            <a:r>
              <a:rPr lang="en-US" sz="1250" dirty="0">
                <a:solidFill>
                  <a:srgbClr val="1C2530"/>
                </a:solidFill>
                <a:latin typeface="Calibri" pitchFamily="34" charset="0"/>
                <a:ea typeface="Calibri" pitchFamily="34" charset="-122"/>
                <a:cs typeface="Calibri" pitchFamily="34" charset="-120"/>
              </a:rPr>
              <a:t>Find the largest step that still converges — that tension is real</a:t>
            </a:r>
            <a:endParaRPr lang="en-US" sz="125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loss falling fast, then flattening — the shape of all training</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Too large a step overshooting the valley and climbing the far wall</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same loss curve you will meet again in the Model Builder</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Training is not mystical: it is descent on an error surface. Once you have personally made it diverge, no vendor can hand-wave 'the model learns' past you.</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'training' means, in one line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ball, written as algebra — the only equation the day insists 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13</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RULE</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w ← w − η · ∂L/∂w</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One dial at a time: move each weight a small step against its own contribution to the error. η is the step size you just tuned by hand in Module 3.</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IN PLANT WORDS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Blame, shared out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error at the output is divided among the dials by the chain rule; each dial moves against its share. Repeat over every hour of history until the error stops falling.</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You will see this exact line again after lunch, running live with your own model's numbers.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Theatre Module 4 · A neural network, opened up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Fifteen minutes inside 163 dials, trained live in your browser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14</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THEATRE M4</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 neural network, opened up</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15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Module 4; run the six acts in order</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Rotate the network — the weights are a solid volume, not a diagram</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TAP any neuron: its weights, its sum, its output appear with live numbers</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Press 'Train from scratch' and watch noise become structure</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Find a neuron whose output is pinned near ±1 — remember it</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146 weights + 17 biases = 163 dials, each one inspectable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One neuron's full arithmetic: multiply, add, squash — nothing else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loss curve falling exactly like Module 3's ball</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Nobody who has tapped a neuron and read its multiplication ever again believes a neural network is magic. That inoculation is worth more than any definition.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you just tapped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neuron of the network, exactly as the panel showed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15</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Theatre M4 · hidden neuron 1 · day 96, 14:00</a:t>
            </a:r>
            <a:endParaRPr lang="en-US" sz="1300" dirty="0"/>
          </a:p>
        </p:txBody>
      </p:sp>
      <p:sp>
        <p:nvSpPr>
          <p:cNvPr id="10" name="Shape 8"/>
          <p:cNvSpPr/>
          <p:nvPr/>
        </p:nvSpPr>
        <p:spPr>
          <a:xfrm>
            <a:off x="1487272" y="2231136"/>
            <a:ext cx="9217152" cy="483108"/>
          </a:xfrm>
          <a:prstGeom prst="rect">
            <a:avLst/>
          </a:prstGeom>
          <a:solidFill>
            <a:srgbClr val="E4F0EA"/>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256B45"/>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Unit load × w</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0.93 × +0.41 = +0.38</a:t>
            </a:r>
            <a:endParaRPr lang="en-US" sz="1250" dirty="0"/>
          </a:p>
        </p:txBody>
      </p:sp>
      <p:sp>
        <p:nvSpPr>
          <p:cNvPr id="14" name="Shape 12"/>
          <p:cNvSpPr/>
          <p:nvPr/>
        </p:nvSpPr>
        <p:spPr>
          <a:xfrm>
            <a:off x="1487272" y="2769108"/>
            <a:ext cx="9217152" cy="483108"/>
          </a:xfrm>
          <a:prstGeom prst="rect">
            <a:avLst/>
          </a:prstGeom>
          <a:solidFill>
            <a:srgbClr val="E4F0EA"/>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256B45"/>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Ambient × w</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0.55 × +0.29 = +0.16</a:t>
            </a:r>
            <a:endParaRPr lang="en-US" sz="1250" dirty="0"/>
          </a:p>
        </p:txBody>
      </p:sp>
      <p:sp>
        <p:nvSpPr>
          <p:cNvPr id="18" name="Shape 16"/>
          <p:cNvSpPr/>
          <p:nvPr/>
        </p:nvSpPr>
        <p:spPr>
          <a:xfrm>
            <a:off x="1487272" y="3307080"/>
            <a:ext cx="9217152" cy="483108"/>
          </a:xfrm>
          <a:prstGeom prst="rect">
            <a:avLst/>
          </a:prstGeom>
          <a:solidFill>
            <a:srgbClr val="E4F0EA"/>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256B45"/>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Motor current × w</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0.95 × +0.29 = +0.28</a:t>
            </a:r>
            <a:endParaRPr lang="en-US" sz="1250" dirty="0"/>
          </a:p>
        </p:txBody>
      </p:sp>
      <p:sp>
        <p:nvSpPr>
          <p:cNvPr id="22" name="Shape 20"/>
          <p:cNvSpPr/>
          <p:nvPr/>
        </p:nvSpPr>
        <p:spPr>
          <a:xfrm>
            <a:off x="1487272" y="3845052"/>
            <a:ext cx="9217152" cy="483108"/>
          </a:xfrm>
          <a:prstGeom prst="rect">
            <a:avLst/>
          </a:prstGeom>
          <a:solidFill>
            <a:srgbClr val="E1EF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1707F"/>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 five more inputs</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(each: reading × its own weight)</a:t>
            </a:r>
            <a:endParaRPr lang="en-US" sz="1250" dirty="0"/>
          </a:p>
        </p:txBody>
      </p:sp>
      <p:sp>
        <p:nvSpPr>
          <p:cNvPr id="26" name="Shape 24"/>
          <p:cNvSpPr/>
          <p:nvPr/>
        </p:nvSpPr>
        <p:spPr>
          <a:xfrm>
            <a:off x="1487272" y="4383024"/>
            <a:ext cx="9217152" cy="483108"/>
          </a:xfrm>
          <a:prstGeom prst="rect">
            <a:avLst/>
          </a:prstGeom>
          <a:solidFill>
            <a:srgbClr val="E1EF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1707F"/>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 bias</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−0.34</a:t>
            </a:r>
            <a:endParaRPr lang="en-US" sz="1250" dirty="0"/>
          </a:p>
        </p:txBody>
      </p:sp>
      <p:sp>
        <p:nvSpPr>
          <p:cNvPr id="30" name="Shape 28"/>
          <p:cNvSpPr/>
          <p:nvPr/>
        </p:nvSpPr>
        <p:spPr>
          <a:xfrm>
            <a:off x="1487272" y="4920996"/>
            <a:ext cx="9217152" cy="483108"/>
          </a:xfrm>
          <a:prstGeom prst="rect">
            <a:avLst/>
          </a:prstGeom>
          <a:solidFill>
            <a:srgbClr val="E7ECF1"/>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1C2530"/>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z = sum → a = tanh(z)</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z = +1.52  →  a = +0.91</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Multiply, add, squash. A 'layer' is seventeen of these. That is the whole mystery.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backward pass, on the same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Where the weights come from — the chain rule, sharing out the blame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16</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Error at the output</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δ = 2(ŷ − y): how wrong, and in which direction, on this hour.</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Share the blame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chain rule passes δ backwards; each neuron receives exactly its share.</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Gradient per dial</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∂L/∂w = δ × input. A dial fed by a big input carries more of the blame.</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Update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w ← w − η·∂L/∂w — Module 3's line, applied 163 times, once per dial.</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tanh′ = 1 − a². A neuron pinned at ±1 has stopped learning — you found one yourself.</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the bend matters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Remove every activation and the whole stack collapses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17</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WITHOUT ACTIVATIONS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One straight line</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Ten linear layers multiply out to a single linear regression. Depth adds nothing — the stack collapses.</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WITH A BEND AT EACH NEURON</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Any curve</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Enough bent units approximate any well-behaved relationship — including the cooler knee you will meet after this block.</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Hold that thought: Block 3 has a real knee, and a straight line will lie about it.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first sanity check on any model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Sensitivity: what the network actually leans on, at the current operating point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18</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833819"/>
                <a:gridCol w="2615937"/>
                <a:gridCol w="4570365"/>
                <a:gridCol w="2037719"/>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Prediction moves by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Physical route to bearing temp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Unit load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largest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direct — duty heats the bearing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expected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Ambient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second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direct — cooling air and CW follow 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expected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CW inlet temp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material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direct — through the oil cooler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expected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Hour of day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near zero</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none — it only correlates with the others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correctly ignored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If the biggest sensitivity has no physical route to the target, the model learned a coincidence.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neural network is — and is not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honest datasheet, before anyone gets romantic</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19</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is</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is not</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flexible curve-fitter for real non-linearities</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model of the machine — it contains no physics</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Inspectable — every weight is a number you can print</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'Explainable' the way a manager means the word</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Trainable in seconds on a phone, at this size</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Reliable outside the range of data it saw</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Retrainable after every overhaul</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Immune to contaminated training data</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Right for combustion, mills, steam temperature</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Needed for most single-machine monitoring</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One tool on the shelf</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The point. The residual is the point</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Choose the smallest model that works. That is engineering, not fashion.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regimes nobody labelled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Module 6 in one slide — unsupervised learning as an operating-mode detector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20</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LABELS THE ALGORITHM WAS GIVEN</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k-means sees only the operating data — load, ambient, flows. Nobody tells it what a regime is.</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REGIMES IT FINDS IN OUR SYNTHETIC YEAR</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4</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Start-up, low-load nights, monsoon operation, summer full load — the modes every operator already knows by feel.</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One model per regime beats one model for everything. Module 6 shows the machine that finds them.</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2 close — no magic in the box</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changed in the last hour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 Neural networks, opened up</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21</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 watched</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Every multiplication of a working neural network — and tapped its neurons open.</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 broke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Gradient descent, personally, by turning the learning rate up until it diverged.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 learned</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Training = descent on an error surface. The bend is why depth helps. Saturation is why it stalls.</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Still open</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does training data come from — and what happens when it is quietly wrong?</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Next: data synthesis, contamination — and a network you build yourself.</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synthetic data at all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teaching fault needs a birthday — real historians never confess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22</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A REAL HISTORIAN EXPORT</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No answer key</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When did the degradation truly begin? Real data never says — so 'we detected it 40 days early' can never be verified against truth.</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SYNTHETIC YEAR IN TODAY'S LABS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Onset: day 200</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Fault injected on a known day, growing by a known law. Every detection claim today is marked against this answer key, in front of you.</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Synthetic data is not fake data. It is the only data with an answer key.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the year is built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Three context signals, each with the physics that makes winter unlike May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23</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387414"/>
                <a:gridCol w="5079551"/>
                <a:gridCol w="4590874"/>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How it moves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Unit load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Mean-reverts around 80%; nights −13%, Sundays −10%, season ±6%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Duty is the biggest driver of every temperature on the machine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Ambient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Jan 21 °C → May 33.5 °C → monsoon DROP to 25.5 °C — not a sine wave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monsoon shape is why winter-trained models fail in May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Cooling water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Follows ambient with ~9 days lag — a basin has thermal inertia</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knee (next slide) hangs off this signal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Noise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Gaussian, per sensor, scaled to each instrument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So nothing is suspiciously smooth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One sine wave cannot make an Indian year. Neither can a model that never saw one.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fault is injected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Severity grows by a power law — and the first third produces almost nothing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24</a:t>
            </a:r>
            <a:endParaRPr lang="en-US" sz="950" dirty="0"/>
          </a:p>
        </p:txBody>
      </p:sp>
      <p:sp>
        <p:nvSpPr>
          <p:cNvPr id="7" name="Shape 5"/>
          <p:cNvSpPr/>
          <p:nvPr/>
        </p:nvSpPr>
        <p:spPr>
          <a:xfrm>
            <a:off x="566928" y="1627632"/>
            <a:ext cx="635508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graphicFrame>
        <p:nvGraphicFramePr>
          <p:cNvPr id="8" name="Chart 0" descr=""/>
          <p:cNvGraphicFramePr/>
          <p:nvPr/>
        </p:nvGraphicFramePr>
        <p:xfrm>
          <a:off x="676656" y="1737360"/>
          <a:ext cx="6135624" cy="366674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96328" y="16276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7"/>
          <p:cNvSpPr/>
          <p:nvPr/>
        </p:nvSpPr>
        <p:spPr>
          <a:xfrm>
            <a:off x="7379208" y="16276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Onset day 200 · 110 days to failure · shape 1.7 — the fan case's actual law</a:t>
            </a:r>
            <a:endParaRPr lang="en-US" sz="1250" dirty="0"/>
          </a:p>
        </p:txBody>
      </p:sp>
      <p:sp>
        <p:nvSpPr>
          <p:cNvPr id="11" name="Shape 8"/>
          <p:cNvSpPr/>
          <p:nvPr/>
        </p:nvSpPr>
        <p:spPr>
          <a:xfrm>
            <a:off x="7196328" y="259918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7379208" y="259918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30 days into the fault: 11% severity. Half-life: barely a third</a:t>
            </a:r>
            <a:endParaRPr lang="en-US" sz="1250" dirty="0"/>
          </a:p>
        </p:txBody>
      </p:sp>
      <p:sp>
        <p:nvSpPr>
          <p:cNvPr id="13" name="Shape 10"/>
          <p:cNvSpPr/>
          <p:nvPr/>
        </p:nvSpPr>
        <p:spPr>
          <a:xfrm>
            <a:off x="7196328" y="35707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Text 11"/>
          <p:cNvSpPr/>
          <p:nvPr/>
        </p:nvSpPr>
        <p:spPr>
          <a:xfrm>
            <a:off x="7379208" y="35707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Degradation is convex — the early fault is genuinely quiet</a:t>
            </a:r>
            <a:endParaRPr lang="en-US" sz="1250" dirty="0"/>
          </a:p>
        </p:txBody>
      </p:sp>
      <p:sp>
        <p:nvSpPr>
          <p:cNvPr id="15" name="Shape 12"/>
          <p:cNvSpPr/>
          <p:nvPr/>
        </p:nvSpPr>
        <p:spPr>
          <a:xfrm>
            <a:off x="7196328" y="4542282"/>
            <a:ext cx="4428439" cy="861822"/>
          </a:xfrm>
          <a:prstGeom prst="roundRect">
            <a:avLst>
              <a:gd name="adj" fmla="val 636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3"/>
          <p:cNvSpPr/>
          <p:nvPr/>
        </p:nvSpPr>
        <p:spPr>
          <a:xfrm>
            <a:off x="7379208" y="4542282"/>
            <a:ext cx="4062679" cy="861822"/>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Days of warning are therefore cheap early and expensive late</a:t>
            </a:r>
            <a:endParaRPr lang="en-US" sz="1250" dirty="0"/>
          </a:p>
        </p:txBody>
      </p:sp>
      <p:sp>
        <p:nvSpPr>
          <p:cNvPr id="17" name="Shape 14"/>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18" name="Text 15"/>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first third of a fault produces almost no signal. Remember this at 14:30.</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knee — one line of physics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Why this dataset must be a year long, in a single equation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BELOW 27.5 °C COOLING WATER</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Linear</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Oil outlet tracks ambient almost perfectly. A straight-line model fitted here looks excellent — on winter.</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ABOVE 27.5 °C</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+1.35·(CW−27.5)^1.45</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cooler runs out of approach and oil temperature climbs far faster than the water. Winter models never learned this term exists.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Fit winter, extrapolate May, alarm all summer. You will do exactly this, on purpose, in 20 minutes.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synthesis cannot teach — real exports are ugly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pathologies a real historian file brings, and what each does to a model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26</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945366"/>
                <a:gridCol w="4255536"/>
                <a:gridCol w="4856938"/>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Pathology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looks like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does to a model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Status strings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'I/O Timeout', 'Bad', 'Shutdown' inside a number column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Coerced to zero, they teach the model the machine freezes solid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Decimal commas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'61,4' meaning 61.4 — plus semicolon separators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Silently parsed as thousands — every value 10× wrong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Flatlines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sensor frozen at one value for weeks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model learns the tag is a constant — and the machine immortal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Compression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Historian dead-banding smoothing real variation away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Noise floor understated; every alert band too tight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Builder reads exactly this mess — bring one of OUR exports tomorrow and see what it says.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the Model Builder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Twenty minutes: build and train a real neural network, blocks, no code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27</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BUILDER</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Drag-and-drop neural networks on the synthetic year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20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the Model Builder; the default model is ready — press Train</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verdict panel: advisory day, band, and why it took that long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TAP any block — it opens into its own live arithmetic</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Experiment 2: set the window to days 0–45 and retrain</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Experiment 3: set the window to days 0–300, then 0–330</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Experiment 4: tick 'Lube oil cooler outlet' into the inputs</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31 parameters trained in ~1.5 s — on the phone, no cloud</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An advisory on day 255 against a fault that began on day 200</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maths panel: the same equations as the Theatre, with YOUR numbers</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Choosing inputs and windows — not layers — is where models are won and lost, and the only way to believe that is to lose a few yourself in twenty minutes.</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Experiment 1 — the honest default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Duty and weather in, bearing temperature out: read the verdict together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28</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Model Builder · verdict · inputs: fan current, gas flow, ambient</a:t>
            </a:r>
            <a:endParaRPr lang="en-US" sz="1300" dirty="0"/>
          </a:p>
        </p:txBody>
      </p:sp>
      <p:sp>
        <p:nvSpPr>
          <p:cNvPr id="10" name="Shape 8"/>
          <p:cNvSpPr/>
          <p:nvPr/>
        </p:nvSpPr>
        <p:spPr>
          <a:xfrm>
            <a:off x="1487272" y="2231136"/>
            <a:ext cx="9217152" cy="483108"/>
          </a:xfrm>
          <a:prstGeom prst="rect">
            <a:avLst/>
          </a:prstGeom>
          <a:solidFill>
            <a:srgbClr val="E1EFF1"/>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11707F"/>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Residual sigma</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2.05 °C — of which sensor noise only 0.89</a:t>
            </a:r>
            <a:endParaRPr lang="en-US" sz="1250" dirty="0"/>
          </a:p>
        </p:txBody>
      </p:sp>
      <p:sp>
        <p:nvSpPr>
          <p:cNvPr id="14" name="Shape 12"/>
          <p:cNvSpPr/>
          <p:nvPr/>
        </p:nvSpPr>
        <p:spPr>
          <a:xfrm>
            <a:off x="1487272" y="2769108"/>
            <a:ext cx="9217152" cy="483108"/>
          </a:xfrm>
          <a:prstGeom prst="rect">
            <a:avLst/>
          </a:prstGeom>
          <a:solidFill>
            <a:srgbClr val="E1EFF1"/>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11707F"/>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Alert band</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±4σ = ±8.2 °C, held for 72 hours</a:t>
            </a:r>
            <a:endParaRPr lang="en-US" sz="1250" dirty="0"/>
          </a:p>
        </p:txBody>
      </p:sp>
      <p:sp>
        <p:nvSpPr>
          <p:cNvPr id="18" name="Shape 16"/>
          <p:cNvSpPr/>
          <p:nvPr/>
        </p:nvSpPr>
        <p:spPr>
          <a:xfrm>
            <a:off x="1487272" y="3307080"/>
            <a:ext cx="9217152" cy="483108"/>
          </a:xfrm>
          <a:prstGeom prst="rect">
            <a:avLst/>
          </a:prstGeom>
          <a:solidFill>
            <a:srgbClr val="E4F0EA"/>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256B45"/>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Fault begins</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day 200 (20 Jul) — known, because synthetic</a:t>
            </a:r>
            <a:endParaRPr lang="en-US" sz="1250" dirty="0"/>
          </a:p>
        </p:txBody>
      </p:sp>
      <p:sp>
        <p:nvSpPr>
          <p:cNvPr id="22" name="Shape 20"/>
          <p:cNvSpPr/>
          <p:nvPr/>
        </p:nvSpPr>
        <p:spPr>
          <a:xfrm>
            <a:off x="1487272" y="3845052"/>
            <a:ext cx="9217152" cy="483108"/>
          </a:xfrm>
          <a:prstGeom prst="rect">
            <a:avLst/>
          </a:prstGeom>
          <a:solidFill>
            <a:srgbClr val="E7EC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C2530"/>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Advisory raised</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day 255 (13 Sep) — 55 days later</a:t>
            </a:r>
            <a:endParaRPr lang="en-US" sz="1250" dirty="0"/>
          </a:p>
        </p:txBody>
      </p:sp>
      <p:sp>
        <p:nvSpPr>
          <p:cNvPr id="26" name="Shape 24"/>
          <p:cNvSpPr/>
          <p:nvPr/>
        </p:nvSpPr>
        <p:spPr>
          <a:xfrm>
            <a:off x="1487272" y="4383024"/>
            <a:ext cx="9217152" cy="483108"/>
          </a:xfrm>
          <a:prstGeom prst="rect">
            <a:avLst/>
          </a:prstGeom>
          <a:solidFill>
            <a:srgbClr val="FBF0DC"/>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9A6408"/>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Severity that day</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31% of the way to failure</a:t>
            </a:r>
            <a:endParaRPr lang="en-US" sz="1250" dirty="0"/>
          </a:p>
        </p:txBody>
      </p:sp>
      <p:sp>
        <p:nvSpPr>
          <p:cNvPr id="30" name="Shape 28"/>
          <p:cNvSpPr/>
          <p:nvPr/>
        </p:nvSpPr>
        <p:spPr>
          <a:xfrm>
            <a:off x="1487272" y="4920996"/>
            <a:ext cx="9217152" cy="483108"/>
          </a:xfrm>
          <a:prstGeom prst="rect">
            <a:avLst/>
          </a:prstGeom>
          <a:solidFill>
            <a:srgbClr val="E4F0EA"/>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256B45"/>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Episodes this year</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1 — a triageable rate</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55 days to be sure — and still ~55 days of warning before the machine would have failed.</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Experiment 2 — the winter-only window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Train on days 0–45 and the model is confidently wrong all summer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29</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WINTER WINDOW, JUDGED ON WINTER</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σ = 0.61 °C</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Fits January beautifully — tighter than the honest model. Every bad model looks good on its own training data.</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SAME MODEL, MEETING MAY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4× its own band</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Runs +2.4 °C wrong on average before any fault exists — 19× worse than the season-spanning window. It never saw the knee.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You just caused seasonal overfitting, on purpose, 90 seconds after being warned about it.</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Experiment 3 — the cardinal sin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Let the training window touch the fault, and the model learns the fault is normal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30</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WINDOW 0–300 — TOUCHES THE FAULT</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Day 315</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60 days of warning lost. The model absorbed the early degradation as 'normal' and raised its own alert band to match.</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WINDOW 0–330 — SWALLOWS THE FAULT</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Never fires</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model now expects the fault. The residual stays inside the band while the machine walks to failure.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Train on the fault and the model learns the fault is normal. Nothing on the loss curve tells you.</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Experiment 4 — buy back 25 days with one tag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engineer's tag beats the data scientist's architecture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31</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DUTY + WEATHER ONLY</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Day 255</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σ 2.05 °C, band ±8.2. The model cannot see the cooler, so the knee sits inside its error — as band width.</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 LUBE-OIL COOLER OUTLET</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Day 230</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σ 0.60 °C, band ±2.4. The mechanism tag explains the knee, the band closes, and 25 days of warning appear.</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Input choice beats architecture. The engineer who knows the plant wins.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the alert band actually comes from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σ is the model's ignorance, not the instrument's noise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32</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IRREDUCIBLE SENSOR NOISE</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0.89 °C</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Measured from hour-to-hour differences. No model, however clever, removes this floor.</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MODEL'S OWN IGNORANCE</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1.8 °C</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Structure the inputs cannot explain — mostly the knee. This part is yours to remove, and Experiment 4 just removed it.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alarm band is a property of the model, not the machine. Lunch — leave the Builder open.</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rules for a training window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Block 3 taught, as procedure — laminate this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 Data synthesis and the Model Builder</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33</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Span the seasons</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window that has not met May does not know May exists. One full year, minimum, in this climate.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End before the fault</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window must end before the period you intend to judge — always, procedurally, no exceptions.</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Duty in, symptoms out</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Inputs are what drives the machine (load, ambient, CW). A symptom tag as input teaches the model to expect the fault.</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Retrain after overhaul</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Maintenance changes 'normal'. A model that remembers the old bearing alarms on the new one.</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training window is a decision. Make it deliberately, and write it down.</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From one model to a programme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eight stages of the PdM simulator — and where programmes actually die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34</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Stages 1–4 · where programmes die</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01 · Asset &amp; failure mode — decide what you are catching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02 · Instrumentation — what is measured, honestly</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03 · Data acquisition — scan rates, compression, gaps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04 · Data quality — flatlines, freezes, timeouts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Most failed programmes never had a chance past this line</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Stages 5–8 · where value appears</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05 · Feature engineering — normalise, difference, trend</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06 · Model training — the morning's whole story</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07 · Validation — alert budgets, sister machines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08 · Inference &amp; value — advisory, decision, work order</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The glamour lives here; the leverage lives on the left</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PdM programmes die in stages 1–4, before any AI exists to blame.</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Five machines, five failure modes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simulator's cases — synthetic datasets, real failure physics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35</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ID fan — DE bearing</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Cooler fouls → oil hot → film thins → babbitt wipes. Today's guided case.</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HT motor — rotor bar</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Broken bar sidebands; the tag that matters is rarely historised.</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Coal mill — wear</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Grinding capacity walks away slowly; every tag drifts together.</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Boiler feed pump</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Seal wear and cavitation — two faults that impersonate each other.</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Transformer — cooling</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static machine: no vibration to lean on, only heat balance.</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All five</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year each, fault day known, traps included — as real programmes have.</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Five machines, one method. The fan is guided; the rest are homework with answer keys.</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1 — name the failure mode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predictive model with no named failure mode is a dashboard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36</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Mechanism</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Cooling-water side of the oil cooler fouls — slowly, over months.</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Consequence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Oil outlet temperature rises; the oil film in the journal bearing thins.</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Damage</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Babbitt wears, metal temperature climbs toward the 100 °C trip.</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Failure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Trip — or a wiped bearing and a forced outage measured in days.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Name the failure mode first. Every link in the chain tells you what to measure.</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2 — what is instrumented, honestly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fan's eight tags — and the one that is missing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37</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3107538"/>
                <a:gridCol w="1277518"/>
                <a:gridCol w="3890264"/>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Tag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Fitted?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Role in detection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DE / NDE bearing metal temperature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signal the fault ends up in — and its twin for triage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Lube-oil cooler outlet temperature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Where the failure actually starts — worth 25 days (Exp. 4)</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Bearing housing vibration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Late but unambiguous confirmation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Motor current · gas flow · ambient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Duty and weather — the inputs that define 'expected'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Cooling-water flow through cooler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mechanism tag. Typically never fitted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 of 9</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tag closest to the mechanism is the one not instrumented — entirely typical</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P–F curve, with measured days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Where each technique detects the fan fault — from the simulator, not a textbook</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38</a:t>
            </a:r>
            <a:endParaRPr lang="en-US" sz="950" dirty="0"/>
          </a:p>
        </p:txBody>
      </p:sp>
      <p:sp>
        <p:nvSpPr>
          <p:cNvPr id="7" name="Shape 5"/>
          <p:cNvSpPr/>
          <p:nvPr/>
        </p:nvSpPr>
        <p:spPr>
          <a:xfrm>
            <a:off x="566928" y="1627632"/>
            <a:ext cx="11057839" cy="704088"/>
          </a:xfrm>
          <a:prstGeom prst="roundRect">
            <a:avLst>
              <a:gd name="adj" fmla="val 779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13232" y="1924812"/>
            <a:ext cx="146304" cy="146304"/>
          </a:xfrm>
          <a:prstGeom prst="ellipse">
            <a:avLst/>
          </a:prstGeom>
          <a:solidFill>
            <a:srgbClr val="3B4A5A"/>
          </a:solidFill>
          <a:ln/>
        </p:spPr>
      </p:sp>
      <p:sp>
        <p:nvSpPr>
          <p:cNvPr id="9" name="Text 7"/>
          <p:cNvSpPr/>
          <p:nvPr/>
        </p:nvSpPr>
        <p:spPr>
          <a:xfrm>
            <a:off x="969264" y="1627632"/>
            <a:ext cx="3794760" cy="70408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Fault begins (P)</a:t>
            </a:r>
            <a:endParaRPr lang="en-US" sz="1250" dirty="0"/>
          </a:p>
        </p:txBody>
      </p:sp>
      <p:sp>
        <p:nvSpPr>
          <p:cNvPr id="10" name="Text 8"/>
          <p:cNvSpPr/>
          <p:nvPr/>
        </p:nvSpPr>
        <p:spPr>
          <a:xfrm>
            <a:off x="4791456" y="1627632"/>
            <a:ext cx="5297119"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Nothing detectable yet — severity zero</a:t>
            </a:r>
            <a:endParaRPr lang="en-US" sz="1200" dirty="0"/>
          </a:p>
        </p:txBody>
      </p:sp>
      <p:sp>
        <p:nvSpPr>
          <p:cNvPr id="11" name="Text 9"/>
          <p:cNvSpPr/>
          <p:nvPr/>
        </p:nvSpPr>
        <p:spPr>
          <a:xfrm>
            <a:off x="10207447" y="1627632"/>
            <a:ext cx="1325880" cy="70408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 200</a:t>
            </a:r>
            <a:endParaRPr lang="en-US" sz="1200" dirty="0"/>
          </a:p>
        </p:txBody>
      </p:sp>
      <p:sp>
        <p:nvSpPr>
          <p:cNvPr id="12" name="Shape 10"/>
          <p:cNvSpPr/>
          <p:nvPr/>
        </p:nvSpPr>
        <p:spPr>
          <a:xfrm>
            <a:off x="850392" y="2404872"/>
            <a:ext cx="10774375" cy="704088"/>
          </a:xfrm>
          <a:prstGeom prst="roundRect">
            <a:avLst>
              <a:gd name="adj" fmla="val 779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996696" y="2702052"/>
            <a:ext cx="146304" cy="146304"/>
          </a:xfrm>
          <a:prstGeom prst="ellipse">
            <a:avLst/>
          </a:prstGeom>
          <a:solidFill>
            <a:srgbClr val="3B4A5A"/>
          </a:solidFill>
          <a:ln/>
        </p:spPr>
      </p:sp>
      <p:sp>
        <p:nvSpPr>
          <p:cNvPr id="14" name="Text 12"/>
          <p:cNvSpPr/>
          <p:nvPr/>
        </p:nvSpPr>
        <p:spPr>
          <a:xfrm>
            <a:off x="1252728" y="2404872"/>
            <a:ext cx="3794760" cy="70408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Residual + mechanism tag</a:t>
            </a:r>
            <a:endParaRPr lang="en-US" sz="1250" dirty="0"/>
          </a:p>
        </p:txBody>
      </p:sp>
      <p:sp>
        <p:nvSpPr>
          <p:cNvPr id="15" name="Text 13"/>
          <p:cNvSpPr/>
          <p:nvPr/>
        </p:nvSpPr>
        <p:spPr>
          <a:xfrm>
            <a:off x="5074920" y="2404872"/>
            <a:ext cx="5013655"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Cooler outlet explains the knee; band is tight</a:t>
            </a:r>
            <a:endParaRPr lang="en-US" sz="1200" dirty="0"/>
          </a:p>
        </p:txBody>
      </p:sp>
      <p:sp>
        <p:nvSpPr>
          <p:cNvPr id="16" name="Text 14"/>
          <p:cNvSpPr/>
          <p:nvPr/>
        </p:nvSpPr>
        <p:spPr>
          <a:xfrm>
            <a:off x="10207447" y="2404872"/>
            <a:ext cx="1325880" cy="70408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 230</a:t>
            </a:r>
            <a:endParaRPr lang="en-US" sz="1200" dirty="0"/>
          </a:p>
        </p:txBody>
      </p:sp>
      <p:sp>
        <p:nvSpPr>
          <p:cNvPr id="17" name="Shape 15"/>
          <p:cNvSpPr/>
          <p:nvPr/>
        </p:nvSpPr>
        <p:spPr>
          <a:xfrm>
            <a:off x="1133856" y="3182112"/>
            <a:ext cx="10490911" cy="704088"/>
          </a:xfrm>
          <a:prstGeom prst="roundRect">
            <a:avLst>
              <a:gd name="adj" fmla="val 779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1280160" y="3479292"/>
            <a:ext cx="146304" cy="146304"/>
          </a:xfrm>
          <a:prstGeom prst="ellipse">
            <a:avLst/>
          </a:prstGeom>
          <a:solidFill>
            <a:srgbClr val="3B4A5A"/>
          </a:solidFill>
          <a:ln/>
        </p:spPr>
      </p:sp>
      <p:sp>
        <p:nvSpPr>
          <p:cNvPr id="19" name="Text 17"/>
          <p:cNvSpPr/>
          <p:nvPr/>
        </p:nvSpPr>
        <p:spPr>
          <a:xfrm>
            <a:off x="1536192" y="3182112"/>
            <a:ext cx="3794760" cy="70408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Residual, duty &amp; weather</a:t>
            </a:r>
            <a:endParaRPr lang="en-US" sz="1250" dirty="0"/>
          </a:p>
        </p:txBody>
      </p:sp>
      <p:sp>
        <p:nvSpPr>
          <p:cNvPr id="20" name="Text 18"/>
          <p:cNvSpPr/>
          <p:nvPr/>
        </p:nvSpPr>
        <p:spPr>
          <a:xfrm>
            <a:off x="5358384" y="3182112"/>
            <a:ext cx="4730191"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honest default from the morning</a:t>
            </a:r>
            <a:endParaRPr lang="en-US" sz="1200" dirty="0"/>
          </a:p>
        </p:txBody>
      </p:sp>
      <p:sp>
        <p:nvSpPr>
          <p:cNvPr id="21" name="Text 19"/>
          <p:cNvSpPr/>
          <p:nvPr/>
        </p:nvSpPr>
        <p:spPr>
          <a:xfrm>
            <a:off x="10207447" y="3182112"/>
            <a:ext cx="1325880" cy="70408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 255</a:t>
            </a:r>
            <a:endParaRPr lang="en-US" sz="1200" dirty="0"/>
          </a:p>
        </p:txBody>
      </p:sp>
      <p:sp>
        <p:nvSpPr>
          <p:cNvPr id="22" name="Shape 20"/>
          <p:cNvSpPr/>
          <p:nvPr/>
        </p:nvSpPr>
        <p:spPr>
          <a:xfrm>
            <a:off x="1417320" y="3959352"/>
            <a:ext cx="10207447" cy="704088"/>
          </a:xfrm>
          <a:prstGeom prst="roundRect">
            <a:avLst>
              <a:gd name="adj" fmla="val 779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1563624" y="4256532"/>
            <a:ext cx="146304" cy="146304"/>
          </a:xfrm>
          <a:prstGeom prst="ellipse">
            <a:avLst/>
          </a:prstGeom>
          <a:solidFill>
            <a:srgbClr val="D96A16"/>
          </a:solidFill>
          <a:ln/>
        </p:spPr>
      </p:sp>
      <p:sp>
        <p:nvSpPr>
          <p:cNvPr id="24" name="Text 22"/>
          <p:cNvSpPr/>
          <p:nvPr/>
        </p:nvSpPr>
        <p:spPr>
          <a:xfrm>
            <a:off x="1819656" y="3959352"/>
            <a:ext cx="3794760" cy="70408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Vibration trend</a:t>
            </a:r>
            <a:endParaRPr lang="en-US" sz="1250" dirty="0"/>
          </a:p>
        </p:txBody>
      </p:sp>
      <p:sp>
        <p:nvSpPr>
          <p:cNvPr id="25" name="Text 23"/>
          <p:cNvSpPr/>
          <p:nvPr/>
        </p:nvSpPr>
        <p:spPr>
          <a:xfrm>
            <a:off x="5641848" y="3959352"/>
            <a:ext cx="4446727"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Late but unambiguous — confirmation, not warning</a:t>
            </a:r>
            <a:endParaRPr lang="en-US" sz="1200" dirty="0"/>
          </a:p>
        </p:txBody>
      </p:sp>
      <p:sp>
        <p:nvSpPr>
          <p:cNvPr id="26" name="Text 24"/>
          <p:cNvSpPr/>
          <p:nvPr/>
        </p:nvSpPr>
        <p:spPr>
          <a:xfrm>
            <a:off x="10207447" y="3959352"/>
            <a:ext cx="1325880" cy="70408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 280</a:t>
            </a:r>
            <a:endParaRPr lang="en-US" sz="1200" dirty="0"/>
          </a:p>
        </p:txBody>
      </p:sp>
      <p:sp>
        <p:nvSpPr>
          <p:cNvPr id="27" name="Shape 25"/>
          <p:cNvSpPr/>
          <p:nvPr/>
        </p:nvSpPr>
        <p:spPr>
          <a:xfrm>
            <a:off x="1700784" y="4736592"/>
            <a:ext cx="9923983" cy="704088"/>
          </a:xfrm>
          <a:prstGeom prst="roundRect">
            <a:avLst>
              <a:gd name="adj" fmla="val 779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1847088" y="5033772"/>
            <a:ext cx="146304" cy="146304"/>
          </a:xfrm>
          <a:prstGeom prst="ellipse">
            <a:avLst/>
          </a:prstGeom>
          <a:solidFill>
            <a:srgbClr val="3B4A5A"/>
          </a:solidFill>
          <a:ln/>
        </p:spPr>
      </p:sp>
      <p:sp>
        <p:nvSpPr>
          <p:cNvPr id="29" name="Text 27"/>
          <p:cNvSpPr/>
          <p:nvPr/>
        </p:nvSpPr>
        <p:spPr>
          <a:xfrm>
            <a:off x="2103120" y="4736592"/>
            <a:ext cx="3794760" cy="70408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Fixed 90 °C alarm</a:t>
            </a:r>
            <a:endParaRPr lang="en-US" sz="1250" dirty="0"/>
          </a:p>
        </p:txBody>
      </p:sp>
      <p:sp>
        <p:nvSpPr>
          <p:cNvPr id="30" name="Text 28"/>
          <p:cNvSpPr/>
          <p:nvPr/>
        </p:nvSpPr>
        <p:spPr>
          <a:xfrm>
            <a:off x="5925312" y="4736592"/>
            <a:ext cx="4163263"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Structurally late: it waits for absolute damage</a:t>
            </a:r>
            <a:endParaRPr lang="en-US" sz="1200" dirty="0"/>
          </a:p>
        </p:txBody>
      </p:sp>
      <p:sp>
        <p:nvSpPr>
          <p:cNvPr id="31" name="Text 29"/>
          <p:cNvSpPr/>
          <p:nvPr/>
        </p:nvSpPr>
        <p:spPr>
          <a:xfrm>
            <a:off x="10207447" y="4736592"/>
            <a:ext cx="1325880" cy="70408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 290</a:t>
            </a:r>
            <a:endParaRPr lang="en-US" sz="1200" dirty="0"/>
          </a:p>
        </p:txBody>
      </p:sp>
      <p:sp>
        <p:nvSpPr>
          <p:cNvPr id="32" name="Shape 30"/>
          <p:cNvSpPr/>
          <p:nvPr/>
        </p:nvSpPr>
        <p:spPr>
          <a:xfrm>
            <a:off x="1984248" y="5513832"/>
            <a:ext cx="9640519" cy="704088"/>
          </a:xfrm>
          <a:prstGeom prst="roundRect">
            <a:avLst>
              <a:gd name="adj" fmla="val 7792"/>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2130552" y="5811012"/>
            <a:ext cx="146304" cy="146304"/>
          </a:xfrm>
          <a:prstGeom prst="ellipse">
            <a:avLst/>
          </a:prstGeom>
          <a:solidFill>
            <a:srgbClr val="A8261E"/>
          </a:solidFill>
          <a:ln/>
        </p:spPr>
      </p:sp>
      <p:sp>
        <p:nvSpPr>
          <p:cNvPr id="34" name="Text 32"/>
          <p:cNvSpPr/>
          <p:nvPr/>
        </p:nvSpPr>
        <p:spPr>
          <a:xfrm>
            <a:off x="2386584" y="5513832"/>
            <a:ext cx="3794760" cy="704088"/>
          </a:xfrm>
          <a:prstGeom prst="rect">
            <a:avLst/>
          </a:prstGeom>
          <a:noFill/>
          <a:ln/>
        </p:spPr>
        <p:txBody>
          <a:bodyPr wrap="square" lIns="0" tIns="0" rIns="0" bIns="0" rtlCol="0" anchor="ctr"/>
          <a:lstStyle/>
          <a:p>
            <a:pPr indent="0" marL="0">
              <a:buNone/>
            </a:pPr>
            <a:r>
              <a:rPr lang="en-US" sz="1250" b="1" dirty="0">
                <a:solidFill>
                  <a:srgbClr val="A8261E"/>
                </a:solidFill>
                <a:latin typeface="Calibri" pitchFamily="34" charset="0"/>
                <a:ea typeface="Calibri" pitchFamily="34" charset="-122"/>
                <a:cs typeface="Calibri" pitchFamily="34" charset="-120"/>
              </a:rPr>
              <a:t>Trip / failure (F)</a:t>
            </a:r>
            <a:endParaRPr lang="en-US" sz="1250" dirty="0"/>
          </a:p>
        </p:txBody>
      </p:sp>
      <p:sp>
        <p:nvSpPr>
          <p:cNvPr id="35" name="Text 33"/>
          <p:cNvSpPr/>
          <p:nvPr/>
        </p:nvSpPr>
        <p:spPr>
          <a:xfrm>
            <a:off x="6208776" y="5513832"/>
            <a:ext cx="3879799" cy="70408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100 °C metal temperature, or a wiped bearing</a:t>
            </a:r>
            <a:endParaRPr lang="en-US" sz="1200" dirty="0"/>
          </a:p>
        </p:txBody>
      </p:sp>
      <p:sp>
        <p:nvSpPr>
          <p:cNvPr id="36" name="Text 34"/>
          <p:cNvSpPr/>
          <p:nvPr/>
        </p:nvSpPr>
        <p:spPr>
          <a:xfrm>
            <a:off x="10207447" y="5513832"/>
            <a:ext cx="1325880" cy="704088"/>
          </a:xfrm>
          <a:prstGeom prst="rect">
            <a:avLst/>
          </a:prstGeom>
          <a:noFill/>
          <a:ln/>
        </p:spPr>
        <p:txBody>
          <a:bodyPr wrap="square" lIns="0" tIns="0" rIns="0" bIns="0" rtlCol="0" anchor="ctr"/>
          <a:lstStyle/>
          <a:p>
            <a:pPr algn="r" indent="0" marL="0">
              <a:buNone/>
            </a:pPr>
            <a:r>
              <a:rPr lang="en-US" sz="1200" b="1" dirty="0">
                <a:solidFill>
                  <a:srgbClr val="A8261E"/>
                </a:solidFill>
                <a:latin typeface="Calibri" pitchFamily="34" charset="0"/>
                <a:ea typeface="Calibri" pitchFamily="34" charset="-122"/>
                <a:cs typeface="Calibri" pitchFamily="34" charset="-120"/>
              </a:rPr>
              <a:t>~day 310</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scrub the year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inside the machine: watch the fault grow in 3-D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39</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PDM · STAGE 3–4</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ID fan case, scrubbed end to end</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the PdM simulator → ID fan case</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Scrub the day slider slowly from day 0 to day 365</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Watch the bearing colour, the cut-away, and the live sensor dots</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Write down the day YOU would have called maintenance</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Try stage 4: inject data-quality faults and watch the tags lie</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 machine that degrades visibly — but only late in the fault</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Sensor values that look ordinary through most of the degradation</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Your own called day, somewhere between 230 and 330 like everyone's</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spread of called days across the room is the argument for residual monitoring: humans eyeball trends inconsistently, especially before the convex fault has produced its signal.</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4 — the data-quality gates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Five ways the data lies before any model sees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40</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Flatline</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frozen sensor reads one value for weeks. A model trained on it learns the tag is a constant — and misses everything.</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Gaps &amp; timeouts</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'I/O Timeout' and missing hours, silently zero-filled, teach the model the machine periodically freezes solid.</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Compression</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Historian dead-banding smooths real variation away; the noise floor is understated and every band is too tight.</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Calibration drift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sensor drifting 2 °C looks exactly like a machine drifting 2 °C — until the twin tag disagrees.</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Clock skew</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Tags stamped by different systems minutes apart smear every relationship the model must learn.</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train on: unprofiled tags · zero-filled gaps · a window containing the fault · another unit's data unchecked</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5 — features are engineering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to hand the model, and the traps that look helpful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41</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Feed the model</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Load- and ambient-normalised temperatures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DE − NDE difference — common-mode drift cancels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Oil ΔT across the cooler — the mechanism, directly</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7-day rolling mean and slope — shift noise suppressed</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Duty tags: current, flow, ambient — 'expected' lives here</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Traps that look helpful</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Hour of day — correlates with everything, means nothing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Day number — encodes the answer outright; leakage</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Any symptom tag as an input — teaches the model the fault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The twin bearing as input — model copies it and learns nothing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Kitchen-sink features — more inputs, more coincidences</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DE − NDE is the 30-second triage: a sensor fault moves alone, a machine fault moves both.</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6 — model families, honestly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Three ways to compute 'expected' — all of them the same idea</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42</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k-NN similarity</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No training, fully explainable, robust. What most commercial CM systems really run under the paint.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Regression / small network</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morning's entire story. Interpretable at 31–163 parameters; retrain in seconds.</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Autoencoder</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Compress and reconstruct; the reconstruction error is the residual. PCA with bends — for many tags at once.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All of them</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Produce expected − actual. Window, inputs and validation decide success; the family mostly decides the brochure.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family computes the same subtraction. Spend your judgement on windows and inputs, not brand names.</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7 — validation that means something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alert budget: how many pages a year buys how many days of warning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43</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804599"/>
                <a:gridCol w="1655092"/>
                <a:gridCol w="2217646"/>
                <a:gridCol w="2597983"/>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Episodes / year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Warning on the fan case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4σ · 72 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55 days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Adoptable — the default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3σ · 24 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4–6</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60 days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Only with a named triage owner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2σ · 24 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dozens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marginally more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Ignored within a month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4σ · 72 h + mechanism tag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80 days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Where Experiment 4 lands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2 / month</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a realistic triage budget for one unit's fleet of monitored machines — set it BEFORE tuning σ</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sister-machine check</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negative control every claimed detection must pass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44</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FAN A — THE FAULTED CASE</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 episode</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Advisory day 255, sustained, single episode. The detection claim.</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FAN B — HEALTHY TWIN, OWN THRESHOLD</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 episodes</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Same model, same year, zero alarms. If this number is not zero, the model learned the season — not the fault.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 sister-machine run, no belief. Ask for it in every vendor demo.</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Remaining useful life — a band, not a date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difference between astrology and engineering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GETS ASKED FOR</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"Fails 14 March"</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 single confident date. It will be wrong, it will be remembered, and it will cost the programme its credibility.</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ENGINEERING CAN HONESTLY SAY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P10–P90 band</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'90% it survives past the outage window; here is what moves the odds.' Planning can act on this — advance, stage spares, derate.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date is astrology. A band with named drivers is engineering.</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Stage 8 — the advisory, as it should arrive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Not an alarm: a claim, with its evidence attached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46</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Unit · ID fan A · advisory · day 255, 14:20</a:t>
            </a:r>
            <a:endParaRPr lang="en-US" sz="1300" dirty="0"/>
          </a:p>
        </p:txBody>
      </p:sp>
      <p:sp>
        <p:nvSpPr>
          <p:cNvPr id="10" name="Shape 8"/>
          <p:cNvSpPr/>
          <p:nvPr/>
        </p:nvSpPr>
        <p:spPr>
          <a:xfrm>
            <a:off x="1487272" y="2231136"/>
            <a:ext cx="9217152" cy="483108"/>
          </a:xfrm>
          <a:prstGeom prst="rect">
            <a:avLst/>
          </a:prstGeom>
          <a:solidFill>
            <a:srgbClr val="FBF0DC"/>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9A6408"/>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Claim</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DE bearing running above expected for duty &amp; weather</a:t>
            </a:r>
            <a:endParaRPr lang="en-US" sz="1250" dirty="0"/>
          </a:p>
        </p:txBody>
      </p:sp>
      <p:sp>
        <p:nvSpPr>
          <p:cNvPr id="14" name="Shape 12"/>
          <p:cNvSpPr/>
          <p:nvPr/>
        </p:nvSpPr>
        <p:spPr>
          <a:xfrm>
            <a:off x="1487272" y="2769108"/>
            <a:ext cx="9217152" cy="483108"/>
          </a:xfrm>
          <a:prstGeom prst="rect">
            <a:avLst/>
          </a:prstGeom>
          <a:solidFill>
            <a:srgbClr val="E4F0EA"/>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256B45"/>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Evidence</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Residual +8.4 °C sustained 72 h · 1st episode this year</a:t>
            </a:r>
            <a:endParaRPr lang="en-US" sz="1250" dirty="0"/>
          </a:p>
        </p:txBody>
      </p:sp>
      <p:sp>
        <p:nvSpPr>
          <p:cNvPr id="18" name="Shape 16"/>
          <p:cNvSpPr/>
          <p:nvPr/>
        </p:nvSpPr>
        <p:spPr>
          <a:xfrm>
            <a:off x="1487272" y="3307080"/>
            <a:ext cx="9217152" cy="483108"/>
          </a:xfrm>
          <a:prstGeom prst="rect">
            <a:avLst/>
          </a:prstGeom>
          <a:solidFill>
            <a:srgbClr val="E1EFF1"/>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11707F"/>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Mechanism</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Oil cooler approach shrinking — CW-side fouling suspected</a:t>
            </a:r>
            <a:endParaRPr lang="en-US" sz="1250" dirty="0"/>
          </a:p>
        </p:txBody>
      </p:sp>
      <p:sp>
        <p:nvSpPr>
          <p:cNvPr id="22" name="Shape 20"/>
          <p:cNvSpPr/>
          <p:nvPr/>
        </p:nvSpPr>
        <p:spPr>
          <a:xfrm>
            <a:off x="1487272" y="3845052"/>
            <a:ext cx="9217152" cy="483108"/>
          </a:xfrm>
          <a:prstGeom prst="rect">
            <a:avLst/>
          </a:prstGeom>
          <a:solidFill>
            <a:srgbClr val="E1EF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1707F"/>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Second witness</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Oil outlet ΔT confirms; NDE bearing does NOT follow</a:t>
            </a:r>
            <a:endParaRPr lang="en-US" sz="1250" dirty="0"/>
          </a:p>
        </p:txBody>
      </p:sp>
      <p:sp>
        <p:nvSpPr>
          <p:cNvPr id="26" name="Shape 24"/>
          <p:cNvSpPr/>
          <p:nvPr/>
        </p:nvSpPr>
        <p:spPr>
          <a:xfrm>
            <a:off x="1487272" y="4383024"/>
            <a:ext cx="9217152" cy="483108"/>
          </a:xfrm>
          <a:prstGeom prst="rect">
            <a:avLst/>
          </a:prstGeom>
          <a:solidFill>
            <a:srgbClr val="E4F0EA"/>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256B45"/>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Remaining life</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P10–P90: 40–75 days at current duty</a:t>
            </a:r>
            <a:endParaRPr lang="en-US" sz="1250" dirty="0"/>
          </a:p>
        </p:txBody>
      </p:sp>
      <p:sp>
        <p:nvSpPr>
          <p:cNvPr id="30" name="Shape 28"/>
          <p:cNvSpPr/>
          <p:nvPr/>
        </p:nvSpPr>
        <p:spPr>
          <a:xfrm>
            <a:off x="1487272" y="4920996"/>
            <a:ext cx="9217152" cy="483108"/>
          </a:xfrm>
          <a:prstGeom prst="rect">
            <a:avLst/>
          </a:prstGeom>
          <a:solidFill>
            <a:srgbClr val="E7ECF1"/>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1C2530"/>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Recommended</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Inspect cooler CW side at next opportunity ≤ 21 days</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advisory is a claim with evidence, addressed to an engineer — not an alarm addressed to nobody.</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availability arithmetic</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Scenario numbers from the simulator — the shape is what matters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47</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669433"/>
                <a:gridCol w="1372645"/>
                <a:gridCol w="1522084"/>
                <a:gridCol w="3711158"/>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Outage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Direct + energy cost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Act on day-255 advisory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0.4 day planned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₹35 lakh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Scheduled into a merit-order dip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Run to failure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2.5 days forced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₹4+ crore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Replacement energy at market, overtime, secondary damage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The ratio</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 10 : 1</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Typical for bearing-class failures — scenario, not history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72.5%</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our June 2026 availability — every avoided forced outage buys back a piece of this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vote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It is day 255. The advisory is on your desk. Sign, or wait?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 Predictive maintenance, end to end</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48</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SIGN NOW</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 ₹35 lakh</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0.4-day planned window, cooler inspection and clean. If the mechanism hypothesis is right, the fault is arrested cheaply.</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WAIT FOR MORE EVIDENCE</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Risk ≈ ₹4+ cr</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Severity ~45% and convex. More certainty is coming — but at 10:1 consequence odds and shrinking room to schedule.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Vote now, hands up. This moment is the decision layer — everything today serves it.</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Reading our own bill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Three documents, zero estimates — where every number in this block comes from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49</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Energy bill · June 2026</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Generation, heat rates, auxiliary consumption, availability — station by station, signed.</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Part-I FSA + F10 ECR</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What our coal actually cost, per kcal and per kWh, after quality adjustment.</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MERC merit order · July 2026</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every MAHAGENCO station ranks against the market, in ₹/kWh.</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rule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No number without a document. Vendors estimate; bills do not.</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Everything in this block is on paper the station already signs.</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Koradi 8–10, June 2026, one table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Our station's month, exactly as filed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50</a:t>
            </a:r>
            <a:endParaRPr lang="en-US" sz="9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762183"/>
                <a:gridCol w="1927072"/>
                <a:gridCol w="1391671"/>
                <a:gridCol w="2194394"/>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Actual</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Norm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Availability / PLF</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72.5% / 66.62%</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964.8 MU sent out gross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Net heat rate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2,442 kcal/kWh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2,230</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+212 kcal/kWh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Auxiliary power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6.95%</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+0.95 pp ≈ 9.2 MU</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As-fired GCV / variable cost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3,061 kcal/kg · ₹3.378/kWh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MOD ₹3.284</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94 paise above the stack</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₹25.61 cr</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what the 212 kcal/kWh net heat-rate gap cost in June 2026 alone</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decomposition that changes the conversation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Gross HR = net HR × (1 − aux): split the gap before prescribing the medicine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51</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BOILER–TURBINE (GROSS) GAP</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176 kcal · ₹22.87 cr</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2,272 gross actual against 2,096 norm. A real thermodynamic shortfall — condenser, heaters, sprays, part-load — worth ₹22.87 crore in June.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AUXILIARY EXCESS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0.95 pp · ₹3.01 cr</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6.95% against a 6.0% norm ≈ 9.2 MU of house load. Real, worth chasing — and one-seventh the size of the first number.</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Same bill, two different diseases. Point the AI at the ₹22.87 crore one.</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Never add those two numbers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most expensive arithmetic error available in a station review</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52</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TEMPTING</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25.6 + 3.0 = ₹28.6 cr</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Wrong. Net heat rate already contains auxiliary power; this sum counts the same MU twice.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CORRECT</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22.87 + 3.01, decomposed</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Split via gross HR = net HR × (1 − aux), then the two numbers are independent and may be discussed — separately.</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Decompose first. Never add a net-side number to an aux-side number.</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SIM-2 · Heat rate loss attribution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find plausible homes for OUR 176 kcal/kWh</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53</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SIM-2</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Heat rate loss attribution — Koradi 8–10, June 2026</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SIM-2; confirm it is showing the Koradi 8–10 row</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Move condenser back pressure until you have claimed ~60 kcal</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Take one HP heater out of service; watch the attribution shift</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Add spray flow and auxiliary until the 176 kcal gap is 'explained'</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Note YOUR combination — and compare with your neighbour's</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Several different slider combinations that all 'explain' 176 kcal</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rupee counter converting every kcal to ₹ crore per month</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Why the monthly bill cannot arbitrate between explanations</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gap is real but the bill cannot localise it. Continuous tag-level attribution — this exercise, automated hourly — is the honest AI project this station's numbers are asking for.</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176 kcal/kWh physically lives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Candidate homes, sized honestly — controllable and structural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54</a:t>
            </a:r>
            <a:endParaRPr lang="en-US" sz="9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322258"/>
                <a:gridCol w="3143035"/>
                <a:gridCol w="4592546"/>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Candidate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Typical share of a gap like ours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Controllable this quarter?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Condenser vacuum · CW system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classic largest single account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Largely — cleaning, air ingress, CW optimisation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Cycle isolation · HP heaters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material when a heater is out or passing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Yes — find it, fix it, verify the kcal returned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SH/RH sprays · attemperation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moderate but chronic</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Partly — control tuning and combustion balance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Part-load operation at 66% PLF</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significant and real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 — structural; merit order sets it. Say so honestly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AI localises the controllable share. It does not repeal thermodynamics — and must not promise to.</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we already beat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norms this station outperforms — credibility before the gap-chasing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SECONDARY FUEL OIL</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0.41 vs 0.50</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ml/kWh, actual against norm. Stable combustion support discipline — already better than the standard.</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COAL TRANSIT LOSS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0.49% vs 0.80%</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Nearly half the normative allowance. The fuel-handling chain is performing.</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bill is not uniformly bad — it is specifically bad. Specific problems get solved.</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Auxiliary power is a scheduling problem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SIM-3's equipment models — the arithmetic under the 0.95 excess points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56</a:t>
            </a:r>
            <a:endParaRPr lang="en-US" sz="9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780563"/>
                <a:gridCol w="3124706"/>
                <a:gridCol w="6152570"/>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Equipment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Power model (SIM-3)</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scheduling question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Coal mill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340 kW + 2.6 kW per t/h above 30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How many mills for this load and GCV — with margin?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CW pump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1,650 kW each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Two pumps or three, for this season's CW temperature?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ESP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26 kW per energised field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How many fields for compliance at this load and ash?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ID fan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 cubic in gas flow</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What does every extra mmWC of draught really cost?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Auxiliary excess is mostly a counting problem — and counting problems can be optimised.</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SIM-3 · Auxiliary power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scoreboard rules: beat the baseline house load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57</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SIM-3</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Auxiliary power optimiser — 500 MW class</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SIM-3; take the default load, GCV and season</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Choose mills, CW pumps and ESP fields; watch kW and feasibility</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Try one fewer CW pump in a cool-season scenario</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Push until the simulator flags infeasible — know where the wall is</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Shout out your best % saving — scoreboard rules</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House load responding in real kW to every scheduling choice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Feasibility flags when milling margin or condenser limits bite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 recurring finding: one pump too many at part load, off-summer</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0.95-point auxiliary excess ≈ ₹3 crore a month is largely made of scheduling slack like this — recoverable with discipline and zero capital.</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Combustion is a trade-off, not a setting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SIM-6's surfaces: excess O₂ against heat rate and NOx, from the model itself</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58</a:t>
            </a:r>
            <a:endParaRPr lang="en-US" sz="950" dirty="0"/>
          </a:p>
        </p:txBody>
      </p:sp>
      <p:sp>
        <p:nvSpPr>
          <p:cNvPr id="7" name="Shape 5"/>
          <p:cNvSpPr/>
          <p:nvPr/>
        </p:nvSpPr>
        <p:spPr>
          <a:xfrm>
            <a:off x="566928" y="1627632"/>
            <a:ext cx="635508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graphicFrame>
        <p:nvGraphicFramePr>
          <p:cNvPr id="8" name="Chart 0" descr=""/>
          <p:cNvGraphicFramePr/>
          <p:nvPr/>
        </p:nvGraphicFramePr>
        <p:xfrm>
          <a:off x="676656" y="1737360"/>
          <a:ext cx="6135624" cy="366674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96328" y="16276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7"/>
          <p:cNvSpPr/>
          <p:nvPr/>
        </p:nvSpPr>
        <p:spPr>
          <a:xfrm>
            <a:off x="7379208" y="16276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NOx climbs ~78 mg/Nm³ per point of excess O₂ — SIM-6's own coefficient</a:t>
            </a:r>
            <a:endParaRPr lang="en-US" sz="1250" dirty="0"/>
          </a:p>
        </p:txBody>
      </p:sp>
      <p:sp>
        <p:nvSpPr>
          <p:cNvPr id="11" name="Shape 8"/>
          <p:cNvSpPr/>
          <p:nvPr/>
        </p:nvSpPr>
        <p:spPr>
          <a:xfrm>
            <a:off x="7196328" y="259918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7379208" y="259918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Heat rate is U-shaped: dry-gas loss right, CO and unburnt carbon left</a:t>
            </a:r>
            <a:endParaRPr lang="en-US" sz="1250" dirty="0"/>
          </a:p>
        </p:txBody>
      </p:sp>
      <p:sp>
        <p:nvSpPr>
          <p:cNvPr id="13" name="Shape 10"/>
          <p:cNvSpPr/>
          <p:nvPr/>
        </p:nvSpPr>
        <p:spPr>
          <a:xfrm>
            <a:off x="7196328" y="35707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Text 11"/>
          <p:cNvSpPr/>
          <p:nvPr/>
        </p:nvSpPr>
        <p:spPr>
          <a:xfrm>
            <a:off x="7379208" y="35707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Every point on the frontier is defensible; choosing one is policy</a:t>
            </a:r>
            <a:endParaRPr lang="en-US" sz="1250" dirty="0"/>
          </a:p>
        </p:txBody>
      </p:sp>
      <p:sp>
        <p:nvSpPr>
          <p:cNvPr id="15" name="Shape 12"/>
          <p:cNvSpPr/>
          <p:nvPr/>
        </p:nvSpPr>
        <p:spPr>
          <a:xfrm>
            <a:off x="7196328" y="4542282"/>
            <a:ext cx="4428439" cy="861822"/>
          </a:xfrm>
          <a:prstGeom prst="roundRect">
            <a:avLst>
              <a:gd name="adj" fmla="val 636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3"/>
          <p:cNvSpPr/>
          <p:nvPr/>
        </p:nvSpPr>
        <p:spPr>
          <a:xfrm>
            <a:off x="7379208" y="4542282"/>
            <a:ext cx="4062679" cy="861822"/>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OFA, tilt and bias move the frontier itself — that is the optimiser's job</a:t>
            </a:r>
            <a:endParaRPr lang="en-US" sz="1250" dirty="0"/>
          </a:p>
        </p:txBody>
      </p:sp>
      <p:sp>
        <p:nvSpPr>
          <p:cNvPr id="17" name="Shape 14"/>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18" name="Text 15"/>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optimiser says' is not a complete sentence. Weights are policy; policy is yours.</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SIM-6 · Combustion multi-objective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minutes on the Pareto frontier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59</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SIM-6</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Combustion multi-objective optimiser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8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SIM-6; find the three weight sliders</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Put all weight on heat rate — note NOx and CO</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Put all weight on NOx — note what heat rate pays</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Find a blend you would defend in a morning meeting</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Read the recommended O₂, OFA and tilt for your blend</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The operating point sliding along a frontier, not jumping to 'best'</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Every objective improved only by paying another one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 recommendation with reasons — the shape advisories should take</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Multi-objective is the honest formulation of combustion. Single-number 'optimum' claims hide a weight choice someone else made for you.</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the advisory looks like at 14:20</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Optimisation, delivered the same way as the bearing advisory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60</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Unit · combustion advisory · 14:20</a:t>
            </a:r>
            <a:endParaRPr lang="en-US" sz="1300" dirty="0"/>
          </a:p>
        </p:txBody>
      </p:sp>
      <p:sp>
        <p:nvSpPr>
          <p:cNvPr id="10" name="Shape 8"/>
          <p:cNvSpPr/>
          <p:nvPr/>
        </p:nvSpPr>
        <p:spPr>
          <a:xfrm>
            <a:off x="1487272" y="2231136"/>
            <a:ext cx="9217152" cy="483108"/>
          </a:xfrm>
          <a:prstGeom prst="rect">
            <a:avLst/>
          </a:prstGeom>
          <a:solidFill>
            <a:srgbClr val="E7ECF1"/>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1C2530"/>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Suggest</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O₂ 3.4 → 3.1% · OFA +4% · tilt −2°</a:t>
            </a:r>
            <a:endParaRPr lang="en-US" sz="1250" dirty="0"/>
          </a:p>
        </p:txBody>
      </p:sp>
      <p:sp>
        <p:nvSpPr>
          <p:cNvPr id="14" name="Shape 12"/>
          <p:cNvSpPr/>
          <p:nvPr/>
        </p:nvSpPr>
        <p:spPr>
          <a:xfrm>
            <a:off x="1487272" y="2769108"/>
            <a:ext cx="9217152" cy="483108"/>
          </a:xfrm>
          <a:prstGeom prst="rect">
            <a:avLst/>
          </a:prstGeom>
          <a:solidFill>
            <a:srgbClr val="E4F0EA"/>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256B45"/>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Expected</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−9 kcal/kWh ≈ ₹1.2 cr/quarter at current load</a:t>
            </a:r>
            <a:endParaRPr lang="en-US" sz="1250" dirty="0"/>
          </a:p>
        </p:txBody>
      </p:sp>
      <p:sp>
        <p:nvSpPr>
          <p:cNvPr id="18" name="Shape 16"/>
          <p:cNvSpPr/>
          <p:nvPr/>
        </p:nvSpPr>
        <p:spPr>
          <a:xfrm>
            <a:off x="1487272" y="3307080"/>
            <a:ext cx="9217152" cy="483108"/>
          </a:xfrm>
          <a:prstGeom prst="rect">
            <a:avLst/>
          </a:prstGeom>
          <a:solidFill>
            <a:srgbClr val="E1EFF1"/>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11707F"/>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Respecting</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NOx ≤ limit − margin · mill margin ≥ 8%</a:t>
            </a:r>
            <a:endParaRPr lang="en-US" sz="1250" dirty="0"/>
          </a:p>
        </p:txBody>
      </p:sp>
      <p:sp>
        <p:nvSpPr>
          <p:cNvPr id="22" name="Shape 20"/>
          <p:cNvSpPr/>
          <p:nvPr/>
        </p:nvSpPr>
        <p:spPr>
          <a:xfrm>
            <a:off x="1487272" y="3845052"/>
            <a:ext cx="9217152" cy="483108"/>
          </a:xfrm>
          <a:prstGeom prst="rect">
            <a:avLst/>
          </a:prstGeom>
          <a:solidFill>
            <a:srgbClr val="E1EF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1707F"/>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Evidence</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Similar operating days, last 90 days, this coal band</a:t>
            </a:r>
            <a:endParaRPr lang="en-US" sz="1250" dirty="0"/>
          </a:p>
        </p:txBody>
      </p:sp>
      <p:sp>
        <p:nvSpPr>
          <p:cNvPr id="26" name="Shape 24"/>
          <p:cNvSpPr/>
          <p:nvPr/>
        </p:nvSpPr>
        <p:spPr>
          <a:xfrm>
            <a:off x="1487272" y="4383024"/>
            <a:ext cx="9217152" cy="483108"/>
          </a:xfrm>
          <a:prstGeom prst="rect">
            <a:avLst/>
          </a:prstGeom>
          <a:solidFill>
            <a:srgbClr val="E7EC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C2530"/>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Operator</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Accept · Decline (reason) — declines retrain the model</a:t>
            </a:r>
            <a:endParaRPr lang="en-US" sz="1250" dirty="0"/>
          </a:p>
        </p:txBody>
      </p:sp>
      <p:sp>
        <p:nvSpPr>
          <p:cNvPr id="30" name="Shape 28"/>
          <p:cNvSpPr/>
          <p:nvPr/>
        </p:nvSpPr>
        <p:spPr>
          <a:xfrm>
            <a:off x="1487272" y="4920996"/>
            <a:ext cx="9217152" cy="483108"/>
          </a:xfrm>
          <a:prstGeom prst="rect">
            <a:avLst/>
          </a:prstGeom>
          <a:solidFill>
            <a:srgbClr val="FBF0DC"/>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9A6408"/>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Never</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Writes to DCS. Advisory only, by design</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Same discipline as the bearing: a claim, evidence, a human decision. Never a hand on the controls.</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missing instrument — soft sensors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SIM-4 in one slide: coal quality every minute instead of every shift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61</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LABORATORY GCV</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 per shift</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Accurate, authoritative — and hours late. The optimiser spends the whole shift assuming the morning's coal.</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SOFT-SENSOR GCV</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every minute</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Inferred from feeder rate, mill power and heat output. Calibrated against the lab — running between its samples.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optimiser today is only as good as the coal number it is fed. SIM-4 is homework.</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Adani Udupi — the nearest real deployment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industry case, read the way an engineer should read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62</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it is</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AVEVA PI + ML at Udupi: 15-minute efficiency windows, health indices on key pumps and motors.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it proves</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historian-plus-models architecture runs on Indian coal units in production. Feasibility, settled.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it does not</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No audited ₹ savings published. It cannot size OUR prize — only our bill can (and just did).</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we take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architecture pattern — and the discipline of 15-minute windows over monthly arguments.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Proof of architecture, not proof of value. Our value number comes from our own bill.</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5 close — the card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candidate, in your handwriting, before tea-less sprint to vision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 Operational efficiency and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63</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Think</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Where, physically, does OUR 176 kcal sit? Your unit, your knowledge.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Write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One candidate per card. Specific: equipment, unit, suspicion.</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Hand in</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Cards collected now — anonymous is fine, specific is better.</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Return</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At 16:40 the cards meet the pilot criteria. The best one may become the pilot.</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bill gave the size. Your cards give the addresses.</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 camera is a very wide sensor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modest, true proposition for vision in a plant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64</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AN ENGINEER, ONCE</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 inspection</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Expert, contextual, accountable — and finite. Rounds happen once a shift, attention is scarce, fatigue is real.</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 CAMERA, ALL DAY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100+ / day</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same simple check — repeated relentlessly, in heat and dust and at 03:00, without boredom. Volume, not brilliance.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Vision is volume, not brilliance. The judgement stays with the engineer.</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vision model learns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story as this morning — pixels in, backprop underneath</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65</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Pixels in</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An image is a grid of numbers — brightness per pixel. Nothing more exotic enters.</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Convolution</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small filter slides over the grid, reusing its weights — learns 'edge' once, finds it everywhere.</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Same forward pass</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Layers, bends, an output: helmet / no-helmet with a confidence. The Theatre's story, scaled.</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Same backprop</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Blame shared by the chain rule across millions of dials. Same rule, same risks, same windows.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You already learned vision this morning. Only the sensor got wider.</a:t>
            </a:r>
            <a:endParaRPr lang="en-US" sz="13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vision model needs from you</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dataset is the project — again — plus glass that stays clean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66</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Labelled data</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Thousands of annotated images per class, covering YOUR site's conditions — not stock photos of clean workers.</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Lighting &amp; angle</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model trained on day shots misses night. Move the camera 2 metres and precision quietly falls.</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Lens maintenance</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Coal dust on glass is a frozen sensor. Camera cleaning is now an instrument-maintenance route.</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Domain shift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New uniforms, new season, new contractor PPE colours — retrain triggers, exactly like after an overhaul.</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Honest metrics</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Precision AND recall, on your own footage, per class — not a vendor's demo reel.</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point a first vision project at: face identification · discipline · protection systems · anything that names a worker</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Live — SafetyNet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PPE model trained by an engineer at this station, run in front of the room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67</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SAFETYNET</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Per-worker PPE compliance — live</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Laptop: python service/gradio_app.py — localhost, offline once weights are cached</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Image tab: run two or three plant-style photos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Show detections AND per-worker verdicts side by side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Show one UNKNOWN verdict and explain why it refused to judge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Change one policy line (required items) and re-run — no retraining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If anything misfires live, teach from the failure</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Per-worker verdicts, not 'is there a helmet somewhere in this image'</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An honest UNKNOWN on a small or edge-clipped worker</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Policy changes taking effect instantly, with the model untouched</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working model trained by a station engineer on a free GPU collapses the distance between 'AI programme' and 'us'. The barrier was never hardware or budget.</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question nobody's dataset answers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From 'is there a hardhat in this image?' to 'is THAT worker wearing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68</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Detect</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10-class YOLO finds people and PPE as independent boxes. The only GPU stage.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Attribute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Each PPE box matched to at most one worker: containment × anatomy × scale, as a soft AND.</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Judge</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Site policy decides what the attribution means — including an honest UNKNOWN.</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Debounce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violation must persist across frames before it becomes an event. One event, not 400 frames.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mAP measures the detector. The site's question is answered two stages later — measure THOSE.</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SafetyNet's honest numbers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it measures, what it misses, what it refuses to guess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69</a:t>
            </a:r>
            <a:endParaRPr lang="en-US" sz="9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809978"/>
                <a:gridCol w="1388713"/>
                <a:gridCol w="5076629"/>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means on the ground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0.921</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When it flags a violation, it is right ~9 times in 10</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0.787</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It MISSES ~1 in 5 — a screening aid, not a guarantee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mAP50 / mAP50-95</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0.852 / 0.620</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Detector quality — necessary, nowhere near sufficient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Abstention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UNKNOWN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&lt;64 px worker, edge-clipped, or ambiguous → refuses to judge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19 MB</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entire trained model — YOLO11s, 120 epochs, free Colab T4, ~90 minutes, zero procurement</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Policy out of the model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compliance.yaml — the same argument as the alert-rule block, in pixels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70</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Lives in the model (retrain to change)</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Lives in compliance.yaml (edit to change)</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What a hardhat looks like</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Which items are required in which area</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What a person looks like</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Minimum worker size before judging</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Detection confidence per box</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The ambiguity margin that forces UNKNOWN</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How long a violation persists before an event</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Whether synthetic (orphan-PPE) workers may alarm</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Changes need a GPU and a dataset</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Changes need a text editor and sign-off</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detector reports; the policy decides. Same principle as the alert rule this morning.</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industrial-relations question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Safety system or disciplinary system? Decided by the FIRST alert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71</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Name-and-shame</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The first individually-targeted alert converts a safety tool into a surveillance grievance. Permanently.</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False accusation</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At 0.921 precision, 1 flag in 13 is wrong. Against a named worker, that is a formal grievance waiting.</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Discipline creep</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If HR ever asks for the footage, the safety framing is dead — and so is the data source.</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Union sequencing</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Briefed first, with the miss-rate on the table, unions often support zone-level safety statistics.</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Metric theatre</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Zone compliance trending up may mean PPE improved — or workers learned the camera positions. Audit on foot.</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use PPE vision for: identifying individuals · disciplinary evidence · performance appraisal · anything beyond zone statistics</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plant vision pays first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Ranked honestly — thermal before optical, statistics before individuals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72</a:t>
            </a:r>
            <a:endParaRPr lang="en-US" sz="950" dirty="0"/>
          </a:p>
        </p:txBody>
      </p:sp>
      <p:sp>
        <p:nvSpPr>
          <p:cNvPr id="7" name="Shape 5"/>
          <p:cNvSpPr/>
          <p:nvPr/>
        </p:nvSpPr>
        <p:spPr>
          <a:xfrm>
            <a:off x="566928" y="1627632"/>
            <a:ext cx="11057839" cy="565404"/>
          </a:xfrm>
          <a:prstGeom prst="roundRect">
            <a:avLst>
              <a:gd name="adj" fmla="val 9704"/>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Coal stockpile hot spots</a:t>
            </a:r>
            <a:endParaRPr lang="en-US" sz="1280" dirty="0"/>
          </a:p>
        </p:txBody>
      </p:sp>
      <p:sp>
        <p:nvSpPr>
          <p:cNvPr id="9" name="Text 7"/>
          <p:cNvSpPr/>
          <p:nvPr/>
        </p:nvSpPr>
        <p:spPr>
          <a:xfrm>
            <a:off x="4453128" y="16276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Thermal imaging finds spontaneous combustion early</a:t>
            </a:r>
            <a:endParaRPr lang="en-US" sz="1200" dirty="0"/>
          </a:p>
        </p:txBody>
      </p:sp>
      <p:sp>
        <p:nvSpPr>
          <p:cNvPr id="10" name="Shape 8"/>
          <p:cNvSpPr/>
          <p:nvPr/>
        </p:nvSpPr>
        <p:spPr>
          <a:xfrm>
            <a:off x="8470087" y="1681734"/>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8173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quick win</a:t>
            </a:r>
            <a:endParaRPr lang="en-US" sz="900" dirty="0"/>
          </a:p>
        </p:txBody>
      </p:sp>
      <p:sp>
        <p:nvSpPr>
          <p:cNvPr id="12" name="Shape 10"/>
          <p:cNvSpPr/>
          <p:nvPr/>
        </p:nvSpPr>
        <p:spPr>
          <a:xfrm>
            <a:off x="566928" y="2275332"/>
            <a:ext cx="11057839" cy="565404"/>
          </a:xfrm>
          <a:prstGeom prst="roundRect">
            <a:avLst>
              <a:gd name="adj" fmla="val 9704"/>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2753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Drone stockpile volumetrics</a:t>
            </a:r>
            <a:endParaRPr lang="en-US" sz="1280" dirty="0"/>
          </a:p>
        </p:txBody>
      </p:sp>
      <p:sp>
        <p:nvSpPr>
          <p:cNvPr id="14" name="Text 12"/>
          <p:cNvSpPr/>
          <p:nvPr/>
        </p:nvSpPr>
        <p:spPr>
          <a:xfrm>
            <a:off x="4453128" y="22753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Photogrammetry replaces surveyors at height</a:t>
            </a:r>
            <a:endParaRPr lang="en-US" sz="1200" dirty="0"/>
          </a:p>
        </p:txBody>
      </p:sp>
      <p:sp>
        <p:nvSpPr>
          <p:cNvPr id="15" name="Shape 13"/>
          <p:cNvSpPr/>
          <p:nvPr/>
        </p:nvSpPr>
        <p:spPr>
          <a:xfrm>
            <a:off x="8470087" y="2329434"/>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32943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recommended first</a:t>
            </a:r>
            <a:endParaRPr lang="en-US" sz="900" dirty="0"/>
          </a:p>
        </p:txBody>
      </p:sp>
      <p:sp>
        <p:nvSpPr>
          <p:cNvPr id="17" name="Shape 15"/>
          <p:cNvSpPr/>
          <p:nvPr/>
        </p:nvSpPr>
        <p:spPr>
          <a:xfrm>
            <a:off x="566928" y="2923032"/>
            <a:ext cx="11057839" cy="565404"/>
          </a:xfrm>
          <a:prstGeom prst="roundRect">
            <a:avLst>
              <a:gd name="adj" fmla="val 9704"/>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9230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Switchyard / joint hot spots</a:t>
            </a:r>
            <a:endParaRPr lang="en-US" sz="1280" dirty="0"/>
          </a:p>
        </p:txBody>
      </p:sp>
      <p:sp>
        <p:nvSpPr>
          <p:cNvPr id="19" name="Text 17"/>
          <p:cNvSpPr/>
          <p:nvPr/>
        </p:nvSpPr>
        <p:spPr>
          <a:xfrm>
            <a:off x="4453128" y="29230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Scheduled thermal rounds, trended over time</a:t>
            </a:r>
            <a:endParaRPr lang="en-US" sz="1200" dirty="0"/>
          </a:p>
        </p:txBody>
      </p:sp>
      <p:sp>
        <p:nvSpPr>
          <p:cNvPr id="20" name="Shape 18"/>
          <p:cNvSpPr/>
          <p:nvPr/>
        </p:nvSpPr>
        <p:spPr>
          <a:xfrm>
            <a:off x="8470087" y="2977134"/>
            <a:ext cx="3063240" cy="457200"/>
          </a:xfrm>
          <a:prstGeom prst="roundRect">
            <a:avLst>
              <a:gd name="adj" fmla="val 50000"/>
            </a:avLst>
          </a:prstGeom>
          <a:solidFill>
            <a:srgbClr val="E4F0EA"/>
          </a:solidFill>
          <a:ln w="9525">
            <a:solidFill>
              <a:srgbClr val="256B45"/>
            </a:solidFill>
            <a:prstDash val="solid"/>
          </a:ln>
        </p:spPr>
      </p:sp>
      <p:sp>
        <p:nvSpPr>
          <p:cNvPr id="21" name="Text 19"/>
          <p:cNvSpPr/>
          <p:nvPr/>
        </p:nvSpPr>
        <p:spPr>
          <a:xfrm>
            <a:off x="8543239" y="297713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extends existing practice</a:t>
            </a:r>
            <a:endParaRPr lang="en-US" sz="900" dirty="0"/>
          </a:p>
        </p:txBody>
      </p:sp>
      <p:sp>
        <p:nvSpPr>
          <p:cNvPr id="22" name="Shape 20"/>
          <p:cNvSpPr/>
          <p:nvPr/>
        </p:nvSpPr>
        <p:spPr>
          <a:xfrm>
            <a:off x="566928" y="3570732"/>
            <a:ext cx="11057839" cy="565404"/>
          </a:xfrm>
          <a:prstGeom prst="roundRect">
            <a:avLst>
              <a:gd name="adj" fmla="val 9704"/>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5707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Conveyor: hot idlers, tracking</a:t>
            </a:r>
            <a:endParaRPr lang="en-US" sz="1280" dirty="0"/>
          </a:p>
        </p:txBody>
      </p:sp>
      <p:sp>
        <p:nvSpPr>
          <p:cNvPr id="24" name="Text 22"/>
          <p:cNvSpPr/>
          <p:nvPr/>
        </p:nvSpPr>
        <p:spPr>
          <a:xfrm>
            <a:off x="4453128" y="35707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Thermal + edge detection along the run</a:t>
            </a:r>
            <a:endParaRPr lang="en-US" sz="1200" dirty="0"/>
          </a:p>
        </p:txBody>
      </p:sp>
      <p:sp>
        <p:nvSpPr>
          <p:cNvPr id="25" name="Shape 23"/>
          <p:cNvSpPr/>
          <p:nvPr/>
        </p:nvSpPr>
        <p:spPr>
          <a:xfrm>
            <a:off x="8470087" y="362483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362483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high value in CHP</a:t>
            </a:r>
            <a:endParaRPr lang="en-US" sz="900" dirty="0"/>
          </a:p>
        </p:txBody>
      </p:sp>
      <p:sp>
        <p:nvSpPr>
          <p:cNvPr id="27" name="Shape 25"/>
          <p:cNvSpPr/>
          <p:nvPr/>
        </p:nvSpPr>
        <p:spPr>
          <a:xfrm>
            <a:off x="566928" y="4218432"/>
            <a:ext cx="11057839" cy="565404"/>
          </a:xfrm>
          <a:prstGeom prst="roundRect">
            <a:avLst>
              <a:gd name="adj" fmla="val 9704"/>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42184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PPE zone statistics</a:t>
            </a:r>
            <a:endParaRPr lang="en-US" sz="1280" dirty="0"/>
          </a:p>
        </p:txBody>
      </p:sp>
      <p:sp>
        <p:nvSpPr>
          <p:cNvPr id="29" name="Text 27"/>
          <p:cNvSpPr/>
          <p:nvPr/>
        </p:nvSpPr>
        <p:spPr>
          <a:xfrm>
            <a:off x="4453128" y="42184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SafetyNet-class, zone-level only, union-first</a:t>
            </a:r>
            <a:endParaRPr lang="en-US" sz="1200" dirty="0"/>
          </a:p>
        </p:txBody>
      </p:sp>
      <p:sp>
        <p:nvSpPr>
          <p:cNvPr id="30" name="Shape 28"/>
          <p:cNvSpPr/>
          <p:nvPr/>
        </p:nvSpPr>
        <p:spPr>
          <a:xfrm>
            <a:off x="8470087" y="4272534"/>
            <a:ext cx="3063240" cy="457200"/>
          </a:xfrm>
          <a:prstGeom prst="roundRect">
            <a:avLst>
              <a:gd name="adj" fmla="val 50000"/>
            </a:avLst>
          </a:prstGeom>
          <a:solidFill>
            <a:srgbClr val="FBF0DC"/>
          </a:solidFill>
          <a:ln w="9525">
            <a:solidFill>
              <a:srgbClr val="9A6408"/>
            </a:solidFill>
            <a:prstDash val="solid"/>
          </a:ln>
        </p:spPr>
      </p:sp>
      <p:sp>
        <p:nvSpPr>
          <p:cNvPr id="31" name="Text 29"/>
          <p:cNvSpPr/>
          <p:nvPr/>
        </p:nvSpPr>
        <p:spPr>
          <a:xfrm>
            <a:off x="8543239" y="427253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governance decides</a:t>
            </a:r>
            <a:endParaRPr lang="en-US" sz="900" dirty="0"/>
          </a:p>
        </p:txBody>
      </p:sp>
      <p:sp>
        <p:nvSpPr>
          <p:cNvPr id="32" name="Shape 30"/>
          <p:cNvSpPr/>
          <p:nvPr/>
        </p:nvSpPr>
        <p:spPr>
          <a:xfrm>
            <a:off x="566928" y="4866132"/>
            <a:ext cx="11057839" cy="565404"/>
          </a:xfrm>
          <a:prstGeom prst="roundRect">
            <a:avLst>
              <a:gd name="adj" fmla="val 9704"/>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866132"/>
            <a:ext cx="3566160" cy="56540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Flame / combustion vision</a:t>
            </a:r>
            <a:endParaRPr lang="en-US" sz="1280" dirty="0"/>
          </a:p>
        </p:txBody>
      </p:sp>
      <p:sp>
        <p:nvSpPr>
          <p:cNvPr id="34" name="Text 32"/>
          <p:cNvSpPr/>
          <p:nvPr/>
        </p:nvSpPr>
        <p:spPr>
          <a:xfrm>
            <a:off x="4453128" y="4866132"/>
            <a:ext cx="3788359" cy="56540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Camera-based flame analysis feeding tuning</a:t>
            </a:r>
            <a:endParaRPr lang="en-US" sz="1200" dirty="0"/>
          </a:p>
        </p:txBody>
      </p:sp>
      <p:sp>
        <p:nvSpPr>
          <p:cNvPr id="35" name="Shape 33"/>
          <p:cNvSpPr/>
          <p:nvPr/>
        </p:nvSpPr>
        <p:spPr>
          <a:xfrm>
            <a:off x="8470087" y="4920234"/>
            <a:ext cx="3063240" cy="457200"/>
          </a:xfrm>
          <a:prstGeom prst="roundRect">
            <a:avLst>
              <a:gd name="adj" fmla="val 50000"/>
            </a:avLst>
          </a:prstGeom>
          <a:solidFill>
            <a:srgbClr val="FBF0DC"/>
          </a:solidFill>
          <a:ln w="9525">
            <a:solidFill>
              <a:srgbClr val="9A6408"/>
            </a:solidFill>
            <a:prstDash val="solid"/>
          </a:ln>
        </p:spPr>
      </p:sp>
      <p:sp>
        <p:nvSpPr>
          <p:cNvPr id="36" name="Text 34"/>
          <p:cNvSpPr/>
          <p:nvPr/>
        </p:nvSpPr>
        <p:spPr>
          <a:xfrm>
            <a:off x="8543239" y="492023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value depends on baseline</a:t>
            </a:r>
            <a:endParaRPr lang="en-US" sz="900" dirty="0"/>
          </a:p>
        </p:txBody>
      </p:sp>
      <p:sp>
        <p:nvSpPr>
          <p:cNvPr id="37" name="Shape 35"/>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38" name="Text 36"/>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Start where the camera measures physics. Start where nobody's name is involved.</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Two independent witnesses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Vision and tags, corroborating — the day's discipline, unified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 Computer vision and SafetyNet</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73</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CAMERA SAYS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Hot idler, bay 7</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Thermal spot 18 °C above neighbours, persisting across frames. A claim — from pixels.</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TAGS SAY</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Power ↑ at same tonnage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Drive power residual drifting high for a week on the same belt. The same claim — from the historian.</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vision alert is a claim, like day 255. Corroborate, then act.</a:t>
            </a:r>
            <a:endParaRPr lang="en-US" sz="13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other half of plant knowledge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historian holds the numbers. The documents hold everything else.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74</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AN LLM IS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Next-word prediction</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Trained on public text. It contains none of our SOPs, limits or revisions — and no signal for when it is guessing.</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DANGER MODE</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Fluent wrongness</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 confident, well-phrased answer citing nothing. Near a PTW or an OEM limit, fluency without provenance is a hazard.</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failure mode is not gibberish — it is confidence. Grounding, not size, is the fix.</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RAG — the answer must quote our document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Retrieve first, answer second, cite always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75</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Chunk &amp; index</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Split manuals and SOPs into passages; index by meaning, tagged with document, revision, page.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Retrieve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question finds its passages first — recall@5 of 90% hybrid on the session's measured bench.</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 grounded</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model writes ONLY from what was retrieved. Nothing retrieved → 'not found', honestly.</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Cite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Document, revision, page on every claim. Trust check: citation present · doc current · numbers recomputed.</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Metadata beat the model: titles and revisions moved recall more than any algorithm choice.</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Mini-lab — Pocket RAG, on your phone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Your own PDF, parsed, indexed and answered on the device — nothing leaves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76</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POCKET RAG</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On-device retrieval over your own document</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5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Open Pocket RAG from the landing page</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Load any PDF on your phone — or the sample SOP provided</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Ask one question you know the answer to</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Tap the citation and verify the quoted passage</a:t>
            </a:r>
            <a:endParaRPr lang="en-US" sz="1180" dirty="0"/>
          </a:p>
          <a:p>
            <a:pPr marL="342900" indent="-342900">
              <a:spcAft>
                <a:spcPts val="600"/>
              </a:spcAft>
              <a:buSzPct val="100000"/>
              <a:buFont typeface="+mj-lt"/>
              <a:buAutoNum type="arabicPeriod" startAt="1"/>
            </a:pPr>
            <a:r>
              <a:rPr lang="en-US" sz="1180" dirty="0">
                <a:solidFill>
                  <a:srgbClr val="1C2530"/>
                </a:solidFill>
                <a:latin typeface="Calibri" pitchFamily="34" charset="0"/>
                <a:ea typeface="Calibri" pitchFamily="34" charset="-122"/>
                <a:cs typeface="Calibri" pitchFamily="34" charset="-120"/>
              </a:rPr>
              <a:t>Ask one question the document does NOT answer — watch it say so</a:t>
            </a:r>
            <a:endParaRPr lang="en-US" sz="118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Parsing, indexing and answering happening entirely on the handset</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A citation on every claim — and an honest miss when nothing matches</a:t>
            </a:r>
            <a:endParaRPr lang="en-US" sz="1250" dirty="0"/>
          </a:p>
          <a:p>
            <a:pPr marL="342900" indent="-342900">
              <a:spcAft>
                <a:spcPts val="700"/>
              </a:spcAft>
              <a:buSzPct val="100000"/>
              <a:buChar char="▪"/>
            </a:pPr>
            <a:r>
              <a:rPr lang="en-US" sz="1250" dirty="0">
                <a:solidFill>
                  <a:srgbClr val="1C2530"/>
                </a:solidFill>
                <a:latin typeface="Calibri" pitchFamily="34" charset="0"/>
                <a:ea typeface="Calibri" pitchFamily="34" charset="-122"/>
                <a:cs typeface="Calibri" pitchFamily="34" charset="-120"/>
              </a:rPr>
              <a:t>Flight mode still works once the page has loaded</a:t>
            </a:r>
            <a:endParaRPr lang="en-US" sz="12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On-device changes the confidentiality conversation completely. Verify-the-citation is the habit that makes RAG safe to use near real procedures.</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these programmes fail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failure modes — every one demonstrated on your phone today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77</a:t>
            </a:r>
            <a:endParaRPr lang="en-US" sz="950" dirty="0"/>
          </a:p>
        </p:txBody>
      </p:sp>
      <p:sp>
        <p:nvSpPr>
          <p:cNvPr id="7" name="Text 5"/>
          <p:cNvSpPr/>
          <p:nvPr/>
        </p:nvSpPr>
        <p:spPr>
          <a:xfrm>
            <a:off x="786384" y="1627632"/>
            <a:ext cx="4572000" cy="274320"/>
          </a:xfrm>
          <a:prstGeom prst="rect">
            <a:avLst/>
          </a:prstGeom>
          <a:noFill/>
          <a:ln/>
        </p:spPr>
        <p:txBody>
          <a:bodyPr wrap="square" lIns="0" tIns="0" rIns="0" bIns="0" rtlCol="0" anchor="ctr"/>
          <a:lstStyle/>
          <a:p>
            <a:pPr indent="0" marL="0">
              <a:buNone/>
            </a:pPr>
            <a:r>
              <a:rPr lang="en-US" sz="1050" b="1" spc="120" kern="0" dirty="0">
                <a:solidFill>
                  <a:srgbClr val="A8261E"/>
                </a:solidFill>
                <a:latin typeface="Calibri" pitchFamily="34" charset="0"/>
                <a:ea typeface="Calibri" pitchFamily="34" charset="-122"/>
                <a:cs typeface="Calibri" pitchFamily="34" charset="-120"/>
              </a:rPr>
              <a:t>WHY IT FAILED</a:t>
            </a:r>
            <a:endParaRPr lang="en-US" sz="1050" dirty="0"/>
          </a:p>
        </p:txBody>
      </p:sp>
      <p:sp>
        <p:nvSpPr>
          <p:cNvPr id="8" name="Text 6"/>
          <p:cNvSpPr/>
          <p:nvPr/>
        </p:nvSpPr>
        <p:spPr>
          <a:xfrm>
            <a:off x="6117336" y="1627632"/>
            <a:ext cx="5486400" cy="274320"/>
          </a:xfrm>
          <a:prstGeom prst="rect">
            <a:avLst/>
          </a:prstGeom>
          <a:noFill/>
          <a:ln/>
        </p:spPr>
        <p:txBody>
          <a:bodyPr wrap="square" lIns="0" tIns="0" rIns="0" bIns="0" rtlCol="0" anchor="ctr"/>
          <a:lstStyle/>
          <a:p>
            <a:pPr indent="0" marL="0">
              <a:buNone/>
            </a:pPr>
            <a:r>
              <a:rPr lang="en-US" sz="1050" b="1" spc="120" kern="0" dirty="0">
                <a:solidFill>
                  <a:srgbClr val="256B45"/>
                </a:solidFill>
                <a:latin typeface="Calibri" pitchFamily="34" charset="0"/>
                <a:ea typeface="Calibri" pitchFamily="34" charset="-122"/>
                <a:cs typeface="Calibri" pitchFamily="34" charset="-120"/>
              </a:rPr>
              <a:t>WHAT PREVENTS IT</a:t>
            </a:r>
            <a:endParaRPr lang="en-US" sz="1050" dirty="0"/>
          </a:p>
        </p:txBody>
      </p:sp>
      <p:sp>
        <p:nvSpPr>
          <p:cNvPr id="9" name="Shape 7"/>
          <p:cNvSpPr/>
          <p:nvPr/>
        </p:nvSpPr>
        <p:spPr>
          <a:xfrm>
            <a:off x="566928" y="1956816"/>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8"/>
          <p:cNvSpPr/>
          <p:nvPr/>
        </p:nvSpPr>
        <p:spPr>
          <a:xfrm>
            <a:off x="768096" y="1956816"/>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Training window touched the fault</a:t>
            </a:r>
            <a:endParaRPr lang="en-US" sz="1230" dirty="0"/>
          </a:p>
        </p:txBody>
      </p:sp>
      <p:sp>
        <p:nvSpPr>
          <p:cNvPr id="11" name="Shape 9"/>
          <p:cNvSpPr/>
          <p:nvPr/>
        </p:nvSpPr>
        <p:spPr>
          <a:xfrm rot="5400000">
            <a:off x="5715000" y="2041970"/>
            <a:ext cx="137160" cy="219456"/>
          </a:xfrm>
          <a:prstGeom prst="triangle">
            <a:avLst/>
          </a:prstGeom>
          <a:solidFill>
            <a:srgbClr val="5C6B7A"/>
          </a:solidFill>
          <a:ln/>
        </p:spPr>
      </p:sp>
      <p:sp>
        <p:nvSpPr>
          <p:cNvPr id="12" name="Shape 10"/>
          <p:cNvSpPr/>
          <p:nvPr/>
        </p:nvSpPr>
        <p:spPr>
          <a:xfrm>
            <a:off x="5916168" y="1956816"/>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6117336" y="1956816"/>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Window ends before the judged period — procedurally, always</a:t>
            </a:r>
            <a:endParaRPr lang="en-US" sz="1230" dirty="0"/>
          </a:p>
        </p:txBody>
      </p:sp>
      <p:sp>
        <p:nvSpPr>
          <p:cNvPr id="14" name="Shape 12"/>
          <p:cNvSpPr/>
          <p:nvPr/>
        </p:nvSpPr>
        <p:spPr>
          <a:xfrm>
            <a:off x="566928" y="2401443"/>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Text 13"/>
          <p:cNvSpPr/>
          <p:nvPr/>
        </p:nvSpPr>
        <p:spPr>
          <a:xfrm>
            <a:off x="768096" y="2401443"/>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Winter window, summer alarms</a:t>
            </a:r>
            <a:endParaRPr lang="en-US" sz="1230" dirty="0"/>
          </a:p>
        </p:txBody>
      </p:sp>
      <p:sp>
        <p:nvSpPr>
          <p:cNvPr id="16" name="Shape 14"/>
          <p:cNvSpPr/>
          <p:nvPr/>
        </p:nvSpPr>
        <p:spPr>
          <a:xfrm rot="5400000">
            <a:off x="5715000" y="2486597"/>
            <a:ext cx="137160" cy="219456"/>
          </a:xfrm>
          <a:prstGeom prst="triangle">
            <a:avLst/>
          </a:prstGeom>
          <a:solidFill>
            <a:srgbClr val="5C6B7A"/>
          </a:solidFill>
          <a:ln/>
        </p:spPr>
      </p:sp>
      <p:sp>
        <p:nvSpPr>
          <p:cNvPr id="17" name="Shape 15"/>
          <p:cNvSpPr/>
          <p:nvPr/>
        </p:nvSpPr>
        <p:spPr>
          <a:xfrm>
            <a:off x="5916168" y="2401443"/>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6117336" y="2401443"/>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Span the seasons; retrain after overhaul, every time</a:t>
            </a:r>
            <a:endParaRPr lang="en-US" sz="1230" dirty="0"/>
          </a:p>
        </p:txBody>
      </p:sp>
      <p:sp>
        <p:nvSpPr>
          <p:cNvPr id="19" name="Shape 17"/>
          <p:cNvSpPr/>
          <p:nvPr/>
        </p:nvSpPr>
        <p:spPr>
          <a:xfrm>
            <a:off x="566928" y="2846070"/>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68096" y="2846070"/>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Alert spam killed adoption</a:t>
            </a:r>
            <a:endParaRPr lang="en-US" sz="1230" dirty="0"/>
          </a:p>
        </p:txBody>
      </p:sp>
      <p:sp>
        <p:nvSpPr>
          <p:cNvPr id="21" name="Shape 19"/>
          <p:cNvSpPr/>
          <p:nvPr/>
        </p:nvSpPr>
        <p:spPr>
          <a:xfrm rot="5400000">
            <a:off x="5715000" y="2931224"/>
            <a:ext cx="137160" cy="219456"/>
          </a:xfrm>
          <a:prstGeom prst="triangle">
            <a:avLst/>
          </a:prstGeom>
          <a:solidFill>
            <a:srgbClr val="5C6B7A"/>
          </a:solidFill>
          <a:ln/>
        </p:spPr>
      </p:sp>
      <p:sp>
        <p:nvSpPr>
          <p:cNvPr id="22" name="Shape 20"/>
          <p:cNvSpPr/>
          <p:nvPr/>
        </p:nvSpPr>
        <p:spPr>
          <a:xfrm>
            <a:off x="5916168" y="2846070"/>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6117336" y="2846070"/>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Fix the alert budget FIRST; spend it with σ and persistence</a:t>
            </a:r>
            <a:endParaRPr lang="en-US" sz="1230" dirty="0"/>
          </a:p>
        </p:txBody>
      </p:sp>
      <p:sp>
        <p:nvSpPr>
          <p:cNvPr id="24" name="Shape 22"/>
          <p:cNvSpPr/>
          <p:nvPr/>
        </p:nvSpPr>
        <p:spPr>
          <a:xfrm>
            <a:off x="566928" y="3290697"/>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68096" y="3290697"/>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Symptom tags fed as inputs</a:t>
            </a:r>
            <a:endParaRPr lang="en-US" sz="1230" dirty="0"/>
          </a:p>
        </p:txBody>
      </p:sp>
      <p:sp>
        <p:nvSpPr>
          <p:cNvPr id="26" name="Shape 24"/>
          <p:cNvSpPr/>
          <p:nvPr/>
        </p:nvSpPr>
        <p:spPr>
          <a:xfrm rot="5400000">
            <a:off x="5715000" y="3375851"/>
            <a:ext cx="137160" cy="219456"/>
          </a:xfrm>
          <a:prstGeom prst="triangle">
            <a:avLst/>
          </a:prstGeom>
          <a:solidFill>
            <a:srgbClr val="5C6B7A"/>
          </a:solidFill>
          <a:ln/>
        </p:spPr>
      </p:sp>
      <p:sp>
        <p:nvSpPr>
          <p:cNvPr id="27" name="Shape 25"/>
          <p:cNvSpPr/>
          <p:nvPr/>
        </p:nvSpPr>
        <p:spPr>
          <a:xfrm>
            <a:off x="5916168" y="3290697"/>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6117336" y="3290697"/>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Duty in, symptoms out — or the model expects the fault</a:t>
            </a:r>
            <a:endParaRPr lang="en-US" sz="1230" dirty="0"/>
          </a:p>
        </p:txBody>
      </p:sp>
      <p:sp>
        <p:nvSpPr>
          <p:cNvPr id="29" name="Shape 27"/>
          <p:cNvSpPr/>
          <p:nvPr/>
        </p:nvSpPr>
        <p:spPr>
          <a:xfrm>
            <a:off x="566928" y="3735324"/>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0" name="Text 28"/>
          <p:cNvSpPr/>
          <p:nvPr/>
        </p:nvSpPr>
        <p:spPr>
          <a:xfrm>
            <a:off x="768096" y="3735324"/>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 named triage owner</a:t>
            </a:r>
            <a:endParaRPr lang="en-US" sz="1230" dirty="0"/>
          </a:p>
        </p:txBody>
      </p:sp>
      <p:sp>
        <p:nvSpPr>
          <p:cNvPr id="31" name="Shape 29"/>
          <p:cNvSpPr/>
          <p:nvPr/>
        </p:nvSpPr>
        <p:spPr>
          <a:xfrm rot="5400000">
            <a:off x="5715000" y="3820477"/>
            <a:ext cx="137160" cy="219456"/>
          </a:xfrm>
          <a:prstGeom prst="triangle">
            <a:avLst/>
          </a:prstGeom>
          <a:solidFill>
            <a:srgbClr val="5C6B7A"/>
          </a:solidFill>
          <a:ln/>
        </p:spPr>
      </p:sp>
      <p:sp>
        <p:nvSpPr>
          <p:cNvPr id="32" name="Shape 30"/>
          <p:cNvSpPr/>
          <p:nvPr/>
        </p:nvSpPr>
        <p:spPr>
          <a:xfrm>
            <a:off x="5916168" y="3735324"/>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6117336" y="3735324"/>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Every advisory has a recipient before go-live, or none fire</a:t>
            </a:r>
            <a:endParaRPr lang="en-US" sz="1230" dirty="0"/>
          </a:p>
        </p:txBody>
      </p:sp>
      <p:sp>
        <p:nvSpPr>
          <p:cNvPr id="34" name="Shape 32"/>
          <p:cNvSpPr/>
          <p:nvPr/>
        </p:nvSpPr>
        <p:spPr>
          <a:xfrm>
            <a:off x="566928" y="4179951"/>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5" name="Text 33"/>
          <p:cNvSpPr/>
          <p:nvPr/>
        </p:nvSpPr>
        <p:spPr>
          <a:xfrm>
            <a:off x="768096" y="4179951"/>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Model never retrained</a:t>
            </a:r>
            <a:endParaRPr lang="en-US" sz="1230" dirty="0"/>
          </a:p>
        </p:txBody>
      </p:sp>
      <p:sp>
        <p:nvSpPr>
          <p:cNvPr id="36" name="Shape 34"/>
          <p:cNvSpPr/>
          <p:nvPr/>
        </p:nvSpPr>
        <p:spPr>
          <a:xfrm rot="5400000">
            <a:off x="5715000" y="4265105"/>
            <a:ext cx="137160" cy="219456"/>
          </a:xfrm>
          <a:prstGeom prst="triangle">
            <a:avLst/>
          </a:prstGeom>
          <a:solidFill>
            <a:srgbClr val="5C6B7A"/>
          </a:solidFill>
          <a:ln/>
        </p:spPr>
      </p:sp>
      <p:sp>
        <p:nvSpPr>
          <p:cNvPr id="37" name="Shape 35"/>
          <p:cNvSpPr/>
          <p:nvPr/>
        </p:nvSpPr>
        <p:spPr>
          <a:xfrm>
            <a:off x="5916168" y="4179951"/>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6117336" y="4179951"/>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Overhauls change 'normal' — retraining is maintenance</a:t>
            </a:r>
            <a:endParaRPr lang="en-US" sz="1230" dirty="0"/>
          </a:p>
        </p:txBody>
      </p:sp>
      <p:sp>
        <p:nvSpPr>
          <p:cNvPr id="39" name="Shape 37"/>
          <p:cNvSpPr/>
          <p:nvPr/>
        </p:nvSpPr>
        <p:spPr>
          <a:xfrm>
            <a:off x="566928" y="4624578"/>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0" name="Text 38"/>
          <p:cNvSpPr/>
          <p:nvPr/>
        </p:nvSpPr>
        <p:spPr>
          <a:xfrm>
            <a:off x="768096" y="4624578"/>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Vendor black box</a:t>
            </a:r>
            <a:endParaRPr lang="en-US" sz="1230" dirty="0"/>
          </a:p>
        </p:txBody>
      </p:sp>
      <p:sp>
        <p:nvSpPr>
          <p:cNvPr id="41" name="Shape 39"/>
          <p:cNvSpPr/>
          <p:nvPr/>
        </p:nvSpPr>
        <p:spPr>
          <a:xfrm rot="5400000">
            <a:off x="5715000" y="4709732"/>
            <a:ext cx="137160" cy="219456"/>
          </a:xfrm>
          <a:prstGeom prst="triangle">
            <a:avLst/>
          </a:prstGeom>
          <a:solidFill>
            <a:srgbClr val="5C6B7A"/>
          </a:solidFill>
          <a:ln/>
        </p:spPr>
      </p:sp>
      <p:sp>
        <p:nvSpPr>
          <p:cNvPr id="42" name="Shape 40"/>
          <p:cNvSpPr/>
          <p:nvPr/>
        </p:nvSpPr>
        <p:spPr>
          <a:xfrm>
            <a:off x="5916168" y="4624578"/>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Text 41"/>
          <p:cNvSpPr/>
          <p:nvPr/>
        </p:nvSpPr>
        <p:spPr>
          <a:xfrm>
            <a:off x="6117336" y="4624578"/>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Demand the sensitivity table and the sister-machine run</a:t>
            </a:r>
            <a:endParaRPr lang="en-US" sz="1230" dirty="0"/>
          </a:p>
        </p:txBody>
      </p:sp>
      <p:sp>
        <p:nvSpPr>
          <p:cNvPr id="44" name="Shape 42"/>
          <p:cNvSpPr/>
          <p:nvPr/>
        </p:nvSpPr>
        <p:spPr>
          <a:xfrm>
            <a:off x="566928" y="5069205"/>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5" name="Text 43"/>
          <p:cNvSpPr/>
          <p:nvPr/>
        </p:nvSpPr>
        <p:spPr>
          <a:xfrm>
            <a:off x="768096" y="5069205"/>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Ungrounded AI answers</a:t>
            </a:r>
            <a:endParaRPr lang="en-US" sz="1230" dirty="0"/>
          </a:p>
        </p:txBody>
      </p:sp>
      <p:sp>
        <p:nvSpPr>
          <p:cNvPr id="46" name="Shape 44"/>
          <p:cNvSpPr/>
          <p:nvPr/>
        </p:nvSpPr>
        <p:spPr>
          <a:xfrm rot="5400000">
            <a:off x="5715000" y="5154359"/>
            <a:ext cx="137160" cy="219456"/>
          </a:xfrm>
          <a:prstGeom prst="triangle">
            <a:avLst/>
          </a:prstGeom>
          <a:solidFill>
            <a:srgbClr val="5C6B7A"/>
          </a:solidFill>
          <a:ln/>
        </p:spPr>
      </p:sp>
      <p:sp>
        <p:nvSpPr>
          <p:cNvPr id="47" name="Shape 45"/>
          <p:cNvSpPr/>
          <p:nvPr/>
        </p:nvSpPr>
        <p:spPr>
          <a:xfrm>
            <a:off x="5916168" y="5069205"/>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Text 46"/>
          <p:cNvSpPr/>
          <p:nvPr/>
        </p:nvSpPr>
        <p:spPr>
          <a:xfrm>
            <a:off x="6117336" y="5069205"/>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Citation or it does not count — especially near a PTW</a:t>
            </a:r>
            <a:endParaRPr lang="en-US" sz="1230" dirty="0"/>
          </a:p>
        </p:txBody>
      </p:sp>
      <p:sp>
        <p:nvSpPr>
          <p:cNvPr id="49" name="Shape 47"/>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50" name="Text 48"/>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None of these is an algorithm failure. All of them are decisions nobody made.</a:t>
            </a:r>
            <a:endParaRPr lang="en-US" sz="13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Choosing the first pilot — against your cards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criteria, the candidates, and ninety days of proof</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78</a:t>
            </a:r>
            <a:endParaRPr lang="en-US" sz="950" dirty="0"/>
          </a:p>
        </p:txBody>
      </p:sp>
      <p:sp>
        <p:nvSpPr>
          <p:cNvPr id="7" name="Shape 5"/>
          <p:cNvSpPr/>
          <p:nvPr/>
        </p:nvSpPr>
        <p:spPr>
          <a:xfrm>
            <a:off x="566928" y="1554480"/>
            <a:ext cx="1469963" cy="457200"/>
          </a:xfrm>
          <a:prstGeom prst="roundRect">
            <a:avLst>
              <a:gd name="adj" fmla="val 12000"/>
            </a:avLst>
          </a:prstGeom>
          <a:solidFill>
            <a:srgbClr val="E1EFF1"/>
          </a:solidFill>
          <a:ln w="9525">
            <a:solidFill>
              <a:srgbClr val="11707F"/>
            </a:solidFill>
            <a:prstDash val="solid"/>
          </a:ln>
        </p:spPr>
      </p:sp>
      <p:sp>
        <p:nvSpPr>
          <p:cNvPr id="8" name="Text 6"/>
          <p:cNvSpPr/>
          <p:nvPr/>
        </p:nvSpPr>
        <p:spPr>
          <a:xfrm>
            <a:off x="612648"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Tags already historised, one year clean</a:t>
            </a:r>
            <a:endParaRPr lang="en-US" sz="900" dirty="0"/>
          </a:p>
        </p:txBody>
      </p:sp>
      <p:sp>
        <p:nvSpPr>
          <p:cNvPr id="9" name="Shape 7"/>
          <p:cNvSpPr/>
          <p:nvPr/>
        </p:nvSpPr>
        <p:spPr>
          <a:xfrm>
            <a:off x="2164907" y="1554480"/>
            <a:ext cx="1469963" cy="457200"/>
          </a:xfrm>
          <a:prstGeom prst="roundRect">
            <a:avLst>
              <a:gd name="adj" fmla="val 12000"/>
            </a:avLst>
          </a:prstGeom>
          <a:solidFill>
            <a:srgbClr val="E1EFF1"/>
          </a:solidFill>
          <a:ln w="9525">
            <a:solidFill>
              <a:srgbClr val="11707F"/>
            </a:solidFill>
            <a:prstDash val="solid"/>
          </a:ln>
        </p:spPr>
      </p:sp>
      <p:sp>
        <p:nvSpPr>
          <p:cNvPr id="10" name="Text 8"/>
          <p:cNvSpPr/>
          <p:nvPr/>
        </p:nvSpPr>
        <p:spPr>
          <a:xfrm>
            <a:off x="221062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A failure mode this station has actually felt</a:t>
            </a:r>
            <a:endParaRPr lang="en-US" sz="900" dirty="0"/>
          </a:p>
        </p:txBody>
      </p:sp>
      <p:sp>
        <p:nvSpPr>
          <p:cNvPr id="11" name="Shape 9"/>
          <p:cNvSpPr/>
          <p:nvPr/>
        </p:nvSpPr>
        <p:spPr>
          <a:xfrm>
            <a:off x="3762887" y="1554480"/>
            <a:ext cx="1469963" cy="457200"/>
          </a:xfrm>
          <a:prstGeom prst="roundRect">
            <a:avLst>
              <a:gd name="adj" fmla="val 12000"/>
            </a:avLst>
          </a:prstGeom>
          <a:solidFill>
            <a:srgbClr val="E1EFF1"/>
          </a:solidFill>
          <a:ln w="9525">
            <a:solidFill>
              <a:srgbClr val="11707F"/>
            </a:solidFill>
            <a:prstDash val="solid"/>
          </a:ln>
        </p:spPr>
      </p:sp>
      <p:sp>
        <p:nvSpPr>
          <p:cNvPr id="12" name="Text 10"/>
          <p:cNvSpPr/>
          <p:nvPr/>
        </p:nvSpPr>
        <p:spPr>
          <a:xfrm>
            <a:off x="380860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Money visible monthly, from the bill</a:t>
            </a:r>
            <a:endParaRPr lang="en-US" sz="900" dirty="0"/>
          </a:p>
        </p:txBody>
      </p:sp>
      <p:sp>
        <p:nvSpPr>
          <p:cNvPr id="13" name="Shape 11"/>
          <p:cNvSpPr/>
          <p:nvPr/>
        </p:nvSpPr>
        <p:spPr>
          <a:xfrm>
            <a:off x="5360866" y="1554480"/>
            <a:ext cx="1469963" cy="457200"/>
          </a:xfrm>
          <a:prstGeom prst="roundRect">
            <a:avLst>
              <a:gd name="adj" fmla="val 12000"/>
            </a:avLst>
          </a:prstGeom>
          <a:solidFill>
            <a:srgbClr val="E1EFF1"/>
          </a:solidFill>
          <a:ln w="9525">
            <a:solidFill>
              <a:srgbClr val="11707F"/>
            </a:solidFill>
            <a:prstDash val="solid"/>
          </a:ln>
        </p:spPr>
      </p:sp>
      <p:sp>
        <p:nvSpPr>
          <p:cNvPr id="14" name="Text 12"/>
          <p:cNvSpPr/>
          <p:nvPr/>
        </p:nvSpPr>
        <p:spPr>
          <a:xfrm>
            <a:off x="5406586"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One named owner for triage</a:t>
            </a:r>
            <a:endParaRPr lang="en-US" sz="900" dirty="0"/>
          </a:p>
        </p:txBody>
      </p:sp>
      <p:sp>
        <p:nvSpPr>
          <p:cNvPr id="15" name="Shape 13"/>
          <p:cNvSpPr/>
          <p:nvPr/>
        </p:nvSpPr>
        <p:spPr>
          <a:xfrm>
            <a:off x="6958845" y="1554480"/>
            <a:ext cx="1469963" cy="457200"/>
          </a:xfrm>
          <a:prstGeom prst="roundRect">
            <a:avLst>
              <a:gd name="adj" fmla="val 12000"/>
            </a:avLst>
          </a:prstGeom>
          <a:solidFill>
            <a:srgbClr val="E1EFF1"/>
          </a:solidFill>
          <a:ln w="9525">
            <a:solidFill>
              <a:srgbClr val="11707F"/>
            </a:solidFill>
            <a:prstDash val="solid"/>
          </a:ln>
        </p:spPr>
      </p:sp>
      <p:sp>
        <p:nvSpPr>
          <p:cNvPr id="16" name="Text 14"/>
          <p:cNvSpPr/>
          <p:nvPr/>
        </p:nvSpPr>
        <p:spPr>
          <a:xfrm>
            <a:off x="700456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Provable inside 90 days</a:t>
            </a:r>
            <a:endParaRPr lang="en-US" sz="900" dirty="0"/>
          </a:p>
        </p:txBody>
      </p:sp>
      <p:sp>
        <p:nvSpPr>
          <p:cNvPr id="17" name="Shape 15"/>
          <p:cNvSpPr/>
          <p:nvPr/>
        </p:nvSpPr>
        <p:spPr>
          <a:xfrm>
            <a:off x="8556825" y="1554480"/>
            <a:ext cx="1469963" cy="457200"/>
          </a:xfrm>
          <a:prstGeom prst="roundRect">
            <a:avLst>
              <a:gd name="adj" fmla="val 12000"/>
            </a:avLst>
          </a:prstGeom>
          <a:solidFill>
            <a:srgbClr val="E1EFF1"/>
          </a:solidFill>
          <a:ln w="9525">
            <a:solidFill>
              <a:srgbClr val="11707F"/>
            </a:solidFill>
            <a:prstDash val="solid"/>
          </a:ln>
        </p:spPr>
      </p:sp>
      <p:sp>
        <p:nvSpPr>
          <p:cNvPr id="18" name="Text 16"/>
          <p:cNvSpPr/>
          <p:nvPr/>
        </p:nvSpPr>
        <p:spPr>
          <a:xfrm>
            <a:off x="860254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No capex, no procurement cycle</a:t>
            </a:r>
            <a:endParaRPr lang="en-US" sz="900" dirty="0"/>
          </a:p>
        </p:txBody>
      </p:sp>
      <p:sp>
        <p:nvSpPr>
          <p:cNvPr id="19" name="Shape 17"/>
          <p:cNvSpPr/>
          <p:nvPr/>
        </p:nvSpPr>
        <p:spPr>
          <a:xfrm>
            <a:off x="10154804" y="1554480"/>
            <a:ext cx="1469963" cy="457200"/>
          </a:xfrm>
          <a:prstGeom prst="roundRect">
            <a:avLst>
              <a:gd name="adj" fmla="val 12000"/>
            </a:avLst>
          </a:prstGeom>
          <a:solidFill>
            <a:srgbClr val="E1EFF1"/>
          </a:solidFill>
          <a:ln w="9525">
            <a:solidFill>
              <a:srgbClr val="11707F"/>
            </a:solidFill>
            <a:prstDash val="solid"/>
          </a:ln>
        </p:spPr>
      </p:sp>
      <p:sp>
        <p:nvSpPr>
          <p:cNvPr id="20" name="Text 18"/>
          <p:cNvSpPr/>
          <p:nvPr/>
        </p:nvSpPr>
        <p:spPr>
          <a:xfrm>
            <a:off x="10200524"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A sister machine for the negative control</a:t>
            </a:r>
            <a:endParaRPr lang="en-US" sz="9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703320"/>
                <a:gridCol w="868680"/>
                <a:gridCol w="868680"/>
                <a:gridCol w="5617159"/>
              </a:tblGrid>
              <a:tr h="3429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Candidate pilot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Fans + BFPs, one 660 unit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START — 90-day proof</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176-kcal loss accounting</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Second — bigger money, harder data</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Aux scheduling advisory</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Fold into the second</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GCV soft sensor</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Third — feeds the optimisers</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SafetyNet zone statistics</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Governance first, then trial</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RAG on station SOPs</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Quiet parallel — document hygiene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22" name="Text 19"/>
          <p:cNvSpPr/>
          <p:nvPr/>
        </p:nvSpPr>
        <p:spPr>
          <a:xfrm>
            <a:off x="566928" y="4722876"/>
            <a:ext cx="5486400" cy="256032"/>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A 90-day starter plan</a:t>
            </a:r>
            <a:endParaRPr lang="en-US" sz="1250" dirty="0"/>
          </a:p>
        </p:txBody>
      </p:sp>
      <p:sp>
        <p:nvSpPr>
          <p:cNvPr id="23" name="Shape 20"/>
          <p:cNvSpPr/>
          <p:nvPr/>
        </p:nvSpPr>
        <p:spPr>
          <a:xfrm>
            <a:off x="566928"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1"/>
          <p:cNvSpPr/>
          <p:nvPr/>
        </p:nvSpPr>
        <p:spPr>
          <a:xfrm>
            <a:off x="566928" y="5015484"/>
            <a:ext cx="3551834" cy="365760"/>
          </a:xfrm>
          <a:prstGeom prst="roundRect">
            <a:avLst>
              <a:gd name="adj" fmla="val 12500"/>
            </a:avLst>
          </a:prstGeom>
          <a:solidFill>
            <a:srgbClr val="D96A16"/>
          </a:solidFill>
          <a:ln/>
        </p:spPr>
      </p:sp>
      <p:sp>
        <p:nvSpPr>
          <p:cNvPr id="25" name="Text 22"/>
          <p:cNvSpPr/>
          <p:nvPr/>
        </p:nvSpPr>
        <p:spPr>
          <a:xfrm>
            <a:off x="749808"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1–30</a:t>
            </a:r>
            <a:endParaRPr lang="en-US" sz="1200" dirty="0"/>
          </a:p>
        </p:txBody>
      </p:sp>
      <p:sp>
        <p:nvSpPr>
          <p:cNvPr id="26" name="Text 23"/>
          <p:cNvSpPr/>
          <p:nvPr/>
        </p:nvSpPr>
        <p:spPr>
          <a:xfrm>
            <a:off x="749808"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Tag list, one-year export, quality profile, training windows chosen and written down</a:t>
            </a:r>
            <a:endParaRPr lang="en-US" sz="1100" dirty="0"/>
          </a:p>
        </p:txBody>
      </p:sp>
      <p:sp>
        <p:nvSpPr>
          <p:cNvPr id="27" name="Text 24"/>
          <p:cNvSpPr/>
          <p:nvPr/>
        </p:nvSpPr>
        <p:spPr>
          <a:xfrm>
            <a:off x="749808"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Pilot owner + C&amp;I</a:t>
            </a:r>
            <a:endParaRPr lang="en-US" sz="1000" dirty="0"/>
          </a:p>
        </p:txBody>
      </p:sp>
      <p:sp>
        <p:nvSpPr>
          <p:cNvPr id="28" name="Shape 25"/>
          <p:cNvSpPr/>
          <p:nvPr/>
        </p:nvSpPr>
        <p:spPr>
          <a:xfrm>
            <a:off x="4319930"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6"/>
          <p:cNvSpPr/>
          <p:nvPr/>
        </p:nvSpPr>
        <p:spPr>
          <a:xfrm>
            <a:off x="4319930" y="5015484"/>
            <a:ext cx="3551834" cy="365760"/>
          </a:xfrm>
          <a:prstGeom prst="roundRect">
            <a:avLst>
              <a:gd name="adj" fmla="val 12500"/>
            </a:avLst>
          </a:prstGeom>
          <a:solidFill>
            <a:srgbClr val="D96A16"/>
          </a:solidFill>
          <a:ln/>
        </p:spPr>
      </p:sp>
      <p:sp>
        <p:nvSpPr>
          <p:cNvPr id="30" name="Text 27"/>
          <p:cNvSpPr/>
          <p:nvPr/>
        </p:nvSpPr>
        <p:spPr>
          <a:xfrm>
            <a:off x="4502810"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31–60</a:t>
            </a:r>
            <a:endParaRPr lang="en-US" sz="1200" dirty="0"/>
          </a:p>
        </p:txBody>
      </p:sp>
      <p:sp>
        <p:nvSpPr>
          <p:cNvPr id="31" name="Text 28"/>
          <p:cNvSpPr/>
          <p:nvPr/>
        </p:nvSpPr>
        <p:spPr>
          <a:xfrm>
            <a:off x="4502810"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Models trained; alert budget set at 2/month; sister machines wired as negative controls</a:t>
            </a:r>
            <a:endParaRPr lang="en-US" sz="1100" dirty="0"/>
          </a:p>
        </p:txBody>
      </p:sp>
      <p:sp>
        <p:nvSpPr>
          <p:cNvPr id="32" name="Text 29"/>
          <p:cNvSpPr/>
          <p:nvPr/>
        </p:nvSpPr>
        <p:spPr>
          <a:xfrm>
            <a:off x="4502810"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Pilot owner</a:t>
            </a:r>
            <a:endParaRPr lang="en-US" sz="1000" dirty="0"/>
          </a:p>
        </p:txBody>
      </p:sp>
      <p:sp>
        <p:nvSpPr>
          <p:cNvPr id="33" name="Shape 30"/>
          <p:cNvSpPr/>
          <p:nvPr/>
        </p:nvSpPr>
        <p:spPr>
          <a:xfrm>
            <a:off x="8072933"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4" name="Shape 31"/>
          <p:cNvSpPr/>
          <p:nvPr/>
        </p:nvSpPr>
        <p:spPr>
          <a:xfrm>
            <a:off x="8072933" y="5015484"/>
            <a:ext cx="3551834" cy="365760"/>
          </a:xfrm>
          <a:prstGeom prst="roundRect">
            <a:avLst>
              <a:gd name="adj" fmla="val 12500"/>
            </a:avLst>
          </a:prstGeom>
          <a:solidFill>
            <a:srgbClr val="D96A16"/>
          </a:solidFill>
          <a:ln/>
        </p:spPr>
      </p:sp>
      <p:sp>
        <p:nvSpPr>
          <p:cNvPr id="35" name="Text 32"/>
          <p:cNvSpPr/>
          <p:nvPr/>
        </p:nvSpPr>
        <p:spPr>
          <a:xfrm>
            <a:off x="8255813"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61–90</a:t>
            </a:r>
            <a:endParaRPr lang="en-US" sz="1200" dirty="0"/>
          </a:p>
        </p:txBody>
      </p:sp>
      <p:sp>
        <p:nvSpPr>
          <p:cNvPr id="36" name="Text 33"/>
          <p:cNvSpPr/>
          <p:nvPr/>
        </p:nvSpPr>
        <p:spPr>
          <a:xfrm>
            <a:off x="8255813"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Live advisories into the morning meeting; every one triaged, closed and costed</a:t>
            </a:r>
            <a:endParaRPr lang="en-US" sz="1100" dirty="0"/>
          </a:p>
        </p:txBody>
      </p:sp>
      <p:sp>
        <p:nvSpPr>
          <p:cNvPr id="37" name="Text 34"/>
          <p:cNvSpPr/>
          <p:nvPr/>
        </p:nvSpPr>
        <p:spPr>
          <a:xfrm>
            <a:off x="8255813"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Triage owner + HOD</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two pilots, side by side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Different money, different data problems, one shared foundation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79</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Pilot 1 · condition monitoring</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Pilot 2 · the 176-kcal hunt</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Fans + BFPs of one 660 unit</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Condenser, heaters, sprays — continuous attribution</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Money: availability protected</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Money: ₹22.87 cr/month gap localised</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Data: tags we already trust</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Data: performance-grade quality needed</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Provable in 90 days</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Provable in a season</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Risk: alert fatigue — budget fixes it</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Risk: attribution disputes — measurement fixes them</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Proves the discipline</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Spends the discipline on the big number</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Phase 1 proves the discipline. Phase 2 points it at ₹22.87 crore. Same export, same owners.</a:t>
            </a:r>
            <a:endParaRPr lang="en-US" sz="13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safety boundary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AI may never touch here — policy, not preference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80</a:t>
            </a:r>
            <a:endParaRPr lang="en-US" sz="950" dirty="0"/>
          </a:p>
        </p:txBody>
      </p:sp>
      <p:sp>
        <p:nvSpPr>
          <p:cNvPr id="7" name="Shape 5"/>
          <p:cNvSpPr/>
          <p:nvPr/>
        </p:nvSpPr>
        <p:spPr>
          <a:xfrm>
            <a:off x="566928" y="1627632"/>
            <a:ext cx="11057839" cy="786384"/>
          </a:xfrm>
          <a:prstGeom prst="roundRect">
            <a:avLst>
              <a:gd name="adj" fmla="val 5814"/>
            </a:avLst>
          </a:prstGeom>
          <a:solidFill>
            <a:srgbClr val="F9E7E5"/>
          </a:solidFill>
          <a:ln w="15875">
            <a:solidFill>
              <a:srgbClr val="A8261E"/>
            </a:solidFill>
            <a:prstDash val="solid"/>
          </a:ln>
        </p:spPr>
      </p:sp>
      <p:sp>
        <p:nvSpPr>
          <p:cNvPr id="8" name="Shape 6"/>
          <p:cNvSpPr/>
          <p:nvPr/>
        </p:nvSpPr>
        <p:spPr>
          <a:xfrm>
            <a:off x="731520" y="1801368"/>
            <a:ext cx="2148840" cy="438912"/>
          </a:xfrm>
          <a:prstGeom prst="roundRect">
            <a:avLst>
              <a:gd name="adj" fmla="val 50000"/>
            </a:avLst>
          </a:prstGeom>
          <a:solidFill>
            <a:srgbClr val="A8261E"/>
          </a:solidFill>
          <a:ln/>
        </p:spPr>
      </p:sp>
      <p:sp>
        <p:nvSpPr>
          <p:cNvPr id="9" name="Text 7"/>
          <p:cNvSpPr/>
          <p:nvPr/>
        </p:nvSpPr>
        <p:spPr>
          <a:xfrm>
            <a:off x="731520" y="1801368"/>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NEVER</a:t>
            </a:r>
            <a:endParaRPr lang="en-US" sz="1150" dirty="0"/>
          </a:p>
        </p:txBody>
      </p:sp>
      <p:sp>
        <p:nvSpPr>
          <p:cNvPr id="10" name="Text 8"/>
          <p:cNvSpPr/>
          <p:nvPr/>
        </p:nvSpPr>
        <p:spPr>
          <a:xfrm>
            <a:off x="3081528" y="1627632"/>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Protection systems, interlocks, trip logic, PTW authority, closed-loop control of anything — and identifying individuals on camera</a:t>
            </a:r>
            <a:endParaRPr lang="en-US" sz="1300" dirty="0"/>
          </a:p>
        </p:txBody>
      </p:sp>
      <p:sp>
        <p:nvSpPr>
          <p:cNvPr id="11" name="Shape 9"/>
          <p:cNvSpPr/>
          <p:nvPr/>
        </p:nvSpPr>
        <p:spPr>
          <a:xfrm>
            <a:off x="566928" y="2532888"/>
            <a:ext cx="11057839" cy="786384"/>
          </a:xfrm>
          <a:prstGeom prst="roundRect">
            <a:avLst>
              <a:gd name="adj" fmla="val 5814"/>
            </a:avLst>
          </a:prstGeom>
          <a:solidFill>
            <a:srgbClr val="FBF0DC"/>
          </a:solidFill>
          <a:ln w="15875">
            <a:solidFill>
              <a:srgbClr val="9A6408"/>
            </a:solidFill>
            <a:prstDash val="solid"/>
          </a:ln>
        </p:spPr>
      </p:sp>
      <p:sp>
        <p:nvSpPr>
          <p:cNvPr id="12" name="Shape 10"/>
          <p:cNvSpPr/>
          <p:nvPr/>
        </p:nvSpPr>
        <p:spPr>
          <a:xfrm>
            <a:off x="731520" y="2706624"/>
            <a:ext cx="2148840" cy="438912"/>
          </a:xfrm>
          <a:prstGeom prst="roundRect">
            <a:avLst>
              <a:gd name="adj" fmla="val 50000"/>
            </a:avLst>
          </a:prstGeom>
          <a:solidFill>
            <a:srgbClr val="9A6408"/>
          </a:solidFill>
          <a:ln/>
        </p:spPr>
      </p:sp>
      <p:sp>
        <p:nvSpPr>
          <p:cNvPr id="13" name="Text 11"/>
          <p:cNvSpPr/>
          <p:nvPr/>
        </p:nvSpPr>
        <p:spPr>
          <a:xfrm>
            <a:off x="731520" y="2706624"/>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WITH CONTROLS</a:t>
            </a:r>
            <a:endParaRPr lang="en-US" sz="1150" dirty="0"/>
          </a:p>
        </p:txBody>
      </p:sp>
      <p:sp>
        <p:nvSpPr>
          <p:cNvPr id="14" name="Text 12"/>
          <p:cNvSpPr/>
          <p:nvPr/>
        </p:nvSpPr>
        <p:spPr>
          <a:xfrm>
            <a:off x="3081528" y="2532888"/>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Operator-facing advisories with named owners; setpoint suggestions a human accepts or declines with a reason; zone-level safety statistics</a:t>
            </a:r>
            <a:endParaRPr lang="en-US" sz="1300" dirty="0"/>
          </a:p>
        </p:txBody>
      </p:sp>
      <p:sp>
        <p:nvSpPr>
          <p:cNvPr id="15" name="Shape 13"/>
          <p:cNvSpPr/>
          <p:nvPr/>
        </p:nvSpPr>
        <p:spPr>
          <a:xfrm>
            <a:off x="566928" y="3438144"/>
            <a:ext cx="11057839" cy="786384"/>
          </a:xfrm>
          <a:prstGeom prst="roundRect">
            <a:avLst>
              <a:gd name="adj" fmla="val 5814"/>
            </a:avLst>
          </a:prstGeom>
          <a:solidFill>
            <a:srgbClr val="E4F0EA"/>
          </a:solidFill>
          <a:ln w="15875">
            <a:solidFill>
              <a:srgbClr val="256B45"/>
            </a:solidFill>
            <a:prstDash val="solid"/>
          </a:ln>
        </p:spPr>
      </p:sp>
      <p:sp>
        <p:nvSpPr>
          <p:cNvPr id="16" name="Shape 14"/>
          <p:cNvSpPr/>
          <p:nvPr/>
        </p:nvSpPr>
        <p:spPr>
          <a:xfrm>
            <a:off x="731520" y="3611880"/>
            <a:ext cx="2148840" cy="438912"/>
          </a:xfrm>
          <a:prstGeom prst="roundRect">
            <a:avLst>
              <a:gd name="adj" fmla="val 50000"/>
            </a:avLst>
          </a:prstGeom>
          <a:solidFill>
            <a:srgbClr val="256B45"/>
          </a:solidFill>
          <a:ln/>
        </p:spPr>
      </p:sp>
      <p:sp>
        <p:nvSpPr>
          <p:cNvPr id="17" name="Text 15"/>
          <p:cNvSpPr/>
          <p:nvPr/>
        </p:nvSpPr>
        <p:spPr>
          <a:xfrm>
            <a:off x="731520" y="3611880"/>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FREELY</a:t>
            </a:r>
            <a:endParaRPr lang="en-US" sz="1150" dirty="0"/>
          </a:p>
        </p:txBody>
      </p:sp>
      <p:sp>
        <p:nvSpPr>
          <p:cNvPr id="18" name="Text 16"/>
          <p:cNvSpPr/>
          <p:nvPr/>
        </p:nvSpPr>
        <p:spPr>
          <a:xfrm>
            <a:off x="3081528" y="3438144"/>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Historian analytics, residual monitoring, loss accounting, document retrieval with citations, training and simulation — everything in this course</a:t>
            </a:r>
            <a:endParaRPr lang="en-US" sz="1300" dirty="0"/>
          </a:p>
        </p:txBody>
      </p:sp>
      <p:sp>
        <p:nvSpPr>
          <p:cNvPr id="19" name="Shape 17"/>
          <p:cNvSpPr/>
          <p:nvPr/>
        </p:nvSpPr>
        <p:spPr>
          <a:xfrm>
            <a:off x="566928"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13232"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Air-gap respected</a:t>
            </a:r>
            <a:endParaRPr lang="en-US" sz="1250" dirty="0"/>
          </a:p>
        </p:txBody>
      </p:sp>
      <p:sp>
        <p:nvSpPr>
          <p:cNvPr id="21" name="Text 19"/>
          <p:cNvSpPr/>
          <p:nvPr/>
        </p:nvSpPr>
        <p:spPr>
          <a:xfrm>
            <a:off x="713232"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Everything today ran client-side. Plant systems export data OUT; nothing connects IN.</a:t>
            </a:r>
            <a:endParaRPr lang="en-US" sz="1080" dirty="0"/>
          </a:p>
        </p:txBody>
      </p:sp>
      <p:sp>
        <p:nvSpPr>
          <p:cNvPr id="22" name="Shape 20"/>
          <p:cNvSpPr/>
          <p:nvPr/>
        </p:nvSpPr>
        <p:spPr>
          <a:xfrm>
            <a:off x="2811414"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2957718"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No cloud dependency</a:t>
            </a:r>
            <a:endParaRPr lang="en-US" sz="1250" dirty="0"/>
          </a:p>
        </p:txBody>
      </p:sp>
      <p:sp>
        <p:nvSpPr>
          <p:cNvPr id="24" name="Text 22"/>
          <p:cNvSpPr/>
          <p:nvPr/>
        </p:nvSpPr>
        <p:spPr>
          <a:xfrm>
            <a:off x="2957718"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Phone labs cache offline. Pilot models run on-prem hardware the station already owns.</a:t>
            </a:r>
            <a:endParaRPr lang="en-US" sz="1080" dirty="0"/>
          </a:p>
        </p:txBody>
      </p:sp>
      <p:sp>
        <p:nvSpPr>
          <p:cNvPr id="25" name="Shape 23"/>
          <p:cNvSpPr/>
          <p:nvPr/>
        </p:nvSpPr>
        <p:spPr>
          <a:xfrm>
            <a:off x="5055900"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6" name="Text 24"/>
          <p:cNvSpPr/>
          <p:nvPr/>
        </p:nvSpPr>
        <p:spPr>
          <a:xfrm>
            <a:off x="5202204"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Data leaves by policy</a:t>
            </a:r>
            <a:endParaRPr lang="en-US" sz="1250" dirty="0"/>
          </a:p>
        </p:txBody>
      </p:sp>
      <p:sp>
        <p:nvSpPr>
          <p:cNvPr id="27" name="Text 25"/>
          <p:cNvSpPr/>
          <p:nvPr/>
        </p:nvSpPr>
        <p:spPr>
          <a:xfrm>
            <a:off x="5202204"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Historian exports follow the same approval as any data leaving today. RAG stays on-device or on-prem.</a:t>
            </a:r>
            <a:endParaRPr lang="en-US" sz="1080" dirty="0"/>
          </a:p>
        </p:txBody>
      </p:sp>
      <p:sp>
        <p:nvSpPr>
          <p:cNvPr id="28" name="Shape 26"/>
          <p:cNvSpPr/>
          <p:nvPr/>
        </p:nvSpPr>
        <p:spPr>
          <a:xfrm>
            <a:off x="7300387"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46691"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Model files are files</a:t>
            </a:r>
            <a:endParaRPr lang="en-US" sz="1250" dirty="0"/>
          </a:p>
        </p:txBody>
      </p:sp>
      <p:sp>
        <p:nvSpPr>
          <p:cNvPr id="30" name="Text 28"/>
          <p:cNvSpPr/>
          <p:nvPr/>
        </p:nvSpPr>
        <p:spPr>
          <a:xfrm>
            <a:off x="7446691"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Version them, hash them, back them up — the 19 MB SafetyNet weight file is config, not infrastructure.</a:t>
            </a:r>
            <a:endParaRPr lang="en-US" sz="1080" dirty="0"/>
          </a:p>
        </p:txBody>
      </p:sp>
      <p:sp>
        <p:nvSpPr>
          <p:cNvPr id="31" name="Shape 29"/>
          <p:cNvSpPr/>
          <p:nvPr/>
        </p:nvSpPr>
        <p:spPr>
          <a:xfrm>
            <a:off x="9544873"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Text 30"/>
          <p:cNvSpPr/>
          <p:nvPr/>
        </p:nvSpPr>
        <p:spPr>
          <a:xfrm>
            <a:off x="9691177"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Audit by design</a:t>
            </a:r>
            <a:endParaRPr lang="en-US" sz="1250" dirty="0"/>
          </a:p>
        </p:txBody>
      </p:sp>
      <p:sp>
        <p:nvSpPr>
          <p:cNvPr id="33" name="Text 31"/>
          <p:cNvSpPr/>
          <p:nvPr/>
        </p:nvSpPr>
        <p:spPr>
          <a:xfrm>
            <a:off x="9691177"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Every advisory logged with evidence and outcome. The JSONL trail is the programme's defence in any review.</a:t>
            </a:r>
            <a:endParaRPr lang="en-US" sz="108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two numbers, reconnected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Where the morning's reading and the bill's crore ended up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 From data to decisions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81</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READING'S JOURNEY</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74.2 °C → work order</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Sensor → residual → advisory day 255 → the room's vote → a signed decision. You ran every step yourselves.</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CRORE'S JOURNEY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₹22.87 cr → a pilot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Bill → decomposition → SIM-2 localisation → your cards → a 90-day plan with named owners.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Measure · expect · compare · decide. That is the whole method — for degrees and for crores.</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60120" y="658368"/>
            <a:ext cx="10607040" cy="868680"/>
          </a:xfrm>
          <a:prstGeom prst="rect">
            <a:avLst/>
          </a:prstGeom>
          <a:noFill/>
          <a:ln/>
        </p:spPr>
        <p:txBody>
          <a:bodyPr wrap="square" lIns="0" tIns="0" rIns="0" bIns="0" rtlCol="0" anchor="ctr"/>
          <a:lstStyle/>
          <a:p>
            <a:pPr indent="0" marL="0">
              <a:buNone/>
            </a:pPr>
            <a:r>
              <a:rPr lang="en-US" sz="3800" b="1" spc="150" kern="0" dirty="0">
                <a:solidFill>
                  <a:srgbClr val="D96A16"/>
                </a:solidFill>
                <a:latin typeface="Cambria" pitchFamily="34" charset="0"/>
                <a:ea typeface="Cambria" pitchFamily="34" charset="-122"/>
                <a:cs typeface="Cambria" pitchFamily="34" charset="-120"/>
              </a:rPr>
              <a:t>FROM DATA TO DECISIONS</a:t>
            </a:r>
            <a:endParaRPr lang="en-US" sz="3800" dirty="0"/>
          </a:p>
        </p:txBody>
      </p:sp>
      <p:sp>
        <p:nvSpPr>
          <p:cNvPr id="4" name="Text 2"/>
          <p:cNvSpPr/>
          <p:nvPr/>
        </p:nvSpPr>
        <p:spPr>
          <a:xfrm>
            <a:off x="960120" y="1517904"/>
            <a:ext cx="10607040" cy="384048"/>
          </a:xfrm>
          <a:prstGeom prst="rect">
            <a:avLst/>
          </a:prstGeom>
          <a:noFill/>
          <a:ln/>
        </p:spPr>
        <p:txBody>
          <a:bodyPr wrap="square" lIns="0" tIns="0" rIns="0" bIns="0" rtlCol="0" anchor="ctr"/>
          <a:lstStyle/>
          <a:p>
            <a:pPr indent="0" marL="0">
              <a:buNone/>
            </a:pPr>
            <a:r>
              <a:rPr lang="en-US" sz="1600" dirty="0">
                <a:solidFill>
                  <a:srgbClr val="B9C6D2"/>
                </a:solidFill>
                <a:latin typeface="Calibri" pitchFamily="34" charset="0"/>
                <a:ea typeface="Calibri" pitchFamily="34" charset="-122"/>
                <a:cs typeface="Calibri" pitchFamily="34" charset="-120"/>
              </a:rPr>
              <a:t>The data is already in our historian. The decision layer is us.</a:t>
            </a:r>
            <a:endParaRPr lang="en-US" sz="1600" dirty="0"/>
          </a:p>
        </p:txBody>
      </p:sp>
      <p:sp>
        <p:nvSpPr>
          <p:cNvPr id="5" name="Text 3"/>
          <p:cNvSpPr/>
          <p:nvPr/>
        </p:nvSpPr>
        <p:spPr>
          <a:xfrm>
            <a:off x="960120" y="2121408"/>
            <a:ext cx="1060704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you can do on Monday morning</a:t>
            </a:r>
            <a:endParaRPr lang="en-US" sz="1500" dirty="0"/>
          </a:p>
        </p:txBody>
      </p:sp>
      <p:sp>
        <p:nvSpPr>
          <p:cNvPr id="6" name="Shape 4"/>
          <p:cNvSpPr/>
          <p:nvPr/>
        </p:nvSpPr>
        <p:spPr>
          <a:xfrm>
            <a:off x="960120" y="2487168"/>
            <a:ext cx="10332720" cy="475488"/>
          </a:xfrm>
          <a:prstGeom prst="roundRect">
            <a:avLst>
              <a:gd name="adj" fmla="val 9615"/>
            </a:avLst>
          </a:prstGeom>
          <a:solidFill>
            <a:srgbClr val="2A3644"/>
          </a:solidFill>
          <a:ln/>
        </p:spPr>
      </p:sp>
      <p:sp>
        <p:nvSpPr>
          <p:cNvPr id="7" name="Shape 5"/>
          <p:cNvSpPr/>
          <p:nvPr/>
        </p:nvSpPr>
        <p:spPr>
          <a:xfrm>
            <a:off x="1115568" y="2601468"/>
            <a:ext cx="246888" cy="246888"/>
          </a:xfrm>
          <a:prstGeom prst="ellipse">
            <a:avLst/>
          </a:prstGeom>
          <a:solidFill>
            <a:srgbClr val="D96A16"/>
          </a:solidFill>
          <a:ln/>
        </p:spPr>
      </p:sp>
      <p:sp>
        <p:nvSpPr>
          <p:cNvPr id="8" name="Text 6"/>
          <p:cNvSpPr/>
          <p:nvPr/>
        </p:nvSpPr>
        <p:spPr>
          <a:xfrm>
            <a:off x="1115568" y="260146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481328" y="2487168"/>
            <a:ext cx="9601200" cy="475488"/>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Send me your unit's five worst actors — machine, failure history, and which tags they carry</a:t>
            </a:r>
            <a:endParaRPr lang="en-US" sz="1200" dirty="0"/>
          </a:p>
        </p:txBody>
      </p:sp>
      <p:sp>
        <p:nvSpPr>
          <p:cNvPr id="10" name="Shape 8"/>
          <p:cNvSpPr/>
          <p:nvPr/>
        </p:nvSpPr>
        <p:spPr>
          <a:xfrm>
            <a:off x="960120" y="3054096"/>
            <a:ext cx="10332720" cy="475488"/>
          </a:xfrm>
          <a:prstGeom prst="roundRect">
            <a:avLst>
              <a:gd name="adj" fmla="val 9615"/>
            </a:avLst>
          </a:prstGeom>
          <a:solidFill>
            <a:srgbClr val="2A3644"/>
          </a:solidFill>
          <a:ln/>
        </p:spPr>
      </p:sp>
      <p:sp>
        <p:nvSpPr>
          <p:cNvPr id="11" name="Shape 9"/>
          <p:cNvSpPr/>
          <p:nvPr/>
        </p:nvSpPr>
        <p:spPr>
          <a:xfrm>
            <a:off x="1115568" y="3168396"/>
            <a:ext cx="246888" cy="246888"/>
          </a:xfrm>
          <a:prstGeom prst="ellipse">
            <a:avLst/>
          </a:prstGeom>
          <a:solidFill>
            <a:srgbClr val="D96A16"/>
          </a:solidFill>
          <a:ln/>
        </p:spPr>
      </p:sp>
      <p:sp>
        <p:nvSpPr>
          <p:cNvPr id="12" name="Text 10"/>
          <p:cNvSpPr/>
          <p:nvPr/>
        </p:nvSpPr>
        <p:spPr>
          <a:xfrm>
            <a:off x="1115568" y="3168396"/>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481328" y="3054096"/>
            <a:ext cx="9601200" cy="475488"/>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Run the Model Builder on ONE real historian export from your area — the CSV reader handles our format</a:t>
            </a:r>
            <a:endParaRPr lang="en-US" sz="1200" dirty="0"/>
          </a:p>
        </p:txBody>
      </p:sp>
      <p:sp>
        <p:nvSpPr>
          <p:cNvPr id="14" name="Shape 12"/>
          <p:cNvSpPr/>
          <p:nvPr/>
        </p:nvSpPr>
        <p:spPr>
          <a:xfrm>
            <a:off x="960120" y="3621024"/>
            <a:ext cx="10332720" cy="475488"/>
          </a:xfrm>
          <a:prstGeom prst="roundRect">
            <a:avLst>
              <a:gd name="adj" fmla="val 9615"/>
            </a:avLst>
          </a:prstGeom>
          <a:solidFill>
            <a:srgbClr val="2A3644"/>
          </a:solidFill>
          <a:ln/>
        </p:spPr>
      </p:sp>
      <p:sp>
        <p:nvSpPr>
          <p:cNvPr id="15" name="Shape 13"/>
          <p:cNvSpPr/>
          <p:nvPr/>
        </p:nvSpPr>
        <p:spPr>
          <a:xfrm>
            <a:off x="1115568" y="3735324"/>
            <a:ext cx="246888" cy="246888"/>
          </a:xfrm>
          <a:prstGeom prst="ellipse">
            <a:avLst/>
          </a:prstGeom>
          <a:solidFill>
            <a:srgbClr val="D96A16"/>
          </a:solidFill>
          <a:ln/>
        </p:spPr>
      </p:sp>
      <p:sp>
        <p:nvSpPr>
          <p:cNvPr id="16" name="Text 14"/>
          <p:cNvSpPr/>
          <p:nvPr/>
        </p:nvSpPr>
        <p:spPr>
          <a:xfrm>
            <a:off x="1115568" y="373532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481328" y="3621024"/>
            <a:ext cx="9601200" cy="475488"/>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Name the triage owner for your area: who receives an advisory if one arrives tomorrow morning</a:t>
            </a:r>
            <a:endParaRPr lang="en-US" sz="1200" dirty="0"/>
          </a:p>
        </p:txBody>
      </p:sp>
      <p:sp>
        <p:nvSpPr>
          <p:cNvPr id="18" name="Text 16"/>
          <p:cNvSpPr/>
          <p:nvPr/>
        </p:nvSpPr>
        <p:spPr>
          <a:xfrm>
            <a:off x="960120" y="4315968"/>
            <a:ext cx="10332720" cy="45720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The data is already in our historian. The decision layer is us.</a:t>
            </a:r>
            <a:endParaRPr lang="en-US" sz="1800" dirty="0"/>
          </a:p>
        </p:txBody>
      </p:sp>
      <p:sp>
        <p:nvSpPr>
          <p:cNvPr id="19" name="Text 17"/>
          <p:cNvSpPr/>
          <p:nvPr/>
        </p:nvSpPr>
        <p:spPr>
          <a:xfrm>
            <a:off x="960120" y="6199632"/>
            <a:ext cx="10332720" cy="365760"/>
          </a:xfrm>
          <a:prstGeom prst="rect">
            <a:avLst/>
          </a:prstGeom>
          <a:noFill/>
          <a:ln/>
        </p:spPr>
        <p:txBody>
          <a:bodyPr wrap="square" lIns="0" tIns="0" rIns="0" bIns="0" rtlCol="0" anchor="ctr"/>
          <a:lstStyle/>
          <a:p>
            <a:pPr indent="0" marL="0">
              <a:buNone/>
            </a:pPr>
            <a:r>
              <a:rPr lang="en-US" sz="1200" dirty="0">
                <a:solidFill>
                  <a:srgbClr val="8C9BA8"/>
                </a:solidFill>
                <a:latin typeface="Calibri" pitchFamily="34" charset="0"/>
                <a:ea typeface="Calibri" pitchFamily="34" charset="-122"/>
                <a:cs typeface="Calibri" pitchFamily="34" charset="-120"/>
              </a:rPr>
              <a:t>Questions — and the cards: which candidate becomes the pilot?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Power Plant: From Data to Decisions</dc:title>
  <dc:subject>PptxGenJS Presentation</dc:subject>
  <dc:creator>S. H. Parihar · Koradi TPS</dc:creator>
  <cp:lastModifiedBy>S. H. Parihar · Koradi TPS</cp:lastModifiedBy>
  <cp:revision>1</cp:revision>
  <dcterms:created xsi:type="dcterms:W3CDTF">2026-08-13T18:32:08Z</dcterms:created>
  <dcterms:modified xsi:type="dcterms:W3CDTF">2026-08-13T18:32:08Z</dcterms:modified>
</cp:coreProperties>
</file>